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2" r:id="rId33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906차원 Box 벡터 입니다.  (O=3, P=10, K=5 기준 — 버킷 채널: PPK×OPER 10개 + PPK×OPER×MODEL 4개)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/>
            </a:r>
            <a:r>
              <a:rPr sz="13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O×P×10 + O×P×K×4 (버킷)  =  906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900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(OPER×PPK) 10채널(모델 무관) + (OPER×PPK×MODEL) 4채널(모델별): WIP비중·takt·urgency·달성가능·투영커버·소진시간 / ST·전환·공구·회피가능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325112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2개 State 블록을 항목별 상세(채널 정의·실측 산출식 값)로 설명합니다. 버킷 채널이 전환 회피·페이싱 판단의 근거가 됩니다.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222A33"/>
                </a:solidFill>
                <a:latin typeface="맑은 고딕"/>
              </a:rPr>
              <a:t/>
            </a:r>
            <a:r>
              <a:rPr sz="1250" b="1">
                <a:solidFill>
                  <a:srgbClr val="1B3255"/>
                </a:solidFill>
                <a:latin typeface="맑은 고딕"/>
              </a:rPr>
              <a:t/>
            </a:r>
            <a:r>
              <a:rPr sz="125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
(OPER×PPK) 격자마다 10채널(모델 무관) + (OPER×PPK×MODEL) 격자마다 4채널(모델별) — "이 버킷을 지금 잡으면 시급·전환·중복인가"를 알려줍니다.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ch0-1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57576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ch2-3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2957576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2957576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2957576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36543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336543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36543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(PPK×OPER×MODEL) per-wafer 처리시간(정규화)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336543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15512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3715512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3715512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계획 대비 시간 압박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3715512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94480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094480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094480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094480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473448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473448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473448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473448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52416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80160" y="4852416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31720" y="4852416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69080" y="4852416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231384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80160" y="5231384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5231384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69080" y="5231384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10352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989320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ch13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80160" y="5610352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starve_time_norm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80160" y="5989320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31720" y="5610352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안전재공 소진 시간 (몇 시간 후 재공이 말라 안전재공이 사라지는지)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31720" y="5989320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잡을 때 전환이 회피 가능한 정도 (needs_conversion=1일 때만)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5610352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5989320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버킷 (OPER × PPK × MODEL) 의사결정 흐름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80760" y="2807208"/>
            <a:ext cx="146304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상류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(prev_takt)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63524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046720" y="2743200"/>
            <a:ext cx="1645920" cy="6400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현재 버킷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(wip_비중 / urgency)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78408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195560" y="2807208"/>
            <a:ext cx="132588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하류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(post_takt)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
▪ 가공 속도(self_st) : st_per_wafer / max_st  (모델별 가공속도)
▪ 셋업 전환(needs_conversion) : 1 [lot_cd 또는 temp 상이]  (1회당 패널티)
▪ 공구 포화(tool_can_assign) : 1 [net capa 잔여]  (부족 시 배정 차단)
▪ 달성 목표(achievable_ratio) : min(계획, 완료+상류WIP) / 계획
▪ 안전재공 소진(starve_time_norm) : wip / (현재capa - 상류capa) / T_avail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/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/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/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/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/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지금 결정하는 그 설비의 전환·동일 셋업 맥락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회피가능 전환·same_setup 보상 학습에 직접 쓰입니다.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PPK (same_setup 판단용)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prev_prod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OPER (same_setup 판단용)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prev_oper → 정규화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 의사결정 시 셋업 전환 케이스 (미니 간트차트)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280720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Case A. 무변환 배정 (연속 가공 → Setup 보너스 +1.0 대상)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081528"/>
            <a:ext cx="21945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366760" y="3200400"/>
            <a:ext cx="320040" cy="228600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78240" y="3081528"/>
            <a:ext cx="2194560" cy="457200"/>
          </a:xfrm>
          <a:prstGeom prst="rect">
            <a:avLst/>
          </a:prstGeom>
          <a:solidFill>
            <a:srgbClr val="2E6FB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381304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Case B. 전환 배정 (셋업 교체 발생 → Conversion 패널티 -10.0 부과)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4087368"/>
            <a:ext cx="17373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4206240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790956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83879" y="4087368"/>
            <a:ext cx="1280160" cy="457200"/>
          </a:xfrm>
          <a:prstGeom prst="rect">
            <a:avLst/>
          </a:prstGeom>
          <a:solidFill>
            <a:srgbClr val="C8861E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83879" y="4206240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Conversion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55548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829800" y="4087368"/>
            <a:ext cx="1554480" cy="457200"/>
          </a:xfrm>
          <a:prstGeom prst="rect">
            <a:avLst/>
          </a:prstGeom>
          <a:solidFill>
            <a:srgbClr val="4A6D8C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29800" y="4206240"/>
            <a:ext cx="1554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818888"/>
            <a:ext cx="5440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4882896"/>
            <a:ext cx="52578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needs_conversion = 1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직전과 다음의 LOT_CD 또는 TEMP가 다른 경우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avoidable_frac (회피가능비율)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내 설비가 변환할 때, 동일 셋업을 이미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가진 다른 설비들이 시간 내에 이 재공을 다 처리할 수 있는 비율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(obs[…+4:…+8])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라인 전역 직전 배정 맥락.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Decision Steps 간의 Context (직전 맥락) 전이 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2898648"/>
            <a:ext cx="2011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2898648"/>
            <a:ext cx="2011680" cy="36576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2962656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− 1 (직전)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3328415"/>
            <a:ext cx="1828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의사결정 결과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EQP002 설비에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PPK001 제품의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OPER001 공정을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LC01 셋업으로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배정 완료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183879" y="3858768"/>
            <a:ext cx="1325880" cy="365760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79" y="3419856"/>
            <a:ext cx="13258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인덱스 인코딩
(Context 피처)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01200" y="2898648"/>
            <a:ext cx="1920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2898648"/>
            <a:ext cx="192024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0" y="2962656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(현재 결정)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3328415"/>
            <a:ext cx="17373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수신 피처 (obs)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last_ppk (ctx[0])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last_oper (ctx[1])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last_eqp (ctx[2])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last_lot_cd (ctx[3])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→ 현재 의사결정의
  컨텍스트로 주입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5321808"/>
            <a:ext cx="5440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5367528"/>
            <a:ext cx="52578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의의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에이전트가 단일 설비의 상태뿐만 아니라, 직전 스텝의 라인 전역 스케줄링 결정 흐름을 학습에 반영할 수 있도록 돕습니다.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1[현재 EQP에서 이 버킷 LOT_CD/TEMP로 전환 필요]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conversion_avoidable_fraction(현재 EQP, 이 버킷)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4978908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(clip 발동)  t=500분(&gt; sim_end=480)이면 time_norm=min(500/480,1)=1.0으로 saturate — min()이 왜 필요한지 보여주는 경계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지금(t=120분) — 초반, 재공 풀 여유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25장 남음</a:t>
            </a:r>
          </a:p>
        </p:txBody>
      </p:sp>
      <p:sp>
        <p:nvSpPr>
          <p:cNvPr id="81" name="Right Arrow 8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15장 배정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remaining_lots = 25/40 = 0.625  (풀 62.5% 남음)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min(len(lot_pool)/initial_lot_count, 1) = min(25/40,1)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하루 막바지(t=440분), 풀 고갈 임박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초기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40장 투입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미배정 LOT 풀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3장 남음</a:t>
            </a:r>
          </a:p>
        </p:txBody>
      </p:sp>
      <p:sp>
        <p:nvSpPr>
          <p:cNvPr id="93" name="Right Arrow 9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설비에 배정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누적 37장 배정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remaining_lots = 3/40 = 0.075  (풀 92.5% 소진)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같은 산식이라도 시각(t)에 따라 0.625→0.075로 계속 줄어드는 '소진형' 지표임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EQP002가 idle인데 free_at=150(t=120보다 뒤, 아직 전환 buffer 중)이면 rem=30&gt;0 → conv_eqps=1 → conv_idle_ratio=1/3=0.33 (전환대기 잡힘).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이 버킷에 재공이 전혀 없다면(wip_q=0) ch0=ch1=0.0 — '분모가 다르다'는 특징이 사라지고 둘 다 0으로 겹치는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OPER002 — 수요가 설비능력보다 빠듯함(수요-병목)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89" name="Right Arrow 88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7.2분/carrier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demand_takt(7.2) &gt; cap_takt(1.67) → 수요가 더 빠듯 → eff_takt=7.2 채택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eff_takt=max(demand_takt,cap_takt)·wf_unit ; post_takt=eff_takt/360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계획이 널널해 설비능력이 병목(설비-병목)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설비능력(cap_takt)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98" name="Right Arrow 97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eff_takt = max(...)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1.67분/carrier</a:t>
            </a:r>
          </a:p>
        </p:txBody>
      </p:sp>
      <p:sp>
        <p:nvSpPr>
          <p:cNvPr id="101" name="Right Arrow 100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계획요구(demand_takt)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0.3분/carrier(가정)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demand_takt(0.3) &lt; cap_takt(1.67) → 설비능력이 병목 → eff_takt=1.67 채택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q_plan이 아주 크면(예:1200장) demand_takt=360/1200=0.3으로 역전됨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가장 빠른 공정(OPER001, st=2분/장) 기준이면 self_st=2/5=0.4 — 1.0(최댓값)이 아니라 여유 있는 공정의 낮은 값도 존재.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마감이 임박해 T_avail=30분이면 같은 gap=50이어도 urgency=min((50/30)/60,1)=0.0278로 12배 뜀 — 시간이 급할수록 값이 커짐.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TEMP 조건이 있는 공정이라면(temp_idx={T1:0,T2:1}) tp_enc=encode('T2')=1/(2-1)=1.0 — ch7=0.0은 'TEMP 미사용'일 때만 나오는 특수 케이스.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current_eqp의 prev_lot_cd가 이 버킷과 이미 같다면(A=A) would_need_conversion=False → needs_conversion=0.0 (전환 없이 바로 배정 가능).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상류(OPER001) 재공 140장 — 넉넉함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140장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done10+reachable155</a:t>
            </a:r>
          </a:p>
        </p:txBody>
      </p:sp>
      <p:sp>
        <p:nvSpPr>
          <p:cNvPr id="71" name="Right Arrow 70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achievable_ratio = min(60,165)/60 = 1.0  (계획 전량 달성 가능)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achievable_ratio = min(plan_qty, done+reachable)/plan_qty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상류 재공이 20장뿐이라면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WIP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20장(가정)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도달가능 재공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done10+reachable35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계획 목표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60장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achievable_ratio = min(60,45)/60 = 0.75  (상류 부족으로 75% 상한 캡)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상류가 못 따라오면 achievable_ratio&lt;1 → 이 버킷에 더 배정해도 소용없다는 신호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ounded Rectangle 81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다른 설비(EQP003)가 이미 이 버킷을 덮는 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EQP003: 72장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min(72/50,2)/2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projected_cover_ratio = 0.72  (이미 덮임 → 지금 설비는 회피 권장)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min(cov/need,2)/2 — 1에 가까울수록 '중복 배정' 위험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커버 중인 다른 설비가 전혀 없다면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타 설비 투영생산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0장(가정)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남은 필요량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need=50장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cover/need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min(0/50,2)/2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projected_cover_ratio = 0.0  (아무도 안 덮음 → 지금 배정이 안전)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cov=0이면 비율도 0 — 회피 신호 없이 바로 배정해도 됨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 — 공급/소비 흐름 대조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1819656"/>
            <a:ext cx="5440680" cy="3986783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6373368" y="1911095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A   실제 MINI-A — 공급(1.0)이 소비(0.6)보다 빠름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7336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1908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1.0매/분</a:t>
            </a:r>
          </a:p>
        </p:txBody>
      </p:sp>
      <p:sp>
        <p:nvSpPr>
          <p:cNvPr id="80" name="Right Arrow 79"/>
          <p:cNvSpPr/>
          <p:nvPr/>
        </p:nvSpPr>
        <p:spPr>
          <a:xfrm>
            <a:off x="7943087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217408" y="2185415"/>
            <a:ext cx="1551432" cy="51206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6312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안 마름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9787128" y="2359152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061448" y="2185415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07168" y="2221991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0.6매/분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73368" y="2752344"/>
            <a:ext cx="5221224" cy="237744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2752344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2E7D4F"/>
                </a:solidFill>
                <a:latin typeface="맑은 고딕"/>
              </a:rPr>
              <a:t>supply≥consume → starve_time_norm = 1.0  (소진 없음, 안전)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73368" y="3026663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consume≤supply 이면 재공이 계속 채워지므로 else 분기(=1.0) 적용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373368" y="3520440"/>
            <a:ext cx="5221224" cy="219456"/>
          </a:xfrm>
          <a:prstGeom prst="roundRect">
            <a:avLst>
              <a:gd name="adj" fmla="val 14000"/>
            </a:avLst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Case B   반대 상황 — 소비(1.0)가 공급(0.6)보다 빠르면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7336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1908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상류 공급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supply 0.6매/분</a:t>
            </a:r>
          </a:p>
        </p:txBody>
      </p:sp>
      <p:sp>
        <p:nvSpPr>
          <p:cNvPr id="92" name="Right Arrow 91"/>
          <p:cNvSpPr/>
          <p:nvPr/>
        </p:nvSpPr>
        <p:spPr>
          <a:xfrm>
            <a:off x="7943087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217408" y="3794760"/>
            <a:ext cx="1551432" cy="51206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26312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재공(WIP)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15장 → 37.5분 후 0</a:t>
            </a:r>
          </a:p>
        </p:txBody>
      </p:sp>
      <p:sp>
        <p:nvSpPr>
          <p:cNvPr id="95" name="Right Arrow 94"/>
          <p:cNvSpPr/>
          <p:nvPr/>
        </p:nvSpPr>
        <p:spPr>
          <a:xfrm>
            <a:off x="9787128" y="3968496"/>
            <a:ext cx="256032" cy="164592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061448" y="3794760"/>
            <a:ext cx="1551432" cy="51206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107168" y="3831336"/>
            <a:ext cx="1459991" cy="43891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1">
                <a:solidFill>
                  <a:srgbClr val="FFFFFF"/>
                </a:solidFill>
                <a:latin typeface="맑은 고딕"/>
              </a:rPr>
              <a:t>이 공정 소비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60" b="0">
                <a:solidFill>
                  <a:srgbClr val="FFFFFF"/>
                </a:solidFill>
                <a:latin typeface="맑은 고딕"/>
              </a:rPr>
              <a:t>consume 1.0매/분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373368" y="4361688"/>
            <a:ext cx="5221224" cy="237744"/>
          </a:xfrm>
          <a:prstGeom prst="rect">
            <a:avLst/>
          </a:prstGeom>
          <a:solidFill>
            <a:srgbClr val="F7E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4361688"/>
            <a:ext cx="5074920" cy="23774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30" b="1">
                <a:solidFill>
                  <a:srgbClr val="B33A3A"/>
                </a:solidFill>
                <a:latin typeface="맑은 고딕"/>
              </a:rPr>
              <a:t>net=0.4/분 → starve_time=15/0.4=37.5분 → norm=min(37.5/360,1)=0.10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373368" y="4636008"/>
            <a:ext cx="5221224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30" b="0">
                <a:solidFill>
                  <a:srgbClr val="5C6670"/>
                </a:solidFill>
                <a:latin typeface="맑은 고딕"/>
              </a:rPr>
              <a:t>consume&gt;supply 이면 net_rate로 재공이 줄어 T_avail 내 소진 위험(0에 가까움=위험)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eqp[0~1] needs_conversion · avoidable_frac  ·  eqp[2~3] prev_prod · prev_oper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needs_conversion=1.0 / avoidable_frac=0.619 / prev_prod=0.0 / prev_oper=0.0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prev_prod/prev_oper는 same_setup 보상(현재 EQP 기준)과 정렬 — 구 ch5 same_ppk(전역) 대체.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feasible 버킷 중 전환이 전혀 필요 없는 설비라면 needs_conversion=0.0, avoidable_frac도 계산 자체가 안 되어 0.0으로 유지.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37943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needs_conversion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94328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1943282"/>
            <a:ext cx="3203143" cy="65836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190670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112264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max_avoidable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21760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217602"/>
            <a:ext cx="1982745" cy="65836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18102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386584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prev_prod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encode(PPK002)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249192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0" y="2491922"/>
            <a:ext cx="18288" cy="65836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50247" y="245534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2660903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prev_oper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encode(OPER001)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276624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0" y="2766242"/>
            <a:ext cx="18288" cy="65836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50247" y="272966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직전 배정 인코딩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42999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79575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encode(P2),encode(O1)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64814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041293" y="2240280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77869" y="2240280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0.0, 0.0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feasible 순회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3218687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3218687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(PPK001,OPER002) 전환 필요 발견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319478" y="4197095"/>
            <a:ext cx="1609344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356054" y="4197095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needs_conversion=1.0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42999" y="5175503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79575" y="5175503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max_avoidable 갱신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08198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684677" y="5175503"/>
            <a:ext cx="1609344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21253" y="5175503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avoidable_frac=0.619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ch13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avoidable_frac(ch13) 상세   (simulation/simulator.py)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avoidable_frac (ch13)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대체 가능한 다른 설비가 전혀 없다면(alt_cap=0) coverage_frac=0 — α는 short_run_frac만으로 결정되고, 짧게 돌고 끝나는 상황이면 α가 1.0까지 치솟아 '회피 불가능한 전환'이 됨.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  <a:p>
            <a:pPr>
              <a:lnSpc>
                <a:spcPct val="112000"/>
              </a:lnSpc>
              <a:spcBef>
                <a:spcPts val="600"/>
              </a:spcBef>
            </a:pPr>
            <a:r>
              <a:rPr sz="969" b="0">
                <a:solidFill>
                  <a:srgbClr val="1B3255"/>
                </a:solidFill>
                <a:latin typeface="맑은 고딕"/>
              </a:rPr>
              <a:t>Case B (반대 상황)  아직 아무도 배정되지 않은 첫 스텝(_last_assigned=None)이면 ctx[0~3] 전부 0.0 — '직전 맥락 없음'을 나타내는 초기 상태.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37943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last_ppk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encode(PPK001) 1/(10-1)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989368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1989368"/>
            <a:ext cx="355548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1952792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0.111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208276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last_oper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encode(OPER002) 1/(3-1)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359700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359700"/>
            <a:ext cx="1601571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323124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578608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last_eqp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encode(EQP003) 2/(3-1)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2730032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0" y="2730032"/>
            <a:ext cx="3203143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50247" y="2693456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2948940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last_lot_cd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encode(A) 1/(2-1)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3100364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0" y="3100364"/>
            <a:ext cx="3203143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50247" y="3063788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직전 배정 조회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plan_prod_key=P1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lot_id=L099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16781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553357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eqp_id=E003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25364" y="2240280"/>
            <a:ext cx="75346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61940" y="2240280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lot_cd=A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oper 역추적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2999" y="321868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79575" y="321868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lot_id→lots 검색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65551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542031" y="3218687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78607" y="321868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OPER002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last_ppk / last_oper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4197095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4197095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encode(P1)=1/(10−1)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22167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898647" y="4197095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935223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0.111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479291" y="4197095"/>
            <a:ext cx="146669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515867" y="4197095"/>
            <a:ext cx="139354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encode(O2)=1/(3−1)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87136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163615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200191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last_eqp / last_lot_cd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5175503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5175503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encode(EQP003)=2/(3−1)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36137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112616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149192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550614" y="5175503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87190" y="5175503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encode(A)=1/(2−1)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87136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63615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200191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