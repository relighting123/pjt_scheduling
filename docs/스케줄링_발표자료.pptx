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charts/chart3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305" r:id="rId56"/>
    <p:sldId id="306" r:id="rId57"/>
    <p:sldId id="307" r:id="rId58"/>
    <p:sldId id="308" r:id="rId59"/>
    <p:sldId id="309" r:id="rId60"/>
    <p:sldId id="310" r:id="rId61"/>
    <p:sldId id="311" r:id="rId62"/>
    <p:sldId id="312" r:id="rId6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5" Type="http://schemas.openxmlformats.org/officeDocument/2006/relationships/slide" Target="slides/slide49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5.xml"/><Relationship Id="rId62" Type="http://schemas.openxmlformats.org/officeDocument/2006/relationships/slide" Target="slides/slide56.xml"/><Relationship Id="rId63" Type="http://schemas.openxmlformats.org/officeDocument/2006/relationships/slide" Target="slides/slide57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_rels/chart3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3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생산 수량 (개, 최대 24)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 수량</c:v>
                </c:pt>
              </c:strCache>
            </c:strRef>
          </c:tx>
          <c:dPt>
            <c:idx val="0"/>
            <c:spPr>
              <a:solidFill>
                <a:srgbClr val="C28A8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18</c:v>
                </c:pt>
                <c:pt idx="1">
                  <c:v>24</c:v>
                </c:pt>
                <c:pt idx="2">
                  <c:v>24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26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250" b="1">
                <a:solidFill>
                  <a:srgbClr val="1B3255"/>
                </a:solidFill>
                <a:latin typeface="맑은 고딕"/>
              </a:defRPr>
            </a:pPr>
            <a:r>
              <a:t>전환 횟수 (회, 낮을수록 우수)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전환 횟수</c:v>
                </c:pt>
              </c:strCache>
            </c:strRef>
          </c:tx>
          <c:dPt>
            <c:idx val="0"/>
            <c:spPr>
              <a:solidFill>
                <a:srgbClr val="B33A3A"/>
              </a:solidFill>
            </c:spPr>
          </c:dPt>
          <c:dPt>
            <c:idx val="1"/>
            <c:spPr>
              <a:solidFill>
                <a:srgbClr val="4A6D8C"/>
              </a:solidFill>
            </c:spPr>
          </c:dPt>
          <c:dPt>
            <c:idx val="2"/>
            <c:spPr>
              <a:solidFill>
                <a:srgbClr val="2E6FB0"/>
              </a:solidFill>
            </c:spPr>
          </c:dPt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 PPO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</c:v>
                </c:pt>
                <c:pt idx="1">
                  <c:v>0</c:v>
                </c:pt>
                <c:pt idx="2">
                  <c:v>0</c:v>
                </c:pt>
              </c:numCache>
            </c:numRef>
          </c:val>
        </c:ser>
        <c:dLbls>
          <c:txPr>
            <a:bodyPr/>
            <a:lstStyle/>
            <a:p>
              <a:pPr>
                <a:defRPr sz="110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8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5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8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3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title>
      <c:tx>
        <c:rich>
          <a:bodyPr/>
          <a:lstStyle/>
          <a:p>
            <a:pPr>
              <a:defRPr sz="1300" b="1">
                <a:solidFill>
                  <a:srgbClr val="1B3255"/>
                </a:solidFill>
                <a:latin typeface="맑은 고딕"/>
              </a:defRPr>
            </a:pPr>
            <a:r>
              <a:t>8종 종합 — 생산률 · 평균 가동률</a:t>
            </a:r>
          </a:p>
        </c:rich>
      </c:tx>
      <c:layout/>
      <c:overlay val="0"/>
    </c:title>
    <c:autoTitleDeleted val="0"/>
    <c:plotArea>
      <c:barChart>
        <c:barDir val="col"/>
        <c:grouping val="clustered"/>
        <c:ser>
          <c:idx val="0"/>
          <c:order val="0"/>
          <c:tx>
            <c:strRef>
              <c:f>Sheet1!$B$1</c:f>
              <c:strCache>
                <c:ptCount val="1"/>
                <c:pt idx="0">
                  <c:v>생산률(%)</c:v>
                </c:pt>
              </c:strCache>
            </c:strRef>
          </c:tx>
          <c:spPr>
            <a:solidFill>
              <a:srgbClr val="2E6FB0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Sheet1!$B$2:$B$4</c:f>
              <c:numCache>
                <c:formatCode>General</c:formatCode>
                <c:ptCount val="3"/>
                <c:pt idx="0">
                  <c:v>67.8</c:v>
                </c:pt>
                <c:pt idx="1">
                  <c:v>80.8</c:v>
                </c:pt>
                <c:pt idx="2">
                  <c:v>93.8</c:v>
                </c:pt>
              </c:numCache>
            </c:numRef>
          </c:val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평균 가동률(%)</c:v>
                </c:pt>
              </c:strCache>
            </c:strRef>
          </c:tx>
          <c:spPr>
            <a:solidFill>
              <a:srgbClr val="4A6D8C"/>
            </a:solidFill>
          </c:spPr>
          <c:cat>
            <c:strRef>
              <c:f>Sheet1!$A$2:$A$4</c:f>
              <c:strCache>
                <c:ptCount val="3"/>
                <c:pt idx="0">
                  <c:v>Earliest-ST</c:v>
                </c:pt>
                <c:pt idx="1">
                  <c:v>Min-Progress</c:v>
                </c:pt>
                <c:pt idx="2">
                  <c:v>Bulk-Fill</c:v>
                </c:pt>
              </c:strCache>
            </c:strRef>
          </c:cat>
          <c:val>
            <c:numRef>
              <c:f>Sheet1!$C$2:$C$4</c:f>
              <c:numCache>
                <c:formatCode>General</c:formatCode>
                <c:ptCount val="3"/>
                <c:pt idx="0">
                  <c:v>57.1</c:v>
                </c:pt>
                <c:pt idx="1">
                  <c:v>71.1</c:v>
                </c:pt>
                <c:pt idx="2">
                  <c:v>81.3</c:v>
                </c:pt>
              </c:numCache>
            </c:numRef>
          </c:val>
        </c:ser>
        <c:dLbls>
          <c:numFmt formatCode="0&quot;%&quot;" sourceLinked="0"/>
          <c:txPr>
            <a:bodyPr/>
            <a:lstStyle/>
            <a:p>
              <a:pPr>
                <a:defRPr sz="950" b="1">
                  <a:solidFill>
                    <a:srgbClr val="1B3255"/>
                  </a:solidFill>
                  <a:latin typeface="맑은 고딕"/>
                </a:defRPr>
              </a:pPr>
            </a:p>
          </c:txPr>
          <c:showLegendKey val="0"/>
          <c:showVal val="1"/>
          <c:showCatName val="0"/>
          <c:showSerName val="0"/>
          <c:showPercent val="0"/>
          <c:showBubbleSize val="0"/>
          <c:showLeaderLines val="1"/>
        </c:dLbls>
        <c:gapWidth val="90"/>
        <c:axId val="-2068027336"/>
        <c:axId val="-2113994440"/>
      </c:barChart>
      <c:catAx>
        <c:axId val="-2068027336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1000">
                <a:latin typeface="맑은 고딕"/>
              </a:defRPr>
            </a:pPr>
          </a:p>
        </c:txPr>
        <c:crossAx val="-2113994440"/>
        <c:crosses val="autoZero"/>
        <c:auto val="1"/>
        <c:lblAlgn val="ctr"/>
        <c:lblOffset val="100"/>
        <c:noMultiLvlLbl val="0"/>
      </c:catAx>
      <c:valAx>
        <c:axId val="-2113994440"/>
        <c:scaling>
          <c:max val="110.0"/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>
                <a:latin typeface="맑은 고딕"/>
              </a:defRPr>
            </a:pPr>
          </a:p>
        </c:txPr>
        <c:crossAx val="-2068027336"/>
        <c:crosses val="autoZero"/>
      </c:valAx>
    </c:plotArea>
    <c:legend>
      <c:legendPos val="b"/>
      <c:overlay val="0"/>
      <c:txPr>
        <a:bodyPr/>
        <a:lstStyle/>
        <a:p>
          <a:pPr>
            <a:defRPr sz="1000">
              <a:latin typeface="맑은 고딕"/>
            </a:defRPr>
          </a:pPr>
        </a:p>
      </c:txPr>
    </c:legend>
    <c:dispBlanksAs val="gap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3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869680" y="0"/>
            <a:ext cx="3322015" cy="6858000"/>
          </a:xfrm>
          <a:prstGeom prst="rect">
            <a:avLst/>
          </a:prstGeom>
          <a:solidFill>
            <a:srgbClr val="16294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822960" y="914400"/>
            <a:ext cx="109728" cy="1554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051560" y="914400"/>
            <a:ext cx="82296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설비 스케줄링 · 강화학습 적용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33271" y="1417320"/>
            <a:ext cx="841248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Bulk-Fill 강화학습 기반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200"/>
              </a:spcAft>
            </a:pPr>
            <a:r>
              <a:rPr sz="3800" b="1">
                <a:solidFill>
                  <a:srgbClr val="FFFFFF"/>
                </a:solidFill>
                <a:latin typeface="맑은 고딕"/>
              </a:rPr>
              <a:t>반도체 설비 스케줄링 모델</a:t>
            </a:r>
          </a:p>
        </p:txBody>
      </p:sp>
      <p:sp>
        <p:nvSpPr>
          <p:cNvPr id="8" name="Rectangle 7"/>
          <p:cNvSpPr/>
          <p:nvPr/>
        </p:nvSpPr>
        <p:spPr>
          <a:xfrm>
            <a:off x="1078992" y="3611880"/>
            <a:ext cx="4754880" cy="18288"/>
          </a:xfrm>
          <a:prstGeom prst="rect">
            <a:avLst/>
          </a:prstGeom>
          <a:solidFill>
            <a:srgbClr val="3A557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51560" y="3767328"/>
            <a:ext cx="8686800" cy="10972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MDP 모델 정의(State · Action · Reward)와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300"/>
              </a:spcAft>
            </a:pPr>
            <a:r>
              <a:rPr sz="1600" b="0">
                <a:solidFill>
                  <a:srgbClr val="C9D8E8"/>
                </a:solidFill>
                <a:latin typeface="맑은 고딕"/>
              </a:rPr>
              <a:t>테스트 데이터 기반 알고리즘 KPI 비교 · 효과성 검증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51560" y="5943600"/>
            <a:ext cx="7315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Project  pjt_scheduling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052560" y="5943600"/>
            <a:ext cx="27432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8FA6C0"/>
                </a:solidFill>
                <a:latin typeface="맑은 고딕"/>
              </a:rPr>
              <a:t>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CONTENTS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목차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508760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783080" y="1572768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문제 정의 및 시스템 구조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801368" y="1965960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스케줄링 과제 · 전환 비용 · 모듈 아키텍처와 구조적 강점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2960" y="2587752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783080" y="2651760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Bulk-Fill MDP 모델 정의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801368" y="3044952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State · Action · Reward 상세(항목별 예시) · 마스킹 · 블록 점유 메커니즘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666744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783080" y="3730752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보상 산출 로직 예시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801368" y="4123944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입력 JSON · 보상 항목별 상세(8p) · 스텝별 SAR · 누적 간트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22960" y="4745736"/>
            <a:ext cx="786384" cy="7863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>
                <a:solidFill>
                  <a:srgbClr val="FFFFFF"/>
                </a:solidFill>
                <a:latin typeface="맑은 고딕"/>
              </a:rPr>
              <a:t>04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783080" y="4809744"/>
            <a:ext cx="96926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1B3255"/>
                </a:solidFill>
                <a:latin typeface="맑은 고딕"/>
              </a:rPr>
              <a:t>알고리즘 KPI 비교 및 효과성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801368" y="5202936"/>
            <a:ext cx="96926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5C6670"/>
                </a:solidFill>
                <a:latin typeface="맑은 고딕"/>
              </a:rPr>
              <a:t>테스트 데이터 기반 정량 비교 · 학습 모델 효과 입증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스케줄링 과제와 전환(Conversion) 비용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325880"/>
            <a:ext cx="1060704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>
                <a:solidFill>
                  <a:srgbClr val="222A33"/>
                </a:solidFill>
                <a:latin typeface="맑은 고딕"/>
              </a:rPr>
              <a:t>설비가 유휴 상태가 될 때마다 </a:t>
            </a:r>
            <a:r>
              <a:rPr sz="1400" b="1">
                <a:solidFill>
                  <a:srgbClr val="1B3255"/>
                </a:solidFill>
                <a:latin typeface="맑은 고딕"/>
              </a:rPr>
              <a:t>어떤 제품·공정(PPK·OPER)을 투입할지</a:t>
            </a:r>
            <a:r>
              <a:rPr sz="1400" b="0">
                <a:solidFill>
                  <a:srgbClr val="222A33"/>
                </a:solidFill>
                <a:latin typeface="맑은 고딕"/>
              </a:rPr>
              <a:t> 결정하는 순차적 의사결정 문제입니다.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2057400"/>
            <a:ext cx="52578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핵심 난점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514600"/>
            <a:ext cx="525780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051560" y="2697480"/>
            <a:ext cx="4846320" cy="2377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제품 전환마다 셋업 손실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LOT_CD/TEMP가 바뀌면 전환(conversion) 시간이 발생해 그만큼 가동 시간이 사라집니다.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계획·재공·설비 제약 동시 고려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계획량, 가용 재공(WIP), 설비-제품 적합성, 동시 가공 공구(tool) 한도를 함께 만족해야 합니다.</a:t>
            </a:r>
          </a:p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9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▪  </a:t>
            </a:r>
            <a:r>
              <a:rPr sz="1280" b="1">
                <a:solidFill>
                  <a:srgbClr val="1B3255"/>
                </a:solidFill>
                <a:latin typeface="맑은 고딕"/>
              </a:rPr>
              <a:t>근시안적 1매 배정의 한계</a:t>
            </a:r>
            <a:r>
              <a:rPr sz="1230" b="0">
                <a:solidFill>
                  <a:srgbClr val="5C6670"/>
                </a:solidFill>
                <a:latin typeface="맑은 고딕"/>
              </a:rPr>
              <a:t>   유휴 설비에 1캐리어씩만 배정하면 같은 셋업을 길게 이어가지 못해 전환이 잦아집니다.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55080" y="2057400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전환 비용의 정량적 의미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355080" y="2514600"/>
            <a:ext cx="4983480" cy="26974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583680" y="2697480"/>
            <a:ext cx="457200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5C6670"/>
                </a:solidFill>
                <a:latin typeface="맑은 고딕"/>
              </a:rPr>
              <a:t>처리시간 = 전환시간 = 60분, 가동 8시간 기준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583680" y="3200400"/>
            <a:ext cx="4526280" cy="8686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700" b="1">
                <a:solidFill>
                  <a:srgbClr val="1B3255"/>
                </a:solidFill>
                <a:latin typeface="맑은 고딕"/>
              </a:rPr>
              <a:t>전환 1회  =  캐리어 1개 손실</a:t>
            </a:r>
          </a:p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2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설비당 8캐리어 처리 가능 → 전환 n회 시 (8 − n)개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0" y="4206240"/>
            <a:ext cx="45720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250" b="1">
                <a:solidFill>
                  <a:srgbClr val="B33A3A"/>
                </a:solidFill>
                <a:latin typeface="맑은 고딕"/>
              </a:rPr>
              <a:t>생산 수량 손실로 직접 환산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되므로, 전환 최소화가 곧 처리량 극대화로 이어집니다.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5440680"/>
            <a:ext cx="10515600" cy="7772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1097280" y="5440680"/>
            <a:ext cx="10058400" cy="7772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9DBEE0"/>
                </a:solidFill>
                <a:latin typeface="맑은 고딕"/>
              </a:rPr>
              <a:t>설계 목표  </a:t>
            </a:r>
            <a:r>
              <a:rPr sz="1350" b="0">
                <a:solidFill>
                  <a:srgbClr val="FFFFFF"/>
                </a:solidFill>
                <a:latin typeface="맑은 고딕"/>
              </a:rPr>
              <a:t>재공이 충분하면 takt에 맞춰 균등 생산하고, 편중되면 몰린 공정에 집중하되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불필요한 전환은 회피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모듈 아키텍처 — 데이터에서 추론·시각화까지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data/loader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0080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데이터 적재·전처리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Oracle·JSON → env_data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(arrange·plan·flow·tool)</a:t>
            </a:r>
          </a:p>
        </p:txBody>
      </p:sp>
      <p:sp>
        <p:nvSpPr>
          <p:cNvPr id="14" name="Right Arrow 13"/>
          <p:cNvSpPr/>
          <p:nvPr/>
        </p:nvSpPr>
        <p:spPr>
          <a:xfrm>
            <a:off x="2656332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816352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simulation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816352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2889504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89504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DES 엔진·상태/보상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LOT·EQP 규칙 배정</a:t>
            </a:r>
          </a:p>
        </p:txBody>
      </p:sp>
      <p:sp>
        <p:nvSpPr>
          <p:cNvPr id="19" name="Right Arrow 18"/>
          <p:cNvSpPr/>
          <p:nvPr/>
        </p:nvSpPr>
        <p:spPr>
          <a:xfrm>
            <a:off x="4905755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065776" y="1554480"/>
            <a:ext cx="2084831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env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065776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5138928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Gym 환경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138928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SchedulingEnv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BulkFillEnv(마스킹)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7155180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7315200" y="1554480"/>
            <a:ext cx="2084831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agent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7315200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388352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정책·휴리스틱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388352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PPO(학습)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Min-Progress·Earliest-ST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9404604" y="2267712"/>
            <a:ext cx="182879" cy="38404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9564624" y="1554480"/>
            <a:ext cx="2084831" cy="45720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inference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564624" y="2011680"/>
            <a:ext cx="2084831" cy="13716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9637776" y="2121408"/>
            <a:ext cx="1938527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추론·결과 출력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9637776" y="2542032"/>
            <a:ext cx="1938527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스케줄·KPI·전환계획</a:t>
            </a:r>
          </a:p>
          <a:p>
            <a:pPr algn="ctr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output.json / DB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66928" y="3657600"/>
            <a:ext cx="11064240" cy="18288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6692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4980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config.py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74980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환경 축(O·P·K)·보상 가중치·경로 설정</a:t>
            </a:r>
          </a:p>
        </p:txBody>
      </p:sp>
      <p:sp>
        <p:nvSpPr>
          <p:cNvPr id="39" name="Rectangle 38"/>
          <p:cNvSpPr/>
          <p:nvPr/>
        </p:nvSpPr>
        <p:spPr>
          <a:xfrm>
            <a:off x="335584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335584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353872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api · frontend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353872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FastAPI + React 대시보드 · 간트/KPI 시각화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14476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14476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327648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benchmark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27648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직관형 검증 데이터셋(CONV_BENCH) 생성·평가</a:t>
            </a:r>
          </a:p>
        </p:txBody>
      </p:sp>
      <p:sp>
        <p:nvSpPr>
          <p:cNvPr id="47" name="Rectangle 46"/>
          <p:cNvSpPr/>
          <p:nvPr/>
        </p:nvSpPr>
        <p:spPr>
          <a:xfrm>
            <a:off x="8933688" y="3886200"/>
            <a:ext cx="2706624" cy="9144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933688" y="3886200"/>
            <a:ext cx="73152" cy="9144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116567" y="3986784"/>
            <a:ext cx="2432304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models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9116567" y="4334256"/>
            <a:ext cx="2414016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PPO 체크포인트(rl · bulkfill 분리 저장)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074920"/>
            <a:ext cx="11064240" cy="114300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777240" y="5175504"/>
            <a:ext cx="106984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6FB0"/>
                </a:solidFill>
                <a:latin typeface="맑은 고딕"/>
              </a:rPr>
              <a:t>설계 포인트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77240" y="5522976"/>
            <a:ext cx="1078992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정책(RL)은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(PPK, OPER) 버킷 선택에만 집중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하고, LOT·EQP 세부 배정과 이산사건 무결성은 시뮬레이터 규칙이 보장합니다.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행동 공간을 작게 유지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해 학습이 안정적이며, 시뮬레이터·환경·정책이 느슨하게 결합되어 휴리스틱과 동일 조건에서 비교할 수 있습니다.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01  문제 정의 및 시스템 구조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구조적 특징과 강점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05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2296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이산사건 시뮬레이션 기반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0584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설비 배정 즉시 busy 전환·종료 이벤트로 진행하는 DES로 실제 라인 동작에 부합하는 일정·전환을 재현합니다.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38912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38912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7200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벌크 점유(Bulk-Fill) 행동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57200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정책이 (버킷 + 블록 크기)를 함께 선택해 같은 셋업으로 N캐리어를 연속 점유 → 전환 빈도를 구조적으로 억제합니다.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955280" y="1417320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955280" y="1417320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138160" y="1618488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행동 마스킹(MaskablePPO)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138160" y="2093976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유효하지 않은 (PPK·OPER)·블록 크기는 마스크로 차단해 무효 행동 탐색을 제거하고 학습 효율을 높입니다.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0584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계획·재공 적응형 보상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0584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고정 계획이 아닌 달성가능 상한(achievable) 기준 takt를 추종해 재공 한계 내에서만 페이싱합니다.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38912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38912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7200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전환 비용의 정량 모델링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57200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전환 1회=설비 가동 손실로 환산해 회피가능 전환에 추가 패널티를 부여, 불필요한 셋업 변경을 억제합니다.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7955280" y="3081528"/>
            <a:ext cx="3401568" cy="148132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7955280" y="3081528"/>
            <a:ext cx="3401568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138160" y="3282696"/>
            <a:ext cx="3035808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동일 조건 알고리즘 비교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138160" y="3758184"/>
            <a:ext cx="3054096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5C6670"/>
                </a:solidFill>
                <a:latin typeface="맑은 고딕"/>
              </a:rPr>
              <a:t>PPO·휴리스틱이 같은 시뮬레이터·KPI로 평가되어 효과를 객관적으로 검증할 수 있습니다.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4754880"/>
            <a:ext cx="10515600" cy="14173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1097280" y="4882896"/>
            <a:ext cx="100584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요약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97280" y="5212080"/>
            <a:ext cx="100584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3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작은 행동 공간 · 마스킹 · 벌크 점유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결합해 전환을 줄이면서 계획을 추종하도록 설계했으며, 이산사건 시뮬레이터 위에서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휴리스틱과 1:1로 비교 가능한 검증 체계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를 갖췄습니다.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강화학습 의사결정 구조 (MDP) 개요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매 유휴 설비 결정 시점을 1 스텝으로 보고,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상태(State) → 행동(Action) → 보상(Reward)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 순환으로 정책을 학습합니다.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1005840" y="2057400"/>
            <a:ext cx="3017520" cy="10515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정책 (Agent)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MaskablePPO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138160" y="2057400"/>
            <a:ext cx="3017520" cy="10515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환경 (Environment)</a:t>
            </a:r>
          </a:p>
          <a:p>
            <a:pPr algn="ctr"/>
            <a:r>
              <a:rPr sz="1400" b="1">
                <a:solidFill>
                  <a:srgbClr val="FFFFFF"/>
                </a:solidFill>
                <a:latin typeface="맑은 고딕"/>
              </a:rPr>
              <a:t>이산사건 시뮬레이터</a:t>
            </a:r>
          </a:p>
        </p:txBody>
      </p:sp>
      <p:sp>
        <p:nvSpPr>
          <p:cNvPr id="13" name="Right Arrow 12"/>
          <p:cNvSpPr/>
          <p:nvPr/>
        </p:nvSpPr>
        <p:spPr>
          <a:xfrm>
            <a:off x="4114800" y="2240280"/>
            <a:ext cx="3931920" cy="36576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114800" y="1883664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행동 a : (버킷, 블록크기)</a:t>
            </a:r>
          </a:p>
        </p:txBody>
      </p:sp>
      <p:sp>
        <p:nvSpPr>
          <p:cNvPr id="15" name="Left Arrow 14"/>
          <p:cNvSpPr/>
          <p:nvPr/>
        </p:nvSpPr>
        <p:spPr>
          <a:xfrm>
            <a:off x="4114800" y="2743200"/>
            <a:ext cx="3931920" cy="365760"/>
          </a:xfrm>
          <a:prstGeom prst="lef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114800" y="3127248"/>
            <a:ext cx="393192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상태 s′ · 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State  (관측)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87552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1,814차원 벡터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1005840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전역 6 + 버킷 O×P×K×12 + 설비 4 + 맥락 4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53128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4453128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617720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MultiDiscrete([O·P, L])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910328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36008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투입할 (PPK·OPER) 버킷 + 블록 크기 레벨 4단계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083296" y="3749039"/>
            <a:ext cx="3456432" cy="21488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083296" y="3749039"/>
            <a:ext cx="3456432" cy="50292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맑은 고딕"/>
              </a:rPr>
              <a:t>Reward  (보상)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247888" y="4434840"/>
            <a:ext cx="3127248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1B3255"/>
                </a:solidFill>
                <a:latin typeface="맑은 고딕"/>
              </a:rPr>
              <a:t>전환·페이싱·벌크 합산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540496" y="5029200"/>
            <a:ext cx="2542032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266175" y="5138928"/>
            <a:ext cx="3090672" cy="7315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180" b="0">
                <a:solidFill>
                  <a:srgbClr val="5C6670"/>
                </a:solidFill>
                <a:latin typeface="맑은 고딕"/>
              </a:rPr>
              <a:t>전환 회피 + takt 추종 + 큰 블록 점유 유도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관측 공간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관측은 [0,1]로 정규화된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1,964차원 Box 벡터</a:t>
            </a:r>
            <a:r>
              <a:rPr sz="1300" b="0">
                <a:solidFill>
                  <a:srgbClr val="5C6670"/>
                </a:solidFill>
                <a:latin typeface="맑은 고딕"/>
              </a:rPr>
              <a:t> 입니다.  (O=3, P=10, K=5, 버킷 채널 F=13 기준)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22960" y="1874519"/>
            <a:ext cx="10515600" cy="60350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>
                <a:solidFill>
                  <a:srgbClr val="FFFFFF"/>
                </a:solidFill>
                <a:latin typeface="맑은 고딕"/>
              </a:rPr>
              <a:t>obs_dim = 6 (전역)  +  O×P×K×13 (버킷)  +  4 (현재 설비)  +  4 (직전 맥락)  =  1,964</a:t>
            </a:r>
          </a:p>
        </p:txBody>
      </p:sp>
      <p:sp>
        <p:nvSpPr>
          <p:cNvPr id="13" name="Rectangle 12"/>
          <p:cNvSpPr/>
          <p:nvPr/>
        </p:nvSpPr>
        <p:spPr>
          <a:xfrm>
            <a:off x="82296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822960" y="2606040"/>
            <a:ext cx="516636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전역 상태 (Global)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02336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6 차원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0584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경과시간 · 잔여 takt여유 · 재공 소진율 · 계획 달성률 · 전환대기 설비 비율 · 공구 가동률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60604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606040"/>
            <a:ext cx="516636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309360" y="267919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버킷 특징 (Bucket)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372600" y="267919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1,950 차원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55080" y="308152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(OPER×PPK×MODEL) 격자 13채널: WIP비중·takt·ST·urgency·전환/공구·달성가능·투영커버·소진시간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822960" y="4251960"/>
            <a:ext cx="5166360" cy="384048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6012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현재 설비 (EQP local)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02336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0584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전환 필요 · 회피가능 α · 직전 PPK · 직전 OPER (same_setup 정렬)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172200" y="4251960"/>
            <a:ext cx="5166360" cy="146304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172200" y="4251960"/>
            <a:ext cx="5166360" cy="384048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09360" y="4325112"/>
            <a:ext cx="3099816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직전 맥락 (Context)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372600" y="4325112"/>
            <a:ext cx="1828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4 차원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355080" y="4727448"/>
            <a:ext cx="4800600" cy="9144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222A33"/>
                </a:solidFill>
                <a:latin typeface="맑은 고딕"/>
              </a:rPr>
              <a:t>직전 배정의 PPK · OPER · EQP · LOT_CD (정규화 인덱스)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22960" y="5989320"/>
            <a:ext cx="105156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다음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4개 State 블록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을 항목별 상세(채널 정의·실측 산출식 값)로 설명합니다.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버킷 채널</a:t>
            </a:r>
            <a:r>
              <a:rPr sz="1250" b="0">
                <a:solidFill>
                  <a:srgbClr val="5C6670"/>
                </a:solidFill>
                <a:latin typeface="맑은 고딕"/>
              </a:rPr>
              <a:t>이 전환 회피·페이싱 판단의 근거가 됩니다.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전역 상태 (Global)  (obs[0:6])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라인 전체 상황 — 시간·takt 여유·재공·계획·전환·공구를 6개 숫자로 요약합니다.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정책이 "지금 몇 시쯤인지, 얼마나 급한지"를 전역적으로 파악하게 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시뮬 경과 비율 (0=시작, 1=종료)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min(0/480, 1) 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horizon 여유 (1→여유 많음)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미배정 재공 비율 (↓=소진)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1.0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전체 계획 달성률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min(0/24, 1) 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480560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obs[4]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480560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480560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셋업 바꾸느라 대기 중인 설비 비율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480560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956048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obs[5]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956048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956048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포화 정도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956048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전역 모니터링 메트릭스 (인포그래픽)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080760" y="276148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1. 시뮬레이션 경과 시간 (time_norm)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min(t / sim_end,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080760" y="303580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080760" y="3035808"/>
            <a:ext cx="2258568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692640" y="300837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65%  (t=936 / 1440)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080760" y="353872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2. 납기 시간 마진 (takt_margin)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(soft_cutoff − t) / soft_cutoff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080760" y="381304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080760" y="3813048"/>
            <a:ext cx="1216151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692640" y="378561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35%  (남은 시간 여유 35%)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080760" y="4315968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3. 전체 계획 달성률 (plan_progress)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Σ완료 / Σ계획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080760" y="4590288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080760" y="4590288"/>
            <a:ext cx="1911095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692640" y="456285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55%  (생산 달성 55%)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5093207"/>
            <a:ext cx="544068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 공구 가동 사용률 (tool_util)</a:t>
            </a:r>
            <a:r>
              <a:rPr sz="900" b="0">
                <a:solidFill>
                  <a:srgbClr val="5C6670"/>
                </a:solidFill>
                <a:latin typeface="맑은 고딕"/>
              </a:rPr>
              <a:t>  utilization</a:t>
            </a:r>
          </a:p>
        </p:txBody>
      </p:sp>
      <p:sp>
        <p:nvSpPr>
          <p:cNvPr id="59" name="Rectangle 58"/>
          <p:cNvSpPr/>
          <p:nvPr/>
        </p:nvSpPr>
        <p:spPr>
          <a:xfrm>
            <a:off x="6080760" y="5367527"/>
            <a:ext cx="3474720" cy="2011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6080760" y="5367527"/>
            <a:ext cx="1563624" cy="20116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9692640" y="5340096"/>
            <a:ext cx="1828800" cy="2286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45%  (동시 점유 공구 45%)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버킷 특징 (Bucket)  (obs[6 : 6 + O×P×10 + O×P×K×3])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09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(OPER×PPK×모델) 격자마다 13채널 — "이 버킷을 지금 잡으면 시급·전환·중복인가"를 알려줍니다.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보상(페이싱·중복커버·전환) 판단의 근거가 되는 핵심 특징입니다.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ch0-1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wip_비중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재공이 이 버킷에 얼마나 몰려있나 (전체 대비 / 같은 제품 대비)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57576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ch2-3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2957576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2957576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상류(이전공정)·하류(다음공정) 기준 요구 속도 — 수요 vs 설비capa 중 더 빠듯한 쪽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2957576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336543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336543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36543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(PPK×OPER×MODEL) per-wafer 처리시간(정규화)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336543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3715512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ch5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3715512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3715512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남은 계획 대비 시간 압박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3715512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094480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ch8</a:t>
            </a:r>
          </a:p>
        </p:txBody>
      </p:sp>
      <p:sp>
        <p:nvSpPr>
          <p:cNvPr id="37" name="Rectangle 36"/>
          <p:cNvSpPr/>
          <p:nvPr/>
        </p:nvSpPr>
        <p:spPr>
          <a:xfrm>
            <a:off x="1280160" y="4094480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8" name="Rectangle 37"/>
          <p:cNvSpPr/>
          <p:nvPr/>
        </p:nvSpPr>
        <p:spPr>
          <a:xfrm>
            <a:off x="2331720" y="4094480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버킷 잡으면 셋업 변경?</a:t>
            </a:r>
          </a:p>
        </p:txBody>
      </p:sp>
      <p:sp>
        <p:nvSpPr>
          <p:cNvPr id="39" name="Rectangle 38"/>
          <p:cNvSpPr/>
          <p:nvPr/>
        </p:nvSpPr>
        <p:spPr>
          <a:xfrm>
            <a:off x="4069080" y="4094480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4473448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ch9</a:t>
            </a:r>
          </a:p>
        </p:txBody>
      </p:sp>
      <p:sp>
        <p:nvSpPr>
          <p:cNvPr id="41" name="Rectangle 40"/>
          <p:cNvSpPr/>
          <p:nvPr/>
        </p:nvSpPr>
        <p:spPr>
          <a:xfrm>
            <a:off x="1280160" y="4473448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tool_can_assign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331720" y="4473448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tool cap 통과 여부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069080" y="4473448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852416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ch10</a:t>
            </a:r>
          </a:p>
        </p:txBody>
      </p:sp>
      <p:sp>
        <p:nvSpPr>
          <p:cNvPr id="45" name="Rectangle 44"/>
          <p:cNvSpPr/>
          <p:nvPr/>
        </p:nvSpPr>
        <p:spPr>
          <a:xfrm>
            <a:off x="1280160" y="4852416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46" name="Rectangle 45"/>
          <p:cNvSpPr/>
          <p:nvPr/>
        </p:nvSpPr>
        <p:spPr>
          <a:xfrm>
            <a:off x="2331720" y="4852416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재공 한도 내 달성 가능한 상한 비율</a:t>
            </a:r>
          </a:p>
        </p:txBody>
      </p:sp>
      <p:sp>
        <p:nvSpPr>
          <p:cNvPr id="47" name="Rectangle 46"/>
          <p:cNvSpPr/>
          <p:nvPr/>
        </p:nvSpPr>
        <p:spPr>
          <a:xfrm>
            <a:off x="4069080" y="4852416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5231384"/>
            <a:ext cx="7772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ch11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280160" y="5231384"/>
            <a:ext cx="10515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5231384"/>
            <a:ext cx="173736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중복 커버 신호 — 클수록 다른 설비가 이미 커버 중(회피 유도)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4069080" y="5231384"/>
            <a:ext cx="1463040" cy="3789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5610352"/>
            <a:ext cx="7772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ch12</a:t>
            </a:r>
          </a:p>
        </p:txBody>
      </p:sp>
      <p:sp>
        <p:nvSpPr>
          <p:cNvPr id="53" name="Rectangle 52"/>
          <p:cNvSpPr/>
          <p:nvPr/>
        </p:nvSpPr>
        <p:spPr>
          <a:xfrm>
            <a:off x="1280160" y="5610352"/>
            <a:ext cx="10515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starve_time_norm</a:t>
            </a:r>
          </a:p>
        </p:txBody>
      </p:sp>
      <p:sp>
        <p:nvSpPr>
          <p:cNvPr id="54" name="Rectangle 53"/>
          <p:cNvSpPr/>
          <p:nvPr/>
        </p:nvSpPr>
        <p:spPr>
          <a:xfrm>
            <a:off x="2331720" y="5610352"/>
            <a:ext cx="173736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안전재공 소진 시간 (몇 시간 후 재공이 말라 안전재공이 사라지는지)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4069080" y="5610352"/>
            <a:ext cx="1463040" cy="3789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—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6080760" y="2322576"/>
            <a:ext cx="544068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버킷 (OPER × PPK × MODEL) 의사결정 흐름</a:t>
            </a:r>
          </a:p>
        </p:txBody>
      </p:sp>
      <p:sp>
        <p:nvSpPr>
          <p:cNvPr id="58" name="Rectangle 57"/>
          <p:cNvSpPr/>
          <p:nvPr/>
        </p:nvSpPr>
        <p:spPr>
          <a:xfrm>
            <a:off x="6080760" y="2807208"/>
            <a:ext cx="146304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상류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(prev_takt)</a:t>
            </a:r>
          </a:p>
        </p:txBody>
      </p:sp>
      <p:sp>
        <p:nvSpPr>
          <p:cNvPr id="59" name="Right Arrow 58"/>
          <p:cNvSpPr/>
          <p:nvPr/>
        </p:nvSpPr>
        <p:spPr>
          <a:xfrm>
            <a:off x="763524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8046720" y="2743200"/>
            <a:ext cx="1645920" cy="6400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현재 버킷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(wip_비중 / urgency)</a:t>
            </a:r>
          </a:p>
        </p:txBody>
      </p:sp>
      <p:sp>
        <p:nvSpPr>
          <p:cNvPr id="61" name="Right Arrow 60"/>
          <p:cNvSpPr/>
          <p:nvPr/>
        </p:nvSpPr>
        <p:spPr>
          <a:xfrm>
            <a:off x="9784080" y="2926080"/>
            <a:ext cx="320040" cy="228600"/>
          </a:xfrm>
          <a:prstGeom prst="right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10195560" y="2807208"/>
            <a:ext cx="1325880" cy="50292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하류 공정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(post_takt)</a:t>
            </a:r>
          </a:p>
        </p:txBody>
      </p:sp>
      <p:sp>
        <p:nvSpPr>
          <p:cNvPr id="63" name="Rectangle 62"/>
          <p:cNvSpPr/>
          <p:nvPr/>
        </p:nvSpPr>
        <p:spPr>
          <a:xfrm>
            <a:off x="6080760" y="3584448"/>
            <a:ext cx="5440680" cy="22402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6217920" y="3694176"/>
            <a:ext cx="5166360" cy="2011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핵심 제약 조건 및 케이스별 산식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가공 속도(self_st)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st_per_wafer / max_st  (모델별 가공속도)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셋업 전환(needs_conversion)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[prev_lot_cd != lot_cd]  (1회당 패널티)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공구 포화(tool_can_assign)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1 [net capa 잔여]  (부족 시 배정 차단)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달성 목표(achievable_ratio)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min(계획, 완료+상류WIP) / 계획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3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▪ 안전재공 소진(starve_time_norm) :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wip / (현재capa - 상류capa) / T_avail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현재 설비 (EQP local)  (obs[…+0:…+4])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지금 결정하는 그 설비의 전환·동일 셋업 맥락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회피가능 전환·same_setup 보상 학습에 직접 쓰입니다.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1)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설비가 feasible한 선택 중 셋업 변경이 필요한 게 있나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전환 시 회피가능 정도 (0~1, 보상 α와 동일 개념)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PPK (same_setup 판단용)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prev_prod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eqp[3]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 설비 직전 배정 OPER (same_setup 판단용)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EQP001 prev_oper → 정규화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 의사결정 시 셋업 전환 케이스 (미니 간트차트)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080760" y="280720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Case A. 무변환 배정 (연속 가공 → Setup 보너스 +1.0 대상)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3081528"/>
            <a:ext cx="21945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1" name="Right Arrow 40"/>
          <p:cNvSpPr/>
          <p:nvPr/>
        </p:nvSpPr>
        <p:spPr>
          <a:xfrm>
            <a:off x="8366760" y="3200400"/>
            <a:ext cx="320040" cy="228600"/>
          </a:xfrm>
          <a:prstGeom prst="rightArrow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8778240" y="3081528"/>
            <a:ext cx="2194560" cy="457200"/>
          </a:xfrm>
          <a:prstGeom prst="rect">
            <a:avLst/>
          </a:prstGeom>
          <a:solidFill>
            <a:srgbClr val="2E6FB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778240" y="3200400"/>
            <a:ext cx="21945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(LC01)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6080760" y="3813048"/>
            <a:ext cx="5440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Case B. 전환 배정 (셋업 교체 발생 → Conversion 패널티 -10.0 부과)</a:t>
            </a:r>
          </a:p>
        </p:txBody>
      </p:sp>
      <p:sp>
        <p:nvSpPr>
          <p:cNvPr id="45" name="Rectangle 44"/>
          <p:cNvSpPr/>
          <p:nvPr/>
        </p:nvSpPr>
        <p:spPr>
          <a:xfrm>
            <a:off x="6080760" y="4087368"/>
            <a:ext cx="1737360" cy="45720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6080760" y="4206240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prev_lot (LC01)</a:t>
            </a:r>
          </a:p>
        </p:txBody>
      </p:sp>
      <p:sp>
        <p:nvSpPr>
          <p:cNvPr id="47" name="Right Arrow 46"/>
          <p:cNvSpPr/>
          <p:nvPr/>
        </p:nvSpPr>
        <p:spPr>
          <a:xfrm>
            <a:off x="790956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8183879" y="4087368"/>
            <a:ext cx="1280160" cy="457200"/>
          </a:xfrm>
          <a:prstGeom prst="rect">
            <a:avLst/>
          </a:prstGeom>
          <a:solidFill>
            <a:srgbClr val="C8861E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8183879" y="4206240"/>
            <a:ext cx="12801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Conversion</a:t>
            </a:r>
          </a:p>
        </p:txBody>
      </p:sp>
      <p:sp>
        <p:nvSpPr>
          <p:cNvPr id="50" name="Right Arrow 49"/>
          <p:cNvSpPr/>
          <p:nvPr/>
        </p:nvSpPr>
        <p:spPr>
          <a:xfrm>
            <a:off x="9555480" y="4206240"/>
            <a:ext cx="182880" cy="228600"/>
          </a:xfrm>
          <a:prstGeom prst="rightArrow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9829800" y="4087368"/>
            <a:ext cx="1554480" cy="457200"/>
          </a:xfrm>
          <a:prstGeom prst="rect">
            <a:avLst/>
          </a:prstGeom>
          <a:solidFill>
            <a:srgbClr val="4A6D8C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9829800" y="4206240"/>
            <a:ext cx="15544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FFFFFF"/>
                </a:solidFill>
                <a:latin typeface="맑은 고딕"/>
              </a:rPr>
              <a:t>current_lot (LC02)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080760" y="4818888"/>
            <a:ext cx="5440680" cy="9601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172200" y="4882896"/>
            <a:ext cx="5257800" cy="8229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needs_conversion = 1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직전과 다음의 LOT_CD 또는 TEMP가 다른 경우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▪ avoidable_frac (회피가능비율)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: 내 설비가 변환할 때, 동일 셋업을 이미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가진 다른 설비들이 시간 내에 이 재공을 다 처리할 수 있는 비율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항목 — 직전 맥락 (Context)  (obs[…+4:…+8])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직전 스텝에서 누가·무엇을·어느 설비에 배정했는지 정규화 인덱스 4개.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1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1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라인 전역 직전 배정 맥락.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7772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인덱스</a:t>
            </a:r>
          </a:p>
        </p:txBody>
      </p:sp>
      <p:sp>
        <p:nvSpPr>
          <p:cNvPr id="17" name="Rectangle 16"/>
          <p:cNvSpPr/>
          <p:nvPr/>
        </p:nvSpPr>
        <p:spPr>
          <a:xfrm>
            <a:off x="1280160" y="2212848"/>
            <a:ext cx="10515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이름</a:t>
            </a:r>
          </a:p>
        </p:txBody>
      </p:sp>
      <p:sp>
        <p:nvSpPr>
          <p:cNvPr id="18" name="Rectangle 17"/>
          <p:cNvSpPr/>
          <p:nvPr/>
        </p:nvSpPr>
        <p:spPr>
          <a:xfrm>
            <a:off x="2331720" y="2212848"/>
            <a:ext cx="173736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의미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69080" y="2212848"/>
            <a:ext cx="146304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실측치 (Step 4)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ctx[0]</a:t>
            </a:r>
          </a:p>
        </p:txBody>
      </p:sp>
      <p:sp>
        <p:nvSpPr>
          <p:cNvPr id="21" name="Rectangle 20"/>
          <p:cNvSpPr/>
          <p:nvPr/>
        </p:nvSpPr>
        <p:spPr>
          <a:xfrm>
            <a:off x="1280160" y="2578608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last_ppk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31720" y="2578608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제품 인덱스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69080" y="2578608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PPK003 → 정규화 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54096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ctx[1]</a:t>
            </a:r>
          </a:p>
        </p:txBody>
      </p:sp>
      <p:sp>
        <p:nvSpPr>
          <p:cNvPr id="25" name="Rectangle 24"/>
          <p:cNvSpPr/>
          <p:nvPr/>
        </p:nvSpPr>
        <p:spPr>
          <a:xfrm>
            <a:off x="1280160" y="3054096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last_oper</a:t>
            </a:r>
          </a:p>
        </p:txBody>
      </p:sp>
      <p:sp>
        <p:nvSpPr>
          <p:cNvPr id="26" name="Rectangle 25"/>
          <p:cNvSpPr/>
          <p:nvPr/>
        </p:nvSpPr>
        <p:spPr>
          <a:xfrm>
            <a:off x="2331720" y="3054096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공정 인덱스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69080" y="3054096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OPER001 → 정규화 0.0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29584"/>
            <a:ext cx="7772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ctx[2]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280160" y="3529584"/>
            <a:ext cx="10515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last_eqp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529584"/>
            <a:ext cx="173736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배정 설비 인덱스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69080" y="3529584"/>
            <a:ext cx="146304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직전 배정 EQP003 → 정규화 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05072"/>
            <a:ext cx="7772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1">
                <a:solidFill>
                  <a:srgbClr val="1B3255"/>
                </a:solidFill>
                <a:latin typeface="맑은 고딕"/>
              </a:rPr>
              <a:t>ctx[3]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280160" y="4005072"/>
            <a:ext cx="10515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19" b="0">
                <a:solidFill>
                  <a:srgbClr val="1B3255"/>
                </a:solidFill>
                <a:latin typeface="맑은 고딕"/>
              </a:rPr>
              <a:t>last_lot_cd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331720" y="4005072"/>
            <a:ext cx="173736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직전 LOT_CD (셋업 그룹)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69080" y="4005072"/>
            <a:ext cx="146304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2E6FB0"/>
                </a:solidFill>
                <a:latin typeface="맑은 고딕"/>
              </a:rPr>
              <a:t>= 0.0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080760" y="2350008"/>
            <a:ext cx="544068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Decision Steps 간의 Context (직전 맥락) 전이 구조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080760" y="2898648"/>
            <a:ext cx="201168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080760" y="2898648"/>
            <a:ext cx="2011680" cy="36576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6080760" y="2962656"/>
            <a:ext cx="20116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− 1 (직전)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72200" y="3328415"/>
            <a:ext cx="182880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의사결정 결과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EQP002 설비에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PPK001 제품의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OPER001 공정을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▪ LC01 셋업으로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  배정 완료</a:t>
            </a:r>
          </a:p>
        </p:txBody>
      </p:sp>
      <p:sp>
        <p:nvSpPr>
          <p:cNvPr id="42" name="Right Arrow 41"/>
          <p:cNvSpPr/>
          <p:nvPr/>
        </p:nvSpPr>
        <p:spPr>
          <a:xfrm>
            <a:off x="8183879" y="3858768"/>
            <a:ext cx="1325880" cy="365760"/>
          </a:xfrm>
          <a:prstGeom prst="rightArrow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8183879" y="3419856"/>
            <a:ext cx="132588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인덱스 인코딩
(Context 피처)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601200" y="2898648"/>
            <a:ext cx="1920240" cy="22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9601200" y="2898648"/>
            <a:ext cx="192024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9601200" y="2962656"/>
            <a:ext cx="1920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Step t (현재 결정)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9692640" y="3328415"/>
            <a:ext cx="1737360" cy="1737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수신 피처 (obs) :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last_ppk (ctx[0])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last_oper (ctx[1])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last_eqp (ctx[2])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▪ last_lot_cd (ctx[3])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5C6670"/>
                </a:solidFill>
                <a:latin typeface="맑은 고딕"/>
              </a:rPr>
              <a:t>→ 현재 의사결정의
  컨텍스트로 주입</a:t>
            </a:r>
          </a:p>
        </p:txBody>
      </p:sp>
      <p:sp>
        <p:nvSpPr>
          <p:cNvPr id="48" name="Rectangle 47"/>
          <p:cNvSpPr/>
          <p:nvPr/>
        </p:nvSpPr>
        <p:spPr>
          <a:xfrm>
            <a:off x="6080760" y="5321808"/>
            <a:ext cx="5440680" cy="50292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172200" y="5367528"/>
            <a:ext cx="52578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의의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에이전트가 단일 설비의 상태뿐만 아니라, 직전 스텝의 라인 전역 스케줄링 결정 흐름을 학습에 반영할 수 있도록 돕습니다.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— 다장비 동시 비교 (t=120분, 3대 설비 실측)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475488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98448"/>
            <a:ext cx="10881360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같은 시각에 3대 설비가 차례로 판단을 내릴 때, 설비마다 State 값이 실제로 다르게 계산됩니다.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755648"/>
            <a:ext cx="11201400" cy="347472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0881360" cy="25603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공통 전역값 (3대 동일)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time_norm=0.25, takt_margin=0.75, conv_idle_ratio=0.0, tool_util=0.0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176272"/>
            <a:ext cx="182880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항목</a:t>
            </a:r>
          </a:p>
        </p:txBody>
      </p:sp>
      <p:sp>
        <p:nvSpPr>
          <p:cNvPr id="15" name="Rectangle 14"/>
          <p:cNvSpPr/>
          <p:nvPr/>
        </p:nvSpPr>
        <p:spPr>
          <a:xfrm>
            <a:off x="2331720" y="2176272"/>
            <a:ext cx="29260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산식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25780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EQP001  (Step 10)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26948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EQP002  (Step 8)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9281160" y="2176272"/>
            <a:ext cx="2011680" cy="365760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EQP003  (Step 9)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2542032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배정 결정 (참고)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331720" y="2542032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이번 스텝에서 고른 PPK·OPER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25780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PPK001·OPER001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26948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PPK002·OPER001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281160" y="2542032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PPK003·OPER001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2932938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331720" y="2932938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min(|lot_pool| / 초기 LOT수, 1)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25780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726948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0.833</a:t>
            </a:r>
          </a:p>
        </p:txBody>
      </p:sp>
      <p:sp>
        <p:nvSpPr>
          <p:cNvPr id="28" name="Rectangle 27"/>
          <p:cNvSpPr/>
          <p:nvPr/>
        </p:nvSpPr>
        <p:spPr>
          <a:xfrm>
            <a:off x="9281160" y="2932938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0.792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02920" y="3323844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30" name="Rectangle 29"/>
          <p:cNvSpPr/>
          <p:nvPr/>
        </p:nvSpPr>
        <p:spPr>
          <a:xfrm>
            <a:off x="2331720" y="3323844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min(produced / total_plan, 1)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25780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0.375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726948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0.292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81160" y="3323844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0.333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502920" y="3714750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35" name="Rectangle 34"/>
          <p:cNvSpPr/>
          <p:nvPr/>
        </p:nvSpPr>
        <p:spPr>
          <a:xfrm>
            <a:off x="2331720" y="3714750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1[feasible 중 전환 필요 버킷 존재]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25780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37" name="Rectangle 36"/>
          <p:cNvSpPr/>
          <p:nvPr/>
        </p:nvSpPr>
        <p:spPr>
          <a:xfrm>
            <a:off x="726948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281160" y="3714750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02920" y="4105656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40" name="Rectangle 39"/>
          <p:cNvSpPr/>
          <p:nvPr/>
        </p:nvSpPr>
        <p:spPr>
          <a:xfrm>
            <a:off x="2331720" y="4105656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max α over feasible 전환 버킷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25780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726948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3" name="Rectangle 42"/>
          <p:cNvSpPr/>
          <p:nvPr/>
        </p:nvSpPr>
        <p:spPr>
          <a:xfrm>
            <a:off x="9281160" y="4105656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1.0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4496562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prev_prod</a:t>
            </a:r>
          </a:p>
        </p:txBody>
      </p:sp>
      <p:sp>
        <p:nvSpPr>
          <p:cNvPr id="45" name="Rectangle 44"/>
          <p:cNvSpPr/>
          <p:nvPr/>
        </p:nvSpPr>
        <p:spPr>
          <a:xfrm>
            <a:off x="2331720" y="4496562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EQP.prev_prod)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25780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726948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9281160" y="4496562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49" name="Rectangle 48"/>
          <p:cNvSpPr/>
          <p:nvPr/>
        </p:nvSpPr>
        <p:spPr>
          <a:xfrm>
            <a:off x="502920" y="4887468"/>
            <a:ext cx="182880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prev_oper</a:t>
            </a:r>
          </a:p>
        </p:txBody>
      </p:sp>
      <p:sp>
        <p:nvSpPr>
          <p:cNvPr id="50" name="Rectangle 49"/>
          <p:cNvSpPr/>
          <p:nvPr/>
        </p:nvSpPr>
        <p:spPr>
          <a:xfrm>
            <a:off x="2331720" y="4887468"/>
            <a:ext cx="29260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encode(현재 EQP.prev_oper)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25780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726948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3" name="Rectangle 52"/>
          <p:cNvSpPr/>
          <p:nvPr/>
        </p:nvSpPr>
        <p:spPr>
          <a:xfrm>
            <a:off x="9281160" y="4887468"/>
            <a:ext cx="2011680" cy="39090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0.0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5278374"/>
            <a:ext cx="182880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reward (이 결정)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331720" y="5278374"/>
            <a:ext cx="29260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l"/>
            <a:r>
              <a:rPr sz="980" b="0">
                <a:solidFill>
                  <a:srgbClr val="5C6670"/>
                </a:solidFill>
                <a:latin typeface="맑은 고딕"/>
              </a:rPr>
              <a:t>8항목 보상 합</a:t>
            </a:r>
          </a:p>
        </p:txBody>
      </p:sp>
      <p:sp>
        <p:nvSpPr>
          <p:cNvPr id="56" name="Rectangle 55"/>
          <p:cNvSpPr/>
          <p:nvPr/>
        </p:nvSpPr>
        <p:spPr>
          <a:xfrm>
            <a:off x="525780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7" name="Rectangle 56"/>
          <p:cNvSpPr/>
          <p:nvPr/>
        </p:nvSpPr>
        <p:spPr>
          <a:xfrm>
            <a:off x="726948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8" name="Rectangle 57"/>
          <p:cNvSpPr/>
          <p:nvPr/>
        </p:nvSpPr>
        <p:spPr>
          <a:xfrm>
            <a:off x="9281160" y="5278374"/>
            <a:ext cx="2011680" cy="39090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45720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0.83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02920" y="5760720"/>
            <a:ext cx="1120140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이 시점까지 누적 배정 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EQP001: 4건, EQP002: 3건, EQP003: 3건  — 대칭 벤치(SYM_3x3)에서 설비마다 전담 제품을 반복 배정받는 모습.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완전 해설 — MINI-A 예시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34440"/>
            <a:ext cx="11201400" cy="5486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58368" y="1234440"/>
            <a:ext cx="10881360" cy="54864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위 값은 실제 SYM_3x3 트레이스가 아니라 산식 계산 과정을 보여주기 위한 가상 예시 데이터셋(MINI-A)입니다. 이후 슬라이드의 모든 대입 계산은 이 데이터셋을 그대로 사용합니다.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965960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설비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057400" y="1965960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EQP001: OPER001·OPER002 가능, 세팅 A, busy (free_at=320)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276856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2057400" y="2276856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EQP002: OPER001·OPER002 가능, 세팅 B, idle (free_at=120) — 지금 결정 대상(current_eqp)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58775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057400" y="258775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EQP003: OPER002만 가능, 세팅 A, busy (free_at=400)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2898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제품·공정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057400" y="2898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PPK001: OPER001→OPER002 (세팅 LOT_CD=A, TEMP=없음), PPK002: OPER001만 사용(계획 없음)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3209543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계획/완료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2057400" y="3209543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(PPK001,OPER002) 목표 60장, 완료 10장  ·  가공시간 OPER001=2분/장, OPER002=5분/장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02920" y="3520439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WIP(대기재공)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057400" y="3520439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(PPK001,OPER001)=140장, (PPK001,OPER002)=15장, (PPK002,OPER001)=20장 → 합계 175장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831335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배정 설비수</a:t>
            </a:r>
          </a:p>
        </p:txBody>
      </p:sp>
      <p:sp>
        <p:nvSpPr>
          <p:cNvPr id="25" name="Rectangle 24"/>
          <p:cNvSpPr/>
          <p:nvPr/>
        </p:nvSpPr>
        <p:spPr>
          <a:xfrm>
            <a:off x="2057400" y="3831335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OPER001=2대(EQP001,EQP002), OPER002=3대(EQP001,EQP002,EQP003)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02920" y="4142231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시각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057400" y="4142231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t=120분, sim_end=soft_cutoff=480분 → T_avail=max(480-120,1)=360분, wf_unit=1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445312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직전 배정</a:t>
            </a:r>
          </a:p>
        </p:txBody>
      </p:sp>
      <p:sp>
        <p:nvSpPr>
          <p:cNvPr id="29" name="Rectangle 28"/>
          <p:cNvSpPr/>
          <p:nvPr/>
        </p:nvSpPr>
        <p:spPr>
          <a:xfrm>
            <a:off x="2057400" y="445312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EQP003이 PPK001 · OPER002 · 세팅A를 배정받음 (Context 계산 기준)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02920" y="4764023"/>
            <a:ext cx="1554480" cy="420624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인덱스맵</a:t>
            </a:r>
          </a:p>
        </p:txBody>
      </p:sp>
      <p:sp>
        <p:nvSpPr>
          <p:cNvPr id="31" name="Rectangle 30"/>
          <p:cNvSpPr/>
          <p:nvPr/>
        </p:nvSpPr>
        <p:spPr>
          <a:xfrm>
            <a:off x="2057400" y="4764023"/>
            <a:ext cx="9646920" cy="42062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PPK{PPK002:0,PPK001:1}(P=10) · OPER{OPER001:0,OPER002:1}(O=3) · EQP{EQP001:0,EQP002:1,EQP003:2} · LOT_CD{B:0,A:1}(n_lc=2)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184647"/>
            <a:ext cx="1554480" cy="31089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기타</a:t>
            </a:r>
          </a:p>
        </p:txBody>
      </p:sp>
      <p:sp>
        <p:nvSpPr>
          <p:cNvPr id="33" name="Rectangle 32"/>
          <p:cNvSpPr/>
          <p:nvPr/>
        </p:nvSpPr>
        <p:spPr>
          <a:xfrm>
            <a:off x="2057400" y="5184647"/>
            <a:ext cx="9646920" cy="31089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>
                <a:solidFill>
                  <a:srgbClr val="222A33"/>
                </a:solidFill>
                <a:latin typeface="맑은 고딕"/>
              </a:rPr>
              <a:t>lot_pool=25/초기40, tool_tracker.utilization()=0.4(가정) — 이 둘은 별도 헬퍼/클래스 내부라 예시값으로 표기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obs[0] time_norm  ·  obs[1] takt_margin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time_norm = 0.25   /   takt_margin = 0.75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sim_end과 soft_cutoff을 같은 값(480)으로 두면 takt_margin ≈ 1-time_norm 처럼 보이지만, 두 값이 실제로 다르면(예: sim_end=600) 이 관계는 깨진다 — 서로 다른 변수임에 유의.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time_norm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min(120/480,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800785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takt_margin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min(max(480-120,0)/480,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2402357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0.75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current_time=120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sim_end=480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516781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553357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soft_cutoff=480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time_norm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3544824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3544824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current_time/sim_end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7934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96997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300654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120/480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69326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869739" y="3544824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906315" y="3544824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0.25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takt_margin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4849367"/>
            <a:ext cx="210860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4849367"/>
            <a:ext cx="203545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(soft_cutoff−t)/soft_cutoff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329275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3469232" y="4849367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3505808" y="484936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360/480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9252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4369002" y="484936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4405578" y="484936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0.75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obs[2] remaining_lots  ·  obs[3] plan_progress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remaining_lots = 0.625   /   plan_progress = 0.1667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produced는 '이 (ppk,op) 하나'가 아니라 전체 completed_qty 합 — 계획이 하나뿐인 MINI-A에선 결과가 같다.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remaining_lots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min(25/40,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113727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113727"/>
            <a:ext cx="2001964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77151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0.625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64308"/>
            <a:ext cx="5166360" cy="2093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plan_progress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min(10/60, 1)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703515"/>
            <a:ext cx="3203143" cy="1495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703515"/>
            <a:ext cx="533963" cy="14950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66939"/>
            <a:ext cx="1798624" cy="22265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0.167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입력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lot_pool=25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151582" y="2240280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188158" y="2240280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initial_lot_count=40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3802074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3838650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produced=10</a:t>
            </a:r>
          </a:p>
        </p:txBody>
      </p:sp>
      <p:sp>
        <p:nvSpPr>
          <p:cNvPr id="52" name="Rounded Rectangle 51"/>
          <p:cNvSpPr/>
          <p:nvPr/>
        </p:nvSpPr>
        <p:spPr>
          <a:xfrm>
            <a:off x="1142999" y="2519172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1179575" y="2519172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total_plan=60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remaining_lots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1142999" y="3544824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1179575" y="3544824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lot_pool/initial_lot_count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221430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3397909" y="3544824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3434485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25/40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978553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4155032" y="3544824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4191608" y="3544824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0.625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plan_progress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84936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84936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produced/total_plan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722167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898647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935223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10/60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792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55770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92346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0.1667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obs[4] conv_idle_ratio  ·  obs[5] tool_util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전역 (Global)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conv_idle_ratio = 0.0   /   tool_util = 0.4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rem&gt;0 조건 때문에 '방금 막 idle된' 설비는 카운트되지 않는다 — 진짜 전환 buffer 중인 설비만 잡음.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conv_idle_ratio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0/3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18288" cy="18288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tool_util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min(0.4, 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1281257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0.40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설비 순회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EQP001:busy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151582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188158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EQP002:idle,free_at=t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73397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909973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EQP003:busy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조건 판정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rem&gt;0 &amp; idle &amp; prev_lot_cd≠∅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364076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540555" y="3218687"/>
            <a:ext cx="96743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577131" y="321868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conv_eqps=0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conv_idle_ratio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conv_eqps/n_eqp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2613354" y="4197095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2649930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0/3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05135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227831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264407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tool_util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1142999" y="5175503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1179575" y="5175503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tool_tracker.utilization()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221430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397909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434485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0.4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ch0 wip_ratio_total  ·  ch1 wip_ratio_ppk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ch0 = 0.0857   /   ch1 = 0.0968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분모가 다르다: ch0은 '팹 전체 WIP', ch1은 '같은 PPK001 안에서의 WIP' — 같은 wip_q라도 두 관점을 동시에 준다.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wip_ratio_total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15/175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49937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49937"/>
            <a:ext cx="274509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13361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0.086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539746"/>
            <a:ext cx="5166360" cy="24099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wip_ratio_ppk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15/155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15163"/>
            <a:ext cx="3203143" cy="172135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15163"/>
            <a:ext cx="310064" cy="172135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778587"/>
            <a:ext cx="1798624" cy="24528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0.097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 집계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wip_po[P1,O2]=15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2508198" y="2240280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2544774" y="2240280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ppk_wip[P1]=155</a:t>
            </a:r>
          </a:p>
        </p:txBody>
      </p:sp>
      <p:sp>
        <p:nvSpPr>
          <p:cNvPr id="55" name="Rounded Rectangle 54"/>
          <p:cNvSpPr/>
          <p:nvPr/>
        </p:nvSpPr>
        <p:spPr>
          <a:xfrm>
            <a:off x="3802074" y="2240280"/>
            <a:ext cx="111008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3838650" y="2240280"/>
            <a:ext cx="103692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total_wip=175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분모 산출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total_wip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2008935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185415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221991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175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623412" y="3218687"/>
            <a:ext cx="82478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659988" y="3218687"/>
            <a:ext cx="75163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ppk_total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489349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665828" y="321868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702404" y="321868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wip_ratio_total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wip_q/total_wip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15/175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3265321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3441800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3478376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0.0857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wip_ratio_ppk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1142999" y="5175503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1179575" y="5175503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wip_q/ppk_total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2436875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1" name="Rounded Rectangle 80"/>
          <p:cNvSpPr/>
          <p:nvPr/>
        </p:nvSpPr>
        <p:spPr>
          <a:xfrm>
            <a:off x="2613354" y="5175503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2649930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15/155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326532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4" name="Rounded Rectangle 83"/>
          <p:cNvSpPr/>
          <p:nvPr/>
        </p:nvSpPr>
        <p:spPr>
          <a:xfrm>
            <a:off x="3441800" y="5175503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3478376" y="5175503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0.0968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ch2 prev_takt  ·  ch3 post_takt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OPER001 vs OPER002 버킷 비교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82676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OPER001버킷: prev=0.0, post=0.02   /   OPER002버킷: prev=0.0028, post=0.0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357116"/>
            <a:ext cx="5440680" cy="1495043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eff_takt는 '계획을 맞추려면 허용되는 로트당 간격' — 클수록 여유(천천히 만들어도 됨). OPER002(=7.2)가 OPER001(=1)보다 훨씬 여유롭다는 게 OPER001버킷의 post_takt(0.02)로 드러난다.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93395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92807"/>
            <a:ext cx="5166360" cy="29782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eff_takt 비교 (여유도, 클수록 느긋)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218069"/>
            <a:ext cx="1549908" cy="369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OPER001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0708" y="2320376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50708" y="2320376"/>
            <a:ext cx="358775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07040" y="2218069"/>
            <a:ext cx="941831" cy="369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1분/carrier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587276"/>
            <a:ext cx="1549908" cy="369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OPER002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0708" y="2689584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50708" y="2689584"/>
            <a:ext cx="2583180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7040" y="2587276"/>
            <a:ext cx="941831" cy="369207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7.2분/carrier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974771"/>
            <a:ext cx="2510028" cy="734903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492240" y="3020491"/>
            <a:ext cx="2327148" cy="330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B3255"/>
                </a:solidFill>
                <a:latin typeface="맑은 고딕"/>
              </a:rPr>
              <a:t>OPER001버킷 post_takt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  = eff_takt(OPER002)/360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492240" y="3305478"/>
            <a:ext cx="2327148" cy="367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2E6FB0"/>
                </a:solidFill>
                <a:latin typeface="맑은 고딕"/>
              </a:rPr>
              <a:t>0.02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9057132" y="2974771"/>
            <a:ext cx="2510028" cy="734903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9148572" y="3020491"/>
            <a:ext cx="2327148" cy="33070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850" b="1">
                <a:solidFill>
                  <a:srgbClr val="1B3255"/>
                </a:solidFill>
                <a:latin typeface="맑은 고딕"/>
              </a:rPr>
              <a:t>OPER002버킷 prev_takt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  = eff_takt(OPER001)/360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9148572" y="3305478"/>
            <a:ext cx="2327148" cy="367451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00" b="1">
                <a:solidFill>
                  <a:srgbClr val="4A6D8C"/>
                </a:solidFill>
                <a:latin typeface="맑은 고딕"/>
              </a:rPr>
              <a:t>0.0028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eff_takt 정의</a:t>
            </a:r>
          </a:p>
        </p:txBody>
      </p:sp>
      <p:sp>
        <p:nvSpPr>
          <p:cNvPr id="58" name="Rounded Rectangle 57"/>
          <p:cNvSpPr/>
          <p:nvPr/>
        </p:nvSpPr>
        <p:spPr>
          <a:xfrm>
            <a:off x="1142999" y="2240280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1179575" y="2240280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max(demand_takt,cap_takt)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315010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×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332658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336316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wf_unit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인접 공정 산출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142999" y="3218687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179575" y="3218687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eff_takt(OPER001)=1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2722167" y="3218687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2758743" y="3218687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eff_takt(OPER002)=7.2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197095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197095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T_avail×wf_unit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43687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613354" y="4197095"/>
            <a:ext cx="1038758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649930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max_takt=360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prev/post_takt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1142999" y="5175503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1179575" y="5175503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eff_takt(인접)/max_takt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2864814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8" name="Rounded Rectangle 77"/>
          <p:cNvSpPr/>
          <p:nvPr/>
        </p:nvSpPr>
        <p:spPr>
          <a:xfrm>
            <a:off x="3041293" y="5175503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TextBox 78"/>
          <p:cNvSpPr txBox="1"/>
          <p:nvPr/>
        </p:nvSpPr>
        <p:spPr>
          <a:xfrm>
            <a:off x="3077869" y="5175503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0.0~0.02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ch4 self_st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19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self_st (ch4)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예시에서 OPER002가 가장 느린 공정이라 정규화 최댓값과 같아져 1.0 — 극단값 예시.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self_st (ch4)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5분/장 ÷ max_arrange_st(5)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가공 속도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st_per_wafer=5분/장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정규화 기준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1142999" y="3544824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179575" y="3544824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max_arrange_st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236555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2542031" y="3544824"/>
            <a:ext cx="254203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2578607" y="3544824"/>
            <a:ext cx="18105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5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self_st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4849367"/>
            <a:ext cx="39684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5/5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1580996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1757475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794051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ch5 plan_urgency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plan_urgency (ch5) = 0.0023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T_avail이 분모라서, 시간이 줄면(예: T_avail=30) 같은 gap=50이어도 urgency=min((50/30)/60,1)=0.0278로 12배 뜀.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3840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plan_urgency (ch5)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min((50/360)/60,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50008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50008"/>
            <a:ext cx="18288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13432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0.0023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잔여량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plan_qty=60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2151582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2188158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completed=10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3231488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47" name="Rounded Rectangle 46"/>
          <p:cNvSpPr/>
          <p:nvPr/>
        </p:nvSpPr>
        <p:spPr>
          <a:xfrm>
            <a:off x="3407967" y="2240280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3444543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gap=50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시간 압박 산출</a:t>
            </a:r>
          </a:p>
        </p:txBody>
      </p:sp>
      <p:sp>
        <p:nvSpPr>
          <p:cNvPr id="50" name="Rounded Rectangle 49"/>
          <p:cNvSpPr/>
          <p:nvPr/>
        </p:nvSpPr>
        <p:spPr>
          <a:xfrm>
            <a:off x="1142999" y="3544824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179575" y="3544824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(gap/T_avail)/plan_qty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plan_urgency</a:t>
            </a:r>
          </a:p>
        </p:txBody>
      </p:sp>
      <p:sp>
        <p:nvSpPr>
          <p:cNvPr id="53" name="Rounded Rectangle 52"/>
          <p:cNvSpPr/>
          <p:nvPr/>
        </p:nvSpPr>
        <p:spPr>
          <a:xfrm>
            <a:off x="1142999" y="4849367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1179575" y="4849367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(50/360)/60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2151582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2328061" y="4849367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2364637" y="4849367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0.0023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ch6 wip_lot_cd  ·  ch7 wip_temp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wip_lot_cd (ch6) = 1.0   /   wip_temp (ch7) = 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ch7의 0.0은 'TEMP 조건이 아예 없다'는 뜻이지, 오류나 결측이 아니다 — encode_normalized(None,...)의 정상 동작.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74519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wip_lot_cd (ch6)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1/(2-1)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093975"/>
            <a:ext cx="3203143" cy="13716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05739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0" y="2423160"/>
            <a:ext cx="5166360" cy="19202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wip_temp (ch7)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encode(None) → 0</a:t>
            </a:r>
          </a:p>
        </p:txBody>
      </p:sp>
      <p:sp>
        <p:nvSpPr>
          <p:cNvPr id="42" name="Rectangle 41"/>
          <p:cNvSpPr/>
          <p:nvPr/>
        </p:nvSpPr>
        <p:spPr>
          <a:xfrm>
            <a:off x="6400800" y="2642615"/>
            <a:ext cx="3203143" cy="13716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Rectangle 42"/>
          <p:cNvSpPr/>
          <p:nvPr/>
        </p:nvSpPr>
        <p:spPr>
          <a:xfrm>
            <a:off x="6400800" y="2642615"/>
            <a:ext cx="18288" cy="13716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9750247" y="2606039"/>
            <a:ext cx="1798624" cy="21031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버킷 속성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1142999" y="2240280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1179575" y="2240280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lc="A"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794966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831542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tp=None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lot_cd 인코딩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3544824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3544824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encode(A), n_lc=2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57952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756000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792576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1/(2−1)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479291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655770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692346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temp 인코딩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4849367"/>
            <a:ext cx="160934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4849367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encode(None), n_tp=1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79349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969970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006546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ch8 needs_conversion  ·  ch9 tool_can_assign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current_eqp=EQP002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(ch8) = 1.0   /   tool_can_assign (ch9)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두 채널은 current_eqp가 속한 (op,model) 한 칸에만 기록되고, 나머지 칸은 0으로 남는다.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74519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needs_conversion (ch8)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2186147"/>
            <a:ext cx="3203143" cy="18288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2149571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15184"/>
            <a:ext cx="5166360" cy="27267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tool_can_assign (ch9)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not swap 또는 can_assign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926811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9023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YES (1.0)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소속 판정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current_eqp∈(op,model)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936137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3112616" y="2240280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3149192" y="2240280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전환 필요 판정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3218687"/>
            <a:ext cx="253654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3218687"/>
            <a:ext cx="246339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would_need_conversion(EQP002,"A")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3720692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3897171" y="3218687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3933747" y="3218687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True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4" name="Rounded Rectangle 63"/>
          <p:cNvSpPr/>
          <p:nvPr/>
        </p:nvSpPr>
        <p:spPr>
          <a:xfrm>
            <a:off x="1319478" y="4197095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TextBox 64"/>
          <p:cNvSpPr txBox="1"/>
          <p:nvPr/>
        </p:nvSpPr>
        <p:spPr>
          <a:xfrm>
            <a:off x="1356054" y="4197095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ch8=1.0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공구 배정 판정</a:t>
            </a:r>
          </a:p>
        </p:txBody>
      </p:sp>
      <p:sp>
        <p:nvSpPr>
          <p:cNvPr id="67" name="Rounded Rectangle 66"/>
          <p:cNvSpPr/>
          <p:nvPr/>
        </p:nvSpPr>
        <p:spPr>
          <a:xfrm>
            <a:off x="1142999" y="5175503"/>
            <a:ext cx="225125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1179575" y="5175503"/>
            <a:ext cx="217810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¬needs_tool_swap ∨ can_assign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3435399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0" name="Rounded Rectangle 69"/>
          <p:cNvSpPr/>
          <p:nvPr/>
        </p:nvSpPr>
        <p:spPr>
          <a:xfrm>
            <a:off x="3611879" y="5175503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TextBox 70"/>
          <p:cNvSpPr txBox="1"/>
          <p:nvPr/>
        </p:nvSpPr>
        <p:spPr>
          <a:xfrm>
            <a:off x="3648455" y="5175503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ch9=1.0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ch10 achievable_ratio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07238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achievable_ratio (ch10)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602736"/>
            <a:ext cx="5440680" cy="224942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상류 재공(140장)이 충분해서 achievable이 plan_qty(60)에 그대로 캡핑됨 — 재공 부족 걱정이 없는 상태.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17957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911095"/>
            <a:ext cx="5166360" cy="41861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achievable_ratio (ch10)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min(60/60, 1)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0" y="2389510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6400800" y="2389510"/>
            <a:ext cx="3203143" cy="18288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9750247" y="2352934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1.00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도달 가능량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1142999" y="2240280"/>
            <a:ext cx="189463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1179575" y="2240280"/>
            <a:ext cx="182148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reachable=자기(15)+상류(140)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3078783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45" name="Rounded Rectangle 44"/>
          <p:cNvSpPr/>
          <p:nvPr/>
        </p:nvSpPr>
        <p:spPr>
          <a:xfrm>
            <a:off x="3255263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3291839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155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상한 계산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1142999" y="3544824"/>
            <a:ext cx="217992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1179575" y="3544824"/>
            <a:ext cx="210677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min(plan_qty,done+reachable)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3364076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3540555" y="3544824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3577131" y="3544824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min(60,165)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4549139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4725618" y="3544824"/>
            <a:ext cx="32552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4762194" y="3544824"/>
            <a:ext cx="25237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60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achievable_ratio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1142999" y="4849367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1179575" y="4849367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60/60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723643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900122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936698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ch11 projected_cover_ratio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977639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projected_cover_ratio (ch11) = 0.72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4507992"/>
            <a:ext cx="5440680" cy="1344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_bucket_projected_cover는 설비의 '지금 busy 여부'를 빼지 않는다(반면 avoidable_frac의 alt_cap 계산은 뺀다) — 같은 '다른 설비 capa' 개념이라도 두 함수가 정밀도가 다르다는 점이 이 코드베이스의 흥미로운 디테일.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2084831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92807"/>
            <a:ext cx="5166360" cy="3035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필요량 vs 커버량 (매)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400800" y="2223791"/>
            <a:ext cx="1549908" cy="376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필요량 need</a:t>
            </a:r>
          </a:p>
        </p:txBody>
      </p:sp>
      <p:sp>
        <p:nvSpPr>
          <p:cNvPr id="44" name="Rectangle 43"/>
          <p:cNvSpPr/>
          <p:nvPr/>
        </p:nvSpPr>
        <p:spPr>
          <a:xfrm>
            <a:off x="7950708" y="2329777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Rectangle 44"/>
          <p:cNvSpPr/>
          <p:nvPr/>
        </p:nvSpPr>
        <p:spPr>
          <a:xfrm>
            <a:off x="7950708" y="2329777"/>
            <a:ext cx="1793875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TextBox 45"/>
          <p:cNvSpPr txBox="1"/>
          <p:nvPr/>
        </p:nvSpPr>
        <p:spPr>
          <a:xfrm>
            <a:off x="10607040" y="2223791"/>
            <a:ext cx="941831" cy="376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50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400800" y="2600355"/>
            <a:ext cx="1549908" cy="376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커버량 cov (EQP003)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7950708" y="2706341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7950708" y="2706341"/>
            <a:ext cx="2583180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10607040" y="2600355"/>
            <a:ext cx="941831" cy="37656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72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400800" y="2995208"/>
            <a:ext cx="5166360" cy="35025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projected_cover_ratio (ch11)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min(72/50, 2)/2</a:t>
            </a:r>
          </a:p>
        </p:txBody>
      </p:sp>
      <p:sp>
        <p:nvSpPr>
          <p:cNvPr id="52" name="Rectangle 51"/>
          <p:cNvSpPr/>
          <p:nvPr/>
        </p:nvSpPr>
        <p:spPr>
          <a:xfrm>
            <a:off x="6400800" y="3395495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6400800" y="3395495"/>
            <a:ext cx="2306263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9750247" y="3358919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0.72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필요량 산출</a:t>
            </a:r>
          </a:p>
        </p:txBody>
      </p:sp>
      <p:sp>
        <p:nvSpPr>
          <p:cNvPr id="56" name="Rounded Rectangle 55"/>
          <p:cNvSpPr/>
          <p:nvPr/>
        </p:nvSpPr>
        <p:spPr>
          <a:xfrm>
            <a:off x="1142999" y="2240280"/>
            <a:ext cx="2037283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179575" y="2240280"/>
            <a:ext cx="19641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max(achievable_qty−done,1)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3221430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3397909" y="2240280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3434485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need=50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타 설비 탐색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1142999" y="3218687"/>
            <a:ext cx="275051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1179575" y="3218687"/>
            <a:ext cx="267736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 prev_prod=P1,prev_oper=O2 일치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커버량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4197095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4197095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remaining/st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222905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399384" y="4197095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435960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360/5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980028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3156507" y="4197095"/>
            <a:ext cx="61081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3193083" y="4197095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cov=72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projected_cover_ratio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5175503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5175503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min(72/50,2)/2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365551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542031" y="5175503"/>
            <a:ext cx="46817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578607" y="5175503"/>
            <a:ext cx="39502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0.72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ch12 starve_time_norm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버킷 (Bucket) — (PPK001, OPER002) 기준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223260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starve_time_norm (ch12) = 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753612"/>
            <a:ext cx="5440680" cy="20985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이 공정(OPER002)은 공급 속도가 소비 속도보다 빨라 재공이 마르지 않기 때문에 소진 시간 비율이 최댓값인 1.0이 된다.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39420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39420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312419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3252216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4428744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5003292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5003292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4556760"/>
            <a:ext cx="4828032" cy="116738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6263640" y="1819656"/>
            <a:ext cx="5440680" cy="1330452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0" y="1892807"/>
            <a:ext cx="5166360" cy="193713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소비 속도 vs 공급 속도 (매/분)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400800" y="2113953"/>
            <a:ext cx="1549908" cy="235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consume_rate</a:t>
            </a:r>
          </a:p>
        </p:txBody>
      </p:sp>
      <p:sp>
        <p:nvSpPr>
          <p:cNvPr id="39" name="Rectangle 38"/>
          <p:cNvSpPr/>
          <p:nvPr/>
        </p:nvSpPr>
        <p:spPr>
          <a:xfrm>
            <a:off x="7950708" y="2166906"/>
            <a:ext cx="2583180" cy="129439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7950708" y="2166906"/>
            <a:ext cx="1549908" cy="129439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07040" y="2113953"/>
            <a:ext cx="941831" cy="235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C8861E"/>
                </a:solidFill>
                <a:latin typeface="맑은 고딕"/>
              </a:rPr>
              <a:t>0.6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400800" y="2349298"/>
            <a:ext cx="1549908" cy="235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supply_rate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7950708" y="2402250"/>
            <a:ext cx="2583180" cy="129439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7950708" y="2402250"/>
            <a:ext cx="2583180" cy="129439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10607040" y="2349298"/>
            <a:ext cx="941831" cy="2353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7D4F"/>
                </a:solidFill>
                <a:latin typeface="맑은 고딕"/>
              </a:rPr>
              <a:t>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602931"/>
            <a:ext cx="5166360" cy="223515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starve_time_norm (ch12)  </a:t>
            </a:r>
            <a:r>
              <a:rPr sz="800" b="0">
                <a:solidFill>
                  <a:srgbClr val="5C6670"/>
                </a:solidFill>
                <a:latin typeface="맑은 고딕"/>
              </a:rPr>
              <a:t>= supply ≥ consume → 1.0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858377"/>
            <a:ext cx="3203143" cy="15965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858377"/>
            <a:ext cx="3203143" cy="15965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821801"/>
            <a:ext cx="1798624" cy="23280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7D4F"/>
                </a:solidFill>
                <a:latin typeface="맑은 고딕"/>
              </a:rPr>
              <a:t>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소비 속도</a:t>
            </a:r>
          </a:p>
        </p:txBody>
      </p:sp>
      <p:sp>
        <p:nvSpPr>
          <p:cNvPr id="51" name="Rounded Rectangle 50"/>
          <p:cNvSpPr/>
          <p:nvPr/>
        </p:nvSpPr>
        <p:spPr>
          <a:xfrm>
            <a:off x="1142999" y="2240280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1179575" y="2240280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현재공정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222290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4" name="Rounded Rectangle 53"/>
          <p:cNvSpPr/>
          <p:nvPr/>
        </p:nvSpPr>
        <p:spPr>
          <a:xfrm>
            <a:off x="2399384" y="2240280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2435960" y="2240280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3×(1/5)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3122675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57" name="Rounded Rectangle 56"/>
          <p:cNvSpPr/>
          <p:nvPr/>
        </p:nvSpPr>
        <p:spPr>
          <a:xfrm>
            <a:off x="3299154" y="2240280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TextBox 57"/>
          <p:cNvSpPr txBox="1"/>
          <p:nvPr/>
        </p:nvSpPr>
        <p:spPr>
          <a:xfrm>
            <a:off x="3335730" y="2240280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1142999" y="330708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공급 속도</a:t>
            </a:r>
          </a:p>
        </p:txBody>
      </p:sp>
      <p:sp>
        <p:nvSpPr>
          <p:cNvPr id="60" name="Rounded Rectangle 59"/>
          <p:cNvSpPr/>
          <p:nvPr/>
        </p:nvSpPr>
        <p:spPr>
          <a:xfrm>
            <a:off x="1142999" y="354482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TextBox 60"/>
          <p:cNvSpPr txBox="1"/>
          <p:nvPr/>
        </p:nvSpPr>
        <p:spPr>
          <a:xfrm>
            <a:off x="1179575" y="354482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Σ(1/st) 선행공정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222290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2399384" y="3544824"/>
            <a:ext cx="682142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2435960" y="354482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2×(1/2)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3122675" y="354482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6" name="Rounded Rectangle 65"/>
          <p:cNvSpPr/>
          <p:nvPr/>
        </p:nvSpPr>
        <p:spPr>
          <a:xfrm>
            <a:off x="3299154" y="3544824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3335730" y="3544824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61162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비교·결과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142999" y="484936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179575" y="484936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consume≤supply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2365551" y="484936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2542031" y="4849367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2578607" y="4849367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eqp[0~1] needs_conversion · avoidable_frac  ·  eqp[2~3] prev_prod · prev_oper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current_eqp=EQP002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2990088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needs_conversion=1.0 / avoidable_frac=0.619 / prev_prod=0.0 / prev_oper=0.0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520440"/>
            <a:ext cx="5440680" cy="23317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prev_prod/prev_oper는 same_setup 보상(현재 EQP 기준)과 정렬 — 구 ch5 same_ppk(전역) 대체.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097280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37943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needs_conversion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would_need_conversion → True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4328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1943282"/>
            <a:ext cx="3203143" cy="65836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190670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B33A3A"/>
                </a:solidFill>
                <a:latin typeface="맑은 고딕"/>
              </a:rPr>
              <a:t>YES (1.0)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112264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max_avoidable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21760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217602"/>
            <a:ext cx="1982745" cy="65836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18102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386584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prev_prod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encode(PPK002)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49192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2491922"/>
            <a:ext cx="18288" cy="65836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0247" y="245534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660903"/>
            <a:ext cx="5166360" cy="92171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prev_oper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encode(OPER001)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2766242"/>
            <a:ext cx="3203143" cy="658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0" y="2766242"/>
            <a:ext cx="18288" cy="65836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0247" y="2729666"/>
            <a:ext cx="1798624" cy="1389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5C6670"/>
                </a:solidFill>
                <a:latin typeface="맑은 고딕"/>
              </a:rPr>
              <a:t>0.00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직전 배정 인코딩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2999" y="2240280"/>
            <a:ext cx="168066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79575" y="2240280"/>
            <a:ext cx="160751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encode(P2),encode(O1)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2864814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2" name="Rounded Rectangle 61"/>
          <p:cNvSpPr/>
          <p:nvPr/>
        </p:nvSpPr>
        <p:spPr>
          <a:xfrm>
            <a:off x="3041293" y="2240280"/>
            <a:ext cx="753465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3077869" y="2240280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0.0, 0.0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feasible 순회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3218687"/>
            <a:ext cx="196596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3218687"/>
            <a:ext cx="189280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(PPK001,OPER002) 전환 필요 발견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needs_conversion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1142999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69" name="Rounded Rectangle 68"/>
          <p:cNvSpPr/>
          <p:nvPr/>
        </p:nvSpPr>
        <p:spPr>
          <a:xfrm>
            <a:off x="1319478" y="4197095"/>
            <a:ext cx="1609344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TextBox 69"/>
          <p:cNvSpPr txBox="1"/>
          <p:nvPr/>
        </p:nvSpPr>
        <p:spPr>
          <a:xfrm>
            <a:off x="1356054" y="4197095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needs_conversion=1.0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avoidable_frac</a:t>
            </a:r>
          </a:p>
        </p:txBody>
      </p:sp>
      <p:sp>
        <p:nvSpPr>
          <p:cNvPr id="72" name="Rounded Rectangle 71"/>
          <p:cNvSpPr/>
          <p:nvPr/>
        </p:nvSpPr>
        <p:spPr>
          <a:xfrm>
            <a:off x="1142999" y="5175503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TextBox 72"/>
          <p:cNvSpPr txBox="1"/>
          <p:nvPr/>
        </p:nvSpPr>
        <p:spPr>
          <a:xfrm>
            <a:off x="1179575" y="5175503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max_avoidable 갱신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2508198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5" name="Rounded Rectangle 74"/>
          <p:cNvSpPr/>
          <p:nvPr/>
        </p:nvSpPr>
        <p:spPr>
          <a:xfrm>
            <a:off x="2684677" y="5175503"/>
            <a:ext cx="1609344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2721253" y="5175503"/>
            <a:ext cx="153619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avoidable_frac=0.619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eqp[1] avoidable_frac (α)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현재 설비 (EQP local) — avoidable_frac 상세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4581144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needs_conversion (eqp[0]) = 1.0   /   avoidable_frac (eqp[1]) = 0.619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5111496"/>
            <a:ext cx="5440680" cy="7406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α=0.619 → 이 전환의 62%는 다른 설비가 대신 커버 가능했다는 뜻 → 실제로 전환을 감행하면 avoidable_conversion = -8.0×0.619 ≈ -4.95 페널티.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133295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133295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602382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291602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291602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730398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385108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3698748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3698748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513124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167835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448147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448147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295851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Down Arrow 40"/>
          <p:cNvSpPr/>
          <p:nvPr/>
        </p:nvSpPr>
        <p:spPr>
          <a:xfrm>
            <a:off x="704088" y="495056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Oval 41"/>
          <p:cNvSpPr/>
          <p:nvPr/>
        </p:nvSpPr>
        <p:spPr>
          <a:xfrm>
            <a:off x="630936" y="5264200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0936" y="5264200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5</a:t>
            </a:r>
          </a:p>
        </p:txBody>
      </p:sp>
      <p:sp>
        <p:nvSpPr>
          <p:cNvPr id="44" name="Rectangle 43"/>
          <p:cNvSpPr/>
          <p:nvPr/>
        </p:nvSpPr>
        <p:spPr>
          <a:xfrm>
            <a:off x="1033271" y="5078577"/>
            <a:ext cx="4828032" cy="64556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6" name="Rectangle 45"/>
          <p:cNvSpPr/>
          <p:nvPr/>
        </p:nvSpPr>
        <p:spPr>
          <a:xfrm>
            <a:off x="6263640" y="1819656"/>
            <a:ext cx="5440680" cy="268833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6400800" y="1892807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수요 vs 대체 capa (매)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400800" y="223638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demand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Rectangle 49"/>
          <p:cNvSpPr/>
          <p:nvPr/>
        </p:nvSpPr>
        <p:spPr>
          <a:xfrm>
            <a:off x="7950708" y="2350472"/>
            <a:ext cx="2583180" cy="1645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TextBox 50"/>
          <p:cNvSpPr txBox="1"/>
          <p:nvPr/>
        </p:nvSpPr>
        <p:spPr>
          <a:xfrm>
            <a:off x="10607040" y="223638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4A6D8C"/>
                </a:solidFill>
                <a:latin typeface="맑은 고딕"/>
              </a:rPr>
              <a:t>155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400800" y="2629148"/>
            <a:ext cx="1549908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0">
                <a:solidFill>
                  <a:srgbClr val="5C6670"/>
                </a:solidFill>
                <a:latin typeface="맑은 고딕"/>
              </a:rPr>
              <a:t>alt_cap (EQP001+EQP003)</a:t>
            </a:r>
          </a:p>
        </p:txBody>
      </p:sp>
      <p:sp>
        <p:nvSpPr>
          <p:cNvPr id="53" name="Rectangle 52"/>
          <p:cNvSpPr/>
          <p:nvPr/>
        </p:nvSpPr>
        <p:spPr>
          <a:xfrm>
            <a:off x="7950708" y="2743232"/>
            <a:ext cx="2583180" cy="1645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7950708" y="2743232"/>
            <a:ext cx="1599905" cy="1645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10607040" y="2629148"/>
            <a:ext cx="941831" cy="392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30" b="1">
                <a:solidFill>
                  <a:srgbClr val="2E6FB0"/>
                </a:solidFill>
                <a:latin typeface="맑은 고딕"/>
              </a:rPr>
              <a:t>96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400800" y="302190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coverage_frac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min(96/155, 1)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400800" y="338322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8" name="Rectangle 57"/>
          <p:cNvSpPr/>
          <p:nvPr/>
        </p:nvSpPr>
        <p:spPr>
          <a:xfrm>
            <a:off x="6400800" y="3383221"/>
            <a:ext cx="1982745" cy="1828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TextBox 58"/>
          <p:cNvSpPr txBox="1"/>
          <p:nvPr/>
        </p:nvSpPr>
        <p:spPr>
          <a:xfrm>
            <a:off x="9750247" y="334664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0.619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400800" y="3811219"/>
            <a:ext cx="5166360" cy="31614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α = avoidable_frac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max(0.619, short_run_frac=0)</a:t>
            </a:r>
          </a:p>
        </p:txBody>
      </p:sp>
      <p:sp>
        <p:nvSpPr>
          <p:cNvPr id="61" name="Rectangle 60"/>
          <p:cNvSpPr/>
          <p:nvPr/>
        </p:nvSpPr>
        <p:spPr>
          <a:xfrm>
            <a:off x="6400800" y="4172531"/>
            <a:ext cx="3203143" cy="18288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Rectangle 61"/>
          <p:cNvSpPr/>
          <p:nvPr/>
        </p:nvSpPr>
        <p:spPr>
          <a:xfrm>
            <a:off x="6400800" y="4172531"/>
            <a:ext cx="1982745" cy="182880"/>
          </a:xfrm>
          <a:prstGeom prst="rect">
            <a:avLst/>
          </a:prstGeom>
          <a:solidFill>
            <a:srgbClr val="C8861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3" name="TextBox 62"/>
          <p:cNvSpPr txBox="1"/>
          <p:nvPr/>
        </p:nvSpPr>
        <p:spPr>
          <a:xfrm>
            <a:off x="9750247" y="4135955"/>
            <a:ext cx="1798624" cy="25603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C8861E"/>
                </a:solidFill>
                <a:latin typeface="맑은 고딕"/>
              </a:rPr>
              <a:t>0.619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수요 산출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1142999" y="2240280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1179575" y="2240280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140(O1)+15(O2)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2365551" y="2240280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2542031" y="2240280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2578607" y="2240280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demand=155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1142999" y="2785262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대체 capa 산출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1142999" y="3023006"/>
            <a:ext cx="125272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179575" y="3023006"/>
            <a:ext cx="117957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EQP001:160/2=80</a:t>
            </a:r>
          </a:p>
        </p:txBody>
      </p:sp>
      <p:sp>
        <p:nvSpPr>
          <p:cNvPr id="73" name="Rounded Rectangle 72"/>
          <p:cNvSpPr/>
          <p:nvPr/>
        </p:nvSpPr>
        <p:spPr>
          <a:xfrm>
            <a:off x="2436875" y="3023006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2473451" y="3023006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EQP003:80/5=16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3659427" y="3023006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6" name="Rounded Rectangle 75"/>
          <p:cNvSpPr/>
          <p:nvPr/>
        </p:nvSpPr>
        <p:spPr>
          <a:xfrm>
            <a:off x="3835906" y="3023006"/>
            <a:ext cx="89611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3872482" y="3023006"/>
            <a:ext cx="82296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alt_cap=96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1142999" y="3567988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coverage_frac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1142999" y="3805732"/>
            <a:ext cx="610819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1179575" y="3805732"/>
            <a:ext cx="53766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96/155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794966" y="3805732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1971445" y="3805732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2008021" y="3805732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0.619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350714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short_run_frac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4588458"/>
            <a:ext cx="539496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4588458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여유 충분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723643" y="4588458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1900122" y="4588458"/>
            <a:ext cx="1324051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1936698" y="4588458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short_run_frac=0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1142999" y="5133440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α (avoidable_frac)</a:t>
            </a:r>
          </a:p>
        </p:txBody>
      </p:sp>
      <p:sp>
        <p:nvSpPr>
          <p:cNvPr id="91" name="Rounded Rectangle 90"/>
          <p:cNvSpPr/>
          <p:nvPr/>
        </p:nvSpPr>
        <p:spPr>
          <a:xfrm>
            <a:off x="1142999" y="5371184"/>
            <a:ext cx="1038758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1179575" y="5371184"/>
            <a:ext cx="965606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max(0.619,0)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2222905" y="5371184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4" name="Rounded Rectangle 93"/>
          <p:cNvSpPr/>
          <p:nvPr/>
        </p:nvSpPr>
        <p:spPr>
          <a:xfrm>
            <a:off x="2399384" y="5371184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2435960" y="5371184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α=0.619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State 산식 해설 — ctx[0~3] last_ppk · last_oper · last_eqp · last_lot_cd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188720"/>
            <a:ext cx="1120140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직전 맥락 (Context) — 직전 배정: EQP003 → PPK001/OPER002/세팅A 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(simulation/simulator.py)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1508760"/>
            <a:ext cx="548640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계산 흐름도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1819656"/>
            <a:ext cx="5486400" cy="4032504"/>
          </a:xfrm>
          <a:prstGeom prst="rect">
            <a:avLst/>
          </a:prstGeom>
          <a:solidFill>
            <a:srgbClr val="F4F6F8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263640" y="1508760"/>
            <a:ext cx="544068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MINI-A 대입 계산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63640" y="3374136"/>
            <a:ext cx="54406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last_ppk=0.111 / last_oper=0.5 / last_eqp=1.0 / last_lot_cd=1.0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63640" y="3904488"/>
            <a:ext cx="5440680" cy="19476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해석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oper_guess는 lot_id로 원본 lots 테이블을 뒤져서 찾는다 — 못 찾으면 None → encode 결과 0.0으로 빠진다.</a:t>
            </a:r>
          </a:p>
        </p:txBody>
      </p:sp>
      <p:sp>
        <p:nvSpPr>
          <p:cNvPr id="22" name="Oval 21"/>
          <p:cNvSpPr/>
          <p:nvPr/>
        </p:nvSpPr>
        <p:spPr>
          <a:xfrm>
            <a:off x="630936" y="2231136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0936" y="2231136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1033271" y="1947672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own Arrow 25"/>
          <p:cNvSpPr/>
          <p:nvPr/>
        </p:nvSpPr>
        <p:spPr>
          <a:xfrm>
            <a:off x="704088" y="2798063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Oval 26"/>
          <p:cNvSpPr/>
          <p:nvPr/>
        </p:nvSpPr>
        <p:spPr>
          <a:xfrm>
            <a:off x="630936" y="3209544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30936" y="3209544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1033271" y="2926079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Down Arrow 30"/>
          <p:cNvSpPr/>
          <p:nvPr/>
        </p:nvSpPr>
        <p:spPr>
          <a:xfrm>
            <a:off x="704088" y="3776471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Oval 31"/>
          <p:cNvSpPr/>
          <p:nvPr/>
        </p:nvSpPr>
        <p:spPr>
          <a:xfrm>
            <a:off x="630936" y="4187951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30936" y="4187951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1033271" y="3904487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Down Arrow 35"/>
          <p:cNvSpPr/>
          <p:nvPr/>
        </p:nvSpPr>
        <p:spPr>
          <a:xfrm>
            <a:off x="704088" y="4754879"/>
            <a:ext cx="128016" cy="118872"/>
          </a:xfrm>
          <a:prstGeom prst="downArrow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Oval 36"/>
          <p:cNvSpPr/>
          <p:nvPr/>
        </p:nvSpPr>
        <p:spPr>
          <a:xfrm>
            <a:off x="630936" y="5166359"/>
            <a:ext cx="274320" cy="274320"/>
          </a:xfrm>
          <a:prstGeom prst="ellipse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30936" y="5166359"/>
            <a:ext cx="274320" cy="2743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9" name="Rectangle 38"/>
          <p:cNvSpPr/>
          <p:nvPr/>
        </p:nvSpPr>
        <p:spPr>
          <a:xfrm>
            <a:off x="1033271" y="4882896"/>
            <a:ext cx="4828032" cy="841247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6263640" y="1819656"/>
            <a:ext cx="5440680" cy="1481328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6400800" y="1837943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last_ppk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encode(PPK001) 1/(10-1)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0" y="1989368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43"/>
          <p:cNvSpPr/>
          <p:nvPr/>
        </p:nvSpPr>
        <p:spPr>
          <a:xfrm>
            <a:off x="6400800" y="1989368"/>
            <a:ext cx="355548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9750247" y="1952792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0.111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400800" y="2208276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last_oper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encode(OPER002) 1/(3-1)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400800" y="2359700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6400800" y="2359700"/>
            <a:ext cx="1601571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9750247" y="2323124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0.50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400800" y="2578608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last_eqp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encode(EQP003) 2/(3-1)</a:t>
            </a:r>
          </a:p>
        </p:txBody>
      </p:sp>
      <p:sp>
        <p:nvSpPr>
          <p:cNvPr id="51" name="Rectangle 50"/>
          <p:cNvSpPr/>
          <p:nvPr/>
        </p:nvSpPr>
        <p:spPr>
          <a:xfrm>
            <a:off x="6400800" y="2730032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Rectangle 51"/>
          <p:cNvSpPr/>
          <p:nvPr/>
        </p:nvSpPr>
        <p:spPr>
          <a:xfrm>
            <a:off x="6400800" y="2730032"/>
            <a:ext cx="3203143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TextBox 52"/>
          <p:cNvSpPr txBox="1"/>
          <p:nvPr/>
        </p:nvSpPr>
        <p:spPr>
          <a:xfrm>
            <a:off x="9750247" y="2693456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400800" y="2948940"/>
            <a:ext cx="5166360" cy="132496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860" b="1">
                <a:solidFill>
                  <a:srgbClr val="1B3255"/>
                </a:solidFill>
                <a:latin typeface="맑은 고딕"/>
              </a:rPr>
              <a:t>last_lot_cd  </a:t>
            </a:r>
            <a:r>
              <a:rPr sz="730" b="0">
                <a:solidFill>
                  <a:srgbClr val="5C6670"/>
                </a:solidFill>
                <a:latin typeface="맑은 고딕"/>
              </a:rPr>
              <a:t>= encode(A) 1/(2-1)</a:t>
            </a:r>
          </a:p>
        </p:txBody>
      </p:sp>
      <p:sp>
        <p:nvSpPr>
          <p:cNvPr id="55" name="Rectangle 54"/>
          <p:cNvSpPr/>
          <p:nvPr/>
        </p:nvSpPr>
        <p:spPr>
          <a:xfrm>
            <a:off x="6400800" y="3100364"/>
            <a:ext cx="3203143" cy="9464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6400800" y="3100364"/>
            <a:ext cx="3203143" cy="9464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9750247" y="3063788"/>
            <a:ext cx="1798624" cy="167792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/>
            <a:r>
              <a:rPr sz="950" b="1">
                <a:solidFill>
                  <a:srgbClr val="2E6FB0"/>
                </a:solidFill>
                <a:latin typeface="맑은 고딕"/>
              </a:rPr>
              <a:t>1.00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1142999" y="2002536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직전 배정 조회</a:t>
            </a:r>
          </a:p>
        </p:txBody>
      </p:sp>
      <p:sp>
        <p:nvSpPr>
          <p:cNvPr id="59" name="Rounded Rectangle 58"/>
          <p:cNvSpPr/>
          <p:nvPr/>
        </p:nvSpPr>
        <p:spPr>
          <a:xfrm>
            <a:off x="1142999" y="2240280"/>
            <a:ext cx="1324051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1179575" y="2240280"/>
            <a:ext cx="1250899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plan_prod_key=P1</a:t>
            </a:r>
          </a:p>
        </p:txBody>
      </p:sp>
      <p:sp>
        <p:nvSpPr>
          <p:cNvPr id="61" name="Rounded Rectangle 60"/>
          <p:cNvSpPr/>
          <p:nvPr/>
        </p:nvSpPr>
        <p:spPr>
          <a:xfrm>
            <a:off x="2508198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2544774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lot_id=L099</a:t>
            </a:r>
          </a:p>
        </p:txBody>
      </p:sp>
      <p:sp>
        <p:nvSpPr>
          <p:cNvPr id="63" name="Rounded Rectangle 62"/>
          <p:cNvSpPr/>
          <p:nvPr/>
        </p:nvSpPr>
        <p:spPr>
          <a:xfrm>
            <a:off x="3516781" y="2240280"/>
            <a:ext cx="96743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4" name="TextBox 63"/>
          <p:cNvSpPr txBox="1"/>
          <p:nvPr/>
        </p:nvSpPr>
        <p:spPr>
          <a:xfrm>
            <a:off x="3553357" y="2240280"/>
            <a:ext cx="89428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eqp_id=E003</a:t>
            </a:r>
          </a:p>
        </p:txBody>
      </p:sp>
      <p:sp>
        <p:nvSpPr>
          <p:cNvPr id="65" name="Rounded Rectangle 64"/>
          <p:cNvSpPr/>
          <p:nvPr/>
        </p:nvSpPr>
        <p:spPr>
          <a:xfrm>
            <a:off x="4525364" y="2240280"/>
            <a:ext cx="753465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4561940" y="2240280"/>
            <a:ext cx="680313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1B3255"/>
                </a:solidFill>
                <a:latin typeface="Consolas"/>
              </a:rPr>
              <a:t>lot_cd=A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1142999" y="2980943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oper 역추적</a:t>
            </a:r>
          </a:p>
        </p:txBody>
      </p:sp>
      <p:sp>
        <p:nvSpPr>
          <p:cNvPr id="68" name="Rounded Rectangle 67"/>
          <p:cNvSpPr/>
          <p:nvPr/>
        </p:nvSpPr>
        <p:spPr>
          <a:xfrm>
            <a:off x="1142999" y="3218687"/>
            <a:ext cx="118140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9" name="TextBox 68"/>
          <p:cNvSpPr txBox="1"/>
          <p:nvPr/>
        </p:nvSpPr>
        <p:spPr>
          <a:xfrm>
            <a:off x="1179575" y="3218687"/>
            <a:ext cx="110825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lot_id→lots 검색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2365551" y="3218687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→</a:t>
            </a:r>
          </a:p>
        </p:txBody>
      </p:sp>
      <p:sp>
        <p:nvSpPr>
          <p:cNvPr id="71" name="Rounded Rectangle 70"/>
          <p:cNvSpPr/>
          <p:nvPr/>
        </p:nvSpPr>
        <p:spPr>
          <a:xfrm>
            <a:off x="2542031" y="3218687"/>
            <a:ext cx="682142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2578607" y="3218687"/>
            <a:ext cx="608990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OPER002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142999" y="3959351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last_ppk / last_oper</a:t>
            </a:r>
          </a:p>
        </p:txBody>
      </p:sp>
      <p:sp>
        <p:nvSpPr>
          <p:cNvPr id="74" name="Rounded Rectangle 73"/>
          <p:cNvSpPr/>
          <p:nvPr/>
        </p:nvSpPr>
        <p:spPr>
          <a:xfrm>
            <a:off x="1142999" y="4197095"/>
            <a:ext cx="153802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TextBox 74"/>
          <p:cNvSpPr txBox="1"/>
          <p:nvPr/>
        </p:nvSpPr>
        <p:spPr>
          <a:xfrm>
            <a:off x="1179575" y="4197095"/>
            <a:ext cx="146486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encode(P1)=1/(10−1)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2722167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77" name="Rounded Rectangle 76"/>
          <p:cNvSpPr/>
          <p:nvPr/>
        </p:nvSpPr>
        <p:spPr>
          <a:xfrm>
            <a:off x="2898647" y="4197095"/>
            <a:ext cx="539496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2935223" y="4197095"/>
            <a:ext cx="466344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0.111</a:t>
            </a:r>
          </a:p>
        </p:txBody>
      </p:sp>
      <p:sp>
        <p:nvSpPr>
          <p:cNvPr id="79" name="Rounded Rectangle 78"/>
          <p:cNvSpPr/>
          <p:nvPr/>
        </p:nvSpPr>
        <p:spPr>
          <a:xfrm>
            <a:off x="3479291" y="4197095"/>
            <a:ext cx="1466697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3515867" y="4197095"/>
            <a:ext cx="1393545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encode(O2)=1/(3−1)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4987136" y="4197095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2" name="Rounded Rectangle 81"/>
          <p:cNvSpPr/>
          <p:nvPr/>
        </p:nvSpPr>
        <p:spPr>
          <a:xfrm>
            <a:off x="5163615" y="4197095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TextBox 82"/>
          <p:cNvSpPr txBox="1"/>
          <p:nvPr/>
        </p:nvSpPr>
        <p:spPr>
          <a:xfrm>
            <a:off x="5200191" y="4197095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0.5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1142999" y="4937759"/>
            <a:ext cx="4608576" cy="219456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19" b="1">
                <a:solidFill>
                  <a:srgbClr val="1B3255"/>
                </a:solidFill>
                <a:latin typeface="맑은 고딕"/>
              </a:rPr>
              <a:t>last_eqp / last_lot_cd</a:t>
            </a:r>
          </a:p>
        </p:txBody>
      </p:sp>
      <p:sp>
        <p:nvSpPr>
          <p:cNvPr id="85" name="Rounded Rectangle 84"/>
          <p:cNvSpPr/>
          <p:nvPr/>
        </p:nvSpPr>
        <p:spPr>
          <a:xfrm>
            <a:off x="1142999" y="5175503"/>
            <a:ext cx="1751990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1179575" y="5175503"/>
            <a:ext cx="1678838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encode(EQP003)=2/(3−1)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2936137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88" name="Rounded Rectangle 87"/>
          <p:cNvSpPr/>
          <p:nvPr/>
        </p:nvSpPr>
        <p:spPr>
          <a:xfrm>
            <a:off x="3112616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TextBox 88"/>
          <p:cNvSpPr txBox="1"/>
          <p:nvPr/>
        </p:nvSpPr>
        <p:spPr>
          <a:xfrm>
            <a:off x="3149192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  <p:sp>
        <p:nvSpPr>
          <p:cNvPr id="90" name="Rounded Rectangle 89"/>
          <p:cNvSpPr/>
          <p:nvPr/>
        </p:nvSpPr>
        <p:spPr>
          <a:xfrm>
            <a:off x="3550614" y="5175503"/>
            <a:ext cx="1395374" cy="237744"/>
          </a:xfrm>
          <a:prstGeom prst="round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TextBox 90"/>
          <p:cNvSpPr txBox="1"/>
          <p:nvPr/>
        </p:nvSpPr>
        <p:spPr>
          <a:xfrm>
            <a:off x="3587190" y="5175503"/>
            <a:ext cx="1322222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0">
                <a:solidFill>
                  <a:srgbClr val="4A6D8C"/>
                </a:solidFill>
                <a:latin typeface="Consolas"/>
              </a:rPr>
              <a:t>encode(A)=1/(2−1)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4987136" y="5175503"/>
            <a:ext cx="135331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800" b="1">
                <a:solidFill>
                  <a:srgbClr val="5C6670"/>
                </a:solidFill>
                <a:latin typeface="맑은 고딕"/>
              </a:rPr>
              <a:t>=</a:t>
            </a:r>
          </a:p>
        </p:txBody>
      </p:sp>
      <p:sp>
        <p:nvSpPr>
          <p:cNvPr id="93" name="Rounded Rectangle 92"/>
          <p:cNvSpPr/>
          <p:nvPr/>
        </p:nvSpPr>
        <p:spPr>
          <a:xfrm>
            <a:off x="5163615" y="5175503"/>
            <a:ext cx="396849" cy="237744"/>
          </a:xfrm>
          <a:prstGeom prst="round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4" name="TextBox 93"/>
          <p:cNvSpPr txBox="1"/>
          <p:nvPr/>
        </p:nvSpPr>
        <p:spPr>
          <a:xfrm>
            <a:off x="5200191" y="5175503"/>
            <a:ext cx="323697" cy="23774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/>
            <a:r>
              <a:rPr sz="740" b="1">
                <a:solidFill>
                  <a:srgbClr val="FFFFFF"/>
                </a:solidFill>
                <a:latin typeface="Consolas"/>
              </a:rPr>
              <a:t>1.0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Action — 행동 공간과 블록 점유 메커니즘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29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2212848"/>
            <a:ext cx="1051560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맑은 고딕"/>
              </a:rPr>
              <a:t>action = MultiDiscrete( [ O×P 버킷 ,  L 블록크기 레벨 ]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① 버킷 선택 (O×P)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0584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투입할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(PPK·OPER) 조합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을 선택합니다. LOT과 EQP는 우선순위 규칙으로 자동 배정되어 행동 차원을 줄입니다.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126480" y="2807208"/>
            <a:ext cx="5212080" cy="9601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309360" y="2898648"/>
            <a:ext cx="484632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② 블록 크기 레벨 (L=4)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09360" y="3191256"/>
            <a:ext cx="4892040" cy="53035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같은 셋업으로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연속 점유할 캐리어 수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를 takt 예산 분율로 결정합니다. 레벨↑ → 더 큰 블록.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3904487"/>
            <a:ext cx="105156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블록 점유(Masked Replay) 동작 순서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1005840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1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72768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시작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버킷·크기 선택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산출, 1캐리어 배정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 = N−1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3328416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3493008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3675888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2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4242816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진행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694176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같은 설비의 다음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결정은 같은 버킷으로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강제(마스킹) 재생</a:t>
            </a:r>
          </a:p>
        </p:txBody>
      </p:sp>
      <p:sp>
        <p:nvSpPr>
          <p:cNvPr id="29" name="Right Arrow 28"/>
          <p:cNvSpPr/>
          <p:nvPr/>
        </p:nvSpPr>
        <p:spPr>
          <a:xfrm>
            <a:off x="5998464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63056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6345936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912864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블록 종료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64224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remaining=0 또는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재공·계획·공구 소진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블록 해제</a:t>
            </a:r>
          </a:p>
        </p:txBody>
      </p:sp>
      <p:sp>
        <p:nvSpPr>
          <p:cNvPr id="34" name="Right Arrow 33"/>
          <p:cNvSpPr/>
          <p:nvPr/>
        </p:nvSpPr>
        <p:spPr>
          <a:xfrm>
            <a:off x="8668512" y="4905756"/>
            <a:ext cx="164592" cy="292608"/>
          </a:xfrm>
          <a:prstGeom prst="rightArrow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833104" y="4389120"/>
            <a:ext cx="2505456" cy="13258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9015984" y="4535424"/>
            <a:ext cx="4572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500" b="1">
                <a:solidFill>
                  <a:srgbClr val="FFFFFF"/>
                </a:solidFill>
                <a:latin typeface="맑은 고딕"/>
              </a:rPr>
              <a:t>4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9582912" y="4572000"/>
            <a:ext cx="1636776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상한 규칙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034272" y="5047488"/>
            <a:ext cx="2121408" cy="5943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N ≤ min(takt예산,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가용 WIP, 잔여 계획)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1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공구는 매 캐리어 검사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822960" y="5870448"/>
            <a:ext cx="1051560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6FB0"/>
                </a:solidFill>
                <a:latin typeface="맑은 고딕"/>
              </a:rPr>
              <a:t>효과 </a:t>
            </a:r>
            <a:r>
              <a:rPr sz="1230" b="0">
                <a:solidFill>
                  <a:srgbClr val="222A33"/>
                </a:solidFill>
                <a:latin typeface="맑은 고딕"/>
              </a:rPr>
              <a:t>이산사건 무결성을 깨지 않으면서도 한 번의 결정으로 "같은 셋업 N캐리어 연속"을 실현 → 전환 횟수를 근본적으로 감소</a:t>
            </a:r>
          </a:p>
        </p:txBody>
      </p:sp>
      <p:sp>
        <p:nvSpPr>
          <p:cNvPr id="4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한 번의 결정으로 버킷(무엇을)과 블록크기(몇 개 연속)를 함께 고릅니다.</a:t>
            </a:r>
          </a:p>
        </p:txBody>
      </p:sp>
      <p:sp>
        <p:nvSpPr>
          <p:cNvPr id="4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행동 차원을 줄이면서 같은 셋업을 크게 묶어 전환 횟수를 근본적으로 줄입니다.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02  Bulk-Fill MDP 모델 정의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Reward — 보상 항목과 가중치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5504688" cy="8686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02920" y="1207008"/>
            <a:ext cx="73152" cy="8686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713232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6FB0"/>
                </a:solidFill>
                <a:latin typeface="맑은 고딕"/>
              </a:rPr>
              <a:t>쉬운 설명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222A33"/>
                </a:solidFill>
                <a:latin typeface="맑은 고딕"/>
              </a:rPr>
              <a:t>스텝마다 8개 보상 항목의 가중합을 계산해 ±10으로 클리핑합니다.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6199632" y="1207008"/>
            <a:ext cx="5504688" cy="86868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199632" y="1207008"/>
            <a:ext cx="73152" cy="8686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9944" y="1298448"/>
            <a:ext cx="5184648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4A6D8C"/>
                </a:solidFill>
                <a:latin typeface="맑은 고딕"/>
              </a:rPr>
              <a:t>핵심 목적 (필요성)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무엇이 좋고 나쁜 행동인지 정책이 정량적으로 학습하도록 인센티브를 설계합니다.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212848"/>
            <a:ext cx="3977639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12648" y="2267712"/>
            <a:ext cx="3794759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050" b="1">
                <a:solidFill>
                  <a:srgbClr val="FFFFFF"/>
                </a:solidFill>
                <a:latin typeface="맑은 고딕"/>
              </a:rPr>
              <a:t>보상 항목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80559" y="2212848"/>
            <a:ext cx="1051560" cy="36576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80559" y="2267712"/>
            <a:ext cx="1051560" cy="25603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가중치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2578608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12648" y="2624327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전환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셋업(LOT_CD/TEMP) 변경마다 부과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480559" y="2578608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480559" y="2697479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3063239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2648" y="3108959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회피가능 전환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w_avoidable_conversion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다른 무전환 설비가 커버 가능한 전환에 추가 부과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80559" y="3063239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4480559" y="3182111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502920" y="3547872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12648" y="3593591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페이싱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w_pacing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달성가능 상한 기준 takt에 가까울수록 +</a:t>
            </a:r>
          </a:p>
        </p:txBody>
      </p:sp>
      <p:sp>
        <p:nvSpPr>
          <p:cNvPr id="30" name="Rectangle 29"/>
          <p:cNvSpPr/>
          <p:nvPr/>
        </p:nvSpPr>
        <p:spPr>
          <a:xfrm>
            <a:off x="4480559" y="3547872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480559" y="3666744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4032504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12648" y="4078224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동일 셋업 연속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w_same_setup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직전과 제품·공정 동일 + 재공 잔존 시 +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480559" y="4032504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4480559" y="4151376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02920" y="4517136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12648" y="4562855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블록 크기 보너스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w_bulk_block_bonus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큰 블록으로 커밋할수록 + (takt예산 대비)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80559" y="4517136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4480559" y="4636007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502920" y="5001768"/>
            <a:ext cx="3977639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12648" y="5047488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전용 오용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w_dedication_misuse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전용 설비가 유휴인데 범용 설비가 대신 잡으면 −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480559" y="5001768"/>
            <a:ext cx="1051560" cy="484632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4480559" y="5120640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5486400"/>
            <a:ext cx="3977639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612648" y="5532120"/>
            <a:ext cx="3758183" cy="393192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50" b="1">
                <a:solidFill>
                  <a:srgbClr val="1B3255"/>
                </a:solidFill>
                <a:latin typeface="맑은 고딕"/>
              </a:rPr>
              <a:t>중복 커버 패널티  </a:t>
            </a:r>
            <a:r>
              <a:rPr sz="750" b="0">
                <a:solidFill>
                  <a:srgbClr val="5C6670"/>
                </a:solidFill>
                <a:latin typeface="맑은 고딕"/>
              </a:rPr>
              <a:t>w_redundant_cover</a:t>
            </a:r>
          </a:p>
          <a:p>
            <a:pPr algn="l"/>
            <a:r>
              <a:rPr sz="800" b="0">
                <a:solidFill>
                  <a:srgbClr val="5C6670"/>
                </a:solidFill>
                <a:latin typeface="맑은 고딕"/>
              </a:rPr>
              <a:t>이미 충분히 커버된 버킷을 또 잡으면 −</a:t>
            </a:r>
          </a:p>
        </p:txBody>
      </p:sp>
      <p:sp>
        <p:nvSpPr>
          <p:cNvPr id="46" name="Rectangle 45"/>
          <p:cNvSpPr/>
          <p:nvPr/>
        </p:nvSpPr>
        <p:spPr>
          <a:xfrm>
            <a:off x="4480559" y="5486400"/>
            <a:ext cx="1051560" cy="48463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4480559" y="5605272"/>
            <a:ext cx="105156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11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897880" y="2212848"/>
            <a:ext cx="5806440" cy="3794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6080760" y="2322576"/>
            <a:ext cx="5440679" cy="32918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1250" b="1">
                <a:solidFill>
                  <a:srgbClr val="1B3255"/>
                </a:solidFill>
                <a:latin typeface="맑은 고딕"/>
              </a:rPr>
              <a:t>보상 가중치 비교 (인포그래픽)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57032" y="2651760"/>
            <a:ext cx="54864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750" b="0">
                <a:solidFill>
                  <a:srgbClr val="5C6670"/>
                </a:solidFill>
                <a:latin typeface="맑은 고딕"/>
              </a:rPr>
              <a:t>-10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8983980" y="2651760"/>
            <a:ext cx="36576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ctr"/>
            <a:r>
              <a:rPr sz="7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9646920" y="2651760"/>
            <a:ext cx="457200" cy="146304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750" b="0">
                <a:solidFill>
                  <a:srgbClr val="5C6670"/>
                </a:solidFill>
                <a:latin typeface="맑은 고딕"/>
              </a:rPr>
              <a:t>+10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080760" y="281635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전환 패널티</a:t>
            </a:r>
          </a:p>
        </p:txBody>
      </p:sp>
      <p:sp>
        <p:nvSpPr>
          <p:cNvPr id="54" name="Rectangle 53"/>
          <p:cNvSpPr/>
          <p:nvPr/>
        </p:nvSpPr>
        <p:spPr>
          <a:xfrm>
            <a:off x="8275320" y="293522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9111996" y="288950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Rectangle 55"/>
          <p:cNvSpPr/>
          <p:nvPr/>
        </p:nvSpPr>
        <p:spPr>
          <a:xfrm>
            <a:off x="8275320" y="2935224"/>
            <a:ext cx="84582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7" name="TextBox 56"/>
          <p:cNvSpPr txBox="1"/>
          <p:nvPr/>
        </p:nvSpPr>
        <p:spPr>
          <a:xfrm>
            <a:off x="10835640" y="284378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080760" y="326898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59" name="Rectangle 58"/>
          <p:cNvSpPr/>
          <p:nvPr/>
        </p:nvSpPr>
        <p:spPr>
          <a:xfrm>
            <a:off x="8275320" y="338785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Rectangle 59"/>
          <p:cNvSpPr/>
          <p:nvPr/>
        </p:nvSpPr>
        <p:spPr>
          <a:xfrm>
            <a:off x="9111996" y="334213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8444484" y="3387852"/>
            <a:ext cx="676656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10835640" y="329641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080760" y="3721608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64" name="Rectangle 63"/>
          <p:cNvSpPr/>
          <p:nvPr/>
        </p:nvSpPr>
        <p:spPr>
          <a:xfrm>
            <a:off x="8275320" y="3840480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9111996" y="3794760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Rectangle 65"/>
          <p:cNvSpPr/>
          <p:nvPr/>
        </p:nvSpPr>
        <p:spPr>
          <a:xfrm>
            <a:off x="9121140" y="3840480"/>
            <a:ext cx="21145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TextBox 66"/>
          <p:cNvSpPr txBox="1"/>
          <p:nvPr/>
        </p:nvSpPr>
        <p:spPr>
          <a:xfrm>
            <a:off x="10835640" y="3749040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080760" y="4174235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동일 셋업 연속</a:t>
            </a:r>
          </a:p>
        </p:txBody>
      </p:sp>
      <p:sp>
        <p:nvSpPr>
          <p:cNvPr id="69" name="Rectangle 68"/>
          <p:cNvSpPr/>
          <p:nvPr/>
        </p:nvSpPr>
        <p:spPr>
          <a:xfrm>
            <a:off x="8275320" y="4293107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0" name="Rectangle 69"/>
          <p:cNvSpPr/>
          <p:nvPr/>
        </p:nvSpPr>
        <p:spPr>
          <a:xfrm>
            <a:off x="9111996" y="4247388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9121140" y="4293107"/>
            <a:ext cx="84582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10835640" y="4201668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6080760" y="4626864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블록 크기 보너스</a:t>
            </a:r>
          </a:p>
        </p:txBody>
      </p:sp>
      <p:sp>
        <p:nvSpPr>
          <p:cNvPr id="74" name="Rectangle 73"/>
          <p:cNvSpPr/>
          <p:nvPr/>
        </p:nvSpPr>
        <p:spPr>
          <a:xfrm>
            <a:off x="8275320" y="4745736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5" name="Rectangle 74"/>
          <p:cNvSpPr/>
          <p:nvPr/>
        </p:nvSpPr>
        <p:spPr>
          <a:xfrm>
            <a:off x="9111996" y="4700016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Rectangle 75"/>
          <p:cNvSpPr/>
          <p:nvPr/>
        </p:nvSpPr>
        <p:spPr>
          <a:xfrm>
            <a:off x="9121140" y="4745736"/>
            <a:ext cx="253745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TextBox 76"/>
          <p:cNvSpPr txBox="1"/>
          <p:nvPr/>
        </p:nvSpPr>
        <p:spPr>
          <a:xfrm>
            <a:off x="10835640" y="4654296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080760" y="5079492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전용 오용 패널티</a:t>
            </a:r>
          </a:p>
        </p:txBody>
      </p:sp>
      <p:sp>
        <p:nvSpPr>
          <p:cNvPr id="79" name="Rectangle 78"/>
          <p:cNvSpPr/>
          <p:nvPr/>
        </p:nvSpPr>
        <p:spPr>
          <a:xfrm>
            <a:off x="8275320" y="5198364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9111996" y="5152644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Rectangle 80"/>
          <p:cNvSpPr/>
          <p:nvPr/>
        </p:nvSpPr>
        <p:spPr>
          <a:xfrm>
            <a:off x="8782812" y="5198364"/>
            <a:ext cx="33832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2" name="TextBox 81"/>
          <p:cNvSpPr txBox="1"/>
          <p:nvPr/>
        </p:nvSpPr>
        <p:spPr>
          <a:xfrm>
            <a:off x="10835640" y="5106924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080760" y="5532120"/>
            <a:ext cx="2011680" cy="201168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l"/>
            <a:r>
              <a:rPr sz="900" b="1">
                <a:solidFill>
                  <a:srgbClr val="1B3255"/>
                </a:solidFill>
                <a:latin typeface="맑은 고딕"/>
              </a:rPr>
              <a:t>중복 커버 패널티</a:t>
            </a:r>
          </a:p>
        </p:txBody>
      </p:sp>
      <p:sp>
        <p:nvSpPr>
          <p:cNvPr id="84" name="Rectangle 83"/>
          <p:cNvSpPr/>
          <p:nvPr/>
        </p:nvSpPr>
        <p:spPr>
          <a:xfrm>
            <a:off x="8275320" y="5650992"/>
            <a:ext cx="1691640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9111996" y="56052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Rectangle 85"/>
          <p:cNvSpPr/>
          <p:nvPr/>
        </p:nvSpPr>
        <p:spPr>
          <a:xfrm>
            <a:off x="8698230" y="5650992"/>
            <a:ext cx="422910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10835640" y="5559552"/>
            <a:ext cx="731520" cy="274320"/>
          </a:xfrm>
          <a:prstGeom prst="rect">
            <a:avLst/>
          </a:prstGeom>
          <a:noFill/>
        </p:spPr>
        <p:txBody>
          <a:bodyPr wrap="square" lIns="0" rIns="0" tIns="0" bIns="0">
            <a:spAutoFit/>
          </a:bodyPr>
          <a:lstStyle/>
          <a:p>
            <a:pPr algn="r"/>
            <a:r>
              <a:rPr sz="100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입력 데이터 형태 (JSON)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222A33"/>
                </a:solidFill>
                <a:latin typeface="맑은 고딕"/>
              </a:rPr>
              <a:t>Oracle 또는 샘플 생성기가 </a:t>
            </a:r>
            <a:r>
              <a:rPr sz="1250" b="1">
                <a:solidFill>
                  <a:srgbClr val="1B3255"/>
                </a:solidFill>
                <a:latin typeface="맑은 고딕"/>
              </a:rPr>
              <a:t>data/dataset/{FAC}/{split}/{RULE_TIMEKEY}/input/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 경로에 아래 JSON을 적재합니다.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292608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파일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3749040" y="1783080"/>
            <a:ext cx="5943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필수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343400" y="1783080"/>
            <a:ext cx="6995160" cy="420624"/>
          </a:xfrm>
          <a:prstGeom prst="rect">
            <a:avLst/>
          </a:prstGeom>
          <a:solidFill>
            <a:srgbClr val="1B3255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주요 필드 (행 단위)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203704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discrete_arrange.json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749040" y="2203704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4343400" y="2203704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EQP_ID, LOT_ID, PLAN_PROD_ATTR_VAL, OPER_ID, ST, EQP_MODEL_CD, WF_QTY, CARRIER_ID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22960" y="2862072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plan.json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749040" y="2862072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343400" y="2862072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D0_PLAN_QTY, D1_PLAN_QTY, PLAN_PRIORITY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520439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flow.json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749040" y="3520439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43400" y="3520439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OPER_SEQ, OPER_ID  (공정 순서)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22960" y="4178807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abstract_arrange.json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3749040" y="4178807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●</a:t>
            </a:r>
          </a:p>
        </p:txBody>
      </p:sp>
      <p:sp>
        <p:nvSpPr>
          <p:cNvPr id="25" name="Rectangle 24"/>
          <p:cNvSpPr/>
          <p:nvPr/>
        </p:nvSpPr>
        <p:spPr>
          <a:xfrm>
            <a:off x="4343400" y="4178807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EQP_MODEL_CD, PLAN_PROD_ATTR_VAL, OPER_ID, ST  (모델-제품 적합성)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837175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lot_master.json</a:t>
            </a:r>
          </a:p>
        </p:txBody>
      </p:sp>
      <p:sp>
        <p:nvSpPr>
          <p:cNvPr id="27" name="Rectangle 26"/>
          <p:cNvSpPr/>
          <p:nvPr/>
        </p:nvSpPr>
        <p:spPr>
          <a:xfrm>
            <a:off x="3749040" y="4837175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343400" y="4837175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LOT_ID, LOT_CD, TEMP  (전환 그룹 판별)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822960" y="5495543"/>
            <a:ext cx="29260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tool_capacity.json</a:t>
            </a:r>
          </a:p>
        </p:txBody>
      </p:sp>
      <p:sp>
        <p:nvSpPr>
          <p:cNvPr id="30" name="Rectangle 29"/>
          <p:cNvSpPr/>
          <p:nvPr/>
        </p:nvSpPr>
        <p:spPr>
          <a:xfrm>
            <a:off x="3749040" y="5495543"/>
            <a:ext cx="5943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343400" y="5495543"/>
            <a:ext cx="699516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LOT_CD, TEMP, MAX_TOOL  (동시 가공 공구 한도)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6153911"/>
            <a:ext cx="292608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1B3255"/>
                </a:solidFill>
                <a:latin typeface="맑은 고딕"/>
              </a:rPr>
              <a:t>batch_info.json</a:t>
            </a:r>
          </a:p>
        </p:txBody>
      </p:sp>
      <p:sp>
        <p:nvSpPr>
          <p:cNvPr id="33" name="Rectangle 32"/>
          <p:cNvSpPr/>
          <p:nvPr/>
        </p:nvSpPr>
        <p:spPr>
          <a:xfrm>
            <a:off x="3749040" y="6153911"/>
            <a:ext cx="5943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50" b="0">
                <a:solidFill>
                  <a:srgbClr val="1B3255"/>
                </a:solidFill>
                <a:latin typeface="맑은 고딕"/>
              </a:rPr>
              <a:t>○</a:t>
            </a:r>
          </a:p>
        </p:txBody>
      </p:sp>
      <p:sp>
        <p:nvSpPr>
          <p:cNvPr id="34" name="Rectangle 33"/>
          <p:cNvSpPr/>
          <p:nvPr/>
        </p:nvSpPr>
        <p:spPr>
          <a:xfrm>
            <a:off x="4343400" y="6153911"/>
            <a:ext cx="6995160" cy="65836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050" b="0">
                <a:solidFill>
                  <a:srgbClr val="5C6670"/>
                </a:solidFill>
                <a:latin typeface="맑은 고딕"/>
              </a:rPr>
              <a:t>PLAN_PROD_ATTR_VAL, OPER_ID, LOT_CD, TEMP</a:t>
            </a:r>
          </a:p>
        </p:txBody>
      </p:sp>
      <p:sp>
        <p:nvSpPr>
          <p:cNvPr id="35" name="Rectangle 34"/>
          <p:cNvSpPr/>
          <p:nvPr/>
        </p:nvSpPr>
        <p:spPr>
          <a:xfrm>
            <a:off x="822960" y="4892040"/>
            <a:ext cx="507492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822960" y="4892040"/>
            <a:ext cx="507492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discrete_arrange 예시 (1행)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60120" y="5394960"/>
            <a:ext cx="480060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{"EQP_ID":"EQP001","LOT_ID":"LOT001",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"PLAN_PROD_ATTR_VAL":"PPK001","OPER_ID":"OPER001",</a:t>
            </a:r>
            <a:r>
              <a:rPr sz="950" b="1">
                <a:solidFill>
                  <a:srgbClr val="1B3255"/>
                </a:solidFill>
                <a:latin typeface="맑은 고딕"/>
              </a:rPr>
              <a:t>"ST":60,"EQP_MODEL_CD":"A","WF_QTY":1}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080760" y="4892040"/>
            <a:ext cx="5257800" cy="1417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080760" y="4892040"/>
            <a:ext cx="5257800" cy="4114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preprocess() 이후 env_data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6217920" y="5394960"/>
            <a:ext cx="4983480" cy="8686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sim_base_time · sim_end_minutes(1440)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eqp_ids · prod_keys · oper_ids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lots · plan · flow · proc_time_matrix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→ 시뮬레이터·Gym 환경이 공유하는 내부 상태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 보상 수식 — 항목별 정의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32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325880"/>
            <a:ext cx="10515600" cy="65836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1">
                <a:solidFill>
                  <a:srgbClr val="FFFFFF"/>
                </a:solidFill>
                <a:latin typeface="맑은 고딕"/>
              </a:rPr>
              <a:t>r_t = clip( Σ 보상항 , ±10 )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822960" y="2148840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1005840" y="2221992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동일 셋업  +w_same_setup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389120" y="2221992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직전과 제품·공정 동일 &amp; 재공 잔존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921240" y="2221992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22960" y="2624328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1005840" y="2697480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페이싱  w_pacing·Δ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389120" y="2697480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(|ideal−eff_before| − |ideal−eff_after|) / target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921240" y="2697480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22960" y="3099816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172968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계획 달성  w_plan_hit·Δ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389120" y="3172968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(gap_before − gap_after) / target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921240" y="3172968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22960" y="3575304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1005840" y="3648456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블록 보너스  w_bulk·min(N/예산,1)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4389120" y="3648456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블록 시작 시에만 (Bulk-Fill)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921240" y="3648456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28" name="Rectangle 27"/>
          <p:cNvSpPr/>
          <p:nvPr/>
        </p:nvSpPr>
        <p:spPr>
          <a:xfrm>
            <a:off x="822960" y="4050791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1005840" y="4123944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전환  w_conversion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4389120" y="4123944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LOT_CD/TEMP 셋업 변경 1회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921240" y="4123944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822960" y="4526279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1005840" y="4599431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회피가능 전환  w_avoid·α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389120" y="4599431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다른 무전환 설비가 커버 가능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9921240" y="4599431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−8.0×α</a:t>
            </a:r>
          </a:p>
        </p:txBody>
      </p:sp>
      <p:sp>
        <p:nvSpPr>
          <p:cNvPr id="36" name="Rectangle 35"/>
          <p:cNvSpPr/>
          <p:nvPr/>
        </p:nvSpPr>
        <p:spPr>
          <a:xfrm>
            <a:off x="822960" y="5001767"/>
            <a:ext cx="10515600" cy="475488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1005840" y="5074919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중복 커버  w_redundant·min(cover/need,2)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389120" y="5074919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이미 덮이는 버킷 재선택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9921240" y="5074919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−5.0</a:t>
            </a:r>
          </a:p>
        </p:txBody>
      </p:sp>
      <p:sp>
        <p:nvSpPr>
          <p:cNvPr id="40" name="Rectangle 39"/>
          <p:cNvSpPr/>
          <p:nvPr/>
        </p:nvSpPr>
        <p:spPr>
          <a:xfrm>
            <a:off x="822960" y="5477255"/>
            <a:ext cx="10515600" cy="475488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05840" y="5550407"/>
            <a:ext cx="329184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전용 오용  w_dedication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4389120" y="5550407"/>
            <a:ext cx="530352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19" b="0">
                <a:solidFill>
                  <a:srgbClr val="5C6670"/>
                </a:solidFill>
                <a:latin typeface="맑은 고딕"/>
              </a:rPr>
              <a:t>더 전용 idle 설비가 있는데 범용이 선점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9921240" y="5550407"/>
            <a:ext cx="12801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22960" y="5989320"/>
            <a:ext cx="1051560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다음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8개 보상 항목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을 항목별 상세(쉬운 설명·수식·A/B·실측)로 설명한 뒤,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SYM_3x3 실제 추론 트레이스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스텝마다 </a:t>
            </a:r>
            <a:r>
              <a:rPr sz="1200" b="1">
                <a:solidFill>
                  <a:srgbClr val="2E6FB0"/>
                </a:solidFill>
                <a:latin typeface="맑은 고딕"/>
              </a:rPr>
              <a:t>State → Action → Reward(8항 전체)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와 누적 간트로 보여줍니다.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동일 셋업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w_same_setup · 1[직전 PPK·OPER 동일 &amp; 재공 잔존]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직전과 제품(PPK)·공정(OPER)이 같으면 셋업 변경 없이 +1. 셋업을 이어 붙이라는 신호.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+1.0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1[동일]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직전 PPK·OPER = 이번 선택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비용을 피하고 같은 셋업으로 연속 가공하도록 유도.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연속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EQP001이 직전과 동일 PPK001·OPER001로 블록 진행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+1.0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셋업 변경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PPK001→PPK002로 LOT_CD/TEMP 전환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4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+1.00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페이싱  (w=+2.5)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w_pacing · (|ideal − eff_before| − |ideal − eff_after|) / target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takt 목표선(ideal)에 실제 진척(eff)이 가까워지면 +, 멀어지면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ideal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target·min(t,H)/H — 지금까지 만들어야 할 이상량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eff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done + 다른설비 cover — 실제+커버 진척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상한(재공 한도)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속도(takt)에 맞추되, 이미 다른 설비가 덮으면 pace 충족으로 봄.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pace 개선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0.3→0.5 (target=8)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+0.06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과생산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ideal=0.5, eff 0.3→0.8 (takt 초과)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cover=0.0, wf=1) · 2.5·(0.0−1.0)/8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→  = -0.31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34314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+2.5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계획 달성  (w=+1.0)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w_plan_hit · (gap_before − gap_after) / target   ;  gap = max(target − done, 0)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아직 만들어야 할 양(gap)이 줄면 +. 이미 다 만들었으면 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gap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max(target−done, 0)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target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달성가능 상한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계획 수량 달성을 직접 장려.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gap 감소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target=8, done 0→1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+0.13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gap=0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이미 target 달성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+0.14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93726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블록 보너스  (w=+3.0)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w_bulk · min(N / takt예산, 1)   [블록 시작 시에만]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블록 시작 시 N캐리어 연속 처리를 약속(commit)하면 +. 연속 2번째 LOT에는 없음.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987552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9235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커밋 블록 크기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takt 예산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horizon 내 허용 캐리어 수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w_bulk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+3.0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3163824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209544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한 설비·한 셋업으로 길게 밀어라 — Bulk-Fill 핵심.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블록 시작 N=8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EQP001, PPK001, takt 예산=8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2E7D4F"/>
                </a:solidFill>
                <a:latin typeface="맑은 고딕"/>
              </a:rPr>
              <a:t>결과  +3.0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547872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547872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N=1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968496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블록 없이 1캐리어만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352544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407408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5029200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449824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449824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852160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236208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→  = +3.00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669780" y="621792"/>
            <a:ext cx="281178" cy="146304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전환  (w=−10.0)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37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w_conversion · 1[LOT_CD/TEMP 셋업 변경]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LOT_CD/TEMP 셋업이 바뀌는 전환 1회마다 −10.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w_conv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−10.0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1[전환]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셋업 변경 발생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전환 = 설비 가동 손실. 근본적으로 줄이게 함.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동일 셋업 블록 연속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1[전환]=0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전환 발생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PPK001→PPK002 셋업 변경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−10.0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87568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732520" y="621792"/>
            <a:ext cx="93725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-10.0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회피가능 전환  (w=−8.0)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38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w_avoidable · α   ;  α = 회피가능 비율 (0~1)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굳이 이 설비에서 바꿀 필요 없었는데 전환하면 추가 −8×α.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α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0~1 회피가능 비율 (다른 설비 커버 등)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다른 idle 설비에 맡기라는 신호.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전환 없음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—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회피가능 전환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다른 설비가 PPK002를 70% 커버 가능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−5.6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8919972" y="621792"/>
            <a:ext cx="749808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-8.0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중복 커버  (w=−5.0)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39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w_redundant · min(cover / need, 2)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다른 설비가 이미 충분히 덮는 제품을 또 잡으면 −.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786384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72237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cover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다른 EQP horizon 투영 생산</a:t>
            </a:r>
          </a:p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need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잔여 필요량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962656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3008376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3대가 같은 제품만 몰리는 lockstep 방지.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cover=0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전담 제품, 다른 설비 커버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cover=0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346704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346704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중복 커버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767328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cover/need ≈ 0.4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4151376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206240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828032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−2.0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248656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248656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Step 1  ·  EQP001 → PPK001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650992"/>
            <a:ext cx="108813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8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8368" y="6035040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→  = -0.00  </a:t>
            </a:r>
            <a:r>
              <a:rPr sz="950" b="0">
                <a:solidFill>
                  <a:srgbClr val="5C6670"/>
                </a:solidFill>
                <a:latin typeface="맑은 고딕"/>
              </a:rPr>
              <a:t>(clip 전 항목 기여)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Rectangle 39"/>
          <p:cNvSpPr/>
          <p:nvPr/>
        </p:nvSpPr>
        <p:spPr>
          <a:xfrm>
            <a:off x="9201150" y="621792"/>
            <a:ext cx="468629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-5.0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보상 항목 — 전용 오용  (w=−4.0)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40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07008"/>
            <a:ext cx="112014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r = w_dedication_misuse · 1[더 전용 idle 설비 존재]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828800"/>
            <a:ext cx="11201400" cy="43891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83664"/>
            <a:ext cx="10881360" cy="32918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쉬운 설명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범용 설비가 전용 idle 설비도 할 수 있는 일을 가져가면 −4.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322576"/>
            <a:ext cx="11201400" cy="58521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8368" y="2377440"/>
            <a:ext cx="10881360" cy="521207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breadth  </a:t>
            </a:r>
            <a:r>
              <a:rPr sz="1000" b="0">
                <a:solidFill>
                  <a:srgbClr val="5C6670"/>
                </a:solidFill>
                <a:latin typeface="맑은 고딕"/>
              </a:rPr>
              <a:t>장비가 할 수 있는 제품 종류 수 — 작을수록 전용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02920" y="2761488"/>
            <a:ext cx="11201400" cy="310896"/>
          </a:xfrm>
          <a:prstGeom prst="rect">
            <a:avLst/>
          </a:prstGeom>
          <a:solidFill>
            <a:srgbClr val="ECF1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58368" y="2807208"/>
            <a:ext cx="10881360" cy="23774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4A6D8C"/>
                </a:solidFill>
                <a:latin typeface="맑은 고딕"/>
              </a:rPr>
              <a:t>왜 필요한가  </a:t>
            </a:r>
            <a:r>
              <a:rPr sz="1000" b="0">
                <a:solidFill>
                  <a:srgbClr val="222A33"/>
                </a:solidFill>
                <a:latin typeface="맑은 고딕"/>
              </a:rPr>
              <a:t>전용 설비는 전용 제품에, 범용은 범용에.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0292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A · 전담 적합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093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EQP001 전담 PPK001, 더 전용 idle 없음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3093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0408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093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5C6670"/>
                </a:solidFill>
                <a:latin typeface="맑은 고딕"/>
              </a:rPr>
              <a:t>결과 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6172200" y="3145536"/>
            <a:ext cx="5532120" cy="182880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172200" y="3145536"/>
            <a:ext cx="553212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예시 B · 범용 오용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300216" y="3566160"/>
            <a:ext cx="5276088" cy="347472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222A33"/>
                </a:solidFill>
                <a:latin typeface="맑은 고딕"/>
              </a:rPr>
              <a:t>범용 EQP가 전용 EQP 가능 버킷 선점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300216" y="3950208"/>
            <a:ext cx="5276088" cy="621792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373368" y="4005072"/>
            <a:ext cx="5129783" cy="512064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0">
                <a:solidFill>
                  <a:srgbClr val="1B3255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0216" y="4626864"/>
            <a:ext cx="527608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B33A3A"/>
                </a:solidFill>
                <a:latin typeface="맑은 고딕"/>
              </a:rPr>
              <a:t>결과  −4.0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02920" y="5047488"/>
            <a:ext cx="11201400" cy="1234440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502920" y="5047488"/>
            <a:ext cx="11201400" cy="32918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FFFFFF"/>
                </a:solidFill>
                <a:latin typeface="맑은 고딕"/>
              </a:rPr>
              <a:t>SYM_3x3 실측 — 해당 항목 비발생 (0)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58368" y="5486400"/>
            <a:ext cx="1088136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이 트레이스에서는 해당 항목이 발생하지 않아 0입니다. </a:t>
            </a:r>
            <a:r>
              <a:rPr sz="1000" b="1">
                <a:solidFill>
                  <a:srgbClr val="1B3255"/>
                </a:solidFill>
                <a:latin typeface="맑은 고딕"/>
              </a:rPr>
              <a:t>예시 B 시나리오를 참고하세요.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09560" y="530352"/>
            <a:ext cx="640080" cy="256032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850" b="1">
                <a:solidFill>
                  <a:srgbClr val="5C6670"/>
                </a:solidFill>
                <a:latin typeface="맑은 고딕"/>
              </a:rPr>
              <a:t>영향도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732520" y="621792"/>
            <a:ext cx="1874519" cy="146304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9660636" y="576072"/>
            <a:ext cx="18288" cy="237744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ectangle 38"/>
          <p:cNvSpPr/>
          <p:nvPr/>
        </p:nvSpPr>
        <p:spPr>
          <a:xfrm>
            <a:off x="9294876" y="621792"/>
            <a:ext cx="374904" cy="146304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98480" y="557784"/>
            <a:ext cx="777240" cy="274320"/>
          </a:xfrm>
          <a:prstGeom prst="rect">
            <a:avLst/>
          </a:prstGeom>
          <a:noFill/>
        </p:spPr>
        <p:txBody>
          <a:bodyPr wrap="none" lIns="0" rIns="0" tIns="0" bIns="0">
            <a:spAutoFit/>
          </a:bodyPr>
          <a:lstStyle/>
          <a:p>
            <a:pPr algn="l"/>
            <a:r>
              <a:rPr sz="1050" b="1">
                <a:solidFill>
                  <a:srgbClr val="B33A3A"/>
                </a:solidFill>
                <a:latin typeface="맑은 고딕"/>
              </a:rPr>
              <a:t>-4.0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1 — 블록 시작 (N=6 커밋 · 이번 1LOT)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41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LOT001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1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+2.83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2 — 블록 시작 (N=6 커밋 · 이번 1LOT)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42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4.2%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0.042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LOT009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+5.66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1[None→PPK002,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3 — 블록 시작 (N=6 커밋 · 이번 1LOT)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43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8.3%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0.083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21408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21408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432303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432303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7431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커밋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7431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N=6 연속 처리 약속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054095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remaining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054095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5 (다음 idle마다)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36499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36499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LOT017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9162288" y="367588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195560" y="367588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시작 (N=6 커밋 · 이번 1LOT)</a:t>
            </a:r>
          </a:p>
        </p:txBody>
      </p:sp>
      <p:pic>
        <p:nvPicPr>
          <p:cNvPr id="44" name="Picture 43" descr="step_0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5" name="TextBox 44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+2.83   ·   누적 Σr = +8.49   ·   clip(Σ항, ±10)</a:t>
            </a:r>
          </a:p>
        </p:txBody>
      </p:sp>
      <p:sp>
        <p:nvSpPr>
          <p:cNvPr id="48" name="Rectangle 47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Rectangle 48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0" name="TextBox 49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1[None→PPK003, None→OPER001] = 0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Rectangle 54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6" name="TextBox 55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0.0→1.0 (done=0, cov…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1" name="Rectangle 60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2" name="TextBox 61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8→7 (done 0→1, target=8) · 1.0·(8−7)/8</a:t>
            </a:r>
          </a:p>
        </p:txBody>
      </p:sp>
      <p:sp>
        <p:nvSpPr>
          <p:cNvPr id="66" name="Rectangle 65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7" name="Rectangle 66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8" name="TextBox 67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+3.00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3.0 · min(6 / 6, 1) = 3.0 · 1.0</a:t>
            </a:r>
          </a:p>
        </p:txBody>
      </p:sp>
      <p:sp>
        <p:nvSpPr>
          <p:cNvPr id="72" name="Rectangle 71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3" name="Rectangle 72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4" name="TextBox 73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8" name="Rectangle 77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9" name="Rectangle 78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TextBox 79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4" name="Rectangle 83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Rectangle 84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6" name="TextBox 85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-0.00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need=8 → 0</a:t>
            </a:r>
          </a:p>
        </p:txBody>
      </p:sp>
      <p:sp>
        <p:nvSpPr>
          <p:cNvPr id="90" name="Rectangle 89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1" name="Rectangle 90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2" name="TextBox 91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4" name="TextBox 93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6" name="Rectangle 95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7" name="TextBox 96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+0.00 + 페이싱 -0.31 + 계획 달성 +0.14 + 블록 보너스 +3.00 + 전환 +0.00 + 회피가능 전환 +0.00 + 중복 커버 -0.00 + 전용 오용 +0.00  →  r = +2.83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4 — 블록 연속 (LOT 2/6 · masked replay)  (EQP001 → PPK001)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44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12.5%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3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0.000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EQP001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PPK001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LOT004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4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+9.32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1[None→PPK001, None→OPER001]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8·0/1320 = 0.0 · eff: 22.0→23.0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cover=21.0,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6 — 블록 연속 (LOT 2/6 · masked replay)  (EQP003 → PPK003)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45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60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20.8%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5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0.125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0.208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EQP003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PPK003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2/6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LOT018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2/6 · masked replay)</a:t>
            </a:r>
          </a:p>
        </p:txBody>
      </p:sp>
      <p:pic>
        <p:nvPicPr>
          <p:cNvPr id="42" name="Picture 41" descr="step_06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+10.98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1[PPK003→PPK003,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8·60/1320 = 0.36 · eff: 1.0→2.0 (done=1, c…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7→6 (done 1→2, target=8) · 1.0·(7−6)/8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need=7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Step 8 — 블록 연속 (LOT 3/6 · masked replay)  (EQP002 → PPK002)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46</a:t>
            </a:r>
          </a:p>
        </p:txBody>
      </p:sp>
      <p:sp>
        <p:nvSpPr>
          <p:cNvPr id="10" name="Rectangle 9"/>
          <p:cNvSpPr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50292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State  (관측 요약)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58368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시뮬 시각 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874519" y="181051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120 분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계획 달성률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874519" y="211226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29.2%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8368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완료 수량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874519" y="2414016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7 / 24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58368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전환 누적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874519" y="2715768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8368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유휴 설비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874519" y="3017520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2 대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8368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obs[0] 시간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874519" y="3319272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0.250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8368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obs[3] 진척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1874519" y="3621024"/>
            <a:ext cx="12344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1B3255"/>
                </a:solidFill>
                <a:latin typeface="맑은 고딕"/>
              </a:rPr>
              <a:t>0.292</a:t>
            </a:r>
          </a:p>
        </p:txBody>
      </p:sp>
      <p:sp>
        <p:nvSpPr>
          <p:cNvPr id="27" name="Rectangle 26"/>
          <p:cNvSpPr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06840" y="1298448"/>
            <a:ext cx="2697480" cy="38404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>
                <a:solidFill>
                  <a:srgbClr val="FFFFFF"/>
                </a:solidFill>
                <a:latin typeface="맑은 고딕"/>
              </a:rPr>
              <a:t>Action  (행동)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006840" y="1682496"/>
            <a:ext cx="2697480" cy="23317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62288" y="1810512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결정 설비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195560" y="1810512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EQP002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162288" y="2157984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버킷 PPK/OPER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195560" y="2157984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PPK002 / OPER001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162288" y="2505456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레벨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195560" y="2505456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L=3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162288" y="2852927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블록 진행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195560" y="2852927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 3/6 추가 배정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9162288" y="3200399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배정 LOT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195560" y="3200399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LOT015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62288" y="3547871"/>
            <a:ext cx="109728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>
                <a:solidFill>
                  <a:srgbClr val="5C6670"/>
                </a:solidFill>
                <a:latin typeface="맑은 고딕"/>
              </a:rPr>
              <a:t>유형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195560" y="3547871"/>
            <a:ext cx="14173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연속 (LOT 3/6 · masked replay)</a:t>
            </a:r>
          </a:p>
        </p:txBody>
      </p:sp>
      <p:pic>
        <p:nvPicPr>
          <p:cNvPr id="42" name="Picture 41" descr="step_08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337560" y="1298448"/>
            <a:ext cx="5532120" cy="2176272"/>
          </a:xfrm>
          <a:prstGeom prst="rect">
            <a:avLst/>
          </a:prstGeom>
        </p:spPr>
      </p:pic>
      <p:sp>
        <p:nvSpPr>
          <p:cNvPr id="43" name="TextBox 42"/>
          <p:cNvSpPr txBox="1"/>
          <p:nvPr/>
        </p:nvSpPr>
        <p:spPr>
          <a:xfrm>
            <a:off x="3337560" y="3511296"/>
            <a:ext cx="553212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연한 해칭 = N캐리어 커밋 구간  ·  실선 = 스케줄 등록 LOT (스텝마다 1개씩)</a:t>
            </a:r>
          </a:p>
        </p:txBody>
      </p:sp>
      <p:sp>
        <p:nvSpPr>
          <p:cNvPr id="44" name="Rectangle 43"/>
          <p:cNvSpPr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502920" y="3703320"/>
            <a:ext cx="11201400" cy="347472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Reward  r = +0.83   ·   누적 Σr = +12.64   ·   clip(Σ항, ±10)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0292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Rectangle 46"/>
          <p:cNvSpPr/>
          <p:nvPr/>
        </p:nvSpPr>
        <p:spPr>
          <a:xfrm>
            <a:off x="502920" y="4105656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63093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25780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+1.00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1[동일 제품·공정 &amp; 재공 잔존]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63093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1.0 · 1[PPK002→PPK002, OPER001→OPER001] = 1.0</a:t>
            </a:r>
          </a:p>
        </p:txBody>
      </p:sp>
      <p:sp>
        <p:nvSpPr>
          <p:cNvPr id="52" name="Rectangle 51"/>
          <p:cNvSpPr/>
          <p:nvPr/>
        </p:nvSpPr>
        <p:spPr>
          <a:xfrm>
            <a:off x="50292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3" name="Rectangle 52"/>
          <p:cNvSpPr/>
          <p:nvPr/>
        </p:nvSpPr>
        <p:spPr>
          <a:xfrm>
            <a:off x="502920" y="4617720"/>
            <a:ext cx="64008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TextBox 53"/>
          <p:cNvSpPr txBox="1"/>
          <p:nvPr/>
        </p:nvSpPr>
        <p:spPr>
          <a:xfrm>
            <a:off x="63093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525780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-0.31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093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eff_after|)…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093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ideal: target·min(t,H)/H = 8·120/1320 = 0.73 · eff: 2.0→3.0 (done=2, …</a:t>
            </a:r>
          </a:p>
        </p:txBody>
      </p:sp>
      <p:sp>
        <p:nvSpPr>
          <p:cNvPr id="58" name="Rectangle 57"/>
          <p:cNvSpPr/>
          <p:nvPr/>
        </p:nvSpPr>
        <p:spPr>
          <a:xfrm>
            <a:off x="50292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9" name="Rectangle 58"/>
          <p:cNvSpPr/>
          <p:nvPr/>
        </p:nvSpPr>
        <p:spPr>
          <a:xfrm>
            <a:off x="502920" y="5129784"/>
            <a:ext cx="64008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0" name="TextBox 59"/>
          <p:cNvSpPr txBox="1"/>
          <p:nvPr/>
        </p:nvSpPr>
        <p:spPr>
          <a:xfrm>
            <a:off x="63093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525780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+0.14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093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gap…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63093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gap: 6→5 (done 2→3, target=8) · 1.0·(6−5)/8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0292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5" name="Rectangle 64"/>
          <p:cNvSpPr/>
          <p:nvPr/>
        </p:nvSpPr>
        <p:spPr>
          <a:xfrm>
            <a:off x="50292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6" name="TextBox 65"/>
          <p:cNvSpPr txBox="1"/>
          <p:nvPr/>
        </p:nvSpPr>
        <p:spPr>
          <a:xfrm>
            <a:off x="63093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525780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093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시작]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블록 시작 아님 → 0</a:t>
            </a:r>
          </a:p>
        </p:txBody>
      </p:sp>
      <p:sp>
        <p:nvSpPr>
          <p:cNvPr id="70" name="Rectangle 69"/>
          <p:cNvSpPr/>
          <p:nvPr/>
        </p:nvSpPr>
        <p:spPr>
          <a:xfrm>
            <a:off x="6172200" y="4105656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1" name="Rectangle 70"/>
          <p:cNvSpPr/>
          <p:nvPr/>
        </p:nvSpPr>
        <p:spPr>
          <a:xfrm>
            <a:off x="6172200" y="4105656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2" name="TextBox 71"/>
          <p:cNvSpPr txBox="1"/>
          <p:nvPr/>
        </p:nvSpPr>
        <p:spPr>
          <a:xfrm>
            <a:off x="6300216" y="4151376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927080" y="4142232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00216" y="4343400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전환]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6300216" y="4453128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-10.0 · 1[전환 없음] = 0</a:t>
            </a:r>
          </a:p>
        </p:txBody>
      </p:sp>
      <p:sp>
        <p:nvSpPr>
          <p:cNvPr id="76" name="Rectangle 75"/>
          <p:cNvSpPr/>
          <p:nvPr/>
        </p:nvSpPr>
        <p:spPr>
          <a:xfrm>
            <a:off x="6172200" y="4617720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7" name="Rectangle 76"/>
          <p:cNvSpPr/>
          <p:nvPr/>
        </p:nvSpPr>
        <p:spPr>
          <a:xfrm>
            <a:off x="6172200" y="4617720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300216" y="4663440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10927080" y="4654296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00216" y="4855464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(α=회피가능 비율)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6300216" y="4965192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전환 없음 또는 회피 불가 → 0</a:t>
            </a:r>
          </a:p>
        </p:txBody>
      </p:sp>
      <p:sp>
        <p:nvSpPr>
          <p:cNvPr id="82" name="Rectangle 81"/>
          <p:cNvSpPr/>
          <p:nvPr/>
        </p:nvSpPr>
        <p:spPr>
          <a:xfrm>
            <a:off x="6172200" y="5129784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3" name="Rectangle 82"/>
          <p:cNvSpPr/>
          <p:nvPr/>
        </p:nvSpPr>
        <p:spPr>
          <a:xfrm>
            <a:off x="6172200" y="5129784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TextBox 83"/>
          <p:cNvSpPr txBox="1"/>
          <p:nvPr/>
        </p:nvSpPr>
        <p:spPr>
          <a:xfrm>
            <a:off x="6300216" y="5175504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927080" y="5166360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00216" y="5367528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6300216" y="5477256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cover=0.0, need=6 → 0</a:t>
            </a:r>
          </a:p>
        </p:txBody>
      </p:sp>
      <p:sp>
        <p:nvSpPr>
          <p:cNvPr id="88" name="Rectangle 87"/>
          <p:cNvSpPr/>
          <p:nvPr/>
        </p:nvSpPr>
        <p:spPr>
          <a:xfrm>
            <a:off x="6172200" y="5641848"/>
            <a:ext cx="5532120" cy="457200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9" name="Rectangle 88"/>
          <p:cNvSpPr/>
          <p:nvPr/>
        </p:nvSpPr>
        <p:spPr>
          <a:xfrm>
            <a:off x="6172200" y="5641848"/>
            <a:ext cx="64008" cy="457200"/>
          </a:xfrm>
          <a:prstGeom prst="rect">
            <a:avLst/>
          </a:prstGeom>
          <a:solidFill>
            <a:srgbClr val="5C667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6300216" y="5687568"/>
            <a:ext cx="1234440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10927080" y="5678424"/>
            <a:ext cx="658368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5C6670"/>
                </a:solidFill>
                <a:latin typeface="맑은 고딕"/>
              </a:rPr>
              <a:t>+0.00</a:t>
            </a:r>
          </a:p>
        </p:txBody>
      </p:sp>
      <p:sp>
        <p:nvSpPr>
          <p:cNvPr id="92" name="TextBox 91"/>
          <p:cNvSpPr txBox="1"/>
          <p:nvPr/>
        </p:nvSpPr>
        <p:spPr>
          <a:xfrm>
            <a:off x="6300216" y="5879592"/>
            <a:ext cx="5276088" cy="1828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93" name="TextBox 92"/>
          <p:cNvSpPr txBox="1"/>
          <p:nvPr/>
        </p:nvSpPr>
        <p:spPr>
          <a:xfrm>
            <a:off x="6300216" y="5989320"/>
            <a:ext cx="5276088" cy="914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750" b="0">
                <a:solidFill>
                  <a:srgbClr val="222A33"/>
                </a:solidFill>
                <a:latin typeface="맑은 고딕"/>
              </a:rPr>
              <a:t>더 전용 idle 설비 없음 → 0</a:t>
            </a:r>
          </a:p>
        </p:txBody>
      </p:sp>
      <p:sp>
        <p:nvSpPr>
          <p:cNvPr id="94" name="Rectangle 93"/>
          <p:cNvSpPr/>
          <p:nvPr/>
        </p:nvSpPr>
        <p:spPr>
          <a:xfrm>
            <a:off x="502920" y="6190488"/>
            <a:ext cx="11201400" cy="310896"/>
          </a:xfrm>
          <a:prstGeom prst="rect">
            <a:avLst/>
          </a:prstGeom>
          <a:solidFill>
            <a:srgbClr val="ECF1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5" name="TextBox 94"/>
          <p:cNvSpPr txBox="1"/>
          <p:nvPr/>
        </p:nvSpPr>
        <p:spPr>
          <a:xfrm>
            <a:off x="658368" y="6190488"/>
            <a:ext cx="10881360" cy="310896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2E6FB0"/>
                </a:solidFill>
                <a:latin typeface="맑은 고딕"/>
              </a:rPr>
              <a:t>합산  </a:t>
            </a:r>
            <a:r>
              <a:rPr sz="950" b="0">
                <a:solidFill>
                  <a:srgbClr val="222A33"/>
                </a:solidFill>
                <a:latin typeface="맑은 고딕"/>
              </a:rPr>
              <a:t>동일 셋업 +1.00 + 페이싱 -0.31 + 계획 달성 +0.14 + 블록 보너스 +0.00 + 전환 +0.00 + 회피가능 전환 +0.00 + 중복 커버 +0.00 + 전용 오용 +0.00  →  r = +0.83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시나리오 — 바람직 vs 지양 결정 (전체 항목)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47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3444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80" b="0">
                <a:solidFill>
                  <a:srgbClr val="5C6670"/>
                </a:solidFill>
                <a:latin typeface="맑은 고딕"/>
              </a:rPr>
              <a:t>검증 데이터(3설비·3제품·각 8캐리어, takt 예산 8) 기준, 대표 결정 두 가지의 보상 계산입니다.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solidFill>
            <a:srgbClr val="2E7D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A · 전담 블록 시작 (바람직)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02412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EQP001이 직전과 같은 PPK001을 블록 크기 8(=takt 예산 전량)로 커밋, 다른 설비가 덮지 않는 제품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02412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33172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2412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1[PPK001→PPK001, OPER001→OPER001] = 1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7492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+1.0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2412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233172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2412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(|0.5−0.3| − |0.5−0.5|) / 8 = 2.5 · 0.2/8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7492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+0.06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2412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33172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2412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1.0 · (8−7) / 8 = +0.125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07492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+0.13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2412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33172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2412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3.0 · min(8/8, 1) = +3.0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7492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7D4F"/>
                </a:solidFill>
                <a:latin typeface="맑은 고딕"/>
              </a:rPr>
              <a:t>+3.0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2412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33172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2412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1[전환]=0 → 0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07492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02412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233172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2412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전환 없음 → 0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507492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2412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233172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102412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cover=0 → 0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07492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102412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233172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2412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1[전용 오용]=0 → 0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07492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02412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TextBox 47"/>
          <p:cNvSpPr txBox="1"/>
          <p:nvPr/>
        </p:nvSpPr>
        <p:spPr>
          <a:xfrm>
            <a:off x="102412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2E7D4F"/>
                </a:solidFill>
                <a:latin typeface="맑은 고딕"/>
              </a:rPr>
              <a:t>≈ +4~+6 수준의 강한 양(+) 보상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102412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같은 셋업으로 길게 점유하는 행동을 강화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126480" y="1783080"/>
            <a:ext cx="5212080" cy="370332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1" name="Rectangle 50"/>
          <p:cNvSpPr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solidFill>
            <a:srgbClr val="B33A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2" name="TextBox 51"/>
          <p:cNvSpPr txBox="1"/>
          <p:nvPr/>
        </p:nvSpPr>
        <p:spPr>
          <a:xfrm>
            <a:off x="6126480" y="1783080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예시 B · 회피가능 전환 (지양)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6327648" y="2377440"/>
            <a:ext cx="4846320" cy="502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1B3255"/>
                </a:solidFill>
                <a:latin typeface="맑은 고딕"/>
              </a:rPr>
              <a:t>상황 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EQP가 PPK001→PPK002로 셋업을 바꿔 1캐리어만 처리. 다른 무전환 설비가 PPK002를 70% 커버 가능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6327648" y="248716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동일 셋업</a:t>
            </a:r>
          </a:p>
        </p:txBody>
      </p:sp>
      <p:sp>
        <p:nvSpPr>
          <p:cNvPr id="55" name="TextBox 54"/>
          <p:cNvSpPr txBox="1"/>
          <p:nvPr/>
        </p:nvSpPr>
        <p:spPr>
          <a:xfrm>
            <a:off x="7635240" y="248716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w_same_setup · 1[직전 PPK·OPER 동일 &amp; 재공 잔존]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6327648" y="268833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셋업 변경 → 1[동일]=0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10378440" y="256032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27648" y="287007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페이싱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7635240" y="287007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w_pacing · (|ideal − eff_before| − |ideal − eff_after|) / target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27648" y="307124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2.5 · (0.2 − 0.3) / 8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10378440" y="294322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−Δ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6327648" y="325297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계획 달성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7635240" y="325297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w_plan_hit · (gap_before − gap_after) / target   ;  gap = max(target − done, 0)</a:t>
            </a:r>
          </a:p>
        </p:txBody>
      </p:sp>
      <p:sp>
        <p:nvSpPr>
          <p:cNvPr id="64" name="TextBox 63"/>
          <p:cNvSpPr txBox="1"/>
          <p:nvPr/>
        </p:nvSpPr>
        <p:spPr>
          <a:xfrm>
            <a:off x="6327648" y="345414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gap_before=gap_after=0 → 0</a:t>
            </a:r>
          </a:p>
        </p:txBody>
      </p:sp>
      <p:sp>
        <p:nvSpPr>
          <p:cNvPr id="65" name="TextBox 64"/>
          <p:cNvSpPr txBox="1"/>
          <p:nvPr/>
        </p:nvSpPr>
        <p:spPr>
          <a:xfrm>
            <a:off x="10378440" y="332613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6327648" y="363588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블록 보너스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7635240" y="363588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w_bulk · min(N / takt예산, 1)   [블록 시작 시에만]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6327648" y="383705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블록 시작 아님 또는 N=1 → 0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10378440" y="370903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6327648" y="401878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전환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7635240" y="401878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w_conversion · 1[LOT_CD/TEMP 셋업 변경]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6327648" y="421995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−10.0 · 1 = −10.0</a:t>
            </a:r>
          </a:p>
        </p:txBody>
      </p:sp>
      <p:sp>
        <p:nvSpPr>
          <p:cNvPr id="73" name="TextBox 72"/>
          <p:cNvSpPr txBox="1"/>
          <p:nvPr/>
        </p:nvSpPr>
        <p:spPr>
          <a:xfrm>
            <a:off x="10378440" y="409194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−10.0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6327648" y="440169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회피가능 전환</a:t>
            </a:r>
          </a:p>
        </p:txBody>
      </p:sp>
      <p:sp>
        <p:nvSpPr>
          <p:cNvPr id="75" name="TextBox 74"/>
          <p:cNvSpPr txBox="1"/>
          <p:nvPr/>
        </p:nvSpPr>
        <p:spPr>
          <a:xfrm>
            <a:off x="7635240" y="440169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w_avoidable · α   ;  α = 회피가능 비율 (0~1)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6327648" y="460286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−8.0 · 0.7 = −5.6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10378440" y="447484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−5.6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6327648" y="4784598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중복 커버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7635240" y="4784598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w_redundant · min(cover / need, 2)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6327648" y="4985766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−5.0 · min(0.4, 2) ≈ −2.0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10378440" y="4857750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−2.0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6327648" y="5167503"/>
            <a:ext cx="132588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>
                <a:solidFill>
                  <a:srgbClr val="1B3255"/>
                </a:solidFill>
                <a:latin typeface="맑은 고딕"/>
              </a:rPr>
              <a:t>전용 오용</a:t>
            </a:r>
          </a:p>
        </p:txBody>
      </p:sp>
      <p:sp>
        <p:nvSpPr>
          <p:cNvPr id="83" name="TextBox 82"/>
          <p:cNvSpPr txBox="1"/>
          <p:nvPr/>
        </p:nvSpPr>
        <p:spPr>
          <a:xfrm>
            <a:off x="7635240" y="5167503"/>
            <a:ext cx="2331720" cy="21945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19" b="0">
                <a:solidFill>
                  <a:srgbClr val="5C6670"/>
                </a:solidFill>
                <a:latin typeface="맑은 고딕"/>
              </a:rPr>
              <a:t>w_dedication_misuse · 1[더 전용 idle 설비 존재]</a:t>
            </a:r>
          </a:p>
        </p:txBody>
      </p:sp>
      <p:sp>
        <p:nvSpPr>
          <p:cNvPr id="84" name="TextBox 83"/>
          <p:cNvSpPr txBox="1"/>
          <p:nvPr/>
        </p:nvSpPr>
        <p:spPr>
          <a:xfrm>
            <a:off x="6327648" y="5368671"/>
            <a:ext cx="3977639" cy="2011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880" b="0">
                <a:solidFill>
                  <a:srgbClr val="222A33"/>
                </a:solidFill>
                <a:latin typeface="맑은 고딕"/>
              </a:rPr>
              <a:t>−4.0 · 1 = −4.0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10378440" y="5240655"/>
            <a:ext cx="6858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33A3A"/>
                </a:solidFill>
                <a:latin typeface="맑은 고딕"/>
              </a:rPr>
              <a:t>−4.0</a:t>
            </a:r>
          </a:p>
        </p:txBody>
      </p:sp>
      <p:sp>
        <p:nvSpPr>
          <p:cNvPr id="86" name="Rectangle 85"/>
          <p:cNvSpPr/>
          <p:nvPr/>
        </p:nvSpPr>
        <p:spPr>
          <a:xfrm>
            <a:off x="6327648" y="4956048"/>
            <a:ext cx="4809744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7" name="TextBox 86"/>
          <p:cNvSpPr txBox="1"/>
          <p:nvPr/>
        </p:nvSpPr>
        <p:spPr>
          <a:xfrm>
            <a:off x="6327648" y="5029200"/>
            <a:ext cx="4809744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합계  </a:t>
            </a:r>
            <a:r>
              <a:rPr sz="1300" b="1">
                <a:solidFill>
                  <a:srgbClr val="B33A3A"/>
                </a:solidFill>
                <a:latin typeface="맑은 고딕"/>
              </a:rPr>
              <a:t>≈ −20 수준의 강한 음(−) 보상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27648" y="5440680"/>
            <a:ext cx="484632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→ 불필요한 셋업 변경을 강하게 억제</a:t>
            </a:r>
          </a:p>
        </p:txBody>
      </p:sp>
      <p:sp>
        <p:nvSpPr>
          <p:cNvPr id="89" name="Rectangle 88"/>
          <p:cNvSpPr/>
          <p:nvPr/>
        </p:nvSpPr>
        <p:spPr>
          <a:xfrm>
            <a:off x="822960" y="5715000"/>
            <a:ext cx="10515600" cy="64008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0" name="TextBox 89"/>
          <p:cNvSpPr txBox="1"/>
          <p:nvPr/>
        </p:nvSpPr>
        <p:spPr>
          <a:xfrm>
            <a:off x="1051560" y="5715000"/>
            <a:ext cx="10149840" cy="64008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학습 결과  </a:t>
            </a:r>
            <a:r>
              <a:rPr sz="1300" b="0">
                <a:solidFill>
                  <a:srgbClr val="FFFFFF"/>
                </a:solidFill>
                <a:latin typeface="맑은 고딕"/>
              </a:rPr>
              <a:t>정책은 "전담 블록은 키우고, 회피가능한 전환은 피한다"는 행동을 자연스럽게 획득합니다.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03  보상 산출 로직 예시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스텝별 요약 — SYM_3x3 트레이스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48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1170432"/>
            <a:ext cx="110642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222A33"/>
                </a:solidFill>
                <a:latin typeface="맑은 고딕"/>
              </a:rPr>
              <a:t>학습 모델을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SYM_3x3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(3설비·각 8캐리어, takt 예산 8)에 결정론적 추론한 </a:t>
            </a:r>
            <a:r>
              <a:rPr sz="1150" b="1">
                <a:solidFill>
                  <a:srgbClr val="1B3255"/>
                </a:solidFill>
                <a:latin typeface="맑은 고딕"/>
              </a:rPr>
              <a:t>실제 첫 8스텝</a:t>
            </a:r>
            <a:r>
              <a:rPr sz="1150" b="0">
                <a:solidFill>
                  <a:srgbClr val="222A33"/>
                </a:solidFill>
                <a:latin typeface="맑은 고딕"/>
              </a:rPr>
              <a:t>의 상태·보상 변화입니다.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27632"/>
            <a:ext cx="7772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스텝</a:t>
            </a:r>
          </a:p>
        </p:txBody>
      </p:sp>
      <p:sp>
        <p:nvSpPr>
          <p:cNvPr id="12" name="Rectangle 11"/>
          <p:cNvSpPr/>
          <p:nvPr/>
        </p:nvSpPr>
        <p:spPr>
          <a:xfrm>
            <a:off x="1344168" y="1627632"/>
            <a:ext cx="91440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t(분)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258568" y="1627632"/>
            <a:ext cx="269748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결정 (EQP → PPK)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956048" y="1627632"/>
            <a:ext cx="169164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행동 유형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647688" y="1627632"/>
            <a:ext cx="141732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달성률</a:t>
            </a:r>
          </a:p>
        </p:txBody>
      </p:sp>
      <p:sp>
        <p:nvSpPr>
          <p:cNvPr id="16" name="Rectangle 15"/>
          <p:cNvSpPr/>
          <p:nvPr/>
        </p:nvSpPr>
        <p:spPr>
          <a:xfrm>
            <a:off x="806500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보상 r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802368" y="1627632"/>
            <a:ext cx="1737360" cy="420624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누적 Σr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2048256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</a:t>
            </a:r>
          </a:p>
        </p:txBody>
      </p:sp>
      <p:sp>
        <p:nvSpPr>
          <p:cNvPr id="19" name="Rectangle 18"/>
          <p:cNvSpPr/>
          <p:nvPr/>
        </p:nvSpPr>
        <p:spPr>
          <a:xfrm>
            <a:off x="1344168" y="2048256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258568" y="2048256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956048" y="2048256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647688" y="2048256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0%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06500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24" name="Rectangle 23"/>
          <p:cNvSpPr/>
          <p:nvPr/>
        </p:nvSpPr>
        <p:spPr>
          <a:xfrm>
            <a:off x="9802368" y="2048256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2.83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2404872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</a:t>
            </a:r>
          </a:p>
        </p:txBody>
      </p:sp>
      <p:sp>
        <p:nvSpPr>
          <p:cNvPr id="26" name="Rectangle 25"/>
          <p:cNvSpPr/>
          <p:nvPr/>
        </p:nvSpPr>
        <p:spPr>
          <a:xfrm>
            <a:off x="1344168" y="2404872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258568" y="2404872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956048" y="2404872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647688" y="2404872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06500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1" name="Rectangle 30"/>
          <p:cNvSpPr/>
          <p:nvPr/>
        </p:nvSpPr>
        <p:spPr>
          <a:xfrm>
            <a:off x="9802368" y="2404872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5.66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2761488"/>
            <a:ext cx="7772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1344168" y="2761488"/>
            <a:ext cx="91440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34" name="Rectangle 33"/>
          <p:cNvSpPr/>
          <p:nvPr/>
        </p:nvSpPr>
        <p:spPr>
          <a:xfrm>
            <a:off x="2258568" y="2761488"/>
            <a:ext cx="269748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956048" y="2761488"/>
            <a:ext cx="169164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6FB0"/>
                </a:solidFill>
                <a:latin typeface="맑은 고딕"/>
              </a:rPr>
              <a:t>블록 시작 (N=8)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47688" y="2761488"/>
            <a:ext cx="141732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8%</a:t>
            </a:r>
          </a:p>
        </p:txBody>
      </p:sp>
      <p:sp>
        <p:nvSpPr>
          <p:cNvPr id="37" name="Rectangle 36"/>
          <p:cNvSpPr/>
          <p:nvPr/>
        </p:nvSpPr>
        <p:spPr>
          <a:xfrm>
            <a:off x="806500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+2.83</a:t>
            </a:r>
          </a:p>
        </p:txBody>
      </p:sp>
      <p:sp>
        <p:nvSpPr>
          <p:cNvPr id="38" name="Rectangle 37"/>
          <p:cNvSpPr/>
          <p:nvPr/>
        </p:nvSpPr>
        <p:spPr>
          <a:xfrm>
            <a:off x="9802368" y="2761488"/>
            <a:ext cx="1737360" cy="356616"/>
          </a:xfrm>
          <a:prstGeom prst="rect">
            <a:avLst/>
          </a:prstGeom>
          <a:solidFill>
            <a:srgbClr val="ECF1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8.49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3118104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4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344168" y="3118104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0</a:t>
            </a:r>
          </a:p>
        </p:txBody>
      </p:sp>
      <p:sp>
        <p:nvSpPr>
          <p:cNvPr id="41" name="Rectangle 40"/>
          <p:cNvSpPr/>
          <p:nvPr/>
        </p:nvSpPr>
        <p:spPr>
          <a:xfrm>
            <a:off x="2258568" y="3118104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42" name="Rectangle 41"/>
          <p:cNvSpPr/>
          <p:nvPr/>
        </p:nvSpPr>
        <p:spPr>
          <a:xfrm>
            <a:off x="4956048" y="3118104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47688" y="3118104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12%</a:t>
            </a:r>
          </a:p>
        </p:txBody>
      </p:sp>
      <p:sp>
        <p:nvSpPr>
          <p:cNvPr id="44" name="Rectangle 43"/>
          <p:cNvSpPr/>
          <p:nvPr/>
        </p:nvSpPr>
        <p:spPr>
          <a:xfrm>
            <a:off x="806500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802368" y="3118104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9.32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3474720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5</a:t>
            </a:r>
          </a:p>
        </p:txBody>
      </p:sp>
      <p:sp>
        <p:nvSpPr>
          <p:cNvPr id="47" name="Rectangle 46"/>
          <p:cNvSpPr/>
          <p:nvPr/>
        </p:nvSpPr>
        <p:spPr>
          <a:xfrm>
            <a:off x="1344168" y="3474720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48" name="Rectangle 47"/>
          <p:cNvSpPr/>
          <p:nvPr/>
        </p:nvSpPr>
        <p:spPr>
          <a:xfrm>
            <a:off x="2258568" y="3474720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4956048" y="3474720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0" name="Rectangle 49"/>
          <p:cNvSpPr/>
          <p:nvPr/>
        </p:nvSpPr>
        <p:spPr>
          <a:xfrm>
            <a:off x="6647688" y="3474720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17%</a:t>
            </a:r>
          </a:p>
        </p:txBody>
      </p:sp>
      <p:sp>
        <p:nvSpPr>
          <p:cNvPr id="51" name="Rectangle 50"/>
          <p:cNvSpPr/>
          <p:nvPr/>
        </p:nvSpPr>
        <p:spPr>
          <a:xfrm>
            <a:off x="806500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9802368" y="3474720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10.15</a:t>
            </a:r>
          </a:p>
        </p:txBody>
      </p:sp>
      <p:sp>
        <p:nvSpPr>
          <p:cNvPr id="53" name="Rectangle 52"/>
          <p:cNvSpPr/>
          <p:nvPr/>
        </p:nvSpPr>
        <p:spPr>
          <a:xfrm>
            <a:off x="566928" y="3831336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</a:t>
            </a:r>
          </a:p>
        </p:txBody>
      </p:sp>
      <p:sp>
        <p:nvSpPr>
          <p:cNvPr id="54" name="Rectangle 53"/>
          <p:cNvSpPr/>
          <p:nvPr/>
        </p:nvSpPr>
        <p:spPr>
          <a:xfrm>
            <a:off x="1344168" y="3831336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55" name="Rectangle 54"/>
          <p:cNvSpPr/>
          <p:nvPr/>
        </p:nvSpPr>
        <p:spPr>
          <a:xfrm>
            <a:off x="2258568" y="3831336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EQP003 → PPK003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4956048" y="3831336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57" name="Rectangle 56"/>
          <p:cNvSpPr/>
          <p:nvPr/>
        </p:nvSpPr>
        <p:spPr>
          <a:xfrm>
            <a:off x="6647688" y="3831336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21%</a:t>
            </a:r>
          </a:p>
        </p:txBody>
      </p:sp>
      <p:sp>
        <p:nvSpPr>
          <p:cNvPr id="58" name="Rectangle 57"/>
          <p:cNvSpPr/>
          <p:nvPr/>
        </p:nvSpPr>
        <p:spPr>
          <a:xfrm>
            <a:off x="806500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59" name="Rectangle 58"/>
          <p:cNvSpPr/>
          <p:nvPr/>
        </p:nvSpPr>
        <p:spPr>
          <a:xfrm>
            <a:off x="9802368" y="3831336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10.98</a:t>
            </a:r>
          </a:p>
        </p:txBody>
      </p:sp>
      <p:sp>
        <p:nvSpPr>
          <p:cNvPr id="60" name="Rectangle 59"/>
          <p:cNvSpPr/>
          <p:nvPr/>
        </p:nvSpPr>
        <p:spPr>
          <a:xfrm>
            <a:off x="566928" y="4187952"/>
            <a:ext cx="7772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7</a:t>
            </a:r>
          </a:p>
        </p:txBody>
      </p:sp>
      <p:sp>
        <p:nvSpPr>
          <p:cNvPr id="61" name="Rectangle 60"/>
          <p:cNvSpPr/>
          <p:nvPr/>
        </p:nvSpPr>
        <p:spPr>
          <a:xfrm>
            <a:off x="1344168" y="4187952"/>
            <a:ext cx="91440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60</a:t>
            </a:r>
          </a:p>
        </p:txBody>
      </p:sp>
      <p:sp>
        <p:nvSpPr>
          <p:cNvPr id="62" name="Rectangle 61"/>
          <p:cNvSpPr/>
          <p:nvPr/>
        </p:nvSpPr>
        <p:spPr>
          <a:xfrm>
            <a:off x="2258568" y="4187952"/>
            <a:ext cx="269748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EQP001 → PPK001</a:t>
            </a:r>
          </a:p>
        </p:txBody>
      </p:sp>
      <p:sp>
        <p:nvSpPr>
          <p:cNvPr id="63" name="Rectangle 62"/>
          <p:cNvSpPr/>
          <p:nvPr/>
        </p:nvSpPr>
        <p:spPr>
          <a:xfrm>
            <a:off x="4956048" y="4187952"/>
            <a:ext cx="169164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64" name="Rectangle 63"/>
          <p:cNvSpPr/>
          <p:nvPr/>
        </p:nvSpPr>
        <p:spPr>
          <a:xfrm>
            <a:off x="6647688" y="4187952"/>
            <a:ext cx="141732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25%</a:t>
            </a:r>
          </a:p>
        </p:txBody>
      </p:sp>
      <p:sp>
        <p:nvSpPr>
          <p:cNvPr id="65" name="Rectangle 64"/>
          <p:cNvSpPr/>
          <p:nvPr/>
        </p:nvSpPr>
        <p:spPr>
          <a:xfrm>
            <a:off x="806500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66" name="Rectangle 65"/>
          <p:cNvSpPr/>
          <p:nvPr/>
        </p:nvSpPr>
        <p:spPr>
          <a:xfrm>
            <a:off x="9802368" y="4187952"/>
            <a:ext cx="1737360" cy="35661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11.81</a:t>
            </a:r>
          </a:p>
        </p:txBody>
      </p:sp>
      <p:sp>
        <p:nvSpPr>
          <p:cNvPr id="67" name="Rectangle 66"/>
          <p:cNvSpPr/>
          <p:nvPr/>
        </p:nvSpPr>
        <p:spPr>
          <a:xfrm>
            <a:off x="566928" y="4544568"/>
            <a:ext cx="7772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8</a:t>
            </a:r>
          </a:p>
        </p:txBody>
      </p:sp>
      <p:sp>
        <p:nvSpPr>
          <p:cNvPr id="68" name="Rectangle 67"/>
          <p:cNvSpPr/>
          <p:nvPr/>
        </p:nvSpPr>
        <p:spPr>
          <a:xfrm>
            <a:off x="1344168" y="4544568"/>
            <a:ext cx="91440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120</a:t>
            </a:r>
          </a:p>
        </p:txBody>
      </p:sp>
      <p:sp>
        <p:nvSpPr>
          <p:cNvPr id="69" name="Rectangle 68"/>
          <p:cNvSpPr/>
          <p:nvPr/>
        </p:nvSpPr>
        <p:spPr>
          <a:xfrm>
            <a:off x="2258568" y="4544568"/>
            <a:ext cx="269748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l"/>
            <a:r>
              <a:rPr sz="1050" b="1">
                <a:solidFill>
                  <a:srgbClr val="1B3255"/>
                </a:solidFill>
                <a:latin typeface="맑은 고딕"/>
              </a:rPr>
              <a:t>EQP002 → PPK002</a:t>
            </a:r>
          </a:p>
        </p:txBody>
      </p:sp>
      <p:sp>
        <p:nvSpPr>
          <p:cNvPr id="70" name="Rectangle 69"/>
          <p:cNvSpPr/>
          <p:nvPr/>
        </p:nvSpPr>
        <p:spPr>
          <a:xfrm>
            <a:off x="4956048" y="4544568"/>
            <a:ext cx="169164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4A6D8C"/>
                </a:solidFill>
                <a:latin typeface="맑은 고딕"/>
              </a:rPr>
              <a:t>블록 연속</a:t>
            </a:r>
          </a:p>
        </p:txBody>
      </p:sp>
      <p:sp>
        <p:nvSpPr>
          <p:cNvPr id="71" name="Rectangle 70"/>
          <p:cNvSpPr/>
          <p:nvPr/>
        </p:nvSpPr>
        <p:spPr>
          <a:xfrm>
            <a:off x="6647688" y="4544568"/>
            <a:ext cx="141732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0">
                <a:solidFill>
                  <a:srgbClr val="5C6670"/>
                </a:solidFill>
                <a:latin typeface="맑은 고딕"/>
              </a:rPr>
              <a:t>29%</a:t>
            </a:r>
          </a:p>
        </p:txBody>
      </p:sp>
      <p:sp>
        <p:nvSpPr>
          <p:cNvPr id="72" name="Rectangle 71"/>
          <p:cNvSpPr/>
          <p:nvPr/>
        </p:nvSpPr>
        <p:spPr>
          <a:xfrm>
            <a:off x="806500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2E7D4F"/>
                </a:solidFill>
                <a:latin typeface="맑은 고딕"/>
              </a:rPr>
              <a:t>+0.83</a:t>
            </a:r>
          </a:p>
        </p:txBody>
      </p:sp>
      <p:sp>
        <p:nvSpPr>
          <p:cNvPr id="73" name="Rectangle 72"/>
          <p:cNvSpPr/>
          <p:nvPr/>
        </p:nvSpPr>
        <p:spPr>
          <a:xfrm>
            <a:off x="9802368" y="4544568"/>
            <a:ext cx="1737360" cy="356616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73152"/>
          <a:lstStyle/>
          <a:p>
            <a:pPr algn="ctr"/>
            <a:r>
              <a:rPr sz="1050" b="1">
                <a:solidFill>
                  <a:srgbClr val="1B3255"/>
                </a:solidFill>
                <a:latin typeface="맑은 고딕"/>
              </a:rPr>
              <a:t>12.64</a:t>
            </a:r>
          </a:p>
        </p:txBody>
      </p:sp>
      <p:sp>
        <p:nvSpPr>
          <p:cNvPr id="74" name="TextBox 73"/>
          <p:cNvSpPr txBox="1"/>
          <p:nvPr/>
        </p:nvSpPr>
        <p:spPr>
          <a:xfrm>
            <a:off x="566928" y="4937759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관찰  </a:t>
            </a:r>
            <a:r>
              <a:rPr sz="1050" b="0">
                <a:solidFill>
                  <a:srgbClr val="5C6670"/>
                </a:solidFill>
                <a:latin typeface="맑은 고딕"/>
              </a:rPr>
              <a:t>스텝 1~3은 각 설비 전담 블록 시작(보상 큼), 4~8은 같은 셋업 연속. 상세 State/Action/Reward·간트는 슬라이드 12~17 참고.</a:t>
            </a:r>
          </a:p>
        </p:txBody>
      </p:sp>
      <p:sp>
        <p:nvSpPr>
          <p:cNvPr id="75" name="Rectangle 74"/>
          <p:cNvSpPr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6" name="TextBox 75"/>
          <p:cNvSpPr txBox="1"/>
          <p:nvPr/>
        </p:nvSpPr>
        <p:spPr>
          <a:xfrm>
            <a:off x="566928" y="4736592"/>
            <a:ext cx="11064240" cy="420624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FFFFFF"/>
                </a:solidFill>
                <a:latin typeface="맑은 고딕"/>
              </a:rPr>
              <a:t>스텝 보상 식    r_t  =  w_same_setup·1[동일셋업]  +  w_pacing·(|ideal−eff_before| − |ideal−eff_after|)/target  +  w_plan_hit·(gap_before − gap_after)/target  +  [블록 시작 시] Δblock</a:t>
            </a:r>
          </a:p>
        </p:txBody>
      </p:sp>
      <p:sp>
        <p:nvSpPr>
          <p:cNvPr id="77" name="Rectangle 76"/>
          <p:cNvSpPr/>
          <p:nvPr/>
        </p:nvSpPr>
        <p:spPr>
          <a:xfrm>
            <a:off x="566928" y="5193792"/>
            <a:ext cx="11064240" cy="36576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8" name="TextBox 77"/>
          <p:cNvSpPr txBox="1"/>
          <p:nvPr/>
        </p:nvSpPr>
        <p:spPr>
          <a:xfrm>
            <a:off x="685800" y="5193792"/>
            <a:ext cx="10972800" cy="36576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222A33"/>
                </a:solidFill>
                <a:latin typeface="맑은 고딕"/>
              </a:rPr>
              <a:t>Δblock = w_bulk_block_bonus·min(N/예산,1)  +  w_dedication_misuse·1[전용오용]  +  w_redundant_cover·min(cover/need, 2)        |        전환 발생 시  + w_conversion  + w_avoidable_conversion·avoidable</a:t>
            </a:r>
          </a:p>
        </p:txBody>
      </p:sp>
      <p:sp>
        <p:nvSpPr>
          <p:cNvPr id="79" name="Rectangle 78"/>
          <p:cNvSpPr/>
          <p:nvPr/>
        </p:nvSpPr>
        <p:spPr>
          <a:xfrm>
            <a:off x="566928" y="5669279"/>
            <a:ext cx="5440680" cy="1078992"/>
          </a:xfrm>
          <a:prstGeom prst="rect">
            <a:avLst/>
          </a:prstGeom>
          <a:solidFill>
            <a:srgbClr val="ECF1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" name="Rectangle 79"/>
          <p:cNvSpPr/>
          <p:nvPr/>
        </p:nvSpPr>
        <p:spPr>
          <a:xfrm>
            <a:off x="566928" y="5669279"/>
            <a:ext cx="82296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1" name="TextBox 80"/>
          <p:cNvSpPr txBox="1"/>
          <p:nvPr/>
        </p:nvSpPr>
        <p:spPr>
          <a:xfrm>
            <a:off x="74980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1 · 블록 시작 (EQP001→PPK001, N=8)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74980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블록보너스 3.0·(8/8)=+3.00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−0.31 · 계획 +0.13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+2.83</a:t>
            </a:r>
          </a:p>
        </p:txBody>
      </p:sp>
      <p:sp>
        <p:nvSpPr>
          <p:cNvPr id="83" name="Rectangle 82"/>
          <p:cNvSpPr/>
          <p:nvPr/>
        </p:nvSpPr>
        <p:spPr>
          <a:xfrm>
            <a:off x="6190488" y="5669279"/>
            <a:ext cx="544068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4" name="Rectangle 83"/>
          <p:cNvSpPr/>
          <p:nvPr/>
        </p:nvSpPr>
        <p:spPr>
          <a:xfrm>
            <a:off x="6190488" y="5669279"/>
            <a:ext cx="82296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5" name="TextBox 84"/>
          <p:cNvSpPr txBox="1"/>
          <p:nvPr/>
        </p:nvSpPr>
        <p:spPr>
          <a:xfrm>
            <a:off x="6373368" y="5742431"/>
            <a:ext cx="521208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스텝 4 · 블록 연속 (EQP001→PPK001)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6373368" y="6035040"/>
            <a:ext cx="5212080" cy="65836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1">
                <a:solidFill>
                  <a:srgbClr val="2E7D4F"/>
                </a:solidFill>
                <a:latin typeface="맑은 고딕"/>
              </a:rPr>
              <a:t>동일셋업 +1.00 </a:t>
            </a:r>
            <a:r>
              <a:rPr sz="1030" b="0">
                <a:solidFill>
                  <a:srgbClr val="5C6670"/>
                </a:solidFill>
                <a:latin typeface="맑은 고딕"/>
              </a:rPr>
              <a:t>· 페이싱 −0.30 · 계획 +0.13 (블록보너스 없음)</a:t>
            </a:r>
            <a:r>
              <a:rPr sz="1100" b="1">
                <a:solidFill>
                  <a:srgbClr val="1B3255"/>
                </a:solidFill>
                <a:latin typeface="맑은 고딕"/>
              </a:rPr>
              <a:t>  →  r = +0.83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검증 설계 — CONV_BENCH 데이터셋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49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280160"/>
            <a:ext cx="10607040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>
                <a:solidFill>
                  <a:srgbClr val="222A33"/>
                </a:solidFill>
                <a:latin typeface="맑은 고딕"/>
              </a:rPr>
              <a:t>전환 비용이 </a:t>
            </a:r>
            <a:r>
              <a:rPr sz="1350" b="1">
                <a:solidFill>
                  <a:srgbClr val="1B3255"/>
                </a:solidFill>
                <a:latin typeface="맑은 고딕"/>
              </a:rPr>
              <a:t>생산 수량 손실로 1:1 환산</a:t>
            </a:r>
            <a:r>
              <a:rPr sz="1350" b="0">
                <a:solidFill>
                  <a:srgbClr val="222A33"/>
                </a:solidFill>
                <a:latin typeface="맑은 고딕"/>
              </a:rPr>
              <a:t>되도록 설계한 직관형 검증 데이터셋입니다.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2296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2296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6012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설비 / 제품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6012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3 설비 × 3 제품(PPK)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동일 성능 A모델 3대, 제품별 LOT_CD 상이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52044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352044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365760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재공 / 계획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65760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제품당 8캐리어 = 24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365760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계획도 제품당 8 (총 24캐리어)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21792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621792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35508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시간 파라미터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35508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ST=60 · 전환=60 · 8h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35508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설비당 480/60 = 8캐리어 처리 가능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915400" y="1920240"/>
            <a:ext cx="2587752" cy="15544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8915400" y="1920240"/>
            <a:ext cx="2587752" cy="82296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052560" y="2084831"/>
            <a:ext cx="2313432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배정 난이도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052560" y="2432304"/>
            <a:ext cx="2313432" cy="4572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홈 LOT 혼합 배치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052560" y="2907792"/>
            <a:ext cx="23317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단순 규칙은 전환 불가피, 전략적 선택만 전담 달성</a:t>
            </a:r>
          </a:p>
        </p:txBody>
      </p:sp>
      <p:sp>
        <p:nvSpPr>
          <p:cNvPr id="31" name="Rectangle 30"/>
          <p:cNvSpPr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22960" y="3749039"/>
            <a:ext cx="52120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이론적 최적해</a:t>
            </a:r>
          </a:p>
        </p:txBody>
      </p:sp>
      <p:sp>
        <p:nvSpPr>
          <p:cNvPr id="33" name="Rectangle 32"/>
          <p:cNvSpPr/>
          <p:nvPr/>
        </p:nvSpPr>
        <p:spPr>
          <a:xfrm>
            <a:off x="822960" y="4206240"/>
            <a:ext cx="52120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51560" y="4343400"/>
            <a:ext cx="4846320" cy="16459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설비별 1제품 전담 → 전환 0회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EQP001 → PPK001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EQP002 → PPK002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>
                <a:solidFill>
                  <a:srgbClr val="5C6670"/>
                </a:solidFill>
                <a:latin typeface="맑은 고딕"/>
              </a:rPr>
              <a:t>EQP003 → PPK003  (8캐리어)</a:t>
            </a:r>
          </a:p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생산 24 · 전환 0 · 가동률 100%</a:t>
            </a:r>
          </a:p>
        </p:txBody>
      </p:sp>
      <p:sp>
        <p:nvSpPr>
          <p:cNvPr id="35" name="Rectangle 34"/>
          <p:cNvSpPr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355080" y="3749039"/>
            <a:ext cx="498348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전환 → 손실 환산표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355080" y="4206240"/>
            <a:ext cx="4983480" cy="1783080"/>
          </a:xfrm>
          <a:prstGeom prst="rect">
            <a:avLst/>
          </a:prstGeom>
          <a:solidFill>
            <a:srgbClr val="EEF2F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537960" y="4315968"/>
            <a:ext cx="182880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전환 횟수</a:t>
            </a:r>
          </a:p>
        </p:txBody>
      </p:sp>
      <p:sp>
        <p:nvSpPr>
          <p:cNvPr id="39" name="Rectangle 38"/>
          <p:cNvSpPr/>
          <p:nvPr/>
        </p:nvSpPr>
        <p:spPr>
          <a:xfrm>
            <a:off x="8366760" y="4315968"/>
            <a:ext cx="173736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생산 수량</a:t>
            </a:r>
          </a:p>
        </p:txBody>
      </p:sp>
      <p:sp>
        <p:nvSpPr>
          <p:cNvPr id="40" name="Rectangle 39"/>
          <p:cNvSpPr/>
          <p:nvPr/>
        </p:nvSpPr>
        <p:spPr>
          <a:xfrm>
            <a:off x="10104120" y="4315968"/>
            <a:ext cx="1097280" cy="402336"/>
          </a:xfrm>
          <a:prstGeom prst="rect">
            <a:avLst/>
          </a:prstGeom>
          <a:solidFill>
            <a:srgbClr val="1B3255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FFFFFF"/>
                </a:solidFill>
                <a:latin typeface="맑은 고딕"/>
              </a:rPr>
              <a:t>손실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537960" y="4718304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0 회</a:t>
            </a:r>
          </a:p>
        </p:txBody>
      </p:sp>
      <p:sp>
        <p:nvSpPr>
          <p:cNvPr id="42" name="Rectangle 41"/>
          <p:cNvSpPr/>
          <p:nvPr/>
        </p:nvSpPr>
        <p:spPr>
          <a:xfrm>
            <a:off x="8366760" y="4718304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43" name="Rectangle 42"/>
          <p:cNvSpPr/>
          <p:nvPr/>
        </p:nvSpPr>
        <p:spPr>
          <a:xfrm>
            <a:off x="10104120" y="4718304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0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537960" y="5120640"/>
            <a:ext cx="182880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2 회</a:t>
            </a:r>
          </a:p>
        </p:txBody>
      </p:sp>
      <p:sp>
        <p:nvSpPr>
          <p:cNvPr id="45" name="Rectangle 44"/>
          <p:cNvSpPr/>
          <p:nvPr/>
        </p:nvSpPr>
        <p:spPr>
          <a:xfrm>
            <a:off x="8366760" y="5120640"/>
            <a:ext cx="173736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 개</a:t>
            </a:r>
          </a:p>
        </p:txBody>
      </p:sp>
      <p:sp>
        <p:nvSpPr>
          <p:cNvPr id="46" name="Rectangle 45"/>
          <p:cNvSpPr/>
          <p:nvPr/>
        </p:nvSpPr>
        <p:spPr>
          <a:xfrm>
            <a:off x="10104120" y="5120640"/>
            <a:ext cx="1097280" cy="402336"/>
          </a:xfrm>
          <a:prstGeom prst="rect">
            <a:avLst/>
          </a:prstGeom>
          <a:solidFill>
            <a:srgbClr val="DDE6F0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6537960" y="5522976"/>
            <a:ext cx="182880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1B3255"/>
                </a:solidFill>
                <a:latin typeface="맑은 고딕"/>
              </a:rPr>
              <a:t>6 회</a:t>
            </a:r>
          </a:p>
        </p:txBody>
      </p:sp>
      <p:sp>
        <p:nvSpPr>
          <p:cNvPr id="48" name="Rectangle 47"/>
          <p:cNvSpPr/>
          <p:nvPr/>
        </p:nvSpPr>
        <p:spPr>
          <a:xfrm>
            <a:off x="8366760" y="5522976"/>
            <a:ext cx="173736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49" name="Rectangle 48"/>
          <p:cNvSpPr/>
          <p:nvPr/>
        </p:nvSpPr>
        <p:spPr>
          <a:xfrm>
            <a:off x="10104120" y="5522976"/>
            <a:ext cx="1097280" cy="402336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−6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822960" y="6126480"/>
            <a:ext cx="1051560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동일 시뮬레이터·동일 데이터에서 세 알고리즘을 실행해 KPI를 직접 비교합니다.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KPI 비교 결과 (CONV_BENCH)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50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320040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KPI 지표</a:t>
            </a:r>
          </a:p>
        </p:txBody>
      </p:sp>
      <p:sp>
        <p:nvSpPr>
          <p:cNvPr id="11" name="Rectangle 10"/>
          <p:cNvSpPr/>
          <p:nvPr/>
        </p:nvSpPr>
        <p:spPr>
          <a:xfrm>
            <a:off x="402336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(단순 규칙)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629400" y="1417320"/>
            <a:ext cx="2606040" cy="749808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(휴리스틱)</a:t>
            </a:r>
          </a:p>
        </p:txBody>
      </p:sp>
      <p:sp>
        <p:nvSpPr>
          <p:cNvPr id="13" name="Rectangle 12"/>
          <p:cNvSpPr/>
          <p:nvPr/>
        </p:nvSpPr>
        <p:spPr>
          <a:xfrm>
            <a:off x="9235440" y="1417320"/>
            <a:ext cx="2606040" cy="749808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맑은 고딕"/>
              </a:rPr>
              <a:t>Bulk-Fill PPO</a:t>
            </a:r>
          </a:p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(학습 모델)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167128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생산 수량 (최대 24)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02336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18 개</a:t>
            </a:r>
          </a:p>
        </p:txBody>
      </p:sp>
      <p:sp>
        <p:nvSpPr>
          <p:cNvPr id="16" name="Rectangle 15"/>
          <p:cNvSpPr/>
          <p:nvPr/>
        </p:nvSpPr>
        <p:spPr>
          <a:xfrm>
            <a:off x="6629400" y="2167128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24 개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2167128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24 개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22960" y="2798064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횟수 (낮을수록 우수)</a:t>
            </a:r>
          </a:p>
        </p:txBody>
      </p:sp>
      <p:sp>
        <p:nvSpPr>
          <p:cNvPr id="19" name="Rectangle 18"/>
          <p:cNvSpPr/>
          <p:nvPr/>
        </p:nvSpPr>
        <p:spPr>
          <a:xfrm>
            <a:off x="402336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6 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629400" y="2798064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9235440" y="2798064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0 회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429000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전환 손실 캐리어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02336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B33A3A"/>
                </a:solidFill>
                <a:latin typeface="맑은 고딕"/>
              </a:rPr>
              <a:t>−6 개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629400" y="3429000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−0 개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235440" y="3429000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−0 개</a:t>
            </a:r>
          </a:p>
        </p:txBody>
      </p:sp>
      <p:sp>
        <p:nvSpPr>
          <p:cNvPr id="26" name="Rectangle 25"/>
          <p:cNvSpPr/>
          <p:nvPr/>
        </p:nvSpPr>
        <p:spPr>
          <a:xfrm>
            <a:off x="822960" y="4059935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설비 가동률</a:t>
            </a:r>
          </a:p>
        </p:txBody>
      </p:sp>
      <p:sp>
        <p:nvSpPr>
          <p:cNvPr id="27" name="Rectangle 26"/>
          <p:cNvSpPr/>
          <p:nvPr/>
        </p:nvSpPr>
        <p:spPr>
          <a:xfrm>
            <a:off x="402336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75 %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629400" y="4059935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100 %</a:t>
            </a:r>
          </a:p>
        </p:txBody>
      </p:sp>
      <p:sp>
        <p:nvSpPr>
          <p:cNvPr id="29" name="Rectangle 28"/>
          <p:cNvSpPr/>
          <p:nvPr/>
        </p:nvSpPr>
        <p:spPr>
          <a:xfrm>
            <a:off x="9235440" y="4059935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100 %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690871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제품 전담 설비</a:t>
            </a:r>
          </a:p>
        </p:txBody>
      </p:sp>
      <p:sp>
        <p:nvSpPr>
          <p:cNvPr id="31" name="Rectangle 30"/>
          <p:cNvSpPr/>
          <p:nvPr/>
        </p:nvSpPr>
        <p:spPr>
          <a:xfrm>
            <a:off x="402336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0 / 3</a:t>
            </a:r>
          </a:p>
        </p:txBody>
      </p:sp>
      <p:sp>
        <p:nvSpPr>
          <p:cNvPr id="32" name="Rectangle 31"/>
          <p:cNvSpPr/>
          <p:nvPr/>
        </p:nvSpPr>
        <p:spPr>
          <a:xfrm>
            <a:off x="6629400" y="4690871"/>
            <a:ext cx="2606040" cy="630936"/>
          </a:xfrm>
          <a:prstGeom prst="rect">
            <a:avLst/>
          </a:prstGeom>
          <a:solidFill>
            <a:srgbClr val="FFFFFF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0">
                <a:solidFill>
                  <a:srgbClr val="5C6670"/>
                </a:solidFill>
                <a:latin typeface="맑은 고딕"/>
              </a:rPr>
              <a:t>3 / 3</a:t>
            </a:r>
          </a:p>
        </p:txBody>
      </p:sp>
      <p:sp>
        <p:nvSpPr>
          <p:cNvPr id="33" name="Rectangle 32"/>
          <p:cNvSpPr/>
          <p:nvPr/>
        </p:nvSpPr>
        <p:spPr>
          <a:xfrm>
            <a:off x="9235440" y="4690871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3 / 3</a:t>
            </a:r>
          </a:p>
        </p:txBody>
      </p:sp>
      <p:sp>
        <p:nvSpPr>
          <p:cNvPr id="34" name="Rectangle 33"/>
          <p:cNvSpPr/>
          <p:nvPr/>
        </p:nvSpPr>
        <p:spPr>
          <a:xfrm>
            <a:off x="822960" y="5321807"/>
            <a:ext cx="3200400" cy="630936"/>
          </a:xfrm>
          <a:prstGeom prst="rect">
            <a:avLst/>
          </a:prstGeom>
          <a:solidFill>
            <a:srgbClr val="DDE6F0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l"/>
            <a:r>
              <a:rPr sz="1200" b="1">
                <a:solidFill>
                  <a:srgbClr val="1B3255"/>
                </a:solidFill>
                <a:latin typeface="맑은 고딕"/>
              </a:rPr>
              <a:t>최적해 도달</a:t>
            </a:r>
          </a:p>
        </p:txBody>
      </p:sp>
      <p:sp>
        <p:nvSpPr>
          <p:cNvPr id="35" name="Rectangle 34"/>
          <p:cNvSpPr/>
          <p:nvPr/>
        </p:nvSpPr>
        <p:spPr>
          <a:xfrm>
            <a:off x="402336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B33A3A"/>
                </a:solidFill>
                <a:latin typeface="맑은 고딕"/>
              </a:rPr>
              <a:t>미달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629400" y="5321807"/>
            <a:ext cx="2606040" cy="630936"/>
          </a:xfrm>
          <a:prstGeom prst="rect">
            <a:avLst/>
          </a:prstGeom>
          <a:solidFill>
            <a:srgbClr val="EEF2F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7" name="Rectangle 36"/>
          <p:cNvSpPr/>
          <p:nvPr/>
        </p:nvSpPr>
        <p:spPr>
          <a:xfrm>
            <a:off x="9235440" y="5321807"/>
            <a:ext cx="2606040" cy="630936"/>
          </a:xfrm>
          <a:prstGeom prst="rect">
            <a:avLst/>
          </a:prstGeom>
          <a:solidFill>
            <a:srgbClr val="E2EEE7"/>
          </a:solidFill>
          <a:ln w="9525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/>
          <a:lstStyle/>
          <a:p>
            <a:pPr algn="ctr"/>
            <a:r>
              <a:rPr sz="1300" b="1">
                <a:solidFill>
                  <a:srgbClr val="2E7D4F"/>
                </a:solidFill>
                <a:latin typeface="맑은 고딕"/>
              </a:rPr>
              <a:t>달성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822960" y="612648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1B3255"/>
                </a:solidFill>
                <a:latin typeface="맑은 고딕"/>
              </a:rPr>
              <a:t>Bulk-Fill PPO는 학습만으로 최고 휴리스틱과 동일한 이론적 최적해(생산 24·전환 0)에 도달</a:t>
            </a:r>
            <a:r>
              <a:rPr sz="1250" b="0">
                <a:solidFill>
                  <a:srgbClr val="222A33"/>
                </a:solidFill>
                <a:latin typeface="맑은 고딕"/>
              </a:rPr>
              <a:t>했으며, 단순 규칙 대비 모든 지표에서 우위입니다.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효과성 검증 — 정량 비교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51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graphicFrame>
        <p:nvGraphicFramePr>
          <p:cNvPr id="11" name="Chart 10"/>
          <p:cNvGraphicFramePr>
            <a:graphicFrameLocks noGrp="1"/>
          </p:cNvGraphicFramePr>
          <p:nvPr/>
        </p:nvGraphicFramePr>
        <p:xfrm>
          <a:off x="4343400" y="1417320"/>
          <a:ext cx="3657600" cy="338328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2" name="Rectangle 11"/>
          <p:cNvSpPr/>
          <p:nvPr/>
        </p:nvSpPr>
        <p:spPr>
          <a:xfrm>
            <a:off x="8229600" y="1417320"/>
            <a:ext cx="32461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600" y="1417320"/>
            <a:ext cx="32461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학습 모델 효과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458200" y="2011680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+6 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458200" y="2395728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단순 규칙 대비 생산량 (+33%)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458200" y="2724912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−6 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458200" y="3108960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전환을 전량 제거 (6→0)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458200" y="3438144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+25%p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458200" y="3822192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가동률 75%→100%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458200" y="4151376"/>
            <a:ext cx="28346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1">
                <a:solidFill>
                  <a:srgbClr val="2E6FB0"/>
                </a:solidFill>
                <a:latin typeface="맑은 고딕"/>
              </a:rPr>
              <a:t>3 / 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458200" y="4535424"/>
            <a:ext cx="2880360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80" b="0">
                <a:solidFill>
                  <a:srgbClr val="5C6670"/>
                </a:solidFill>
                <a:latin typeface="맑은 고딕"/>
              </a:rPr>
              <a:t>제품 전담 설비 달성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40080" y="5029200"/>
            <a:ext cx="10835640" cy="118872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14400" y="5138928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효과성 결론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14400" y="5468112"/>
            <a:ext cx="10515600" cy="685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5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>
                <a:solidFill>
                  <a:srgbClr val="D7E2EE"/>
                </a:solidFill>
                <a:latin typeface="맑은 고딕"/>
              </a:rPr>
              <a:t>Bulk-Fill PPO는 별도 규칙 주입 없이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학습만으로 이론적 최적해에 도달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했으며, 단순 규칙 대비 </a:t>
            </a:r>
            <a:r>
              <a:rPr sz="1350" b="1">
                <a:solidFill>
                  <a:srgbClr val="FFFFFF"/>
                </a:solidFill>
                <a:latin typeface="맑은 고딕"/>
              </a:rPr>
              <a:t>생산량 +33% · 전환 100% 제거 · 가동률 +25%p</a:t>
            </a:r>
            <a:r>
              <a:rPr sz="1300" b="0">
                <a:solidFill>
                  <a:srgbClr val="D7E2EE"/>
                </a:solidFill>
                <a:latin typeface="맑은 고딕"/>
              </a:rPr>
              <a:t> 의 개선을 입증했습니다.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대표 벤치마크 8종 — 무엇을 검증하는가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52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4114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단순 휴리스틱이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쉽게 풀 수 없는 비대칭·제약 시나리오</a:t>
            </a:r>
            <a:r>
              <a:rPr sz="1200" b="0">
                <a:solidFill>
                  <a:srgbClr val="222A33"/>
                </a:solidFill>
                <a:latin typeface="맑은 고딕"/>
              </a:rPr>
              <a:t>를 4개 카테고리로 구성해, 알고리즘의 실제 변별력을 측정합니다.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566928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4" name="Rectangle 13"/>
          <p:cNvSpPr/>
          <p:nvPr/>
        </p:nvSpPr>
        <p:spPr>
          <a:xfrm>
            <a:off x="4407408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86384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3제품 · 24캐리어 · ST 60분 · 전환 60분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기본 전담 최적해 도달 (대조군)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126480" y="1691640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6126480" y="1691640"/>
            <a:ext cx="91440" cy="107899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327648" y="1810512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966960" y="1810512"/>
            <a:ext cx="1463040" cy="301752"/>
          </a:xfrm>
          <a:prstGeom prst="rect">
            <a:avLst/>
          </a:prstGeom>
          <a:solidFill>
            <a:srgbClr val="4A6D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대칭 기준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45936" y="2194560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5설비 × 5제품 · 30캐리어 · ST 48분 · 전환 48분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45936" y="2450592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4A6D8C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규모 확장 시 전담 유지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ectangle 23"/>
          <p:cNvSpPr/>
          <p:nvPr/>
        </p:nvSpPr>
        <p:spPr>
          <a:xfrm>
            <a:off x="566928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6" name="Rectangle 25"/>
          <p:cNvSpPr/>
          <p:nvPr/>
        </p:nvSpPr>
        <p:spPr>
          <a:xfrm>
            <a:off x="4407408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6384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60분 · 전환 60분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86384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불가피한 전환을 최소 횟수로 묶기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126480" y="2916936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ectangle 29"/>
          <p:cNvSpPr/>
          <p:nvPr/>
        </p:nvSpPr>
        <p:spPr>
          <a:xfrm>
            <a:off x="6126480" y="2916936"/>
            <a:ext cx="91440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6327648" y="3035808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9966960" y="3035808"/>
            <a:ext cx="1463040" cy="30175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345936" y="3419856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7제품 · 28캐리어 · ST 45분 · 전환 45분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345936" y="3675887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2E6FB0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다수 제품 분배 + 전환 최소화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Rectangle 35"/>
          <p:cNvSpPr/>
          <p:nvPr/>
        </p:nvSpPr>
        <p:spPr>
          <a:xfrm>
            <a:off x="566928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768096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07408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86384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30캐리어 · ST 60분 · 전환 60분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86384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물량 편중에서의 균형 배분</a:t>
            </a:r>
          </a:p>
        </p:txBody>
      </p:sp>
      <p:sp>
        <p:nvSpPr>
          <p:cNvPr id="41" name="Rectangle 40"/>
          <p:cNvSpPr/>
          <p:nvPr/>
        </p:nvSpPr>
        <p:spPr>
          <a:xfrm>
            <a:off x="6126480" y="4142231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Rectangle 41"/>
          <p:cNvSpPr/>
          <p:nvPr/>
        </p:nvSpPr>
        <p:spPr>
          <a:xfrm>
            <a:off x="6126480" y="4142231"/>
            <a:ext cx="91440" cy="107899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6327648" y="4261103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4" name="Rectangle 43"/>
          <p:cNvSpPr/>
          <p:nvPr/>
        </p:nvSpPr>
        <p:spPr>
          <a:xfrm>
            <a:off x="9966960" y="4261103"/>
            <a:ext cx="1463040" cy="301752"/>
          </a:xfrm>
          <a:prstGeom prst="rect">
            <a:avLst/>
          </a:prstGeom>
          <a:solidFill>
            <a:srgbClr val="6B4E8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부하 불균등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6345936" y="4645151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32캐리어 · ST 30~90분 · 전환 60분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345936" y="4901183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6B4E8E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처리시간 이질성 하의 효율 배분</a:t>
            </a:r>
          </a:p>
        </p:txBody>
      </p:sp>
      <p:sp>
        <p:nvSpPr>
          <p:cNvPr id="47" name="Rectangle 46"/>
          <p:cNvSpPr/>
          <p:nvPr/>
        </p:nvSpPr>
        <p:spPr>
          <a:xfrm>
            <a:off x="566928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8" name="Rectangle 47"/>
          <p:cNvSpPr/>
          <p:nvPr/>
        </p:nvSpPr>
        <p:spPr>
          <a:xfrm>
            <a:off x="566928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9" name="TextBox 48"/>
          <p:cNvSpPr txBox="1"/>
          <p:nvPr/>
        </p:nvSpPr>
        <p:spPr>
          <a:xfrm>
            <a:off x="768096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50" name="Rectangle 49"/>
          <p:cNvSpPr/>
          <p:nvPr/>
        </p:nvSpPr>
        <p:spPr>
          <a:xfrm>
            <a:off x="4407408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86384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4설비 × 4제품 · 24캐리어 · ST 45분 · 전환 90분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786384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큰 전환비용 하의 전담 가치</a:t>
            </a:r>
          </a:p>
        </p:txBody>
      </p:sp>
      <p:sp>
        <p:nvSpPr>
          <p:cNvPr id="53" name="Rectangle 52"/>
          <p:cNvSpPr/>
          <p:nvPr/>
        </p:nvSpPr>
        <p:spPr>
          <a:xfrm>
            <a:off x="6126480" y="5367527"/>
            <a:ext cx="5413248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4" name="Rectangle 53"/>
          <p:cNvSpPr/>
          <p:nvPr/>
        </p:nvSpPr>
        <p:spPr>
          <a:xfrm>
            <a:off x="6126480" y="5367527"/>
            <a:ext cx="91440" cy="107899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5" name="TextBox 54"/>
          <p:cNvSpPr txBox="1"/>
          <p:nvPr/>
        </p:nvSpPr>
        <p:spPr>
          <a:xfrm>
            <a:off x="6327648" y="5486399"/>
            <a:ext cx="237744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6" name="Rectangle 55"/>
          <p:cNvSpPr/>
          <p:nvPr/>
        </p:nvSpPr>
        <p:spPr>
          <a:xfrm>
            <a:off x="9966960" y="5486399"/>
            <a:ext cx="1463040" cy="301752"/>
          </a:xfrm>
          <a:prstGeom prst="rect">
            <a:avLst/>
          </a:prstGeom>
          <a:solidFill>
            <a:srgbClr val="B56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18288" bIns="18288"/>
          <a:lstStyle/>
          <a:p>
            <a:pPr algn="ctr"/>
            <a:r>
              <a:rPr sz="1000" b="1">
                <a:solidFill>
                  <a:srgbClr val="FFFFFF"/>
                </a:solidFill>
                <a:latin typeface="맑은 고딕"/>
              </a:rPr>
              <a:t>전환 과중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6345936" y="5870447"/>
            <a:ext cx="5001768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30" b="0">
                <a:solidFill>
                  <a:srgbClr val="5C6670"/>
                </a:solidFill>
                <a:latin typeface="맑은 고딕"/>
              </a:rPr>
              <a:t>3설비 × 5제품 · 20캐리어 · ST 40분 · 전환 120분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6345936" y="6126479"/>
            <a:ext cx="5001768" cy="29260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>
                <a:solidFill>
                  <a:srgbClr val="B56A2A"/>
                </a:solidFill>
                <a:latin typeface="맑은 고딕"/>
              </a:rPr>
              <a:t>검증  </a:t>
            </a:r>
            <a:r>
              <a:rPr sz="1050" b="0">
                <a:solidFill>
                  <a:srgbClr val="222A33"/>
                </a:solidFill>
                <a:latin typeface="맑은 고딕"/>
              </a:rPr>
              <a:t>전환 과중 + 제품 과잉 복합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66928" y="6199632"/>
            <a:ext cx="11064240" cy="3200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대칭 기준은 전담만으로 최적이라 대조군이며, 나머지 6종은 전환이 불가피하거나 부하가 불균등해 </a:t>
            </a:r>
            <a:r>
              <a:rPr sz="1050" b="1">
                <a:solidFill>
                  <a:srgbClr val="1B3255"/>
                </a:solidFill>
                <a:latin typeface="맑은 고딕"/>
              </a:rPr>
              <a:t>배정 전략에 따라 결과가 갈립니다.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벤치마크 8종 KPI 비교 — 난이도별 결과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1188720"/>
            <a:ext cx="10607040" cy="38404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>
                <a:solidFill>
                  <a:srgbClr val="222A33"/>
                </a:solidFill>
                <a:latin typeface="맑은 고딕"/>
              </a:rPr>
              <a:t>8종 데이터셋에 </a:t>
            </a:r>
            <a:r>
              <a:rPr sz="1200" b="1">
                <a:solidFill>
                  <a:srgbClr val="1B3255"/>
                </a:solidFill>
                <a:latin typeface="맑은 고딕"/>
              </a:rPr>
              <a:t>단일 Bulk-Fill 모델을 공동 학습</a:t>
            </a:r>
            <a:r>
              <a:rPr sz="1200" b="0">
                <a:solidFill>
                  <a:srgbClr val="5C6670"/>
                </a:solidFill>
                <a:latin typeface="맑은 고딕"/>
              </a:rPr>
              <a:t> 후 평가. 표기 = 생산 / 전환 (생산 많고 전환 적을수록 우수).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1691640"/>
            <a:ext cx="21031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벤치마크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670048" y="1691640"/>
            <a:ext cx="182880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카테고리</a:t>
            </a:r>
          </a:p>
        </p:txBody>
      </p:sp>
      <p:sp>
        <p:nvSpPr>
          <p:cNvPr id="13" name="Rectangle 12"/>
          <p:cNvSpPr/>
          <p:nvPr/>
        </p:nvSpPr>
        <p:spPr>
          <a:xfrm>
            <a:off x="449884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Earliest-ST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830568" y="1691640"/>
            <a:ext cx="2331720" cy="548640"/>
          </a:xfrm>
          <a:prstGeom prst="rect">
            <a:avLst/>
          </a:prstGeom>
          <a:solidFill>
            <a:srgbClr val="1B3255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Min-Progress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162288" y="1691640"/>
            <a:ext cx="2468880" cy="548640"/>
          </a:xfrm>
          <a:prstGeom prst="rect">
            <a:avLst/>
          </a:prstGeom>
          <a:solidFill>
            <a:srgbClr val="2E6FB0"/>
          </a:solidFill>
          <a:ln w="12700"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>
                <a:solidFill>
                  <a:srgbClr val="FFFFFF"/>
                </a:solidFill>
                <a:latin typeface="맑은 고딕"/>
              </a:rPr>
              <a:t>Bulk-Fill</a:t>
            </a:r>
          </a:p>
          <a:p>
            <a:pPr algn="ctr"/>
            <a:r>
              <a:rPr sz="950" b="1">
                <a:solidFill>
                  <a:srgbClr val="FFFFFF"/>
                </a:solidFill>
                <a:latin typeface="맑은 고딕"/>
              </a:rPr>
              <a:t>생산 / 전환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2402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SYM_3x3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670048" y="22402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18/24 · 6</a:t>
            </a:r>
          </a:p>
        </p:txBody>
      </p:sp>
      <p:sp>
        <p:nvSpPr>
          <p:cNvPr id="19" name="Rectangle 18"/>
          <p:cNvSpPr/>
          <p:nvPr/>
        </p:nvSpPr>
        <p:spPr>
          <a:xfrm>
            <a:off x="6830568" y="22402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162288" y="22402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6974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SYM_5x5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670048" y="26974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대칭 기준</a:t>
            </a:r>
          </a:p>
        </p:txBody>
      </p:sp>
      <p:sp>
        <p:nvSpPr>
          <p:cNvPr id="23" name="Rectangle 22"/>
          <p:cNvSpPr/>
          <p:nvPr/>
        </p:nvSpPr>
        <p:spPr>
          <a:xfrm>
            <a:off x="449884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18/30 · 20</a:t>
            </a:r>
          </a:p>
        </p:txBody>
      </p:sp>
      <p:sp>
        <p:nvSpPr>
          <p:cNvPr id="24" name="Rectangle 23"/>
          <p:cNvSpPr/>
          <p:nvPr/>
        </p:nvSpPr>
        <p:spPr>
          <a:xfrm>
            <a:off x="6830568" y="26974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30/30 · 0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162288" y="2697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30/30 · 0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546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OVER_5p3</a:t>
            </a:r>
          </a:p>
        </p:txBody>
      </p:sp>
      <p:sp>
        <p:nvSpPr>
          <p:cNvPr id="27" name="Rectangle 26"/>
          <p:cNvSpPr/>
          <p:nvPr/>
        </p:nvSpPr>
        <p:spPr>
          <a:xfrm>
            <a:off x="2670048" y="31546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28" name="Rectangle 27"/>
          <p:cNvSpPr/>
          <p:nvPr/>
        </p:nvSpPr>
        <p:spPr>
          <a:xfrm>
            <a:off x="449884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15/20 · 12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830568" y="31546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14/20 · 14</a:t>
            </a:r>
          </a:p>
        </p:txBody>
      </p:sp>
      <p:sp>
        <p:nvSpPr>
          <p:cNvPr id="30" name="Rectangle 29"/>
          <p:cNvSpPr/>
          <p:nvPr/>
        </p:nvSpPr>
        <p:spPr>
          <a:xfrm>
            <a:off x="9162288" y="3154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31" name="Rectangle 30"/>
          <p:cNvSpPr/>
          <p:nvPr/>
        </p:nvSpPr>
        <p:spPr>
          <a:xfrm>
            <a:off x="566928" y="36118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OVER_7p4</a:t>
            </a:r>
          </a:p>
        </p:txBody>
      </p:sp>
      <p:sp>
        <p:nvSpPr>
          <p:cNvPr id="32" name="Rectangle 31"/>
          <p:cNvSpPr/>
          <p:nvPr/>
        </p:nvSpPr>
        <p:spPr>
          <a:xfrm>
            <a:off x="2670048" y="36118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제품 과잉</a:t>
            </a:r>
          </a:p>
        </p:txBody>
      </p:sp>
      <p:sp>
        <p:nvSpPr>
          <p:cNvPr id="33" name="Rectangle 32"/>
          <p:cNvSpPr/>
          <p:nvPr/>
        </p:nvSpPr>
        <p:spPr>
          <a:xfrm>
            <a:off x="449884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20/28 · 24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830568" y="36118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21/28 · 23</a:t>
            </a:r>
          </a:p>
        </p:txBody>
      </p:sp>
      <p:sp>
        <p:nvSpPr>
          <p:cNvPr id="35" name="Rectangle 34"/>
          <p:cNvSpPr/>
          <p:nvPr/>
        </p:nvSpPr>
        <p:spPr>
          <a:xfrm>
            <a:off x="9162288" y="36118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28/28 · 12</a:t>
            </a:r>
          </a:p>
        </p:txBody>
      </p:sp>
      <p:sp>
        <p:nvSpPr>
          <p:cNvPr id="36" name="Rectangle 35"/>
          <p:cNvSpPr/>
          <p:nvPr/>
        </p:nvSpPr>
        <p:spPr>
          <a:xfrm>
            <a:off x="566928" y="40690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LOAD_skew</a:t>
            </a:r>
          </a:p>
        </p:txBody>
      </p:sp>
      <p:sp>
        <p:nvSpPr>
          <p:cNvPr id="37" name="Rectangle 36"/>
          <p:cNvSpPr/>
          <p:nvPr/>
        </p:nvSpPr>
        <p:spPr>
          <a:xfrm>
            <a:off x="2670048" y="40690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38" name="Rectangle 37"/>
          <p:cNvSpPr/>
          <p:nvPr/>
        </p:nvSpPr>
        <p:spPr>
          <a:xfrm>
            <a:off x="449884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22/30 · 12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830568" y="40690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21/30 · 12</a:t>
            </a:r>
          </a:p>
        </p:txBody>
      </p:sp>
      <p:sp>
        <p:nvSpPr>
          <p:cNvPr id="40" name="Rectangle 39"/>
          <p:cNvSpPr/>
          <p:nvPr/>
        </p:nvSpPr>
        <p:spPr>
          <a:xfrm>
            <a:off x="9162288" y="40690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26/30 · 2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5262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LOAD_stmix</a:t>
            </a:r>
          </a:p>
        </p:txBody>
      </p:sp>
      <p:sp>
        <p:nvSpPr>
          <p:cNvPr id="42" name="Rectangle 41"/>
          <p:cNvSpPr/>
          <p:nvPr/>
        </p:nvSpPr>
        <p:spPr>
          <a:xfrm>
            <a:off x="2670048" y="45262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부하 불균등</a:t>
            </a:r>
          </a:p>
        </p:txBody>
      </p:sp>
      <p:sp>
        <p:nvSpPr>
          <p:cNvPr id="43" name="Rectangle 42"/>
          <p:cNvSpPr/>
          <p:nvPr/>
        </p:nvSpPr>
        <p:spPr>
          <a:xfrm>
            <a:off x="449884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24/32 · 12</a:t>
            </a:r>
          </a:p>
        </p:txBody>
      </p:sp>
      <p:sp>
        <p:nvSpPr>
          <p:cNvPr id="44" name="Rectangle 43"/>
          <p:cNvSpPr/>
          <p:nvPr/>
        </p:nvSpPr>
        <p:spPr>
          <a:xfrm>
            <a:off x="6830568" y="45262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22/32 · 13</a:t>
            </a:r>
          </a:p>
        </p:txBody>
      </p:sp>
      <p:sp>
        <p:nvSpPr>
          <p:cNvPr id="45" name="Rectangle 44"/>
          <p:cNvSpPr/>
          <p:nvPr/>
        </p:nvSpPr>
        <p:spPr>
          <a:xfrm>
            <a:off x="9162288" y="45262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27/32 · 6</a:t>
            </a:r>
          </a:p>
        </p:txBody>
      </p:sp>
      <p:sp>
        <p:nvSpPr>
          <p:cNvPr id="46" name="Rectangle 45"/>
          <p:cNvSpPr/>
          <p:nvPr/>
        </p:nvSpPr>
        <p:spPr>
          <a:xfrm>
            <a:off x="566928" y="4983480"/>
            <a:ext cx="21031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CONV_x2</a:t>
            </a:r>
          </a:p>
        </p:txBody>
      </p:sp>
      <p:sp>
        <p:nvSpPr>
          <p:cNvPr id="47" name="Rectangle 46"/>
          <p:cNvSpPr/>
          <p:nvPr/>
        </p:nvSpPr>
        <p:spPr>
          <a:xfrm>
            <a:off x="2670048" y="4983480"/>
            <a:ext cx="182880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48" name="Rectangle 47"/>
          <p:cNvSpPr/>
          <p:nvPr/>
        </p:nvSpPr>
        <p:spPr>
          <a:xfrm>
            <a:off x="449884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12/24 · 12</a:t>
            </a:r>
          </a:p>
        </p:txBody>
      </p:sp>
      <p:sp>
        <p:nvSpPr>
          <p:cNvPr id="49" name="Rectangle 48"/>
          <p:cNvSpPr/>
          <p:nvPr/>
        </p:nvSpPr>
        <p:spPr>
          <a:xfrm>
            <a:off x="6830568" y="4983480"/>
            <a:ext cx="2331720" cy="457200"/>
          </a:xfrm>
          <a:prstGeom prst="rect">
            <a:avLst/>
          </a:prstGeom>
          <a:solidFill>
            <a:srgbClr val="FFFFFF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24/24 · 0</a:t>
            </a:r>
          </a:p>
        </p:txBody>
      </p:sp>
      <p:sp>
        <p:nvSpPr>
          <p:cNvPr id="50" name="Rectangle 49"/>
          <p:cNvSpPr/>
          <p:nvPr/>
        </p:nvSpPr>
        <p:spPr>
          <a:xfrm>
            <a:off x="9162288" y="4983480"/>
            <a:ext cx="2468880" cy="457200"/>
          </a:xfrm>
          <a:prstGeom prst="rect">
            <a:avLst/>
          </a:prstGeom>
          <a:solidFill>
            <a:srgbClr val="ECF3EE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24/24 · 0</a:t>
            </a:r>
          </a:p>
        </p:txBody>
      </p:sp>
      <p:sp>
        <p:nvSpPr>
          <p:cNvPr id="51" name="Rectangle 50"/>
          <p:cNvSpPr/>
          <p:nvPr/>
        </p:nvSpPr>
        <p:spPr>
          <a:xfrm>
            <a:off x="566928" y="5440680"/>
            <a:ext cx="21031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1B3255"/>
                </a:solidFill>
                <a:latin typeface="맑은 고딕"/>
              </a:rPr>
              <a:t>CONV_x3</a:t>
            </a:r>
          </a:p>
        </p:txBody>
      </p:sp>
      <p:sp>
        <p:nvSpPr>
          <p:cNvPr id="52" name="Rectangle 51"/>
          <p:cNvSpPr/>
          <p:nvPr/>
        </p:nvSpPr>
        <p:spPr>
          <a:xfrm>
            <a:off x="2670048" y="5440680"/>
            <a:ext cx="182880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전환 과중</a:t>
            </a:r>
          </a:p>
        </p:txBody>
      </p:sp>
      <p:sp>
        <p:nvSpPr>
          <p:cNvPr id="53" name="Rectangle 52"/>
          <p:cNvSpPr/>
          <p:nvPr/>
        </p:nvSpPr>
        <p:spPr>
          <a:xfrm>
            <a:off x="449884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B33A3A"/>
                </a:solidFill>
                <a:latin typeface="맑은 고딕"/>
              </a:rPr>
              <a:t>12/20 · 12</a:t>
            </a:r>
          </a:p>
        </p:txBody>
      </p:sp>
      <p:sp>
        <p:nvSpPr>
          <p:cNvPr id="54" name="Rectangle 53"/>
          <p:cNvSpPr/>
          <p:nvPr/>
        </p:nvSpPr>
        <p:spPr>
          <a:xfrm>
            <a:off x="6830568" y="5440680"/>
            <a:ext cx="2331720" cy="457200"/>
          </a:xfrm>
          <a:prstGeom prst="rect">
            <a:avLst/>
          </a:prstGeom>
          <a:solidFill>
            <a:srgbClr val="EEF2F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0">
                <a:solidFill>
                  <a:srgbClr val="5C6670"/>
                </a:solidFill>
                <a:latin typeface="맑은 고딕"/>
              </a:rPr>
              <a:t>12/20 · 14</a:t>
            </a:r>
          </a:p>
        </p:txBody>
      </p:sp>
      <p:sp>
        <p:nvSpPr>
          <p:cNvPr id="55" name="Rectangle 54"/>
          <p:cNvSpPr/>
          <p:nvPr/>
        </p:nvSpPr>
        <p:spPr>
          <a:xfrm>
            <a:off x="9162288" y="5440680"/>
            <a:ext cx="2468880" cy="457200"/>
          </a:xfrm>
          <a:prstGeom prst="rect">
            <a:avLst/>
          </a:prstGeom>
          <a:solidFill>
            <a:srgbClr val="E2EEE7"/>
          </a:solidFill>
          <a:ln w="762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100" b="1">
                <a:solidFill>
                  <a:srgbClr val="2E7D4F"/>
                </a:solidFill>
                <a:latin typeface="맑은 고딕"/>
              </a:rPr>
              <a:t>18/20 · 7</a:t>
            </a:r>
          </a:p>
        </p:txBody>
      </p:sp>
      <p:sp>
        <p:nvSpPr>
          <p:cNvPr id="56" name="TextBox 55"/>
          <p:cNvSpPr txBox="1"/>
          <p:nvPr/>
        </p:nvSpPr>
        <p:spPr>
          <a:xfrm>
            <a:off x="566928" y="5897880"/>
            <a:ext cx="11064240" cy="64008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222A33"/>
                </a:solidFill>
                <a:latin typeface="맑은 고딕"/>
              </a:rPr>
              <a:t>대칭(SYM·CONV_x2)에선 Bulk-Fill = Min-Progress(둘 다 최적), </a:t>
            </a:r>
            <a:r>
              <a:rPr sz="1130" b="1">
                <a:solidFill>
                  <a:srgbClr val="2E7D4F"/>
                </a:solidFill>
                <a:latin typeface="맑은 고딕"/>
              </a:rPr>
              <a:t>제품 과잉·부하 불균등·전환 과중에선 Bulk-Fill가 Min-Progress를 크게 앞섭니다</a:t>
            </a:r>
            <a:r>
              <a:rPr sz="1130" b="0">
                <a:solidFill>
                  <a:srgbClr val="5C6670"/>
                </a:solidFill>
                <a:latin typeface="맑은 고딕"/>
              </a:rPr>
              <a:t> (녹색=BF 우위/동률, 주황=열위).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종합 집계 — 어려운 케이스일수록 학습 모델이 우위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54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40080" y="1371600"/>
          <a:ext cx="5943600" cy="338328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11" name="Rectangle 10"/>
          <p:cNvSpPr/>
          <p:nvPr/>
        </p:nvSpPr>
        <p:spPr>
          <a:xfrm>
            <a:off x="6858000" y="1371600"/>
            <a:ext cx="4617720" cy="338328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858000" y="1371600"/>
            <a:ext cx="46177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종합 집계 (8종 합산)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040880" y="1938528"/>
            <a:ext cx="173736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지표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686800" y="1938528"/>
            <a:ext cx="96012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Earliest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646920" y="1938528"/>
            <a:ext cx="10058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Bulk-Fill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652760" y="1938528"/>
            <a:ext cx="77724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>
                <a:solidFill>
                  <a:srgbClr val="2E6FB0"/>
                </a:solidFill>
                <a:latin typeface="맑은 고딕"/>
              </a:rPr>
              <a:t>Min-Prog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040880" y="2249424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생산률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549640" y="2249424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68%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9555480" y="2249424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94%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607040" y="2249424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81%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040880" y="2734056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총 전환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549640" y="2734056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110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55480" y="2734056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34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607040" y="2734056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40880" y="3218688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평균 가동률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549640" y="3218688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57%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3218688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81%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0607040" y="3218688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71%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7040880" y="3703320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전량 생산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549640" y="3703320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0/8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9555480" y="3703320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4/8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607040" y="3703320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3/8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040880" y="4187952"/>
            <a:ext cx="17373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1B3255"/>
                </a:solidFill>
                <a:latin typeface="맑은 고딕"/>
              </a:rPr>
              <a:t>전담 달성률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549640" y="4187952"/>
            <a:ext cx="96012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B33A3A"/>
                </a:solidFill>
                <a:latin typeface="맑은 고딕"/>
              </a:rPr>
              <a:t>0%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9555480" y="4187952"/>
            <a:ext cx="105156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2E7D4F"/>
                </a:solidFill>
                <a:latin typeface="맑은 고딕"/>
              </a:rPr>
              <a:t>60%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10607040" y="4187952"/>
            <a:ext cx="77724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>
                <a:solidFill>
                  <a:srgbClr val="5C6670"/>
                </a:solidFill>
                <a:latin typeface="맑은 고딕"/>
              </a:rPr>
              <a:t>47%</a:t>
            </a:r>
          </a:p>
        </p:txBody>
      </p:sp>
      <p:sp>
        <p:nvSpPr>
          <p:cNvPr id="38" name="Rectangle 37"/>
          <p:cNvSpPr/>
          <p:nvPr/>
        </p:nvSpPr>
        <p:spPr>
          <a:xfrm>
            <a:off x="640080" y="4983480"/>
            <a:ext cx="10835640" cy="123444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914400" y="5084064"/>
            <a:ext cx="1042416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9DBEE0"/>
                </a:solidFill>
                <a:latin typeface="맑은 고딕"/>
              </a:rPr>
              <a:t>핵심 발견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914400" y="5413248"/>
            <a:ext cx="10515600" cy="7772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>
                <a:solidFill>
                  <a:srgbClr val="D7E2EE"/>
                </a:solidFill>
                <a:latin typeface="맑은 고딕"/>
              </a:rPr>
              <a:t>쉬운 대칭 케이스에선 휴리스틱과 동등하지만, 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전환이 불가피한 현실적 케이스에서 Bulk-Fill가 생산률 </a:t>
            </a:r>
            <a:r>
              <a:rPr sz="1300" b="1">
                <a:solidFill>
                  <a:srgbClr val="FFFFFF"/>
                </a:solidFill>
                <a:latin typeface="맑은 고딕"/>
              </a:rPr>
              <a:t>94% vs 81%(Min-Progress) · 전환 34 vs 76</a:t>
            </a:r>
            <a:r>
              <a:rPr sz="1250" b="0">
                <a:solidFill>
                  <a:srgbClr val="D7E2EE"/>
                </a:solidFill>
                <a:latin typeface="맑은 고딕"/>
              </a:rPr>
              <a:t> 으로 명확히 앞섭니다. 단순 휴리스틱은 전환을 남발해 캐리어를 잃습니다.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① 제품 과잉 (3설비·5제품)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55</a:t>
            </a:r>
          </a:p>
        </p:txBody>
      </p:sp>
      <p:pic>
        <p:nvPicPr>
          <p:cNvPr id="10" name="Picture 9" descr="gantt_OVER_5p3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15/20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14/20 · 전환 14회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18/20 · 전환 7회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3설비가 5제품을 처리해 전환이 불가피한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Earliest·Min-Progress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제품을 자주 바꿔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전환(빗금)이 빈발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, 시간 내 캐리어를 잃습니다.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같은 제품을 길게 묶어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전환을 최소화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하고 전량을 생산합니다.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04  알고리즘 KPI 비교 및 효과성 검증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간트 비교 ② 부하 불균등 (계획 14·8·4·4)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56</a:t>
            </a:r>
          </a:p>
        </p:txBody>
      </p:sp>
      <p:pic>
        <p:nvPicPr>
          <p:cNvPr id="10" name="Picture 9" descr="gantt_LOAD_skew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280160"/>
            <a:ext cx="8092440" cy="4253500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8732520" y="1325880"/>
            <a:ext cx="3017520" cy="4023360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ectangle 11"/>
          <p:cNvSpPr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732520" y="1325880"/>
            <a:ext cx="301752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맑은 고딕"/>
              </a:rPr>
              <a:t>결과 요약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15400" y="192024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B33A3A"/>
                </a:solidFill>
                <a:latin typeface="맑은 고딕"/>
              </a:rPr>
              <a:t>Earliest-ST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915400" y="2194560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22/30 · 전환 12회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915400" y="2633472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5C6670"/>
                </a:solidFill>
                <a:latin typeface="맑은 고딕"/>
              </a:rPr>
              <a:t>Min-Progress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915400" y="2907791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21/30 · 전환 12회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915400" y="334670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7D4F"/>
                </a:solidFill>
                <a:latin typeface="맑은 고딕"/>
              </a:rPr>
              <a:t>Bulk-Fill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915400" y="3621024"/>
            <a:ext cx="27432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생산 26/30 · 전환 2회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915400" y="4014216"/>
            <a:ext cx="2651760" cy="18288"/>
          </a:xfrm>
          <a:prstGeom prst="rect">
            <a:avLst/>
          </a:prstGeom>
          <a:solidFill>
            <a:srgbClr val="C4CFD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915400" y="4133088"/>
            <a:ext cx="2743200" cy="182880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0">
                <a:solidFill>
                  <a:srgbClr val="222A33"/>
                </a:solidFill>
                <a:latin typeface="맑은 고딕"/>
              </a:rPr>
              <a:t>제품별 물량이 14·8·4·4로 편중된 케이스.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B33A3A"/>
                </a:solidFill>
                <a:latin typeface="맑은 고딕"/>
              </a:rPr>
              <a:t>휴리스틱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은 진행률만 보고 분배해 </a:t>
            </a:r>
            <a:r>
              <a:rPr sz="1100" b="1">
                <a:solidFill>
                  <a:srgbClr val="B33A3A"/>
                </a:solidFill>
                <a:latin typeface="맑은 고딕"/>
              </a:rPr>
              <a:t>전환이 누적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됩니다.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100" b="1">
                <a:solidFill>
                  <a:srgbClr val="2E7D4F"/>
                </a:solidFill>
                <a:latin typeface="맑은 고딕"/>
              </a:rPr>
              <a:t>Bulk-Fill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는 물량 많은 제품에 설비를 </a:t>
            </a:r>
            <a:r>
              <a:rPr sz="1100" b="1">
                <a:solidFill>
                  <a:srgbClr val="2E7D4F"/>
                </a:solidFill>
                <a:latin typeface="맑은 고딕"/>
              </a:rPr>
              <a:t>전담 배치</a:t>
            </a:r>
            <a:r>
              <a:rPr sz="1100" b="0">
                <a:solidFill>
                  <a:srgbClr val="5C6670"/>
                </a:solidFill>
                <a:latin typeface="맑은 고딕"/>
              </a:rPr>
              <a:t>해 전환 2회로 최소화합니다.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078992"/>
          </a:xfrm>
          <a:prstGeom prst="rect">
            <a:avLst/>
          </a:prstGeom>
          <a:solidFill>
            <a:srgbClr val="FFFFF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02920" y="310896"/>
            <a:ext cx="82296" cy="475488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13232" y="274320"/>
            <a:ext cx="10058400" cy="310896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>
                <a:solidFill>
                  <a:srgbClr val="2E6FB0"/>
                </a:solidFill>
                <a:latin typeface="맑은 고딕"/>
              </a:rPr>
              <a:t>CONCLUSION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04088" y="475488"/>
            <a:ext cx="10607040" cy="475488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300" b="1">
                <a:solidFill>
                  <a:srgbClr val="1B3255"/>
                </a:solidFill>
                <a:latin typeface="맑은 고딕"/>
              </a:rPr>
              <a:t>결론 및 기대 효과</a:t>
            </a:r>
          </a:p>
        </p:txBody>
      </p:sp>
      <p:sp>
        <p:nvSpPr>
          <p:cNvPr id="7" name="Rectangle 6"/>
          <p:cNvSpPr/>
          <p:nvPr/>
        </p:nvSpPr>
        <p:spPr>
          <a:xfrm>
            <a:off x="0" y="1069848"/>
            <a:ext cx="12191695" cy="20116"/>
          </a:xfrm>
          <a:prstGeom prst="rect">
            <a:avLst/>
          </a:prstGeom>
          <a:solidFill>
            <a:srgbClr val="DDE6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502920" y="6455664"/>
            <a:ext cx="8229600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>
                <a:solidFill>
                  <a:srgbClr val="5C6670"/>
                </a:solidFill>
                <a:latin typeface="맑은 고딕"/>
              </a:rPr>
              <a:t>Bulk-Fill 강화학습 기반 설비 스케줄링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0515600" y="6455664"/>
            <a:ext cx="1170432" cy="27432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>
                <a:solidFill>
                  <a:srgbClr val="5C6670"/>
                </a:solidFill>
                <a:latin typeface="맑은 고딕"/>
              </a:rPr>
              <a:t>57</a:t>
            </a:r>
          </a:p>
        </p:txBody>
      </p:sp>
      <p:sp>
        <p:nvSpPr>
          <p:cNvPr id="10" name="Rectangle 9"/>
          <p:cNvSpPr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6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핵심 성과</a:t>
            </a:r>
          </a:p>
        </p:txBody>
      </p:sp>
      <p:sp>
        <p:nvSpPr>
          <p:cNvPr id="12" name="Rectangle 11"/>
          <p:cNvSpPr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6172200" y="1417320"/>
            <a:ext cx="5166360" cy="457200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맑은 고딕"/>
              </a:rPr>
              <a:t>기대 효과 및 향후 과제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2296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2296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검증된 성과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8종 벤치마크 종합 생산률 94%로 휴리스틱(81%)을 능가, 전환 76→34회 감소.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172200" y="2057400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6172200" y="2057400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400800" y="2203704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확장성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0" y="2569464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더 많은 설비·제품·다단 공정으로 데이터 교체만으로 확장 적용 가능.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82296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2296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5156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변별력 있는 검증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05156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전환이 불가피한 제품 과잉·부하 불균등 케이스에서 학습 모델의 우위를 입증.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172200" y="3273552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6172200" y="3273552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400800" y="3419856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운영 적용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0" y="3785616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전환 비용·계획·재공 제약을 함께 고려한 일배치 의사결정 지원.</a:t>
            </a:r>
          </a:p>
        </p:txBody>
      </p:sp>
      <p:sp>
        <p:nvSpPr>
          <p:cNvPr id="30" name="Rectangle 29"/>
          <p:cNvSpPr/>
          <p:nvPr/>
        </p:nvSpPr>
        <p:spPr>
          <a:xfrm>
            <a:off x="82296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2296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5156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구조적 강점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5156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벌크 점유 + 행동 마스킹으로 전환을 근본적으로 억제하고 학습을 안정화.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172200" y="4489704"/>
            <a:ext cx="5166360" cy="1078992"/>
          </a:xfrm>
          <a:prstGeom prst="rect">
            <a:avLst/>
          </a:prstGeom>
          <a:solidFill>
            <a:srgbClr val="EEF2F7"/>
          </a:solidFill>
          <a:ln w="12700">
            <a:solidFill>
              <a:srgbClr val="C4CFD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6172200" y="4489704"/>
            <a:ext cx="73152" cy="1078992"/>
          </a:xfrm>
          <a:prstGeom prst="rect">
            <a:avLst/>
          </a:prstGeom>
          <a:solidFill>
            <a:srgbClr val="2E6FB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6400800" y="4636008"/>
            <a:ext cx="4846320" cy="36576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1B3255"/>
                </a:solidFill>
                <a:latin typeface="맑은 고딕"/>
              </a:rPr>
              <a:t>향후 과제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0" y="5001768"/>
            <a:ext cx="4846320" cy="548640"/>
          </a:xfrm>
          <a:prstGeom prst="rect">
            <a:avLst/>
          </a:prstGeom>
          <a:noFill/>
        </p:spPr>
        <p:txBody>
          <a:bodyPr wrap="square" anchor="t" lIns="36576" rIns="36576" tIns="18288" bIns="18288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130" b="0">
                <a:solidFill>
                  <a:srgbClr val="5C6670"/>
                </a:solidFill>
                <a:latin typeface="맑은 고딕"/>
              </a:rPr>
              <a:t>실데이터 적용·보상 가중치 튜닝·다공정 흐름 균형의 추가 검증.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solidFill>
            <a:srgbClr val="1B32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822960" y="5806440"/>
            <a:ext cx="10515600" cy="566928"/>
          </a:xfrm>
          <a:prstGeom prst="rect">
            <a:avLst/>
          </a:prstGeom>
          <a:noFill/>
        </p:spPr>
        <p:txBody>
          <a:bodyPr wrap="square" anchor="ctr" lIns="36576" rIns="36576" tIns="18288" bIns="18288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맑은 고딕"/>
              </a:rPr>
              <a:t>강화학습 기반 Bulk-Fill 스케줄링 — 전환 최소화와 계획 추종을 동시에 달성하는 검증된 의사결정 모델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