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313" r:id="rId34"/>
    <p:sldId id="274" r:id="rId25"/>
    <p:sldId id="275" r:id="rId26"/>
    <p:sldId id="276" r:id="rId27"/>
    <p:sldId id="277" r:id="rId28"/>
    <p:sldId id="278" r:id="rId29"/>
    <p:sldId id="279" r:id="rId30"/>
    <p:sldId id="314" r:id="rId32"/>
    <p:sldId id="280" r:id="rId31"/>
    <p:sldId id="315" r:id="rId17"/>
    <p:sldId id="282" r:id="rId33"/>
    <p:sldId id="316" r:id="rId16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317" r:id="rId64"/>
    <p:sldId id="294" r:id="rId45"/>
    <p:sldId id="318" r:id="rId65"/>
    <p:sldId id="295" r:id="rId46"/>
    <p:sldId id="319" r:id="rId6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57.xml"/><Relationship Id="rId17" Type="http://schemas.openxmlformats.org/officeDocument/2006/relationships/slide" Target="slides/slide56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55.xml"/><Relationship Id="rId33" Type="http://schemas.openxmlformats.org/officeDocument/2006/relationships/slide" Target="slides/slide24.xml"/><Relationship Id="rId34" Type="http://schemas.openxmlformats.org/officeDocument/2006/relationships/slide" Target="slides/slide5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1056차원 Box 벡터 입니다.  (O=3, P=10, K=5 기준 — 버킷 채널: PPK×OPER 10개 + PPK×OPER×MODEL 5개)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O×P×K×5 (버킷)  =  1056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1050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5채널(모델별): WIP비중·takt·urgency·달성가능·투영커버·소진시간 / ST·전환·공구·회피가능·셋업변경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O×P×K×5])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(OPER×PPK) 격자마다 10채널(모델 무관) + (OPER×PPK×MODEL) 격자마다 5채널(모델별)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8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60000" y="2212848"/>
            <a:ext cx="11000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60000" y="2212848"/>
            <a:ext cx="2117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0000" y="2212848"/>
            <a:ext cx="103212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83707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57860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wip_ratio_total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60000" y="283707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wip_ratio_ppk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57860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(팹 전체 대비)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60000" y="283707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재공 쏠림 (동일 PPK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57860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0.0857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00000" y="283707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0.0968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9554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5401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09554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prev_takt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60000" y="335401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09554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상류 공정 요구 속도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0000" y="335401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하류 공정 요구 속도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09554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00000" y="335401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61248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60000" y="361248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plan_urgency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60000" y="361248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계획 대비 시간 압박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00000" y="361248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0.0023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87095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12942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38789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387095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wip_lot_cd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12942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wip_temp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60000" y="438789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achievable_ratio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387095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LOT_CD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12942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버킷 TEMP 인코딩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60000" y="438789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달성가능 상한 비율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387095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12942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0" y="438789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64636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60000" y="464636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60000" y="464636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중복 커버 신호 (회피 유도)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00000" y="464636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0.72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04838"/>
            <a:ext cx="78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2E6FB0"/>
                </a:solidFill>
                <a:latin typeface="맑은 고딕"/>
              </a:rPr>
              <a:t>obs_09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60000" y="4904838"/>
            <a:ext cx="110000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starve_time_norm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260000" y="4904838"/>
            <a:ext cx="211708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안전재공 소진까지 남은 시간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00000" y="4904838"/>
            <a:ext cx="1032120" cy="258470"/>
          </a:xfrm>
          <a:prstGeom prst="rect">
            <a:avLst/>
          </a:prstGeom>
          <a:solidFill>
            <a:srgbClr val="DEEAF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16330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60000" y="516330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self_st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260000" y="516330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모델별 per-wafer 처리시간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00000" y="516330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42177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60000" y="542177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needs_conversion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260000" y="542177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셋업 변경 필요 여부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00000" y="542177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8024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3871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6197188"/>
            <a:ext cx="78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1">
                <a:solidFill>
                  <a:srgbClr val="B07A2E"/>
                </a:solidFill>
                <a:latin typeface="맑은 고딕"/>
              </a:rPr>
              <a:t>obs_14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68024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tool_can_assign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593871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avoidable_frac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60000" y="6197188"/>
            <a:ext cx="110000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setup_changed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68024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공구 cap 통과 여부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593871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전환 회피 가능 정도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60000" y="6197188"/>
            <a:ext cx="211708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850" b="0">
                <a:solidFill>
                  <a:srgbClr val="222A33"/>
                </a:solidFill>
                <a:latin typeface="맑은 고딕"/>
              </a:rPr>
              <a:t>PPK 또는 OPER가 직전과 다름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68024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593871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0.619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00000" y="6197188"/>
            <a:ext cx="1032120" cy="258470"/>
          </a:xfrm>
          <a:prstGeom prst="rect">
            <a:avLst/>
          </a:prstGeom>
          <a:solidFill>
            <a:srgbClr val="F3E8D6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900" b="0">
                <a:solidFill>
                  <a:srgbClr val="222A33"/>
                </a:solidFill>
                <a:latin typeface="맑은 고딕"/>
              </a:rPr>
              <a:t>1.0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3255"/>
                </a:solidFill>
                <a:latin typeface="맑은 고딕"/>
              </a:rPr>
              <a:t>현재 설비 → Feasible 버킷 필터링 → State 채널 계산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5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3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[lot_cd 또는 temp 상이]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회피가능 전환(avoidable_frac)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conversion_avoidable_fraction(현재 EQP, 이 버킷)  (needs_conversion=1일 때만)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변경(setup_changed)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[PPK 또는 OPER가 직전과 다름]  (연속 배정 여부)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080760" y="2692616"/>
            <a:ext cx="1300000" cy="650000"/>
          </a:xfrm>
          <a:prstGeom prst="round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</a:rPr>
              <a:t>현재 설비</a:t>
            </a:r>
            <a:br/>
            <a:r>
              <a:rPr sz="1050" b="1">
                <a:solidFill>
                  <a:srgbClr val="FFFFFF"/>
                </a:solidFill>
              </a:rPr>
              <a:t>(current_eqp)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740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7670760" y="2692616"/>
            <a:ext cx="1650000" cy="650000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Feasible 버킷 필터링</a:t>
            </a:r>
            <a:br/>
            <a:r>
              <a:rPr sz="1000" b="1">
                <a:solidFill>
                  <a:srgbClr val="FFFFFF"/>
                </a:solidFill>
              </a:rPr>
              <a:t>(가능한 PPK,OPER,MODEL 조합만)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9340760" y="2903316"/>
            <a:ext cx="25000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9610760" y="2692616"/>
            <a:ext cx="2050000" cy="315000"/>
          </a:xfrm>
          <a:prstGeom prst="roundRect">
            <a:avLst/>
          </a:prstGeom>
          <a:solidFill>
            <a:srgbClr val="DEEAF6"/>
          </a:solidFill>
          <a:ln w="95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2E6FB0"/>
                </a:solidFill>
              </a:rPr>
              <a:t>PPK×OPER 10채널 (모델 무관)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610760" y="3027616"/>
            <a:ext cx="2050000" cy="315000"/>
          </a:xfrm>
          <a:prstGeom prst="roundRect">
            <a:avLst/>
          </a:prstGeom>
          <a:solidFill>
            <a:srgbClr val="F3E8D6"/>
          </a:solidFill>
          <a:ln w="9525">
            <a:solidFill>
              <a:srgbClr val="B0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B07A2E"/>
                </a:solidFill>
              </a:rPr>
              <a:t>PPK×OPER×MODEL 5채널 (모델별)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080760" y="3372616"/>
            <a:ext cx="544068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>
                <a:solidFill>
                  <a:srgbClr val="222A33"/>
                </a:solidFill>
              </a:rPr>
              <a:t>현재 idle 설비 기준으로 feasible한 (PPK,OPER,MODEL) 버킷만 골라, 그 버킷들에 대해 State 채널을 계산합니다.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-0.31 + 계획 달성 +0.14 + 블록 보너스 +3.00 + 전환 +0.00 + 회피가능 전환 +0.00 + 중복 커버 -0.00 + 전용 오용 +0.00  →  r = +2.83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(N=4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N=4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3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(N=4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+2.75   ·   누적 Σr = +5.58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5·0/1320 = 0.0 · eff: 0.0→1.0 (done=0, cover=0.0, wf=1) · 2.5·(0.0−1.0)/5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5→4 (done 0→1, target=5) · 1.0·(5−4)/5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min(4 / 4,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need=5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-0.50 + 계획 달성 +0.25 + 블록 보너스 +3.00 + 전환 +0.00 + 회피가능 전환 +0.00 + 중복 커버 -0.00 + 전용 오용 +0.00  →  r = +2.75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(N=9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053480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053480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296448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296448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539416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539416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N=9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782384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782384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8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025352"/>
            <a:ext cx="109728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025352"/>
            <a:ext cx="1417320" cy="2429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268320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268320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(N=9 커밋 · 이번 1LOT)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+2.86   ·   누적 Σr = +8.44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10·0/1320 = 0.0 · eff: 0.0→1.0 (done=0, cover=0.0, wf=1) · 2.5·(0.0−1.0)/10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10→9 (done 0→1, target=10) · 1.0·(10−9)/10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min(9 / 9,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need=10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+0.00 + 페이싱 -0.25 + 계획 달성 +0.11 + 블록 보너스 +3.00 + 전환 +0.00 + 회피가능 전환 +0.00 + 중복 커버 -0.00 + 전용 오용 +0.00  →  r = +2.86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8" name="Picture 97" descr="step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5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0.174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+10.02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8·40/1320 = 0.24 · eff: 22.0→23.0 (done=1, cover=21.0, wf=1) · 2.5·(21.76−22.76)/8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-0.31 + 계획 달성 +0.14 + 블록 보너스 +0.00 + 전환 +0.00 + 회피가능 전환 +0.00 + 중복 커버 +0.00 + 전용 오용 +0.00  →  r = +0.83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9 — 블록 연속 (LOT 2/4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07305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34.8%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335600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598144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2860688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123232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385776"/>
            <a:ext cx="1234440" cy="262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0.348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005824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02073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02073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393634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393634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685195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685195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2/4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2976756"/>
            <a:ext cx="109728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2976756"/>
            <a:ext cx="1417320" cy="291561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268317"/>
            <a:ext cx="109728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268317"/>
            <a:ext cx="1417320" cy="3800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2/4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+0.75   ·   누적 Σr = +13.21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-0.50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5·120/1320 = 0.45 · eff: 3.0→4.0 (done=3, cover=0.0, wf=1) · 2.5·(2.55−3.55)/5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2→1 (done 3→4, target=5) · 1.0·(2−1)/5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need=2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-0.50 + 계획 달성 +0.25 + 블록 보너스 +0.00 + 전환 +0.00 + 회피가능 전환 +0.00 + 중복 커버 +0.00 + 전용 오용 +0.00  →  r = +0.75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12 — 블록 연속 (LOT 2/9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180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43.5%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10 / 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0.375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0.435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2/9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2/9 · masked replay)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+0.86   ·   누적 Σr = +4.88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10·180/1320 = 1.36 · eff: 2.0→3.0 (done=2, cover=0.0, wf=1) · 2.5·(0.64−1.64)/10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2→3, target=10) · 1.0·(8−7)/10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동일 셋업 +1.00 + 페이싱 -0.25 + 계획 달성 +0.11 + 블록 보너스 +0.00 + 전환 +0.00 + 회피가능 전환 +0.00 + 중복 커버 +0.00 + 전용 오용 +0.00  →  r = +0.86</a:t>
            </a:r>
            <a:r>
              <a:rPr sz="95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pic>
        <p:nvPicPr>
          <p:cNvPr id="96" name="Picture 95" descr="step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58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59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State 산식 해설 — ch2/ch3 prev_takt·post_takt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prev_takt(ch2)·post_takt(ch3) 공통 로직 — eff_takt = max(demand_takt, cap_takt)·wf_unit   (simulator.py::eff_takt)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874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인접공정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flow_prev/flow_post에 해당 OPER 없음 (op=None)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8740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첫/막 공정 → 비교 대상 없음, 압박 신호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920" y="2192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cap_takt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2920" y="2197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2920" y="2192000"/>
            <a:ext cx="37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760" b="0" i="1">
                <a:solidFill>
                  <a:srgbClr val="5C6670"/>
                </a:solidFill>
                <a:latin typeface="맑은 고딕"/>
              </a:rPr>
              <a:t>해당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2920" y="2392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demand_takt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2920" y="2397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2920" y="2392000"/>
            <a:ext cx="37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760" b="0" i="1">
                <a:solidFill>
                  <a:srgbClr val="5C6670"/>
                </a:solidFill>
                <a:latin typeface="맑은 고딕"/>
              </a:rPr>
              <a:t>해당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801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804000"/>
            <a:ext cx="24500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920" y="2844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무계획·capa만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920" y="3124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인접공정은 있으나 d0_plan_qty 계획이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2920" y="2804000"/>
            <a:ext cx="40014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2920" y="2834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1.67분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2920" y="3104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계획 압박 없이 설비 처리속도만 반영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920" y="3066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cap_takt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82920" y="3071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82920" y="307100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52920" y="3066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1.67분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7920" y="306600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920" y="3266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demand_takt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2920" y="3271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52920" y="3266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3675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3678000"/>
            <a:ext cx="24500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920" y="3718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수요-병목 (Case A)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920" y="3998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demand_takt(7.2) &gt; cap_takt(1.67)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02920" y="3678000"/>
            <a:ext cx="40014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62920" y="3708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7.2분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2920" y="3978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계획이 급함 → 인접공정 압박이 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02920" y="3940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cap_takt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82920" y="3945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882920" y="3945000"/>
            <a:ext cx="869791" cy="1400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52920" y="3940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1.67분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02920" y="4140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demand_takt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82920" y="4145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82920" y="414500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52920" y="4140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7.2분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77920" y="414000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549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4552000"/>
            <a:ext cx="24500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2920" y="4592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설비-병목 (Case B)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920" y="4872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demand_takt(0.3) ≤ cap_takt(1.67)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02920" y="4552000"/>
            <a:ext cx="4001400" cy="874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62920" y="4582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1.67분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2920" y="4852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설비 처리속도가 한계 → 계획 쪽은 여유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02920" y="4814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cap_takt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82920" y="4819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882920" y="481900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652920" y="4814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1.67분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77920" y="481400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02920" y="501400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demand_takt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882920" y="501900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882920" y="5019000"/>
            <a:ext cx="673652" cy="1400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52920" y="501400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0.3분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423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2920" y="5426000"/>
            <a:ext cx="2450000" cy="874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2920" y="5466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07A2E"/>
                </a:solidFill>
                <a:latin typeface="맑은 고딕"/>
              </a:rPr>
              <a:t>클립 (정규화&gt;1)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2920" y="5746000"/>
            <a:ext cx="2330000" cy="51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eff_takt/max_takt &gt; 1 (잔여계획 극소)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702920" y="5426000"/>
            <a:ext cx="4001400" cy="874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62920" y="5456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07A2E"/>
                </a:solidFill>
                <a:latin typeface="맑은 고딕"/>
              </a:rPr>
              <a:t>1.0 (클립)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62920" y="5726000"/>
            <a:ext cx="3881400" cy="534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인접공정이 사실상 개점휴업 수준으로 느림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062920" y="5773000"/>
            <a:ext cx="2926666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989586" y="5773000"/>
            <a:ext cx="1463334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062920" y="577300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712253" y="574300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21253" y="551300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1.25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02920" y="597300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89586" y="5973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1.0 (클립점)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02920" y="597300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State 산식 해설 — ch11 projected_cover_ratio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projected_cover_ratio(ch11) 전체 분기 — min(cover/need,2)/2 게이지   (simulator.py::_bucket_projected_cover)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커버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cover=0 (커밋된 다른 설비 없음)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완전 안전 — 지금 배정해도 중복 위험 없음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2920" y="2386250"/>
            <a:ext cx="2195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257920" y="2386250"/>
            <a:ext cx="2195000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62920" y="238625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053920" y="235625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62920" y="212625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0.00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2920" y="25862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7920" y="25862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need(1x)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2920" y="25862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2x 클립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19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0225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0" y="3062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부분 커버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2920" y="3342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0 &lt; cover(20) &lt; need(50)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02920" y="30225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62920" y="3052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920" y="3322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일부만 겹침 — 아직 여유 있는 상태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62920" y="3478750"/>
            <a:ext cx="2195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257920" y="3478750"/>
            <a:ext cx="2195000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62920" y="347875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31920" y="344875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40920" y="321875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0.40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02920" y="36787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57920" y="36787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need(1x)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2920" y="36787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2x 클립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12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41150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920" y="4155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정상 범위 (기존 예시)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2920" y="4435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cover(72) ≈ 1.4×need(50)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02920" y="41150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62920" y="4145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2920" y="4415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이미 상당히 덮임 → 회피 권장 신호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62920" y="4571250"/>
            <a:ext cx="2195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920" y="4571250"/>
            <a:ext cx="2195000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062920" y="457125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4720" y="454125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23720" y="431125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1.44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02920" y="47712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57920" y="47712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need(1x)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2920" y="47712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2x 클립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04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5207500"/>
            <a:ext cx="24500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920" y="5247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07A2E"/>
                </a:solidFill>
                <a:latin typeface="맑은 고딕"/>
              </a:rPr>
              <a:t>클립 (완전 중복)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920" y="5527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cover(120) ≥ 2×need(50)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02920" y="5207500"/>
            <a:ext cx="40014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62920" y="5237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07A2E"/>
                </a:solidFill>
                <a:latin typeface="맑은 고딕"/>
              </a:rPr>
              <a:t>1.0 (클립)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62920" y="5507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필요량의 2배 이상 커버 중 → 최댓값, 강력 회피 신호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062920" y="5663750"/>
            <a:ext cx="2195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257920" y="5663750"/>
            <a:ext cx="2195000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062920" y="5663750"/>
            <a:ext cx="4390000" cy="180000"/>
          </a:xfrm>
          <a:prstGeom prst="rect">
            <a:avLst/>
          </a:prstGeom>
          <a:noFill/>
          <a:ln w="9525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443920" y="5633750"/>
            <a:ext cx="18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52920" y="540375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1B3255"/>
                </a:solidFill>
                <a:latin typeface="맑은 고딕"/>
              </a:rPr>
              <a:t>2.40+ (초과)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02920" y="58637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57920" y="58637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50" b="0" i="0">
                <a:solidFill>
                  <a:srgbClr val="5C6670"/>
                </a:solidFill>
                <a:latin typeface="맑은 고딕"/>
              </a:rPr>
              <a:t>need(1x)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02920" y="5863750"/>
            <a:ext cx="6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2x 클립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State 산식 해설 — ch12 starve_time_norm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starve_time_norm(ch12) 전체 분기 — 공급 vs 소비 타임라인   (simulator.py, oi/pi 루프)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공급≥소비 (Case 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consume_rate(0.6) ≤ supply_rate(0.6)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재공이 안 마름 → 소진 걱정 없음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2920" y="2386250"/>
            <a:ext cx="4390000" cy="18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62920" y="2386250"/>
            <a:ext cx="4390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62920" y="2126250"/>
            <a:ext cx="439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1" i="0">
                <a:solidFill>
                  <a:srgbClr val="2E6FB0"/>
                </a:solidFill>
                <a:latin typeface="맑은 고딕"/>
              </a:rPr>
              <a:t>공급 ≥ 소비 — 전 구간 안전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22920" y="25862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t=0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2920" y="2586250"/>
            <a:ext cx="56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T_avail=360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19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022500"/>
            <a:ext cx="24500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2920" y="3062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07A2E"/>
                </a:solidFill>
                <a:latin typeface="맑은 고딕"/>
              </a:rPr>
              <a:t>즉시 소진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920" y="3342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consume&gt;supply 이고 재공(wip)=0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02920" y="3022500"/>
            <a:ext cx="40014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62920" y="3052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07A2E"/>
                </a:solidFill>
                <a:latin typeface="맑은 고딕"/>
              </a:rPr>
              <a:t>0.0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62920" y="3322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버퍼 자체가 없어 이미 소진된 상태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62920" y="3478750"/>
            <a:ext cx="4390000" cy="18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062920" y="3478750"/>
            <a:ext cx="4390000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54920" y="3448750"/>
            <a:ext cx="16000" cy="240000"/>
          </a:xfrm>
          <a:prstGeom prst="rect">
            <a:avLst/>
          </a:prstGeom>
          <a:solidFill>
            <a:srgbClr val="B0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62920" y="3218750"/>
            <a:ext cx="7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1" i="0">
                <a:solidFill>
                  <a:srgbClr val="B07A2E"/>
                </a:solidFill>
                <a:latin typeface="맑은 고딕"/>
              </a:rPr>
              <a:t>t=0 즉시 소진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22920" y="36787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t=0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52920" y="3678750"/>
            <a:ext cx="56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T_avail=360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112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41150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920" y="4155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부분 소진 (Case B)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920" y="4435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wip=15, net_rate=0.4/분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02920" y="41150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62920" y="4145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2920" y="4415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약 37.5분 뒤 소진 예상 — 위험도를 비례 반영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2920" y="4571250"/>
            <a:ext cx="4390000" cy="18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062920" y="4571250"/>
            <a:ext cx="457291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520211" y="4571250"/>
            <a:ext cx="3932709" cy="1800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512211" y="4541250"/>
            <a:ext cx="16000" cy="240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20211" y="4311250"/>
            <a:ext cx="8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30" b="1" i="0">
                <a:solidFill>
                  <a:srgbClr val="1B3255"/>
                </a:solidFill>
                <a:latin typeface="맑은 고딕"/>
              </a:rPr>
              <a:t>소진점 38분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22920" y="47712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t=0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52920" y="4771250"/>
            <a:ext cx="56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T_avail=360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204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52075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2920" y="5247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소진되나 시야 밖 (클립)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2920" y="5527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consume&gt;supply, starve_time≥T_avail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02920" y="52075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62920" y="5237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1.0 (클립)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62920" y="5507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소비가 더 빨라도 이 관측 시야 안에는 안 마름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062920" y="5663750"/>
            <a:ext cx="4390000" cy="18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62920" y="5663750"/>
            <a:ext cx="4390000" cy="1800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ight Arrow 56"/>
          <p:cNvSpPr/>
          <p:nvPr/>
        </p:nvSpPr>
        <p:spPr>
          <a:xfrm>
            <a:off x="7412920" y="5708750"/>
            <a:ext cx="140000" cy="90000"/>
          </a:xfrm>
          <a:prstGeom prst="rightArrow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52920" y="5403750"/>
            <a:ext cx="1400000" cy="21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800" b="1" i="0">
                <a:solidFill>
                  <a:srgbClr val="5C6670"/>
                </a:solidFill>
                <a:latin typeface="맑은 고딕"/>
              </a:rPr>
              <a:t>실제 소진 500분 (시야 밖)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22920" y="5863750"/>
            <a:ext cx="30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50" b="0" i="0">
                <a:solidFill>
                  <a:srgbClr val="5C6670"/>
                </a:solidFill>
                <a:latin typeface="맑은 고딕"/>
              </a:rPr>
              <a:t>t=0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52920" y="5863750"/>
            <a:ext cx="560000" cy="18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50" b="0" i="0">
                <a:solidFill>
                  <a:srgbClr val="5C6670"/>
                </a:solidFill>
                <a:latin typeface="맑은 고딕"/>
              </a:rPr>
              <a:t>T_avail=360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State 산식 해설 — ch13 avoidable_frac(α) 케이스 전수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avoidable_frac(ch13, α) 전체 분기 — max(coverage_frac, short_run_frac)   (simulator.py::_conversion_avoidable_fraction)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수요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demand ≤ 0 (이 세팅 재공 자체가 없음)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비교할 수요가 없어 즉시 0 반환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920" y="23012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coverage_frac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82920" y="23062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82920" y="2301250"/>
            <a:ext cx="37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760" b="0" i="1">
                <a:solidFill>
                  <a:srgbClr val="5C6670"/>
                </a:solidFill>
                <a:latin typeface="맑은 고딕"/>
              </a:rPr>
              <a:t>해당 없음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02920" y="25012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short_run_frac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82920" y="25062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2920" y="2501250"/>
            <a:ext cx="37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760" b="0" i="1">
                <a:solidFill>
                  <a:srgbClr val="5C6670"/>
                </a:solidFill>
                <a:latin typeface="맑은 고딕"/>
              </a:rPr>
              <a:t>해당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019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0225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920" y="3062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커버 우세 (기존 예시)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920" y="3342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alt_cap(96)/demand(155)=0.619 이 더 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02920" y="30225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62920" y="3052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2920" y="3322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다른 설비가 62%를 대신 커버 가능 → 회피 권장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920" y="33937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coverage_frac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82920" y="33987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882920" y="339875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52920" y="33937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0.619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77920" y="339375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920" y="35937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short_run_frac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2920" y="35987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52920" y="35937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112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02920" y="41150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2920" y="4155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짧은 가동 우세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2920" y="4435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my_run_min(3) &lt; need(10) → short_run=0.7 이 더 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02920" y="41150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62920" y="4145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0.70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62920" y="4415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변환해도 금방 일감이 끝나 비용을 못 뽑음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02920" y="44862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coverage_frac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882920" y="44912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882920" y="4491250"/>
            <a:ext cx="535714" cy="1400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52920" y="44862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0.1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02920" y="46862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short_run_frac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82920" y="46912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82920" y="4691250"/>
            <a:ext cx="3750000" cy="140000"/>
          </a:xfrm>
          <a:prstGeom prst="rect">
            <a:avLst/>
          </a:prstGeom>
          <a:solidFill>
            <a:srgbClr val="2E6FB0"/>
          </a:solidFill>
          <a:ln w="12700">
            <a:solidFill>
              <a:srgbClr val="1B32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52920" y="46862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1" i="0">
                <a:solidFill>
                  <a:srgbClr val="1B3255"/>
                </a:solidFill>
                <a:latin typeface="맑은 고딕"/>
              </a:rPr>
              <a:t>0.7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77920" y="4686250"/>
            <a:ext cx="0" cy="1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" b="0" i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204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52075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2920" y="5247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회피 불가 (합리적 전환)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920" y="5527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coverage_frac=0, short_run_frac=0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02920" y="52075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62920" y="5237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2920" y="5507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대안도 없고 충분히 길게 돎 → 전환이 정당함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02920" y="55787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coverage_frac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82920" y="55837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52920" y="55787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002920" y="5778750"/>
            <a:ext cx="85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60" b="0" i="0">
                <a:solidFill>
                  <a:srgbClr val="5C6670"/>
                </a:solidFill>
                <a:latin typeface="맑은 고딕"/>
              </a:rPr>
              <a:t>short_run_frac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882920" y="5783750"/>
            <a:ext cx="3750000" cy="14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52920" y="5778750"/>
            <a:ext cx="700000" cy="14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78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보상 항목 — 회피가능 전환 케이스 전수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r = w_avoidable · α  전체 분기 — 보상 기여도   (simulator.py:930-942)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전환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needs_conversion=0 → 항 자체 미평가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전환이 아예 없으면 페널티도 없음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2920" y="23762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2920" y="23512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2920" y="25962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2920" y="25962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-8.0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019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022500"/>
            <a:ext cx="2450000" cy="1092500"/>
          </a:xfrm>
          <a:prstGeom prst="rect">
            <a:avLst/>
          </a:prstGeom>
          <a:solidFill>
            <a:srgbClr val="E5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920" y="3062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7D4F"/>
                </a:solidFill>
                <a:latin typeface="맑은 고딕"/>
              </a:rPr>
              <a:t>α=0 (합리적 전환)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920" y="3342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전환 발생, avoidable_frac=0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2920" y="3022500"/>
            <a:ext cx="4001400" cy="1092500"/>
          </a:xfrm>
          <a:prstGeom prst="rect">
            <a:avLst/>
          </a:prstGeom>
          <a:solidFill>
            <a:srgbClr val="E5F0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2920" y="3052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920" y="3322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대안 없고 내가 길게 돎 → 페널티 없이 전환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2920" y="34687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2920" y="34437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62920" y="36887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920" y="36887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-8.0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112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115000"/>
            <a:ext cx="24500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2920" y="4155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33A3A"/>
                </a:solidFill>
                <a:latin typeface="맑은 고딕"/>
              </a:rPr>
              <a:t>커버 우세 페널티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2920" y="4435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전환 발생, coverage_frac 지배(α=0.619)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02920" y="4115000"/>
            <a:ext cx="40014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62920" y="4145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33A3A"/>
                </a:solidFill>
                <a:latin typeface="맑은 고딕"/>
              </a:rPr>
              <a:t>−4.95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62920" y="4415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다른 설비가 대신할 수 있었던 전환 → 페널티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62920" y="45612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62920" y="4561250"/>
            <a:ext cx="2444062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2920" y="45362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-4.95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062920" y="47812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2920" y="47812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-8.0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204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207500"/>
            <a:ext cx="24500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2920" y="5247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33A3A"/>
                </a:solidFill>
                <a:latin typeface="맑은 고딕"/>
              </a:rPr>
              <a:t>짧은가동 페널티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920" y="5527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전환 발생, short_run_frac 지배(α=0.70)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02920" y="5207500"/>
            <a:ext cx="40014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2920" y="5237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33A3A"/>
                </a:solidFill>
                <a:latin typeface="맑은 고딕"/>
              </a:rPr>
              <a:t>−5.60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2920" y="5507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전환해도 금방 끝날 일이었음 → 페널티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62920" y="56537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062920" y="5653750"/>
            <a:ext cx="2765000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042920" y="56287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-5.60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62920" y="58737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2920" y="58737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-8.0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보상 항목 — 중복 커버 케이스 전수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r = w_redundant · min(cover/need, 2)  전체 분기 — 보상 기여도   (simulator.py:1553-1560)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30000"/>
            <a:ext cx="24500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920" y="1970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5C6670"/>
                </a:solidFill>
                <a:latin typeface="맑은 고딕"/>
              </a:rPr>
              <a:t>cover=0 (예시 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920" y="2250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다른 설비 투영생산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02920" y="1930000"/>
            <a:ext cx="4001400" cy="109250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62920" y="1960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2920" y="2230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전담 — 페널티 없음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2920" y="23762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2920" y="23512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2920" y="25962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2920" y="25962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-10.0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019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022500"/>
            <a:ext cx="24500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2920" y="3062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2E6FB0"/>
                </a:solidFill>
                <a:latin typeface="맑은 고딕"/>
              </a:rPr>
              <a:t>부분 중복 (예시 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920" y="3342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cover/need=0.4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02920" y="3022500"/>
            <a:ext cx="4001400" cy="1092500"/>
          </a:xfrm>
          <a:prstGeom prst="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62920" y="3052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2E6FB0"/>
                </a:solidFill>
                <a:latin typeface="맑은 고딕"/>
              </a:rPr>
              <a:t>−2.0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920" y="3322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약간 겹침 — 경미한 페널티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62920" y="34687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062920" y="3468750"/>
            <a:ext cx="790000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2920" y="34437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-2.00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62920" y="36887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2920" y="36887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112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115000"/>
            <a:ext cx="24500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2920" y="41550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07A2E"/>
                </a:solidFill>
                <a:latin typeface="맑은 고딕"/>
              </a:rPr>
              <a:t>완전 중복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2920" y="44350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cover/need=1.5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02920" y="4115000"/>
            <a:ext cx="4001400" cy="1092500"/>
          </a:xfrm>
          <a:prstGeom prst="rect">
            <a:avLst/>
          </a:prstGeom>
          <a:solidFill>
            <a:srgbClr val="F3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62920" y="41450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07A2E"/>
                </a:solidFill>
                <a:latin typeface="맑은 고딕"/>
              </a:rPr>
              <a:t>−7.5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920" y="44150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필요량만큼 이미 덮임 — 큰 페널티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62920" y="45612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62920" y="4561250"/>
            <a:ext cx="2962500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2920" y="45362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-7.50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62920" y="47812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2920" y="47812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-10.0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2045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" y="5207500"/>
            <a:ext cx="24500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920" y="5247500"/>
            <a:ext cx="23300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50" b="1" i="0">
                <a:solidFill>
                  <a:srgbClr val="B33A3A"/>
                </a:solidFill>
                <a:latin typeface="맑은 고딕"/>
              </a:rPr>
              <a:t>클립 (최대 페널티)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2920" y="5527500"/>
            <a:ext cx="2330000" cy="73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30" b="0" i="0">
                <a:solidFill>
                  <a:srgbClr val="222A33"/>
                </a:solidFill>
                <a:latin typeface="맑은 고딕"/>
              </a:rPr>
              <a:t>cover/need=2.4 → min(·,2) 클립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02920" y="5207500"/>
            <a:ext cx="4001400" cy="1092500"/>
          </a:xfrm>
          <a:prstGeom prst="rect">
            <a:avLst/>
          </a:prstGeom>
          <a:solidFill>
            <a:srgbClr val="F7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62920" y="5237500"/>
            <a:ext cx="38814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300" b="1" i="0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2920" y="5507500"/>
            <a:ext cx="3881400" cy="7525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800" b="0" i="0">
                <a:solidFill>
                  <a:srgbClr val="222A33"/>
                </a:solidFill>
                <a:latin typeface="맑은 고딕"/>
              </a:rPr>
              <a:t>2배 상한 클립 — 이 항목 최대 감점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2920" y="5653750"/>
            <a:ext cx="3950000" cy="200000"/>
          </a:xfrm>
          <a:prstGeom prst="rect">
            <a:avLst/>
          </a:prstGeom>
          <a:solidFill>
            <a:srgbClr val="E4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062920" y="5653750"/>
            <a:ext cx="3950000" cy="200000"/>
          </a:xfrm>
          <a:prstGeom prst="rect">
            <a:avLst/>
          </a:prstGeom>
          <a:solidFill>
            <a:srgbClr val="B33A3A"/>
          </a:solidFill>
          <a:ln w="12700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042920" y="5628750"/>
            <a:ext cx="700000" cy="25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l"/>
            <a:r>
              <a:rPr sz="1100" b="1" i="0">
                <a:solidFill>
                  <a:srgbClr val="B33A3A"/>
                </a:solidFill>
                <a:latin typeface="맑은 고딕"/>
              </a:rPr>
              <a:t>-10.00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62920" y="5873750"/>
            <a:ext cx="25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730" b="0" i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62920" y="5873750"/>
            <a:ext cx="60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730" b="0" i="0">
                <a:solidFill>
                  <a:srgbClr val="5C6670"/>
                </a:solidFill>
                <a:latin typeface="맑은 고딕"/>
              </a:rPr>
              <a:t>최대 -10.0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6297000"/>
            <a:ext cx="11201400" cy="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150" b="1" i="0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2100" b="1" i="0">
                <a:solidFill>
                  <a:srgbClr val="1B3255"/>
                </a:solidFill>
                <a:latin typeface="맑은 고딕"/>
              </a:rPr>
              <a:t>보상 항목 — 전용 오용 케이스 전수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900" b="0" i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l"/>
            <a:r>
              <a:rPr sz="1000" b="1" i="0">
                <a:solidFill>
                  <a:srgbClr val="2E6FB0"/>
                </a:solidFill>
                <a:latin typeface="맑은 고딕"/>
              </a:rPr>
              <a:t>r = w_dedication_misuse · 1[narrower_idle_specialist_exists]  판정 흐름   (simulator.py::narrower_idle_specialist_exists)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50000"/>
            <a:ext cx="2050000" cy="9000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50000"/>
            <a:ext cx="2050000" cy="90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1150" b="1" i="0">
                <a:solidFill>
                  <a:srgbClr val="1B3255"/>
                </a:solidFill>
                <a:latin typeface="맑은 고딕"/>
              </a:rPr>
              <a:t>① 다른 idle
설비 존재?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592920" y="2445000"/>
            <a:ext cx="620000" cy="11000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2920" y="2030000"/>
            <a:ext cx="62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2E6FB0"/>
                </a:solidFill>
                <a:latin typeface="맑은 고딕"/>
              </a:rPr>
              <a:t>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2920" y="2050000"/>
            <a:ext cx="2050000" cy="9000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2920" y="2050000"/>
            <a:ext cx="2050000" cy="90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1150" b="1" i="0">
                <a:solidFill>
                  <a:srgbClr val="1B3255"/>
                </a:solidFill>
                <a:latin typeface="맑은 고딕"/>
              </a:rPr>
              <a:t>② breadth(other)
&lt; breadth(me)?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342920" y="2445000"/>
            <a:ext cx="620000" cy="11000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2920" y="2030000"/>
            <a:ext cx="62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2E6FB0"/>
                </a:solidFill>
                <a:latin typeface="맑은 고딕"/>
              </a:rPr>
              <a:t>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02920" y="2050000"/>
            <a:ext cx="2050000" cy="900000"/>
          </a:xfrm>
          <a:prstGeom prst="roundRect">
            <a:avLst/>
          </a:prstGeom>
          <a:solidFill>
            <a:srgbClr val="FFFFFF"/>
          </a:solidFill>
          <a:ln w="22225">
            <a:solidFill>
              <a:srgbClr val="2E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02920" y="2050000"/>
            <a:ext cx="2050000" cy="90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1150" b="1" i="0">
                <a:solidFill>
                  <a:srgbClr val="1B3255"/>
                </a:solidFill>
                <a:latin typeface="맑은 고딕"/>
              </a:rPr>
              <a:t>③ (ppk,oper)
처리 가능?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52920" y="2050000"/>
            <a:ext cx="2050000" cy="900000"/>
          </a:xfrm>
          <a:prstGeom prst="roundRect">
            <a:avLst/>
          </a:prstGeom>
          <a:solidFill>
            <a:srgbClr val="F7E6E6"/>
          </a:solidFill>
          <a:ln w="22225">
            <a:solidFill>
              <a:srgbClr val="B3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2920" y="2110000"/>
            <a:ext cx="2050000" cy="780000"/>
          </a:xfrm>
          <a:prstGeom prst="rect">
            <a:avLst/>
          </a:prstGeom>
          <a:noFill/>
        </p:spPr>
        <p:txBody>
          <a:bodyPr wrap="square" lIns="36576" rIns="36576" tIns="9144" bIns="9144" anchor="ctr">
            <a:noAutofit/>
          </a:bodyPr>
          <a:lstStyle/>
          <a:p>
            <a:pPr algn="ctr"/>
            <a:r>
              <a:rPr sz="1150" b="1" i="0">
                <a:solidFill>
                  <a:srgbClr val="B33A3A"/>
                </a:solidFill>
                <a:latin typeface="맑은 고딕"/>
              </a:rPr>
              <a:t>전용 오용 발생
1[True]
r = −4.0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092920" y="2445000"/>
            <a:ext cx="620000" cy="1100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920" y="2030000"/>
            <a:ext cx="62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B33A3A"/>
                </a:solidFill>
                <a:latin typeface="맑은 고딕"/>
              </a:rPr>
              <a:t>예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1472920" y="2970000"/>
            <a:ext cx="110000" cy="260000"/>
          </a:xfrm>
          <a:prstGeom prst="downArrow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2920" y="3250000"/>
            <a:ext cx="217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5C6670"/>
                </a:solidFill>
                <a:latin typeface="맑은 고딕"/>
              </a:rPr>
              <a:t>아니오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430000"/>
            <a:ext cx="2050000" cy="780000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2920" y="3470000"/>
            <a:ext cx="19700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50" b="1" i="0">
                <a:solidFill>
                  <a:srgbClr val="5C6670"/>
                </a:solidFill>
                <a:latin typeface="맑은 고딕"/>
              </a:rPr>
              <a:t>idle 대안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920" y="3730000"/>
            <a:ext cx="1970000" cy="4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80" b="0" i="0">
                <a:solidFill>
                  <a:srgbClr val="222A33"/>
                </a:solidFill>
                <a:latin typeface="맑은 고딕"/>
              </a:rPr>
              <a:t>다른 idle 설비 자체가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2920" y="4020000"/>
            <a:ext cx="1970000" cy="17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000" b="1" i="0">
                <a:solidFill>
                  <a:srgbClr val="2E7D4F"/>
                </a:solidFill>
                <a:latin typeface="맑은 고딕"/>
              </a:rPr>
              <a:t>r = 0</a:t>
            </a:r>
          </a:p>
        </p:txBody>
      </p:sp>
      <p:sp>
        <p:nvSpPr>
          <p:cNvPr id="30" name="Down Arrow 29"/>
          <p:cNvSpPr/>
          <p:nvPr/>
        </p:nvSpPr>
        <p:spPr>
          <a:xfrm>
            <a:off x="4222920" y="2970000"/>
            <a:ext cx="110000" cy="260000"/>
          </a:xfrm>
          <a:prstGeom prst="downArrow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92920" y="3250000"/>
            <a:ext cx="217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5C6670"/>
                </a:solidFill>
                <a:latin typeface="맑은 고딕"/>
              </a:rPr>
              <a:t>아니오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52920" y="3430000"/>
            <a:ext cx="2050000" cy="780000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92920" y="3470000"/>
            <a:ext cx="19700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50" b="1" i="0">
                <a:solidFill>
                  <a:srgbClr val="5C6670"/>
                </a:solidFill>
                <a:latin typeface="맑은 고딕"/>
              </a:rPr>
              <a:t>동급/범용 idle만 존재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2920" y="3730000"/>
            <a:ext cx="1970000" cy="4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80" b="0" i="0">
                <a:solidFill>
                  <a:srgbClr val="222A33"/>
                </a:solidFill>
                <a:latin typeface="맑은 고딕"/>
              </a:rPr>
              <a:t>breadth(other) ≥ breadth(me)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2920" y="4020000"/>
            <a:ext cx="1970000" cy="17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000" b="1" i="0">
                <a:solidFill>
                  <a:srgbClr val="2E7D4F"/>
                </a:solidFill>
                <a:latin typeface="맑은 고딕"/>
              </a:rPr>
              <a:t>r = 0</a:t>
            </a:r>
          </a:p>
        </p:txBody>
      </p:sp>
      <p:sp>
        <p:nvSpPr>
          <p:cNvPr id="36" name="Down Arrow 35"/>
          <p:cNvSpPr/>
          <p:nvPr/>
        </p:nvSpPr>
        <p:spPr>
          <a:xfrm>
            <a:off x="6972920" y="2970000"/>
            <a:ext cx="110000" cy="260000"/>
          </a:xfrm>
          <a:prstGeom prst="downArrow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2920" y="3250000"/>
            <a:ext cx="2170000" cy="1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850" b="1" i="0">
                <a:solidFill>
                  <a:srgbClr val="5C6670"/>
                </a:solidFill>
                <a:latin typeface="맑은 고딕"/>
              </a:rPr>
              <a:t>아니오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02920" y="3430000"/>
            <a:ext cx="2050000" cy="780000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5C66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42920" y="3470000"/>
            <a:ext cx="1970000" cy="26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50" b="1" i="0">
                <a:solidFill>
                  <a:srgbClr val="5C6670"/>
                </a:solidFill>
                <a:latin typeface="맑은 고딕"/>
              </a:rPr>
              <a:t>전용 idle 있으나 처리 불가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42920" y="3730000"/>
            <a:ext cx="1970000" cy="44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780" b="0" i="0">
                <a:solidFill>
                  <a:srgbClr val="222A33"/>
                </a:solidFill>
                <a:latin typeface="맑은 고딕"/>
              </a:rPr>
              <a:t>그 설비가 (ppk,oper)를 못 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42920" y="4020000"/>
            <a:ext cx="1970000" cy="17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1000" b="1" i="0">
                <a:solidFill>
                  <a:srgbClr val="2E7D4F"/>
                </a:solidFill>
                <a:latin typeface="맑은 고딕"/>
              </a:rPr>
              <a:t>r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4370000"/>
            <a:ext cx="11201400" cy="30000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ctr"/>
            <a:r>
              <a:rPr sz="900" b="0" i="1">
                <a:solidFill>
                  <a:srgbClr val="5C6670"/>
                </a:solidFill>
                <a:latin typeface="맑은 고딕"/>
              </a:rPr>
              <a:t>narrower_idle_specialist_exists() — 3개 게이트를 모두 통과(예-예-예)해야만 전용 오용 페널티가 걸린다.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lIns="36576" rIns="36576" tIns="9144" bIns="9144" anchor="t">
            <a:noAutofit/>
          </a:bodyPr>
          <a:lstStyle/>
          <a:p>
            <a:pPr algn="r"/>
            <a:r>
              <a:rPr sz="900" b="1" i="0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