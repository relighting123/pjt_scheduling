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13" r:id="rId34"/>
    <p:sldId id="274" r:id="rId25"/>
    <p:sldId id="275" r:id="rId26"/>
    <p:sldId id="276" r:id="rId27"/>
    <p:sldId id="277" r:id="rId28"/>
    <p:sldId id="278" r:id="rId29"/>
    <p:sldId id="279" r:id="rId30"/>
    <p:sldId id="314" r:id="rId32"/>
    <p:sldId id="280" r:id="rId31"/>
    <p:sldId id="315" r:id="rId17"/>
    <p:sldId id="282" r:id="rId33"/>
    <p:sldId id="316" r:id="rId16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317" r:id="rId64"/>
    <p:sldId id="294" r:id="rId45"/>
    <p:sldId id="318" r:id="rId65"/>
    <p:sldId id="295" r:id="rId46"/>
    <p:sldId id="319" r:id="rId6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28.xml"/><Relationship Id="rId17" Type="http://schemas.openxmlformats.org/officeDocument/2006/relationships/slide" Target="slides/slide26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5.xml"/><Relationship Id="rId32" Type="http://schemas.openxmlformats.org/officeDocument/2006/relationships/slide" Target="slides/slide24.xml"/><Relationship Id="rId33" Type="http://schemas.openxmlformats.org/officeDocument/2006/relationships/slide" Target="slides/slide27.xml"/><Relationship Id="rId34" Type="http://schemas.openxmlformats.org/officeDocument/2006/relationships/slide" Target="slides/slide17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39.xml"/><Relationship Id="rId65" Type="http://schemas.openxmlformats.org/officeDocument/2006/relationships/slide" Target="slides/slide41.xml"/><Relationship Id="rId66" Type="http://schemas.openxmlformats.org/officeDocument/2006/relationships/slide" Target="slides/slide4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ch2/ch3 prev_takt·post_takt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prev_takt(ch2)·post_takt(ch3) 공통 로직 — eff_takt(ppk, 인접공정)   (simulation/simulator.py::eff_takt)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798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인접공정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798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flow_prev/flow_post에 해당 OPER 없음 (op=None)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798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eff_takt = 0.0  (정의상 즉시 반환)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798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798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첫/막 공정이라 비교할 이웃이 없음 → 압박 신호 없음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08000"/>
            <a:ext cx="10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108000"/>
            <a:ext cx="10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무계획·capa만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108000"/>
            <a:ext cx="25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108000"/>
            <a:ext cx="25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인접공정은 있으나 d0_plan_qty 계획이 없음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108000"/>
            <a:ext cx="32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108000"/>
            <a:ext cx="32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eff_takt = cap_takt·wf_unit = (spw/n)·wf_unit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108000"/>
            <a:ext cx="11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108000"/>
            <a:ext cx="11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예: 1.67분/carrier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108000"/>
            <a:ext cx="34014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108000"/>
            <a:ext cx="34014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계획 압박 없이 설비 처리속도만 반영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06000"/>
            <a:ext cx="10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906000"/>
            <a:ext cx="10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수요-병목 (Case A)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3906000"/>
            <a:ext cx="25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3906000"/>
            <a:ext cx="25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demand_takt &gt; cap_takt (계획이 촉박)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3906000"/>
            <a:ext cx="32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3906000"/>
            <a:ext cx="32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demand_takt=360/50=7.2 &gt; cap_takt=1.67 → max 선택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3906000"/>
            <a:ext cx="11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3906000"/>
            <a:ext cx="11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7.2분/carrier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3906000"/>
            <a:ext cx="34014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3906000"/>
            <a:ext cx="34014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계획이 급함 → 인접공정 압박이 큼 (prev/post_takt ↑)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704000"/>
            <a:ext cx="10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704000"/>
            <a:ext cx="10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설비-병목 (Case B)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4704000"/>
            <a:ext cx="25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4704000"/>
            <a:ext cx="25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demand_takt ≤ cap_takt (계획이 널널)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4704000"/>
            <a:ext cx="32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4704000"/>
            <a:ext cx="32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demand_takt=360/1200=0.3 ≤ cap_takt=1.67 → max 선택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4704000"/>
            <a:ext cx="11000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4704000"/>
            <a:ext cx="11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1.67분/carrier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4704000"/>
            <a:ext cx="3401400" cy="798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4704000"/>
            <a:ext cx="34014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설비 처리속도가 한계 → 계획 쪽은 여유 있음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502000"/>
            <a:ext cx="1000000" cy="798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5502000"/>
            <a:ext cx="10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클립 (정규화&gt;1)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02920" y="5502000"/>
            <a:ext cx="2500000" cy="798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02920" y="5502000"/>
            <a:ext cx="25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eff_takt/max_takt &gt; 1 (잔여계획이 극소)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02920" y="5502000"/>
            <a:ext cx="3200000" cy="798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2920" y="5502000"/>
            <a:ext cx="32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예: eff_takt=450 → 450/360=1.25 → min(·,1.0)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02920" y="5502000"/>
            <a:ext cx="1100000" cy="798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02920" y="5502000"/>
            <a:ext cx="11000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1.0 (클립)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02920" y="5502000"/>
            <a:ext cx="3401400" cy="798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02920" y="5502000"/>
            <a:ext cx="3401400" cy="798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인접공정이 사실상 개점휴업 수준으로 느림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projected_cover_ratio(ch11) 전체 분기 — min(cover/need,2)/2   (simulation/simulator.py::_bucket_projected_cover)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cover=0 (커밋된 다른 설비 없음)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min(0/50, 2) /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완전 안전 — 지금 배정해도 중복 위험 없음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부분 커버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0 &lt; cover &lt; need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min(20/50, 2) / 2 = 0.2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0.20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일부만 겹침 — 아직 여유 있는 상태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정상 범위 (기존 예시)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need ≤ cover &lt; 2·need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min(72/50, 2) / 2 = 0.72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0.72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이미 상당히 덮임 → 회피 권장 신호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클립 (완전 중복)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cover ≥ 2·need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min(120/50, 2) / 2 = min(2.4,2)/2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1.0 (클립)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필요량의 2배 이상 커버 중 → 최댓값, 강력 회피 신호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starve_time_norm(ch12) 전체 분기 — 공급 vs 소비 비교   (simulation/simulator.py, oi/pi 루프)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공급≥소비 (Case 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consume_rate ≤ supply_rate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0.6 ≥ 0.6 → else 분기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재공이 안 마름 → 소진 걱정 없음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즉시 소진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consume&gt;supply 이고 재공(wip)=0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starve_time = 0 / 0.4 =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버퍼 자체가 없어 이미 소진된 상태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부분 소진 (Case 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consume&gt;supply, 0&lt;starve_time&lt;T_avail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starve_time=15/0.4=37.5 → 37.5/360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약 37.5분 뒤 소진 예상 — 위험도를 비례 반영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소진되나 시야 밖 (클립)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consume&gt;supply, starve_time≥T_avail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예: starve_time=500 → min(500/360,1)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1.0 (클립)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소비가 더 빨라도 이 관측 시야 안에는 안 마름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avoidable_frac(α)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avoidable_frac(ch13, α) 전체 분기 — max(coverage_frac, short_run_frac)   (simulation/simulator.py::_conversion_avoidable_fraction)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수요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demand ≤ 0 (이 세팅 재공 자체가 없음)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조기 반환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비교할 수요가 없어 즉시 0 반환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커버 우세 (기존 예시)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coverage_frac이 더 큼 (대안 설비 충분)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min(96/155,1)=0.619 ≥ short_run_frac=0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다른 설비가 62%를 대신 커버 가능 → 회피 권장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짧은 가동 우세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short_run_frac이 더 큼 (대안은 적지만 곧 끝남)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coverage=0.1, my_run_min=3 &lt; need=10 → short=0.7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0.70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변환해도 금방 일감이 끝나 비용을 못 뽑음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회피 불가 (합리적 전환)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coverage_frac=0, short_run_frac=0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max(0, 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대안도 없고 충분히 길게 돎 → 전환이 정당함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케이스 전수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r = w_avoidable · α  전체 분기   (simulation/simulator.py:930-942)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전환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needs_conversion=0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항 자체 미평가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전환이 아예 없으면 페널티도 없음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α=0 (합리적 전환)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전환 발생, avoidable_frac=0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-8.0 ×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대안 없고 내가 길게 돎 → 페널티 없이 전환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커버 우세 페널티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전환 발생, coverage_frac 지배(α=0.619)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-8.0 × 0.619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-4.95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다른 설비가 대신할 수 있었던 전환 → 페널티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짧은가동 페널티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전환 발생, short_run_frac 지배(α=0.70)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-8.0 × 0.70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-5.60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전환해도 금방 끝날 일이었음 → 페널티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케이스 전수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r = w_redundant · min(cover/need, 2)  전체 분기   (simulation/simulator.py:1553-1560)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cover=0 (예시 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다른 설비 투영생산 없음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-5.0 × min(0, 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전담 — 페널티 없음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부분 중복 (예시 B)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0 &lt; cover/need &lt;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-5.0 × min(0.4, 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-2.0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약간 겹침 — 경미한 페널티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완전 중복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1 ≤ cover/need &lt; 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-5.0 × min(1.5, 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-7.5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필요량만큼 이미 덮임 — 큰 페널티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클립 (최대 페널티)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cover/need ≥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-5.0 × min(2.4, 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-10.0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2배 상한 클립 — 이 항목 최대 감점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케이스 전수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/>
            <a:r>
              <a:rPr sz="1050" b="1">
                <a:solidFill>
                  <a:srgbClr val="2E6FB0"/>
                </a:solidFill>
                <a:latin typeface="맑은 고딕"/>
              </a:rPr>
              <a:t>r = w_dedication_misuse · 1[narrower_idle_specialist_exists]  전체 분기   (simulation/simulator.py::narrower_idle_specialist_exists)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000"/>
            <a:ext cx="10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케이스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2920" y="1930000"/>
            <a:ext cx="25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2920" y="1930000"/>
            <a:ext cx="32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대입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2920" y="1930000"/>
            <a:ext cx="11000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920" y="1930000"/>
            <a:ext cx="3401400" cy="3800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해석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10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idle 대안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2920" y="2310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다른 idle 설비 자체가 없음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2920" y="2310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1[False]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2920" y="2310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920" y="2310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대안이 없으니 오용 여부 판단 불필요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307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동급/범용 idle만 존재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2920" y="3307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idle 설비 있으나 breadth(other)≥breadth(me)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2920" y="3307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1[False]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2920" y="3307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920" y="3307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5C6670"/>
                </a:solidFill>
                <a:latin typeface="맑은 고딕"/>
              </a:rPr>
              <a:t>더 전용적인 설비가 아니므로 오용이 아님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050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전용 idle 있으나 처리 불가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2920" y="43050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breadth(other)&lt;breadth(me) 이나 (ppk,oper) 처리 불가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02920" y="43050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1[False]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2920" y="43050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2E6FB0"/>
                </a:solidFill>
                <a:latin typeface="맑은 고딕"/>
              </a:rPr>
              <a:t>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920" y="43050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2E6FB0"/>
                </a:solidFill>
                <a:latin typeface="맑은 고딕"/>
              </a:rPr>
              <a:t>그 설비가 애초에 이 버킷을 못 함 → 오용 아님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2500"/>
            <a:ext cx="10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전용 오용 발생 (예시 B)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2920" y="5302500"/>
            <a:ext cx="25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breadth(other)&lt;breadth(me) 이고 처리 가능·idle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2920" y="5302500"/>
            <a:ext cx="32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1[True] × -4.0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2920" y="5302500"/>
            <a:ext cx="11000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ctr"/>
            <a:r>
              <a:rPr sz="869" b="1">
                <a:solidFill>
                  <a:srgbClr val="B07A2E"/>
                </a:solidFill>
                <a:latin typeface="맑은 고딕"/>
              </a:rPr>
              <a:t>-4.0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920" y="5302500"/>
            <a:ext cx="3401400" cy="9975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algn="l"/>
            <a:r>
              <a:rPr sz="869" b="0">
                <a:solidFill>
                  <a:srgbClr val="B07A2E"/>
                </a:solidFill>
                <a:latin typeface="맑은 고딕"/>
              </a:rPr>
              <a:t>전용 설비가 노는데 범용 설비가 가로챔 → 페널티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r"/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