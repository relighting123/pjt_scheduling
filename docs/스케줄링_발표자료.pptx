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생산 수량 (개, 최대 24)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 수량</c:v>
                </c:pt>
              </c:strCache>
            </c:strRef>
          </c:tx>
          <c:dPt>
            <c:idx val="0"/>
            <c:spPr>
              <a:solidFill>
                <a:srgbClr val="C28A8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전환 횟수 (회, 낮을수록 우수)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전환 횟수</c:v>
                </c:pt>
              </c:strCache>
            </c:strRef>
          </c:tx>
          <c:dPt>
            <c:idx val="0"/>
            <c:spPr>
              <a:solidFill>
                <a:srgbClr val="B33A3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B3255"/>
                </a:solidFill>
                <a:latin typeface="맑은 고딕"/>
              </a:defRPr>
            </a:pPr>
            <a:r>
              <a:t>8종 종합 — 생산률 · 평균 가동률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생산률(%)</c:v>
                </c:pt>
              </c:strCache>
            </c:strRef>
          </c:tx>
          <c:spPr>
            <a:solidFill>
              <a:srgbClr val="2E6FB0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67.8</c:v>
                </c:pt>
                <c:pt idx="1">
                  <c:v>80.8</c:v>
                </c:pt>
                <c:pt idx="2">
                  <c:v>93.8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평균 가동률(%)</c:v>
                </c:pt>
              </c:strCache>
            </c:strRef>
          </c:tx>
          <c:spPr>
            <a:solidFill>
              <a:srgbClr val="4A6D8C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57.1</c:v>
                </c:pt>
                <c:pt idx="1">
                  <c:v>71.1</c:v>
                </c:pt>
                <c:pt idx="2">
                  <c:v>81.3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맑은 고딕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6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109728" cy="1554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1440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설비 스케줄링 · 강화학습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1417320"/>
            <a:ext cx="84124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Bulk-Fill 강화학습 기반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반도체 설비 스케줄링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3611880"/>
            <a:ext cx="4754880" cy="18288"/>
          </a:xfrm>
          <a:prstGeom prst="rect">
            <a:avLst/>
          </a:prstGeom>
          <a:solidFill>
            <a:srgbClr val="3A5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8686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MDP 모델 정의(State · Action · Reward)와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테스트 데이터 기반 알고리즘 KPI 비교 · 효과성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Project  pjt_scheduling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94360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572768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문제 정의 및 시스템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965960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스케줄링 과제 · 전환 비용 · 모듈 아키텍처와 구조적 강점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Bulk-Fill MDP 모델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44952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State · Action · Reward 상세(항목별 예시) · 마스킹 · 블록 점유 메커니즘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보상 산출 로직 예시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4123944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입력 JSON · 보상 항목별 상세(8p) · 스텝별 SAR · 누적 간트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09744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알고리즘 KPI 비교 및 효과성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5202936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테스트 데이터 기반 정량 비교 · 학습 모델 효과 입증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스케줄링 과제와 전환(Conversion)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2A33"/>
                </a:solidFill>
                <a:latin typeface="맑은 고딕"/>
              </a:rPr>
              <a:t>설비가 유휴 상태가 될 때마다 </a:t>
            </a:r>
            <a:r>
              <a:rPr sz="1400" b="1">
                <a:solidFill>
                  <a:srgbClr val="1B3255"/>
                </a:solidFill>
                <a:latin typeface="맑은 고딕"/>
              </a:rPr>
              <a:t>어떤 제품·공정(PPK·OPER)을 투입할지</a:t>
            </a:r>
            <a:r>
              <a:rPr sz="1400" b="0">
                <a:solidFill>
                  <a:srgbClr val="222A33"/>
                </a:solidFill>
                <a:latin typeface="맑은 고딕"/>
              </a:rPr>
              <a:t> 결정하는 순차적 의사결정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514600"/>
            <a:ext cx="525780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4846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제품 전환마다 셋업 손실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LOT_CD/TEMP가 바뀌면 전환(conversion) 시간이 발생해 그만큼 가동 시간이 사라집니다.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계획·재공·설비 제약 동시 고려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계획량, 가용 재공(WIP), 설비-제품 적합성, 동시 가공 공구(tool) 한도를 함께 만족해야 합니다.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근시안적 1매 배정의 한계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유휴 설비에 1캐리어씩만 배정하면 같은 셋업을 길게 이어가지 못해 전환이 잦아집니다.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전환 비용의 정량적 의미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514600"/>
            <a:ext cx="498348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C6670"/>
                </a:solidFill>
                <a:latin typeface="맑은 고딕"/>
              </a:rPr>
              <a:t>처리시간 = 전환시간 = 60분, 가동 8시간 기준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B3255"/>
                </a:solidFill>
                <a:latin typeface="맑은 고딕"/>
              </a:rPr>
              <a:t>전환 1회  =  캐리어 1개 손실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설비당 8캐리어 처리 가능 → 전환 n회 시 (8 − n)개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250" b="1">
                <a:solidFill>
                  <a:srgbClr val="B33A3A"/>
                </a:solidFill>
                <a:latin typeface="맑은 고딕"/>
              </a:rPr>
              <a:t>생산 수량 손실로 직접 환산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되므로, 전환 최소화가 곧 처리량 극대화로 이어집니다.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100584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설계 목표  </a:t>
            </a:r>
            <a:r>
              <a:rPr sz="1350" b="0">
                <a:solidFill>
                  <a:srgbClr val="FFFFFF"/>
                </a:solidFill>
                <a:latin typeface="맑은 고딕"/>
              </a:rPr>
              <a:t>재공이 충분하면 takt에 맞춰 균등 생산하고, 편중되면 몰린 공정에 집중하되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불필요한 전환은 회피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모듈 아키텍처 — 데이터에서 추론·시각화까지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data/loader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데이터 적재·전처리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Oracle·JSON → env_data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(arrange·plan·flow·tool)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6332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9504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DES 엔진·상태/보상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LOT·EQP 규칙 배정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05755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1554480"/>
            <a:ext cx="2084831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Gym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SchedulingEnv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BulkFillEnv(마스킹)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5180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정책·휴리스틱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PPO(학습)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Min-Progress·Earliest-ST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4604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추론·결과 출력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스케줄·KPI·전환계획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output.json /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657600"/>
            <a:ext cx="11064240" cy="18288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config.py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환경 축(O·P·K)·보상 가중치·경로 설정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api ·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FastAPI + React 대시보드 · 간트/KPI 시각화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직관형 검증 데이터셋(CONV_BENCH) 생성·평가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7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7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PPO 체크포인트(rl · bulkfill 분리 저장)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074920"/>
            <a:ext cx="11064240" cy="1143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75504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설계 포인트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22976"/>
            <a:ext cx="107899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정책(RL)은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(PPK, OPER) 버킷 선택에만 집중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하고, LOT·EQP 세부 배정과 이산사건 무결성은 시뮬레이터 규칙이 보장합니다.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행동 공간을 작게 유지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해 학습이 안정적이며, 시뮬레이터·환경·정책이 느슨하게 결합되어 휴리스틱과 동일 조건에서 비교할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구조적 특징과 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이산사건 시뮬레이션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설비 배정 즉시 busy 전환·종료 이벤트로 진행하는 DES로 실제 라인 동작에 부합하는 일정·전환을 재현합니다.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벌크 점유(Bulk-Fill) 행동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정책이 (버킷 + 블록 크기)를 함께 선택해 같은 셋업으로 N캐리어를 연속 점유 → 전환 빈도를 구조적으로 억제합니다.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행동 마스킹(MaskablePPO)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유효하지 않은 (PPK·OPER)·블록 크기는 마스크로 차단해 무효 행동 탐색을 제거하고 학습 효율을 높입니다.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계획·재공 적응형 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고정 계획이 아닌 달성가능 상한(achievable) 기준 takt를 추종해 재공 한계 내에서만 페이싱합니다.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전환 비용의 정량 모델링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전환 1회=설비 가동 손실로 환산해 회피가능 전환에 추가 패널티를 부여, 불필요한 셋업 변경을 억제합니다.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동일 조건 알고리즘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PPO·휴리스틱이 같은 시뮬레이터·KPI로 평가되어 효과를 객관적으로 검증할 수 있습니다.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212080"/>
            <a:ext cx="10058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작은 행동 공간 · 마스킹 · 벌크 점유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결합해 전환을 줄이면서 계획을 추종하도록 설계했으며, 이산사건 시뮬레이터 위에서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휴리스틱과 1:1로 비교 가능한 검증 체계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갖췄습니다.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강화학습 의사결정 구조 (MDP)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매 유휴 설비 결정 시점을 1 스텝으로 보고,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상태(State) → 행동(Action) → 보상(Reward)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 순환으로 정책을 학습합니다.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3017520" cy="10515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정책 (Agent)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MaskablePPO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57400"/>
            <a:ext cx="3017520" cy="10515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환경 (Environment)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14800" y="2240280"/>
            <a:ext cx="3931920" cy="36576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행동 a : (버킷, 블록크기)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4114800" y="2743200"/>
            <a:ext cx="3931920" cy="365760"/>
          </a:xfrm>
          <a:prstGeom prst="lef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상태 s′ · 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  (관측)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1,814차원 벡터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전역 6 + 버킷 O×P×K×12 + 설비 4 + 맥락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3128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MultiDiscrete([O·P, L])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0328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투입할 (PPK·OPER) 버킷 + 블록 크기 레벨 4단계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Reward  (보상)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전환·페이싱·벌크 합산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전환 회피 + takt 추종 + 큰 블록 점유 유도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관측 공간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관측은 [0,1]로 정규화된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1,964차원 Box 벡터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입니다.  (O=3, P=10, K=5, 버킷 채널 F=13 기준)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obs_dim = 6 (전역)  +  O×P×K×13 (버킷)  +  4 (현재 설비)  +  4 (직전 맥락)  =  1,964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2606040"/>
            <a:ext cx="516636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전역 상태 (Global)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6 차원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경과시간 · 잔여 takt여유 · 재공 소진율 · 계획 달성률 · 전환대기 설비 비율 · 공구 가동률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606040"/>
            <a:ext cx="516636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버킷 특징 (Bucket)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1,950 차원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(OPER×PPK×MODEL) 격자 13채널: WIP비중·takt·ST·urgency·전환/공구·달성가능·투영커버·소진시간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25196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" y="4251960"/>
            <a:ext cx="5166360" cy="38404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432511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현재 설비 (EQP local)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432511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4 차원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72744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전환 필요 · 회피가능 α · 직전 PPK · 직전 OPER (same_setup 정렬)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425196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4251960"/>
            <a:ext cx="5166360" cy="384048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432511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직전 맥락 (Context)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432511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4 차원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72744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직전 배정의 PPK · OPER · EQP · LOT_CD (정규화 인덱스)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다음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4개 State 블록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을 항목별 상세(채널 정의·실측 산출식 값)로 설명합니다.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버킷 채널</a:t>
            </a:r>
            <a:r>
              <a:rPr sz="1250" b="0">
                <a:solidFill>
                  <a:srgbClr val="5C6670"/>
                </a:solidFill>
                <a:latin typeface="맑은 고딕"/>
              </a:rPr>
              <a:t>이 전환 회피·페이싱 판단의 근거가 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전역 상태 (Global)  (obs[0:6])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라인 전체 상황 — 시간·takt 여유·재공·계획·전환·공구를 6개 숫자로 요약합니다.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정책이 "지금 몇 시쯤인지, 얼마나 급한지"를 전역적으로 파악하게 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obs[0]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시뮬 경과 비율 (0=시작, 1=종료)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min(0/480, 1) 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54096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3054096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남은 horizon 여유 (1→여유 많음)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3054096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29584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obs[2]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29584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미배정 재공 비율 (↓=소진)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529584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05072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4005072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전체 계획 달성률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4005072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min(0/24, 1) =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480560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obs[4]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80160" y="4480560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31720" y="4480560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셋업 바꾸느라 대기 중인 설비 비율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69080" y="4480560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956048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obs[5]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80160" y="4956048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31720" y="4956048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포화 정도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69080" y="4956048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80760" y="2350008"/>
            <a:ext cx="5440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전역 모니터링 메트릭스 (인포그래픽)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0760" y="276148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1. 시뮬레이션 경과 시간 (time_norm)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min(t / sim_end, 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80760" y="303580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80760" y="3035808"/>
            <a:ext cx="2258568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92640" y="300837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65%  (t=936 / 1440)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80760" y="353872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2. 납기 시간 마진 (takt_margin)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(soft_cutoff − t) / soft_cutoff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80760" y="381304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080760" y="3813048"/>
            <a:ext cx="1216151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92640" y="378561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35%  (남은 시간 여유 35%)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80760" y="431596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3. 전체 계획 달성률 (plan_progress)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Σ완료 / Σ계획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80760" y="459028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080760" y="4590288"/>
            <a:ext cx="1911095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692640" y="456285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55%  (생산 달성 55%)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5093207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 공구 가동 사용률 (tool_util)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utilization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80760" y="5367527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080760" y="5367527"/>
            <a:ext cx="1563624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92640" y="534009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45%  (동시 점유 공구 45%)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버킷 특징 (Bucket)  (obs[6 : 6 + O×P×10 + O×P×K×3])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(OPER×PPK×모델) 격자마다 13채널 — "이 버킷을 지금 잡으면 시급·전환·중복인가"를 알려줍니다.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보상(페이싱·중복커버·전환) 판단의 근거가 되는 핵심 특징입니다.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ch0-1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wip_비중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재공이 이 버킷에 얼마나 몰려있나 (전체 대비 / 같은 제품 대비)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57576"/>
            <a:ext cx="777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ch2-3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2957576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prev/post_takt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2957576"/>
            <a:ext cx="17373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상류(이전공정)·하류(다음공정) 기준 요구 속도 — 수요 vs 설비capa 중 더 빠듯한 쪽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2957576"/>
            <a:ext cx="14630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336543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336543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self_st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336543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(PPK×OPER×MODEL) per-wafer 처리시간(정규화)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336543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715512"/>
            <a:ext cx="777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3715512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plan_urgency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3715512"/>
            <a:ext cx="17373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남은 계획 대비 시간 압박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3715512"/>
            <a:ext cx="14630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094480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80160" y="4094480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31720" y="4094480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버킷 잡으면 셋업 변경?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69080" y="4094480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473448"/>
            <a:ext cx="777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80160" y="4473448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tool_can_assign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31720" y="4473448"/>
            <a:ext cx="17373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통과 여부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69080" y="4473448"/>
            <a:ext cx="14630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852416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80160" y="4852416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achievable_ratio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331720" y="4852416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재공 한도 내 달성 가능한 상한 비율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69080" y="4852416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231384"/>
            <a:ext cx="777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80160" y="5231384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331720" y="5231384"/>
            <a:ext cx="17373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중복 커버 신호 — 클수록 다른 설비가 이미 커버 중(회피 유도)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69080" y="5231384"/>
            <a:ext cx="14630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610352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280160" y="5610352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starve_time_norm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331720" y="5610352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안전재공 소진 시간 (몇 시간 후 재공이 말라 안전재공이 사라지는지)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69080" y="5610352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80760" y="2322576"/>
            <a:ext cx="54406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버킷 (OPER × PPK × MODEL) 의사결정 흐름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80760" y="2807208"/>
            <a:ext cx="1463040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상류 공정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(prev_takt)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7635240" y="2926080"/>
            <a:ext cx="320040" cy="22860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046720" y="2743200"/>
            <a:ext cx="1645920" cy="6400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현재 버킷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(wip_비중 / urgency)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9784080" y="2926080"/>
            <a:ext cx="320040" cy="22860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195560" y="2807208"/>
            <a:ext cx="1325880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하류 공정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(post_takt)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80760" y="3584448"/>
            <a:ext cx="544068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17920" y="3694176"/>
            <a:ext cx="5166360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핵심 제약 조건 및 케이스별 산식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가공 속도(self_st)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st_per_wafer / max_st  (모델별 가공속도)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셋업 전환(needs_conversion)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[prev_lot_cd != lot_cd]  (1회당 패널티)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공구 포화(tool_can_assign)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[net capa 잔여]  (부족 시 배정 차단)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달성 목표(achievable_ratio)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min(계획, 완료+상류WIP) / 계획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안전재공 소진(starve_time_norm)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wip / (현재capa - 상류capa) / T_avail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현재 설비 (EQP local)  (obs[…+0:…+4])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지금 결정하는 그 설비의 전환·동일 셋업 맥락 4개.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회피가능 전환·same_setup 보상 학습에 직접 쓰입니다.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eqp[0]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설비가 feasible한 선택 중 셋업 변경이 필요한 게 있나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54096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3054096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전환 시 회피가능 정도 (0~1, 보상 α와 동일 개념)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3054096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29584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eqp[2]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prev_prod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29584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 직전 배정 PPK (same_setup 판단용)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529584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EQP001 prev_prod → 정규화 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05072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prev_oper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4005072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 직전 배정 OPER (same_setup 판단용)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4005072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EQP001 prev_oper → 정규화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0760" y="2350008"/>
            <a:ext cx="5440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 의사결정 시 셋업 전환 케이스 (미니 간트차트)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2807208"/>
            <a:ext cx="5440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Case A. 무변환 배정 (연속 가공 → Setup 보너스 +1.0 대상)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3081528"/>
            <a:ext cx="219456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80760" y="320040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prev_lot (LC01)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8366760" y="3200400"/>
            <a:ext cx="320040" cy="228600"/>
          </a:xfrm>
          <a:prstGeom prst="rightArrow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778240" y="3081528"/>
            <a:ext cx="2194560" cy="457200"/>
          </a:xfrm>
          <a:prstGeom prst="rect">
            <a:avLst/>
          </a:prstGeom>
          <a:solidFill>
            <a:srgbClr val="2E6FB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78240" y="320040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current_lot (LC01)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80760" y="3813048"/>
            <a:ext cx="5440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Case B. 전환 배정 (셋업 교체 발생 → Conversion 패널티 -10.0 부과)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80760" y="4087368"/>
            <a:ext cx="173736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80760" y="4206240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prev_lot (LC01)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7909560" y="4206240"/>
            <a:ext cx="182880" cy="228600"/>
          </a:xfrm>
          <a:prstGeom prst="rightArrow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183879" y="4087368"/>
            <a:ext cx="1280160" cy="457200"/>
          </a:xfrm>
          <a:prstGeom prst="rect">
            <a:avLst/>
          </a:prstGeom>
          <a:solidFill>
            <a:srgbClr val="C8861E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183879" y="4206240"/>
            <a:ext cx="1280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Conversion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9555480" y="4206240"/>
            <a:ext cx="182880" cy="228600"/>
          </a:xfrm>
          <a:prstGeom prst="rightArrow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829800" y="4087368"/>
            <a:ext cx="1554480" cy="457200"/>
          </a:xfrm>
          <a:prstGeom prst="rect">
            <a:avLst/>
          </a:prstGeom>
          <a:solidFill>
            <a:srgbClr val="4A6D8C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829800" y="4206240"/>
            <a:ext cx="15544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current_lot (LC02)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80760" y="4818888"/>
            <a:ext cx="54406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72200" y="4882896"/>
            <a:ext cx="525780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▪ needs_conversion = 1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: 직전과 다음의 LOT_CD 또는 TEMP가 다른 경우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▪ avoidable_frac (회피가능비율)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: 내 설비가 변환할 때, 동일 셋업을 이미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  가진 다른 설비들이 시간 내에 이 재공을 다 처리할 수 있는 비율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직전 맥락 (Context)  (obs[…+4:…+8])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직전 스텝에서 누가·무엇을·어느 설비에 배정했는지 정규화 인덱스 4개.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라인 전역 직전 배정 맥락.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4)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ctx[0]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last_ppk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제품 인덱스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PPK003 → 정규화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54096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last_oper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3054096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공정 인덱스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3054096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OPER001 → 정규화 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29584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ctx[2]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last_eqp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29584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설비 인덱스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529584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EQP003 → 정규화 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05072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last_lot_cd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4005072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LOT_CD (셋업 그룹)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4005072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0760" y="2350008"/>
            <a:ext cx="5440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Decision Steps 간의 Context (직전 맥락) 전이 구조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80760" y="2898648"/>
            <a:ext cx="20116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80760" y="2898648"/>
            <a:ext cx="2011680" cy="36576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80760" y="2962656"/>
            <a:ext cx="2011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Step t − 1 (직전)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72200" y="3328415"/>
            <a:ext cx="182880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의사결정 결과 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▪ EQP002 설비에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▪ PPK001 제품의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▪ OPER001 공정을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▪ LC01 셋업으로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  배정 완료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8183879" y="3858768"/>
            <a:ext cx="1325880" cy="365760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83879" y="3419856"/>
            <a:ext cx="132588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인덱스 인코딩
(Context 피처)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01200" y="2898648"/>
            <a:ext cx="19202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601200" y="2898648"/>
            <a:ext cx="192024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601200" y="2962656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Step t (현재 결정)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92640" y="3328415"/>
            <a:ext cx="173736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수신 피처 (obs) 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▪ last_ppk (ctx[0])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▪ last_oper (ctx[1])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▪ last_eqp (ctx[2])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▪ last_lot_cd (ctx[3])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→ 현재 의사결정의
  컨텍스트로 주입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80760" y="5321808"/>
            <a:ext cx="5440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72200" y="5367528"/>
            <a:ext cx="52578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의의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에이전트가 단일 설비의 상태뿐만 아니라, 직전 스텝의 라인 전역 스케줄링 결정 흐름을 학습에 반영할 수 있도록 돕습니다.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다장비 동시 비교 (t=120분, 3대 설비 실측)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같은 시각에 3대 설비가 차례로 판단을 내릴 때, 설비마다 State 값이 실제로 다르게 계산됩니다.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공통 전역값 (3대 동일)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time_norm=0.25, takt_margin=0.75, conv_idle_ratio=0.0, tool_util=0.0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8288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항목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31720" y="2176272"/>
            <a:ext cx="29260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780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EQP001  (Step 10)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8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EQP002  (Step 8)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EQP003  (Step 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배정 결정 (참고)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2542032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이번 스텝에서 고른 PPK·OPER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5780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PPK001·OPER001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8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PPK002·OPER001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8116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PPK003·OPER001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32938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31720" y="2932938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min(|lot_pool| / 초기 LOT수, 1)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6948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0.833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8116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0.792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323844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323844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min(produced / total_plan, 1)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5780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0.375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948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0.292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8116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0.333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714750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31720" y="3714750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1[feasible 중 전환 필요 버킷 존재]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5780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8116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105656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331720" y="4105656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max α over feasible 전환 버킷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5780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6948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8116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496562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prev_prod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31720" y="4496562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encode(현재 EQP.prev_prod)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6948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8116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887468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prev_oper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331720" y="4887468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encode(현재 EQP.prev_oper)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257800" y="4887468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269480" y="4887468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281160" y="4887468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5278374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reward (이 결정)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31720" y="5278374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8항목 보상 합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5278374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69480" y="5278374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281160" y="5278374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760720"/>
            <a:ext cx="11201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이 시점까지 누적 배정 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EQP001: 4건, EQP002: 3건, EQP003: 3건  — 대칭 벤치(SYM_3x3)에서 설비마다 전담 제품을 반복 배정받는 모습.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완전 해설 — MINI-A 예시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5486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34440"/>
            <a:ext cx="108813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위 값은 실제 SYM_3x3 트레이스가 아니라 산식 계산 과정을 보여주기 위한 가상 예시 데이터셋(MINI-A)입니다. 이후 슬라이드의 모든 대입 계산은 이 데이터셋을 그대로 사용합니다.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65960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설비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7400" y="1965960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EQP001: OPER001·OPER002 가능, 세팅 A, busy (free_at=320)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76856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57400" y="2276856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EQP002: OPER001·OPER002 가능, 세팅 B, idle (free_at=120) — 지금 결정 대상(current_eqp)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8775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57400" y="258775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EQP003: OPER002만 가능, 세팅 A, busy (free_at=400)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898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제품·공정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57400" y="2898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PPK001: OPER001→OPER002 (세팅 LOT_CD=A, TEMP=없음), PPK002: OPER001만 사용(계획 없음)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209543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계획/완료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57400" y="3209543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(PPK001,OPER002) 목표 60장, 완료 10장  ·  가공시간 OPER001=2분/장, OPER002=5분/장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520439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WIP(대기재공)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57400" y="3520439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(PPK001,OPER001)=140장, (PPK001,OPER002)=15장, (PPK002,OPER001)=20장 → 합계 175장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831335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배정 설비수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57400" y="3831335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OPER001=2대(EQP001,EQP002), OPER002=3대(EQP001,EQP002,EQP003)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14223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시각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57400" y="414223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t=120분, sim_end=soft_cutoff=480분 → T_avail=max(480-120,1)=360분, wf_unit=1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45312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직전 배정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57400" y="445312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EQP003이 PPK001 · OPER002 · 세팅A를 배정받음 (Context 계산 기준)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764023"/>
            <a:ext cx="1554480" cy="420624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인덱스맵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57400" y="4764023"/>
            <a:ext cx="96469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PPK{PPK002:0,PPK001:1}(P=10) · OPER{OPER001:0,OPER002:1}(O=3) · EQP{EQP001:0,EQP002:1,EQP003:2} · LOT_CD{B:0,A:1}(n_lc=2)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184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기타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57400" y="5184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lot_pool=25/초기40, tool_tracker.utilization()=0.4(가정) — 이 둘은 별도 헬퍼/클래스 내부라 예시값으로 표기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obs[0] time_norm  ·  obs[1] takt_margin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time_norm = 0.25   /   takt_margin = 0.75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sim_end과 soft_cutoff을 같은 값(480)으로 두면 takt_margin ≈ 1-time_norm 처럼 보이지만, 두 값이 실제로 다르면(예: sim_end=600) 이 관계는 깨진다 — 서로 다른 변수임에 유의.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2002536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입력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current_time=120, sim_end=480, soft_cutoff=480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3307080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time_norm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min(120/480, 1) = 0.25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4611624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takt_margin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min(max(480-120,0)/480, 1) = 0.75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874519"/>
            <a:ext cx="5166360" cy="209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time_norm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min(120/480, 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113727"/>
            <a:ext cx="3203143" cy="1495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113727"/>
            <a:ext cx="800785" cy="149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077151"/>
            <a:ext cx="1798624" cy="222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64308"/>
            <a:ext cx="5166360" cy="209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takt_margin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min(max(480-120,0)/480, 1)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2703515"/>
            <a:ext cx="3203143" cy="1495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2703515"/>
            <a:ext cx="2402357" cy="149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50247" y="2666939"/>
            <a:ext cx="1798624" cy="222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obs[2] remaining_lots  ·  obs[3] plan_progress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remaining_lots = 0.625   /   plan_progress = 0.1667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produced는 '이 (ppk,op) 하나'가 아니라 전체 completed_qty 합 — 계획이 하나뿐인 MINI-A에선 결과가 같다.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2002536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입력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lot_pool=25, initial_lot_count=40
produced=10, total_plan=60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3307080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remaining_lots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min(25/40, 1) = 0.625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4611624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plan_progress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min(10/60, 1) = 0.1667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874519"/>
            <a:ext cx="5166360" cy="209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remaining_lots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min(25/40, 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113727"/>
            <a:ext cx="3203143" cy="1495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113727"/>
            <a:ext cx="2001964" cy="149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077151"/>
            <a:ext cx="1798624" cy="222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0.625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64308"/>
            <a:ext cx="5166360" cy="209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plan_progress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min(10/60, 1)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2703515"/>
            <a:ext cx="3203143" cy="1495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2703515"/>
            <a:ext cx="533963" cy="149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50247" y="2666939"/>
            <a:ext cx="1798624" cy="222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0.167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obs[4] conv_idle_ratio  ·  obs[5] tool_util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conv_idle_ratio = 0.0   /   tool_util = 0.4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rem&gt;0 조건 때문에 '방금 막 idle된' 설비는 카운트되지 않는다 — 진짜 전환 buffer 중인 설비만 잡음.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2002536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설비 순회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각 설비의 status·free_at·prev_lot_cd 확인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2980944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조건 판정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rem=max(free_at-t,0)&gt;0 &amp; idle &amp; prev_lot_cd존재 → 카운트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3959351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conv_idle_ratio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conv_eqps/n_eqp = 0/3 = 0.0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4937759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tool_util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tool_tracker.utilization() = 0.4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conv_idle_ratio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0/3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86147"/>
            <a:ext cx="18288" cy="18288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49571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5C6670"/>
                </a:solidFill>
                <a:latin typeface="맑은 고딕"/>
              </a:rPr>
              <a:t>0.00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615184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tool_util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min(0.4, 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926811"/>
            <a:ext cx="1281257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89023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0.40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ch0 wip_ratio_total  ·  ch1 wip_ratio_ppk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ch0 = 0.0857   /   ch1 = 0.0968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53612"/>
            <a:ext cx="5440680" cy="20985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분모가 다르다: ch0은 '팹 전체 WIP', ch1은 '같은 PPK001 안에서의 WIP' — 같은 wip_q라도 두 관점을 동시에 준다.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2002536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 집계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(ppk,op)별 wip_po, ppk별 ppk_wip, 전체 total_wip 누적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2980944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분모 산출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total_wip=175, ppk_total(PPK001)=155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3959351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wip_ratio_total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wip_q/total_wip = 15/175 = 0.0857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4937759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wip_ratio_ppk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wip_q/ppk_total = 15/155 = 0.0968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33045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40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wip_ratio_total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15/175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49937"/>
            <a:ext cx="3203143" cy="172135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49937"/>
            <a:ext cx="274509" cy="172135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13361"/>
            <a:ext cx="1798624" cy="245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0.086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539746"/>
            <a:ext cx="5166360" cy="240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wip_ratio_ppk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15/155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815163"/>
            <a:ext cx="3203143" cy="172135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815163"/>
            <a:ext cx="310064" cy="172135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778587"/>
            <a:ext cx="1798624" cy="245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0.097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ch2 prev_takt  ·  ch3 post_takt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OPER001 vs OPER002 버킷 비교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82676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82676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OPER001버킷: prev=0.0, post=0.02   /   OPER002버킷: prev=0.0028, post=0.0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357116"/>
            <a:ext cx="5440680" cy="1495043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eff_takt는 '계획을 맞추려면 허용되는 로트당 간격' — 클수록 여유(천천히 만들어도 됨). OPER002(=7.2)가 OPER001(=1)보다 훨씬 여유롭다는 게 OPER001버킷의 post_takt(0.02)로 드러난다.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2002536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eff_takt 정의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cap_takt(설비capa)와 demand_takt(계획요구) 중 max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2980944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인접 공정 산출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eff_takt(OPER001)=1 / eff_takt(OPER002)=7.2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3959351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정규화 기준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max_takt = T_avail×wf_unit = 360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4937759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prev/post_takt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인접 공정 eff_takt / max_takt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93395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92807"/>
            <a:ext cx="5166360" cy="2978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eff_takt 비교 (여유도, 클수록 느긋)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2218069"/>
            <a:ext cx="1549908" cy="369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OPER001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950708" y="2320376"/>
            <a:ext cx="25831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950708" y="2320376"/>
            <a:ext cx="358775" cy="1645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607040" y="2218069"/>
            <a:ext cx="941831" cy="369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4A6D8C"/>
                </a:solidFill>
                <a:latin typeface="맑은 고딕"/>
              </a:rPr>
              <a:t>1분/carrier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2587276"/>
            <a:ext cx="1549908" cy="369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OPER002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50708" y="2689584"/>
            <a:ext cx="25831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950708" y="2689584"/>
            <a:ext cx="2583180" cy="1645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607040" y="2587276"/>
            <a:ext cx="941831" cy="369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2E6FB0"/>
                </a:solidFill>
                <a:latin typeface="맑은 고딕"/>
              </a:rPr>
              <a:t>7.2분/carrier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2974771"/>
            <a:ext cx="2510028" cy="734903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92240" y="3020491"/>
            <a:ext cx="2327148" cy="3307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1B3255"/>
                </a:solidFill>
                <a:latin typeface="맑은 고딕"/>
              </a:rPr>
              <a:t>OPER001버킷 post_takt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  = eff_takt(OPER002)/360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3305478"/>
            <a:ext cx="2327148" cy="3674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6FB0"/>
                </a:solidFill>
                <a:latin typeface="맑은 고딕"/>
              </a:rPr>
              <a:t>0.02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057132" y="2974771"/>
            <a:ext cx="2510028" cy="734903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148572" y="3020491"/>
            <a:ext cx="2327148" cy="3307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1B3255"/>
                </a:solidFill>
                <a:latin typeface="맑은 고딕"/>
              </a:rPr>
              <a:t>OPER002버킷 prev_takt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  = eff_takt(OPER001)/360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8572" y="3305478"/>
            <a:ext cx="2327148" cy="3674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A6D8C"/>
                </a:solidFill>
                <a:latin typeface="맑은 고딕"/>
              </a:rPr>
              <a:t>0.0028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ch4 self_st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self_st (ch4)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예시에서 OPER002가 가장 느린 공정이라 정규화 최댓값과 같아져 1.0 — 극단값 예시.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2002536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가공 속도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st_per_wafer(PPK001,OPER002,M1) = 5분/장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3307080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정규화 기준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max_arrange_st = 전체 (ppk,op,model) 중 최댓값 = 5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4611624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self_st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5 / 5 = 1.0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911095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self_st (ch4)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5분/장 ÷ max_arrange_st(5)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313432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1.00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ch5 plan_urgency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plan_urgency (ch5) = 0.0023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T_avail이 분모라서, 시간이 줄면(예: T_avail=30) 같은 gap=50이어도 urgency=min((50/30)/60,1)=0.0278로 12배 뜀.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2002536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잔여량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plan_qty=60, completed=10 → gap=50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3307080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시간 압박 산출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min( (gap/T_avail) / plan_qty, 1 )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4611624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plan_urgency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min((50/360)/60, 1) = 0.0023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911095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plan_urgency (ch5)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min((50/360)/60, 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350008"/>
            <a:ext cx="18288" cy="182880"/>
          </a:xfrm>
          <a:prstGeom prst="rect">
            <a:avLst/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313432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C8861E"/>
                </a:solidFill>
                <a:latin typeface="맑은 고딕"/>
              </a:rPr>
              <a:t>0.0023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ch6 wip_lot_cd  ·  ch7 wip_temp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wip_lot_cd (ch6) = 1.0   /   wip_temp (ch7) = 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ch7의 0.0은 'TEMP 조건이 아예 없다'는 뜻이지, 오류나 결측이 아니다 — encode_normalized(None,...)의 정상 동작.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2002536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버킷 속성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lc="A", tp=None (이 버킷의 셋업 코드)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3307080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lot_cd 인코딩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n_lc=2 → encode(A) = 1/(2-1) = 1.0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4611624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temp 인코딩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n_tp=1(미사용) → encode(None) =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874519"/>
            <a:ext cx="516636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wip_lot_cd (ch6)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1/(2-1)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093975"/>
            <a:ext cx="3203143" cy="13716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093975"/>
            <a:ext cx="3203143" cy="1371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057399"/>
            <a:ext cx="1798624" cy="210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1.00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23160"/>
            <a:ext cx="516636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wip_temp (ch7)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encode(None) → 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2642615"/>
            <a:ext cx="3203143" cy="13716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2642615"/>
            <a:ext cx="18288" cy="13716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50247" y="2606039"/>
            <a:ext cx="1798624" cy="210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5C6670"/>
                </a:solidFill>
                <a:latin typeface="맑은 고딕"/>
              </a:rPr>
              <a:t>0.00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ch8 needs_conversion  ·  ch9 tool_can_assign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current_eqp=EQP002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(ch8) = 1.0   /   tool_can_assign (ch9)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두 채널은 current_eqp가 속한 (op,model) 한 칸에만 기록되고, 나머지 칸은 0으로 남는다.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2002536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소속 판정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current_eqp가 (op,model) 그룹에 속하는지 확인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2980944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전환 필요 판정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would_need_conversion(EQP002,"A",None) = True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3959351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needs_conversion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ch8 = 1.0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4937759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공구 배정 판정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not needs_tool_swap 또는 can_assign → ch9 = 1.0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needs_conversion (ch8)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would_need_conversion → True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49571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B33A3A"/>
                </a:solidFill>
                <a:latin typeface="맑은 고딕"/>
              </a:rPr>
              <a:t>YES (1.0)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615184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tool_can_assign (ch9)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not swap 또는 can_assign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89023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7D4F"/>
                </a:solidFill>
                <a:latin typeface="맑은 고딕"/>
              </a:rPr>
              <a:t>YES (1.0)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ch10 achievable_ratio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achievable_ratio (ch10)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상류 재공(140장)이 충분해서 achievable이 plan_qty(60)에 그대로 캡핑됨 — 재공 부족 걱정이 없는 상태.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2002536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도달 가능량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reachable = 자기WIP(15) + 상류WIP(140) = 155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3307080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상한 계산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min(plan_qty, done+reachable) = min(60,165) = 60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4611624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achievable_ratio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min(60/60, 1) = 1.0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911095"/>
            <a:ext cx="5166360" cy="418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achievable_ratio (ch10)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min(60/60, 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389510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389510"/>
            <a:ext cx="3203143" cy="18288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352934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7D4F"/>
                </a:solidFill>
                <a:latin typeface="맑은 고딕"/>
              </a:rPr>
              <a:t>1.00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ch11 projected_cover_ratio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977639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977639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projected_cover_ratio (ch11) = 0.72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507992"/>
            <a:ext cx="5440680" cy="1344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_bucket_projected_cover는 설비의 '지금 busy 여부'를 빼지 않는다(반면 avoidable_frac의 alt_cap 계산은 뺀다) — 같은 '다른 설비 capa' 개념이라도 두 함수가 정밀도가 다르다는 점이 이 코드베이스의 흥미로운 디테일.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2002536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필요량 산출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need = max(achievable_qty-done, 1) = max(60-10,1) = 50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2980944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타 설비 탐색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동일 세팅(prev_prod/oper 일치) 설비 탐색 → EQP003 매칭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3959351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커버량 산출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EQP003 기여 = remaining/st = 360/5 = 72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4937759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projected_cover_ratio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min(72/50, 2)/2 = 0.72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2084831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92807"/>
            <a:ext cx="5166360" cy="3035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필요량 vs 커버량 (매)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2223791"/>
            <a:ext cx="1549908" cy="3765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필요량 need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950708" y="2329777"/>
            <a:ext cx="25831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950708" y="2329777"/>
            <a:ext cx="1793875" cy="1645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607040" y="2223791"/>
            <a:ext cx="941831" cy="3765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4A6D8C"/>
                </a:solidFill>
                <a:latin typeface="맑은 고딕"/>
              </a:rPr>
              <a:t>50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2600355"/>
            <a:ext cx="1549908" cy="3765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커버량 cov (EQP003)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50708" y="2706341"/>
            <a:ext cx="25831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950708" y="2706341"/>
            <a:ext cx="2583180" cy="1645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607040" y="2600355"/>
            <a:ext cx="941831" cy="3765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2E6FB0"/>
                </a:solidFill>
                <a:latin typeface="맑은 고딕"/>
              </a:rPr>
              <a:t>72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2995208"/>
            <a:ext cx="5166360" cy="3502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projected_cover_ratio (ch11)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min(72/50, 2)/2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00800" y="3395495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400800" y="3395495"/>
            <a:ext cx="2306263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50247" y="3358919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0.72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ch12 starve_time_norm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starve_time_norm (ch12)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53612"/>
            <a:ext cx="5440680" cy="20985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공정(OPER002)은 공급 속도가 소비 속도보다 빨라 재공이 마르지 않기 때문에 소진 시간 비율이 최댓값인 1.0이 된다.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2002536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소비 속도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consume_rate = Σ(1/st) 현재공정 설비 = 3×(1/5) = 0.6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3307080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공급 속도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supply_rate = Σ(1/st) 선행공정 설비 = 2×(1/2) = 1.0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4611624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비교·결과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consume(0.6) ≤ supply(1.0) → starve_time_norm = 1.0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33045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892807"/>
            <a:ext cx="5166360" cy="1937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소비 속도 vs 공급 속도 (매/분)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2113953"/>
            <a:ext cx="1549908" cy="235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consume_rate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50708" y="2166906"/>
            <a:ext cx="2583180" cy="129439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50708" y="2166906"/>
            <a:ext cx="1549908" cy="129439"/>
          </a:xfrm>
          <a:prstGeom prst="rect">
            <a:avLst/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07040" y="2113953"/>
            <a:ext cx="941831" cy="235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C8861E"/>
                </a:solidFill>
                <a:latin typeface="맑은 고딕"/>
              </a:rPr>
              <a:t>0.6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2349298"/>
            <a:ext cx="1549908" cy="235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supply_rate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950708" y="2402250"/>
            <a:ext cx="2583180" cy="129439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950708" y="2402250"/>
            <a:ext cx="2583180" cy="129439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607040" y="2349298"/>
            <a:ext cx="941831" cy="235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2E7D4F"/>
                </a:solidFill>
                <a:latin typeface="맑은 고딕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602931"/>
            <a:ext cx="5166360" cy="2235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starve_time_norm (ch12)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supply ≥ consume → 1.0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858377"/>
            <a:ext cx="3203143" cy="15965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858377"/>
            <a:ext cx="3203143" cy="15965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821801"/>
            <a:ext cx="1798624" cy="2328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7D4F"/>
                </a:solidFill>
                <a:latin typeface="맑은 고딕"/>
              </a:rPr>
              <a:t>1.00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eqp[0~1] needs_conversion · avoidable_frac  ·  eqp[2~3] prev_prod · prev_oper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현재 설비 (EQP local) — current_eqp=EQP002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needs_conversion=1.0 / avoidable_frac=0.619 / prev_prod=0.0 / prev_oper=0.0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prev_prod/prev_oper는 same_setup 보상(현재 EQP 기준)과 정렬 — 구 ch5 same_ppk(전역) 대체.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2002536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직전 배정 인코딩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prev_prod=PPK002→0.0, prev_oper=OPER001→0.0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2980944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feasible 순회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(PPK001,OPER002) 조합에서 전환 필요 발견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3959351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needs_conversion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eqp[0] = 1.0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4937759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avoidable_frac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최댓값 갱신 → eqp[1] = 0.619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37943"/>
            <a:ext cx="5166360" cy="921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needs_conversion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would_need_conversion → True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1943282"/>
            <a:ext cx="3203143" cy="658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1943282"/>
            <a:ext cx="3203143" cy="65836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1906706"/>
            <a:ext cx="1798624" cy="1389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B33A3A"/>
                </a:solidFill>
                <a:latin typeface="맑은 고딕"/>
              </a:rPr>
              <a:t>YES (1.0)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112264"/>
            <a:ext cx="5166360" cy="921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avoidable_frac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max_avoidable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217602"/>
            <a:ext cx="3203143" cy="658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217602"/>
            <a:ext cx="1982745" cy="65836"/>
          </a:xfrm>
          <a:prstGeom prst="rect">
            <a:avLst/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181026"/>
            <a:ext cx="1798624" cy="1389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C8861E"/>
                </a:solidFill>
                <a:latin typeface="맑은 고딕"/>
              </a:rPr>
              <a:t>0.619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2386584"/>
            <a:ext cx="5166360" cy="921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prev_prod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encode(PPK002)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2491922"/>
            <a:ext cx="3203143" cy="658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400800" y="2491922"/>
            <a:ext cx="18288" cy="65836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50247" y="2455346"/>
            <a:ext cx="1798624" cy="1389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5C6670"/>
                </a:solidFill>
                <a:latin typeface="맑은 고딕"/>
              </a:rPr>
              <a:t>0.00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2660903"/>
            <a:ext cx="5166360" cy="921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prev_oper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encode(OPER001)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0" y="2766242"/>
            <a:ext cx="3203143" cy="658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400800" y="2766242"/>
            <a:ext cx="18288" cy="65836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750247" y="2729666"/>
            <a:ext cx="1798624" cy="1389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5C6670"/>
                </a:solidFill>
                <a:latin typeface="맑은 고딕"/>
              </a:rPr>
              <a:t>0.00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eqp[1] avoidable_frac (α)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현재 설비 (EQP local) — avoidable_frac 상세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(eqp[0]) = 1.0   /   avoidable_frac (eqp[1]) = 0.619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111496"/>
            <a:ext cx="5440680" cy="7406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α=0.619 → 이 전환의 62%는 다른 설비가 대신 커버 가능했다는 뜻 → 실제로 전환을 감행하면 avoidable_conversion = -8.0×0.619 ≈ -4.95 페널티.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133295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133295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2002536"/>
            <a:ext cx="4608576" cy="535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수요 산출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demand = 세팅A 공유 ready WIP = 140+15 = 155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704088" y="2602382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291602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291602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730398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2785262"/>
            <a:ext cx="4608576" cy="535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대체 capa 산출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alt_cap = EQP001(80) + EQP003(16) = 96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704088" y="3385108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513124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3567988"/>
            <a:ext cx="4608576" cy="535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coverage_frac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min(96/155, 1) = 0.619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704088" y="4167835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448147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448147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295851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4350715"/>
            <a:ext cx="4608576" cy="535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short_run_frac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여유 충분 → 0</a:t>
            </a:r>
          </a:p>
        </p:txBody>
      </p:sp>
      <p:sp>
        <p:nvSpPr>
          <p:cNvPr id="41" name="Down Arrow 40"/>
          <p:cNvSpPr/>
          <p:nvPr/>
        </p:nvSpPr>
        <p:spPr>
          <a:xfrm>
            <a:off x="704088" y="495056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30936" y="5264200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" y="5264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3271" y="5078577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5133441"/>
            <a:ext cx="4608576" cy="535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α (avoidable_frac)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max(0.619, 0) = 0.619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63640" y="1819656"/>
            <a:ext cx="5440680" cy="268833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1892807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수요 vs 대체 capa (매)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2236388"/>
            <a:ext cx="1549908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demand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50708" y="2350472"/>
            <a:ext cx="25831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50708" y="2350472"/>
            <a:ext cx="2583180" cy="1645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607040" y="2236388"/>
            <a:ext cx="941831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4A6D8C"/>
                </a:solidFill>
                <a:latin typeface="맑은 고딕"/>
              </a:rPr>
              <a:t>155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2629148"/>
            <a:ext cx="1549908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alt_cap (EQP001+EQP003)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50708" y="2743232"/>
            <a:ext cx="25831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950708" y="2743232"/>
            <a:ext cx="1599905" cy="1645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07040" y="2629148"/>
            <a:ext cx="941831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2E6FB0"/>
                </a:solidFill>
                <a:latin typeface="맑은 고딕"/>
              </a:rPr>
              <a:t>96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0" y="3021909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coverage_frac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min(96/155, 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800" y="338322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400800" y="3383221"/>
            <a:ext cx="1982745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50247" y="334664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0.619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0" y="3811219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α = avoidable_frac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max(0.619, short_run_frac=0)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0" y="417253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400800" y="4172531"/>
            <a:ext cx="1982745" cy="182880"/>
          </a:xfrm>
          <a:prstGeom prst="rect">
            <a:avLst/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50247" y="413595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C8861E"/>
                </a:solidFill>
                <a:latin typeface="맑은 고딕"/>
              </a:rPr>
              <a:t>0.619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ctx[0~3] last_ppk · last_oper · last_eqp · last_lot_cd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직전 맥락 (Context) — 직전 배정: EQP003 → PPK001/OPER002/세팅A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last_ppk=0.111 / last_oper=0.5 / last_eqp=1.0 / last_lot_cd=1.0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oper_guess는 lot_id로 원본 lots 테이블을 뒤져서 찾는다 — 못 찾으면 None → encode 결과 0.0으로 빠진다.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2002536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직전 배정 조회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last_assigned = {PPK001, LOT099, EQP003, "A"}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2980944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oper 역추적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lot_id로 lots 테이블 조회 → OPER002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3959351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last_ppk / last_oper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encode_normalized → 0.111 / 0.5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4937759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last_eqp / last_lot_cd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encode_normalized → 1.0 / 1.0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37943"/>
            <a:ext cx="5166360" cy="132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last_ppk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encode(PPK001) 1/(10-1)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1989368"/>
            <a:ext cx="3203143" cy="9464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1989368"/>
            <a:ext cx="355548" cy="9464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1952792"/>
            <a:ext cx="1798624" cy="167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0.111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208276"/>
            <a:ext cx="5166360" cy="132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last_oper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encode(OPER002) 1/(3-1)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359700"/>
            <a:ext cx="3203143" cy="9464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359700"/>
            <a:ext cx="1601571" cy="9464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323124"/>
            <a:ext cx="1798624" cy="167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2578608"/>
            <a:ext cx="5166360" cy="132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last_eqp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encode(EQP003) 2/(3-1)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2730032"/>
            <a:ext cx="3203143" cy="9464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400800" y="2730032"/>
            <a:ext cx="3203143" cy="9464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50247" y="2693456"/>
            <a:ext cx="1798624" cy="167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1.00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2948940"/>
            <a:ext cx="5166360" cy="132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last_lot_cd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encode(A) 1/(2-1)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0" y="3100364"/>
            <a:ext cx="3203143" cy="9464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400800" y="3100364"/>
            <a:ext cx="3203143" cy="9464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750247" y="3063788"/>
            <a:ext cx="1798624" cy="167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1.00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Action — 행동 공간과 블록 점유 메커니즘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212848"/>
            <a:ext cx="105156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21284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action = MultiDiscrete( [ O×P 버킷 ,  L 블록크기 레벨 ]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807208"/>
            <a:ext cx="5212080" cy="9601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898648"/>
            <a:ext cx="4846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① 버킷 선택 (O×P)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191256"/>
            <a:ext cx="489204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투입할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(PPK·OPER) 조합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을 선택합니다. LOT과 EQP는 우선순위 규칙으로 자동 배정되어 행동 차원을 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807208"/>
            <a:ext cx="5212080" cy="9601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898648"/>
            <a:ext cx="4846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② 블록 크기 레벨 (L=4)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191256"/>
            <a:ext cx="489204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같은 셋업으로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연속 점유할 캐리어 수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를 takt 예산 분율로 결정합니다. 레벨↑ → 더 큰 블록.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904487"/>
            <a:ext cx="105156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904487"/>
            <a:ext cx="105156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블록 점유(Masked Replay) 동작 순서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버킷·크기 선택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산출, 1캐리어 배정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 = N−1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28416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5888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같은 설비의 다음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결정은 같은 버킷으로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강제(마스킹) 재생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98464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45936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종료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remaining=0 또는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재공·계획·공구 소진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블록 해제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668512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33104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2912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상한 규칙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≤ min(takt예산,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가용 WIP, 잔여 계획)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공구는 매 캐리어 검사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870448"/>
            <a:ext cx="105156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효과 </a:t>
            </a:r>
            <a:r>
              <a:rPr sz="1230" b="0">
                <a:solidFill>
                  <a:srgbClr val="222A33"/>
                </a:solidFill>
                <a:latin typeface="맑은 고딕"/>
              </a:rPr>
              <a:t>이산사건 무결성을 깨지 않으면서도 한 번의 결정으로 "같은 셋업 N캐리어 연속"을 실현 → 전환 횟수를 근본적으로 감소</a:t>
            </a:r>
          </a:p>
        </p:txBody>
      </p:sp>
      <p:sp>
        <p:nvSpPr>
          <p:cNvPr id="4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한 번의 결정으로 버킷(무엇을)과 블록크기(몇 개 연속)를 함께 고릅니다.</a:t>
            </a:r>
          </a:p>
        </p:txBody>
      </p:sp>
      <p:sp>
        <p:nvSpPr>
          <p:cNvPr id="43" name="Rectangle 12"/>
          <p:cNvSpPr/>
          <p:nvPr/>
        </p:nvSpPr>
        <p:spPr>
          <a:xfrm>
            <a:off x="6199632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13"/>
          <p:cNvSpPr/>
          <p:nvPr/>
        </p:nvSpPr>
        <p:spPr>
          <a:xfrm>
            <a:off x="6199632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행동 차원을 줄이면서 같은 셋업을 크게 묶어 전환 횟수를 근본적으로 줄입니다.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Reward — 보상 항목과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스텝마다 8개 보상 항목의 가중합을 계산해 ±10으로 클리핑합니다.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무엇이 좋고 나쁜 행동인지 정책이 정량적으로 학습하도록 인센티브를 설계합니다.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3977639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2267712"/>
            <a:ext cx="37947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맑은 고딕"/>
              </a:rPr>
              <a:t>보상 항목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2212848"/>
            <a:ext cx="105156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2267712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가중치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624327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전환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w_conversion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셋업(LOT_CD/TEMP) 변경마다 부과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59" y="2578608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59" y="2697479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63239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3108959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회피가능 전환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w_avoidable_conversion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다른 무전환 설비가 커버 가능한 전환에 추가 부과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59" y="3063239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59" y="3182111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47872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3593591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페이싱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w_pacing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달성가능 상한 기준 takt에 가까울수록 +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59" y="3547872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59" y="366674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32504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" y="4078224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동일 셋업 연속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w_same_setup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직전과 제품·공정 동일 + 재공 잔존 시 +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80559" y="4032504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0559" y="4151376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517136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2648" y="4562855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블록 크기 보너스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w_bulk_block_bonus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큰 블록으로 커밋할수록 + (takt예산 대비)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559" y="4517136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80559" y="4636007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001768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" y="5047488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전용 오용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w_dedication_misuse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전용 설비가 유휴인데 범용 설비가 대신 잡으면 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80559" y="5001768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80559" y="51206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486400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2648" y="5532120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중복 커버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w_redundant_cover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이미 충분히 커버된 버킷을 또 잡으면 −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80559" y="5486400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80559" y="5605272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80760" y="2322576"/>
            <a:ext cx="54406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B3255"/>
                </a:solidFill>
                <a:latin typeface="맑은 고딕"/>
              </a:rPr>
              <a:t>보상 가중치 비교 (인포그래픽)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57032" y="2651760"/>
            <a:ext cx="54864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5C6670"/>
                </a:solidFill>
                <a:latin typeface="맑은 고딕"/>
              </a:rPr>
              <a:t>-10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83980" y="2651760"/>
            <a:ext cx="36576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6920" y="2651760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0">
                <a:solidFill>
                  <a:srgbClr val="5C6670"/>
                </a:solidFill>
                <a:latin typeface="맑은 고딕"/>
              </a:rPr>
              <a:t>+10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0760" y="281635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전환 패널티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75320" y="2935224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111996" y="2889504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275320" y="2935224"/>
            <a:ext cx="845820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835640" y="28437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32689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75320" y="3387852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111996" y="334213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444484" y="3387852"/>
            <a:ext cx="676656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835640" y="32964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80760" y="3721608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75320" y="3840480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111996" y="3794760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121140" y="3840480"/>
            <a:ext cx="211455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835640" y="37490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80760" y="4174235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동일 셋업 연속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275320" y="4293107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111996" y="4247388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121140" y="4293107"/>
            <a:ext cx="84582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835640" y="42016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80760" y="462686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블록 크기 보너스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275320" y="4745736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111996" y="4700016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121140" y="4745736"/>
            <a:ext cx="253745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835640" y="46542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80760" y="507949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전용 오용 패널티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75320" y="5198364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11996" y="5152644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782812" y="5198364"/>
            <a:ext cx="338328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835640" y="510692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80760" y="553212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중복 커버 패널티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275320" y="5650992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111996" y="56052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698230" y="5650992"/>
            <a:ext cx="422910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835640" y="55595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입력 데이터 형태 (JSON)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Oracle 또는 샘플 생성기가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data/dataset/{FAC}/{split}/{RULE_TIMEKEY}/input/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 경로에 아래 JSON을 적재합니다.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292608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파일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40" y="1783080"/>
            <a:ext cx="5943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필수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69951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주요 필드 (행 단위)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discrete_arrange.json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2203704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203704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EQP_ID, LOT_ID, PLAN_PROD_ATTR_VAL, OPER_ID, ST, EQP_MODEL_CD, WF_QTY, CARRIER_ID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862072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plan.json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862072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862072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D0_PLAN_QTY, D1_PLAN_QTY, PLAN_PRIORITY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520439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flow.json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40" y="3520439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520439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OPER_SEQ, OPER_ID  (공정 순서)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78807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abstract_arrange.json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40" y="4178807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178807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EQP_MODEL_CD, PLAN_PROD_ATTR_VAL, OPER_ID, ST  (모델-제품 적합성)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37175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lot_master.json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837175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4837175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LOT_ID, LOT_CD, TEMP  (전환 그룹 판별)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95543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tool_capacity.json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40" y="5495543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5495543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LOT_CD, TEMP, MAX_TOOL  (동시 가공 공구 한도)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6153911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batch_info.json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6153911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6153911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LOT_CD, TEMP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4892040"/>
            <a:ext cx="507492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discrete_arrange 예시 (1행)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94960"/>
            <a:ext cx="48006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{"EQP_ID":"EQP001","LOT_ID":"LOT001",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"PLAN_PROD_ATTR_VAL":"PPK001","OPER_ID":"OPER001",</a:t>
            </a:r>
            <a:r>
              <a:rPr sz="950" b="1">
                <a:solidFill>
                  <a:srgbClr val="1B3255"/>
                </a:solidFill>
                <a:latin typeface="맑은 고딕"/>
              </a:rPr>
              <a:t>"ST":60,"EQP_MODEL_CD":"A","WF_QTY":1}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4892040"/>
            <a:ext cx="525780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preprocess() 이후 env_data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394960"/>
            <a:ext cx="49834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sim_base_time · sim_end_minutes(1440)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eqp_ids · prod_keys · oper_ids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lots · plan · flow · proc_time_matrix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→ 시뮬레이터·Gym 환경이 공유하는 내부 상태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 보상 수식 — 항목별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r_t = clip( Σ 보상항 , ±10 )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48840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21992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  +w_same_setup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21992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직전과 제품·공정 동일 &amp; 재공 잔존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2221992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624328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697480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  w_pacing·Δ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697480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(|ideal−eff_before| − |ideal−eff_after|) / 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697480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099816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172968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  w_plan_hit·Δ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172968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(gap_before − gap_after) /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3172968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575304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648456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  w_bulk·min(N/예산,1)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648456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블록 시작 시에만 (Bulk-Fill)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648456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050791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123944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전환  w_conversion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123944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LOT_CD/TEMP 셋업 변경 1회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4123944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526279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599431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회피가능 전환  w_avoid·α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599431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다른 무전환 설비가 커버 가능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599431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−8.0×α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001767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074919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중복 커버  w_redundant·min(cover/need,2)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5074919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이미 덮이는 버킷 재선택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5074919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5477255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5550407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전용 오용  w_dedication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550407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더 전용 idle 설비가 있는데 범용이 선점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5550407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다음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8개 보상 항목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을 항목별 상세(쉬운 설명·수식·A/B·실측)로 설명한 뒤,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SYM_3x3 실제 추론 트레이스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스텝마다 </a:t>
            </a:r>
            <a:r>
              <a:rPr sz="1200" b="1">
                <a:solidFill>
                  <a:srgbClr val="2E6FB0"/>
                </a:solidFill>
                <a:latin typeface="맑은 고딕"/>
              </a:rPr>
              <a:t>State → Action → Reward(8항 전체)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와 누적 간트로 보여줍니다.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동일 셋업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w_same_setup · 1[직전 PPK·OPER 동일 &amp; 재공 잔존]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직전과 제품(PPK)·공정(OPER)이 같으면 셋업 변경 없이 +1. 셋업을 이어 붙이라는 신호.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1[동일]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직전 PPK·OPER = 이번 선택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비용을 피하고 같은 셋업으로 연속 가공하도록 유도.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연속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EQP001이 직전과 동일 PPK001·OPER001로 블록 진행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셋업 변경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PPK001→PPK002로 LOT_CD/TEMP 전환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4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+1.00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93726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페이싱  (w=+2.5)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w_pacing · (|ideal − eff_before| − |ideal − eff_after|) / 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takt 목표선(ideal)에 실제 진척(eff)이 가까워지면 +, 멀어지면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ideal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target·min(t,H)/H — 지금까지 만들어야 할 이상량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eff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done + 다른설비 cover — 실제+커버 진척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상한(재공 한도)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속도(takt)에 맞추되, 이미 다른 설비가 덮으면 pace 충족으로 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pace 개선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0.3→0.5 (target=8)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+0.06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과생산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0.3→0.8 (takt 초과)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cover=0.0, wf=1) · 2.5·(0.0−1.0)/8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→  = -0.31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234314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계획 달성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w_plan_hit · (gap_before − gap_after) / target   ;  gap = max(target − done, 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아직 만들어야 할 양(gap)이 줄면 +. 이미 다 만들었으면 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gap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max(target−done,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수량 달성을 직접 장려.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gap 감소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target=8, done 0→1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gap=0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이미 target 달성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+0.14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93726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블록 보너스  (w=+3.0)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w_bulk · min(N / takt예산, 1)   [블록 시작 시에만]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블록 시작 시 N캐리어 연속 처리를 약속(commit)하면 +. 연속 2번째 LOT에는 없음.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커밋 블록 크기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takt 예산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horizon 내 허용 캐리어 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w_bulk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+3.0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한 설비·한 셋업으로 길게 밀어라 — Bulk-Fill 핵심.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시작 N=8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EQP001, PPK001, takt 예산=8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+3.0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N=1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블록 없이 1캐리어만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+3.00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281178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전환  (w=−10.0)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w_conversion · 1[LOT_CD/TEMP 셋업 변경]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LOT_CD/TEMP 셋업이 바뀌는 전환 1회마다 −10.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w_conv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−10.0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1[전환]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셋업 변경 발생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= 설비 가동 손실. 근본적으로 줄이게 함.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동일 셋업 블록 연속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1[전환]=0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전환 발생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 셋업 변경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87568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732520" y="621792"/>
            <a:ext cx="937259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회피가능 전환  (w=−8.0)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w_avoidable · α   ;  α = 회피가능 비율 (0~1)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굳이 이 설비에서 바꿀 필요 없었는데 전환하면 추가 −8×α.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α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0~1 회피가능 비율 (다른 설비 커버 등)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다른 idle 설비에 맡기라는 신호.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회피가능 전환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다른 설비가 PPK002를 70% 커버 가능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−5.6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919972" y="621792"/>
            <a:ext cx="749808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중복 커버  (w=−5.0)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w_redundant · min(cover / need,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다른 설비가 이미 충분히 덮는 제품을 또 잡으면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cover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다른 EQP horizon 투영 생산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need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잔여 필요량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3대가 같은 제품만 몰리는 lockstep 방지.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cover=0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전담 제품, 다른 설비 커버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cover=0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중복 커버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cover/need ≈ 0.4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−2.0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→  = -0.00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01150" y="621792"/>
            <a:ext cx="468629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전용 오용  (w=−4.0)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w_dedication_misuse · 1[더 전용 idle 설비 존재]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범용 설비가 전용 idle 설비도 할 수 있는 일을 가져가면 −4.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breadth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장비가 할 수 있는 제품 종류 수 — 작을수록 전용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전용 설비는 전용 제품에, 범용은 범용에.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전담 적합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 전담 PPK001, 더 전용 idle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범용 오용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범용 EQP가 전용 EQP 가능 버킷 선점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−4.0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294876" y="621792"/>
            <a:ext cx="374904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 — 블록 시작 (N=6 커밋 · 이번 1LOT)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+2.83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2 — 블록 시작 (N=6 커밋 · 이번 1LOT)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0.042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+5.66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1[None→PPK002,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3 — 블록 시작 (N=6 커밋 · 이번 1LOT)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+8.49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1[None→PPK003,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4 — 블록 연속 (LOT 2/6 · masked replay)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+9.32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22.0→23.0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cover=21.0,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6 — 블록 연속 (LOT 2/6 · masked replay)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60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5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+10.98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1[PPK003→PPK003,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8·60/1320 = 0.36 · eff: 1.0→2.0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8 — 블록 연속 (LOT 3/6 · masked replay)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29.2%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7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0.292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3/6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3/6 · masked replay)</a:t>
            </a:r>
          </a:p>
        </p:txBody>
      </p:sp>
      <p:pic>
        <p:nvPicPr>
          <p:cNvPr id="42" name="Picture 41" descr="step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+12.64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1[PPK002→PPK002,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8·120/1320 = 0.73 · eff: 2.0→3.0 (done=2, 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6→5 (done 2→3, target=8) · 1.0·(6−5)/8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need=6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시나리오 — 바람직 vs 지양 결정 (전체 항목)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>
                <a:solidFill>
                  <a:srgbClr val="5C6670"/>
                </a:solidFill>
                <a:latin typeface="맑은 고딕"/>
              </a:rPr>
              <a:t>검증 데이터(3설비·3제품·각 8캐리어, takt 예산 8) 기준, 대표 결정 두 가지의 보상 계산입니다.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A · 전담 블록 시작 (바람직)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EQP001이 직전과 같은 PPK001을 블록 크기 8(=takt 예산 전량)로 커밋, 다른 설비가 덮지 않는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1[전환]=0 →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cover=0 →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7492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172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7492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412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2E7D4F"/>
                </a:solidFill>
                <a:latin typeface="맑은 고딕"/>
              </a:rPr>
              <a:t>≈ +4~+6 수준의 강한 양(+) 보상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같은 셋업으로 길게 점유하는 행동을 강화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B · 회피가능 전환 (지양)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2764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EQP가 PPK001→PPK002로 셋업을 바꿔 1캐리어만 처리. 다른 무전환 설비가 PPK002를 70% 커버 가능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764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7844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3524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764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2764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3524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2764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7844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764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3524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7844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764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3524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2764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7844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2764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524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2764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7844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−5.6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524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2764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37844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−2.0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2764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3524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2764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7844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2764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2764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B33A3A"/>
                </a:solidFill>
                <a:latin typeface="맑은 고딕"/>
              </a:rPr>
              <a:t>≈ −20 수준의 강한 음(−) 보상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불필요한 셋업 변경을 강하게 억제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1560" y="5715000"/>
            <a:ext cx="101498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학습 결과  </a:t>
            </a:r>
            <a:r>
              <a:rPr sz="1300" b="0">
                <a:solidFill>
                  <a:srgbClr val="FFFFFF"/>
                </a:solidFill>
                <a:latin typeface="맑은 고딕"/>
              </a:rPr>
              <a:t>정책은 "전담 블록은 키우고, 회피가능한 전환은 피한다"는 행동을 자연스럽게 획득합니다.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스텝별 요약 — SYM_3x3 트레이스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70432"/>
            <a:ext cx="110642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맑은 고딕"/>
              </a:rPr>
              <a:t>학습 모델을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SYM_3x3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(3설비·각 8캐리어, takt 예산 8)에 결정론적 추론한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실제 첫 8스텝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의 상태·보상 변화입니다.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27632"/>
            <a:ext cx="7772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스텝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44168" y="1627632"/>
            <a:ext cx="91440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t(분)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58568" y="1627632"/>
            <a:ext cx="269748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결정 (EQP → PPK)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6048" y="1627632"/>
            <a:ext cx="16916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행동 유형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47688" y="1627632"/>
            <a:ext cx="141732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달성률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236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누적 Σr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048256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4168" y="2048256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048256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6048" y="2048256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7688" y="2048256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0236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2.83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404872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44168" y="2404872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58568" y="2404872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404872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47688" y="2404872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0236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5.66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761488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44168" y="2761488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58568" y="2761488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2761488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47688" y="2761488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6500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0236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8.49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118104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44168" y="3118104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18104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6048" y="3118104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47688" y="3118104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500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0236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9.32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474720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44168" y="3474720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58568" y="3474720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3474720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47688" y="3474720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17%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6500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0236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3831336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44168" y="3831336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58568" y="3831336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56048" y="3831336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47688" y="3831336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6500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0236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10.98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" y="4187952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44168" y="4187952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58568" y="4187952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56048" y="4187952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47688" y="4187952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6500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0236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11.81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4544568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44168" y="4544568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58568" y="4544568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56048" y="4544568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47688" y="4544568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29%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6500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0236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12.64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4937759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관찰  </a:t>
            </a:r>
            <a:r>
              <a:rPr sz="1050" b="0">
                <a:solidFill>
                  <a:srgbClr val="5C6670"/>
                </a:solidFill>
                <a:latin typeface="맑은 고딕"/>
              </a:rPr>
              <a:t>스텝 1~3은 각 설비 전담 블록 시작(보상 큼), 4~8은 같은 셋업 연속. 상세 State/Action/Reward·간트는 슬라이드 12~17 참고.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스텝 보상 식    r_t  =  w_same_setup·1[동일셋업]  +  w_pacing·(|ideal−eff_before| − |ideal−eff_after|)/target  +  w_plan_hit·(gap_before − gap_after)/target  +  [블록 시작 시] Δblock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5193792"/>
            <a:ext cx="1106424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" y="5193792"/>
            <a:ext cx="109728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222A33"/>
                </a:solidFill>
                <a:latin typeface="맑은 고딕"/>
              </a:rPr>
              <a:t>Δblock = w_bulk_block_bonus·min(N/예산,1)  +  w_dedication_misuse·1[전용오용]  +  w_redundant_cover·min(cover/need, 2)        |        전환 발생 시  + w_conversion  + w_avoidable_conversion·avoidable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5669279"/>
            <a:ext cx="5440680" cy="1078992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6928" y="5669279"/>
            <a:ext cx="82296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1 · 블록 시작 (EQP001→PPK001, N=8)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980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블록보너스 3.0·(8/8)=+3.00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−0.31 · 계획 +0.13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+2.83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90488" y="5669279"/>
            <a:ext cx="544068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90488" y="5669279"/>
            <a:ext cx="82296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7336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4 · 블록 연속 (EQP001→PPK001)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동일셋업 +1.00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−0.30 · 계획 +0.13 (블록보너스 없음)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+0.83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검증 설계 — CONV_BENCH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생산 수량 손실로 1:1 환산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되도록 설계한 직관형 검증 데이터셋입니다.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설비 / 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3 설비 × 3 제품(PPK)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동일 성능 A모델 3대, 제품별 LOT_CD 상이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재공 /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제품당 8캐리어 =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계획도 제품당 8 (총 24캐리어)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시간 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ST=60 · 전환=60 · 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설비당 480/60 = 8캐리어 처리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배정 난이도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홈 LOT 혼합 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단순 규칙은 전환 불가피, 전략적 선택만 전담 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이론적 최적해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206240"/>
            <a:ext cx="52120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43400"/>
            <a:ext cx="48463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설비별 1제품 전담 → 전환 0회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EQP001 → PPK001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EQP002 → PPK002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EQP003 → PPK003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생산 24 · 전환 0 · 가동률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전환 → 손실 환산표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206240"/>
            <a:ext cx="4983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4315968"/>
            <a:ext cx="182880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전환 횟수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4315968"/>
            <a:ext cx="173736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생산 수량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4315968"/>
            <a:ext cx="109728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718304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4718304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718304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120640"/>
            <a:ext cx="182880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2 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5120640"/>
            <a:ext cx="173736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 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120640"/>
            <a:ext cx="109728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5522976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6 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66760" y="5522976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5522976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동일 시뮬레이터·동일 데이터에서 세 알고리즘을 실행해 KPI를 직접 비교합니다.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KPI 비교 결과 (CONV_BENCH)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20040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KPI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(단순 규칙)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(휴리스틱)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417320"/>
            <a:ext cx="2606040" cy="74980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Bulk-Fill PPO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(학습 모델)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67128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생산 수량 (최대 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67128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24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798064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횟수 (낮을수록 우수)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6 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98064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0 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429000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손실 캐리어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−6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−0 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429000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−0 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59935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설비 가동률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75 %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100 %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059935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100 %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690871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제품 전담 설비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/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3 /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690871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3 /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321807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최적해 도달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B33A3A"/>
                </a:solidFill>
                <a:latin typeface="맑은 고딕"/>
              </a:rPr>
              <a:t>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321807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Bulk-Fill PPO는 학습만으로 최고 휴리스틱과 동일한 이론적 최적해(생산 24·전환 0)에 도달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했으며, 단순 규칙 대비 모든 지표에서 우위입니다.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효과성 검증 — 정량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51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4340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29600" y="1417320"/>
            <a:ext cx="32461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학습 모델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+6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95728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단순 규칙 대비 생산량 (+33%)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724912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−6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08960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전환을 전량 제거 (6→0)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438144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+25%p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22192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가동률 75%→100%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151376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3 /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35424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제품 전담 설비 달성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835640" cy="11887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3892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효과성 결론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68112"/>
            <a:ext cx="10515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Bulk-Fill PPO는 별도 규칙 주입 없이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학습만으로 이론적 최적해에 도달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했으며,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생산량 +33% · 전환 100% 제거 · 가동률 +25%p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의 개선을 입증했습니다.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벤치마크 8종 — 무엇을 검증하는가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단순 휴리스틱이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쉽게 풀 수 없는 비대칭·제약 시나리오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4개 카테고리로 구성해, 알고리즘의 실제 변별력을 측정합니다.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3제품 · 24캐리어 · ST 60분 · 전환 60분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기본 전담 최적해 도달 (대조군)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5설비 × 5제품 · 30캐리어 · ST 48분 · 전환 48분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규모 확장 시 전담 유지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8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60분 · 전환 60분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불가피한 전환을 최소 횟수로 묶기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7제품 · 28캐리어 · ST 45분 · 전환 45분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다수 제품 분배 + 전환 최소화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30캐리어 · ST 60분 · 전환 60분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물량 편중에서의 균형 배분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6960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32캐리어 · ST 30~90분 · 전환 60분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처리시간 이질성 하의 효율 배분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07408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24캐리어 · ST 45분 · 전환 90분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큰 전환비용 하의 전담 가치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40분 · 전환 120분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전환 과중 + 제품 과잉 복합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199632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대칭 기준은 전담만으로 최적이라 대조군이며, 나머지 6종은 전환이 불가피하거나 부하가 불균등해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배정 전략에 따라 결과가 갈립니다.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벤치마크 8종 KPI 비교 — 난이도별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8종 데이터셋에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단일 Bulk-Fill 모델을 공동 학습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 후 평가. 표기 = 생산 / 전환 (생산 많고 전환 적을수록 우수).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21031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벤치마크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691640"/>
            <a:ext cx="182880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카테고리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056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62288" y="1691640"/>
            <a:ext cx="2468880" cy="548640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Bulk-Fill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2402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22402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18/24 ·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056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62288" y="22402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6974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0048" y="26974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18/30 · 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3056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30/30 ·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288" y="2697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30/30 · 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546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1546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15/20 ·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3056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14/20 · 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62288" y="3154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6118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70048" y="36118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9884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20/28 · 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056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21/28 ·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62288" y="36118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28/28 · 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0690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70048" y="40690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9884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22/30 ·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056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21/30 · 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62288" y="40690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26/30 ·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262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5262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9884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24/32 ·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22/32 · 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62288" y="45262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27/32 · 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9834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70048" y="49834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9884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12/24 · 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3056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62288" y="4983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4406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4406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9884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12/20 · 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3056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12/20 ·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62288" y="5440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8978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222A33"/>
                </a:solidFill>
                <a:latin typeface="맑은 고딕"/>
              </a:rPr>
              <a:t>대칭(SYM·CONV_x2)에선 Bulk-Fill = Min-Progress(둘 다 최적), </a:t>
            </a:r>
            <a:r>
              <a:rPr sz="1130" b="1">
                <a:solidFill>
                  <a:srgbClr val="2E7D4F"/>
                </a:solidFill>
                <a:latin typeface="맑은 고딕"/>
              </a:rPr>
              <a:t>제품 과잉·부하 불균등·전환 과중에선 Bulk-Fill가 Min-Progress를 크게 앞섭니다</a:t>
            </a:r>
            <a:r>
              <a:rPr sz="1130" b="0">
                <a:solidFill>
                  <a:srgbClr val="5C6670"/>
                </a:solidFill>
                <a:latin typeface="맑은 고딕"/>
              </a:rPr>
              <a:t> (녹색=BF 우위/동률, 주황=열위).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종합 집계 — 어려운 케이스일수록 학습 모델이 우위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54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371600"/>
          <a:ext cx="5943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0" y="1371600"/>
            <a:ext cx="46177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종합 집계 (8종 합산)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38528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38528"/>
            <a:ext cx="960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Earliest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193852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Bulk-Fill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1938528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Min-Prog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4942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생산률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49424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249424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94%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249424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73405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734056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734056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734056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1868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평균 가동률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218688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57%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218688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81%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3218688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0332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전량 생산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703320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0/8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3703320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4/8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3703320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3/8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18795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전담 달성률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187952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187952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60%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4187952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47%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983480"/>
            <a:ext cx="10835640" cy="12344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핵심 발견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413248"/>
            <a:ext cx="10515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7E2EE"/>
                </a:solidFill>
                <a:latin typeface="맑은 고딕"/>
              </a:rPr>
              <a:t>쉬운 대칭 케이스에선 휴리스틱과 동등하지만, 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전환이 불가피한 현실적 케이스에서 Bulk-Fill가 생산률 </a:t>
            </a:r>
            <a:r>
              <a:rPr sz="1300" b="1">
                <a:solidFill>
                  <a:srgbClr val="FFFFFF"/>
                </a:solidFill>
                <a:latin typeface="맑은 고딕"/>
              </a:rPr>
              <a:t>94% vs 81%(Min-Progress) · 전환 34 vs 76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 으로 명확히 앞섭니다. 단순 휴리스틱은 전환을 남발해 캐리어를 잃습니다.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① 제품 과잉 (3설비·5제품)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55</a:t>
            </a:r>
          </a:p>
        </p:txBody>
      </p:sp>
      <p:pic>
        <p:nvPicPr>
          <p:cNvPr id="10" name="Picture 9" descr="gantt_OVER_5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15/20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14/20 · 전환 14회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18/20 · 전환 7회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3설비가 5제품을 처리해 전환이 불가피한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Earliest·Min-Progress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제품을 자주 바꿔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전환(빗금)이 빈발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, 시간 내 캐리어를 잃습니다.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같은 제품을 길게 묶어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전환을 최소화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하고 전량을 생산합니다.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② 부하 불균등 (계획 14·8·4·4)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56</a:t>
            </a:r>
          </a:p>
        </p:txBody>
      </p:sp>
      <p:pic>
        <p:nvPicPr>
          <p:cNvPr id="10" name="Picture 9" descr="gantt_LOAD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22/30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21/30 · 전환 12회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26/30 · 전환 2회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제품별 물량이 14·8·4·4로 편중된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휴리스틱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은 진행률만 보고 분배해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전환이 누적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물량 많은 제품에 설비를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전담 배치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해 전환 2회로 최소화합니다.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결론 및 기대 효과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57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기대 효과 및 향후 과제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검증된 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8종 벤치마크 종합 생산률 94%로 휴리스틱(81%)을 능가, 전환 76→34회 감소.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더 많은 설비·제품·다단 공정으로 데이터 교체만으로 확장 적용 가능.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변별력 있는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전환이 불가피한 제품 과잉·부하 불균등 케이스에서 학습 모델의 우위를 입증.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운영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 비용·계획·재공 제약을 함께 고려한 일배치 의사결정 지원.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구조적 강점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벌크 점유 + 행동 마스킹으로 전환을 근본적으로 억제하고 학습을 안정화.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향후 과제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실데이터 적용·보상 가중치 튜닝·다공정 흐름 균형의 추가 검증.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강화학습 기반 Bulk-Fill 스케줄링 — 전환 최소화와 계획 추종을 동시에 달성하는 검증된 의사결정 모델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