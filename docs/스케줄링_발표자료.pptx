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313" r:id="rId34"/>
    <p:sldId id="274" r:id="rId25"/>
    <p:sldId id="275" r:id="rId26"/>
    <p:sldId id="276" r:id="rId27"/>
    <p:sldId id="277" r:id="rId28"/>
    <p:sldId id="278" r:id="rId29"/>
    <p:sldId id="279" r:id="rId30"/>
    <p:sldId id="314" r:id="rId32"/>
    <p:sldId id="280" r:id="rId31"/>
    <p:sldId id="315" r:id="rId17"/>
    <p:sldId id="282" r:id="rId33"/>
    <p:sldId id="316" r:id="rId16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317" r:id="rId64"/>
    <p:sldId id="294" r:id="rId45"/>
    <p:sldId id="318" r:id="rId65"/>
    <p:sldId id="295" r:id="rId46"/>
    <p:sldId id="319" r:id="rId6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28.xml"/><Relationship Id="rId17" Type="http://schemas.openxmlformats.org/officeDocument/2006/relationships/slide" Target="slides/slide26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5.xml"/><Relationship Id="rId32" Type="http://schemas.openxmlformats.org/officeDocument/2006/relationships/slide" Target="slides/slide24.xml"/><Relationship Id="rId33" Type="http://schemas.openxmlformats.org/officeDocument/2006/relationships/slide" Target="slides/slide27.xml"/><Relationship Id="rId34" Type="http://schemas.openxmlformats.org/officeDocument/2006/relationships/slide" Target="slides/slide17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40.xml"/><Relationship Id="rId46" Type="http://schemas.openxmlformats.org/officeDocument/2006/relationships/slide" Target="slides/slide42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39.xml"/><Relationship Id="rId65" Type="http://schemas.openxmlformats.org/officeDocument/2006/relationships/slide" Target="slides/slide41.xml"/><Relationship Id="rId66" Type="http://schemas.openxmlformats.org/officeDocument/2006/relationships/slide" Target="slides/slide4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상세(항목별 예시) ·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보상 항목별 상세(8p) · 스텝별 SAR · 누적 간트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1,814차원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O×P×K×12 + 설비 4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1056차원 Box 벡터 입니다.  (O=3, P=10, K=5 기준 — 버킷 채널: PPK×OPER 10개 + PPK×OPER×MODEL 5개)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/>
            </a:r>
            <a:r>
              <a:rPr sz="130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O×P×10 + O×P×K×5 (버킷)  =  1056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2606040"/>
            <a:ext cx="516636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6 차원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606040"/>
            <a:ext cx="516636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1050 차원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(OPER×PPK) 10채널(모델 무관) + (OPER×PPK×MODEL) 5채널(모델별): WIP비중·takt·urgency·달성가능·투영커버·소진시간 / ST·전환·공구·회피가능·셋업변경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325112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다음 2개 State 블록을 항목별 상세(채널 정의·실측 산출식 값)로 설명합니다. 버킷 채널이 전환 회피·페이싱 판단의 근거가 됩니다.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/>
            </a:r>
            <a:r>
              <a:rPr sz="1250" b="0">
                <a:solidFill>
                  <a:srgbClr val="222A33"/>
                </a:solidFill>
                <a:latin typeface="맑은 고딕"/>
              </a:rPr>
              <a:t/>
            </a:r>
            <a:r>
              <a:rPr sz="1250" b="1">
                <a:solidFill>
                  <a:srgbClr val="1B3255"/>
                </a:solidFill>
                <a:latin typeface="맑은 고딕"/>
              </a:rPr>
              <a:t/>
            </a:r>
            <a:r>
              <a:rPr sz="125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전역 상태 (Global)  (obs[0:6])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라인 전체 상황 — 시간·takt 여유·재공·계획·전환·공구를 6개 숫자로 요약합니다.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정책이 "지금 몇 시쯤인지, 얼마나 급한지"를 전역적으로 파악하게 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시뮬 경과 비율 (0=시작, 1=종료)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min(0/480, 1) 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horizon 여유 (1→여유 많음)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미배정 재공 비율 (↓=소진)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전체 계획 달성률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min(0/24, 1) =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480560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obs[4]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80160" y="4480560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31720" y="4480560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셋업 바꾸느라 대기 중인 설비 비율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69080" y="4480560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956048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obs[5]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80160" y="4956048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31720" y="4956048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포화 정도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4956048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전역 모니터링 메트릭스 (인포그래픽)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276148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1. 시뮬레이션 경과 시간 (time_norm)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min(t / sim_end, 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80760" y="303580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80760" y="3035808"/>
            <a:ext cx="2258568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92640" y="300837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65%  (t=936 / 1440)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353872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2. 납기 시간 마진 (takt_margin)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(soft_cutoff − t) / soft_cutoff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80760" y="381304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080760" y="3813048"/>
            <a:ext cx="1216151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92640" y="378561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35%  (남은 시간 여유 35%)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80760" y="431596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3. 전체 계획 달성률 (plan_progress)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Σ완료 / Σ계획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80760" y="459028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80760" y="4590288"/>
            <a:ext cx="1911095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692640" y="456285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55%  (생산 달성 55%)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5093207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 공구 가동 사용률 (tool_util)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utilization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5367527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080760" y="5367527"/>
            <a:ext cx="1563624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92640" y="534009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45%  (동시 점유 공구 45%)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버킷 특징 (Bucket)  (obs[6 : 6 + O×P×10 + O×P×K×5])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(OPER×PPK) 격자마다 10채널(모델 무관) + (OPER×PPK×MODEL) 격자마다 5채널(모델별) — "이 버킷을 지금 잡으면 시급·전환·중복인가"를 알려줍니다.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보상(페이싱·중복커버·전환) 판단의 근거가 되는 핵심 특징입니다.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800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60000" y="2212848"/>
            <a:ext cx="11000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60000" y="2212848"/>
            <a:ext cx="2117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00000" y="2212848"/>
            <a:ext cx="10321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83707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60000" y="257860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wip_ratio_total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60000" y="283707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wip_ratio_ppk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60000" y="257860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재공 쏠림 (팹 전체 대비)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60000" y="283707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재공 쏠림 (동일 PPK 대비)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00000" y="257860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0.0857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00000" y="283707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0.0968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9554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35401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60000" y="309554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prev_takt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60000" y="335401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post_takt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60000" y="309554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상류 공정 요구 속도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60000" y="335401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하류 공정 요구 속도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00000" y="309554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00000" y="335401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61248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60000" y="361248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plan_urgency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60000" y="361248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계획 대비 시간 압박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00000" y="361248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0.0023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87095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12942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38789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0000" y="387095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wip_lot_cd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0000" y="412942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wip_temp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0000" y="438789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achievable_ratio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000" y="387095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버킷 LOT_CD 인코딩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000" y="412942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버킷 TEMP 인코딩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000" y="438789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달성가능 상한 비율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0" y="387095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0" y="412942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0" y="438789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64636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60000" y="464636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60000" y="464636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중복 커버 신호 (회피 유도)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00000" y="464636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0.72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90483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60000" y="490483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starve_time_norm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60000" y="490483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안전재공 소진까지 남은 시간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00000" y="490483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6330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60000" y="516330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self_st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60000" y="516330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모델별 per-wafer 처리시간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00000" y="516330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42177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obs_11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60000" y="542177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needs_conversion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260000" y="542177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셋업 변경 필요 여부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00000" y="542177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68024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obs_12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93871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obs_13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619718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obs_14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0000" y="568024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tool_can_assign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0000" y="593871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avoidable_frac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0000" y="619718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setup_changed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60000" y="568024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공구 cap 통과 여부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60000" y="593871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전환 회피 가능 정도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60000" y="619718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PPK 또는 OPER가 직전과 다름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00000" y="568024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00000" y="593871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0.619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00000" y="619718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80760" y="2322576"/>
            <a:ext cx="54406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B3255"/>
                </a:solidFill>
                <a:latin typeface="맑은 고딕"/>
              </a:rPr>
              <a:t>현재 설비 → Feasible 버킷 필터링 → State 채널 계산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80760" y="3584448"/>
            <a:ext cx="5440680" cy="25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7920" y="3694176"/>
            <a:ext cx="5166360" cy="23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핵심 제약 조건 및 케이스별 산식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가공 속도(self_st)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st_per_wafer / max_st  (모델별 가공속도)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셋업 전환(needs_conversion)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[lot_cd 또는 temp 상이]  (1회당 패널티)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공구 포화(tool_can_assign)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[net capa 잔여]  (부족 시 배정 차단)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달성 목표(achievable_ratio)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min(계획, 완료+상류WIP) / 계획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안전재공 소진(starve_time_norm)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wip / (현재capa - 상류capa) / T_avail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회피가능 전환(avoidable_frac)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conversion_avoidable_fraction(현재 EQP, 이 버킷)  (needs_conversion=1일 때만)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셋업 변경(setup_changed)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[PPK 또는 OPER가 직전과 다름]  (연속 배정 여부)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080760" y="2692616"/>
            <a:ext cx="1300000" cy="650000"/>
          </a:xfrm>
          <a:prstGeom prst="round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</a:rPr>
              <a:t>현재 설비</a:t>
            </a:r>
            <a:br/>
            <a:r>
              <a:rPr sz="1050" b="1">
                <a:solidFill>
                  <a:srgbClr val="FFFFFF"/>
                </a:solidFill>
              </a:rPr>
              <a:t>(current_eqp)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7400760" y="2903316"/>
            <a:ext cx="25000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670760" y="2692616"/>
            <a:ext cx="1650000" cy="650000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Feasible 버킷 필터링</a:t>
            </a:r>
            <a:br/>
            <a:r>
              <a:rPr sz="1000" b="1">
                <a:solidFill>
                  <a:srgbClr val="FFFFFF"/>
                </a:solidFill>
              </a:rPr>
              <a:t>(가능한 PPK,OPER,MODEL 조합만)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9340760" y="2903316"/>
            <a:ext cx="25000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9610760" y="2692616"/>
            <a:ext cx="2050000" cy="315000"/>
          </a:xfrm>
          <a:prstGeom prst="roundRect">
            <a:avLst/>
          </a:prstGeom>
          <a:solidFill>
            <a:srgbClr val="DEEAF6"/>
          </a:solidFill>
          <a:ln w="9525">
            <a:solidFill>
              <a:srgbClr val="2E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2E6FB0"/>
                </a:solidFill>
              </a:rPr>
              <a:t>PPK×OPER 10채널 (모델 무관)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610760" y="3027616"/>
            <a:ext cx="2050000" cy="315000"/>
          </a:xfrm>
          <a:prstGeom prst="roundRect">
            <a:avLst/>
          </a:prstGeom>
          <a:solidFill>
            <a:srgbClr val="F3E8D6"/>
          </a:solidFill>
          <a:ln w="9525">
            <a:solidFill>
              <a:srgbClr val="B0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B07A2E"/>
                </a:solidFill>
              </a:rPr>
              <a:t>PPK×OPER×MODEL 5채널 (모델별)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80760" y="3372616"/>
            <a:ext cx="544068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>
                <a:solidFill>
                  <a:srgbClr val="222A33"/>
                </a:solidFill>
              </a:rPr>
              <a:t>현재 idle 설비 기준으로 feasible한 (PPK,OPER,MODEL) 버킷만 골라, 그 버킷들에 대해 State 채널을 계산합니다.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다장비 동시 비교 (t=120분, 3대 설비 실측)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같은 시각에 3대 설비가 차례로 판단을 내릴 때, 설비마다 State 값이 실제로 다르게 계산됩니다.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공통 전역값 (3대 동일)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time_norm=0.25, takt_margin=0.75, conv_idle_ratio=0.0, tool_util=0.0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8288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항목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2176272"/>
            <a:ext cx="2926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EQP001  (Step 10)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EQP002  (Step 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EQP003  (Step 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배정 결정 (참고)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2542032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이번 스텝에서 고른 PPK·OPER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5780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PPK001·OPER001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8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PPK002·OPER001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6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PPK003·OPER001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32938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31720" y="2932938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min(|lot_pool| / 초기 LOT수, 1)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0.833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8116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0.792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23844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323844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min(produced / total_plan, 1)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5780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0.375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948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0.292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8116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0.333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714750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31720" y="3714750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1[현재 EQP에서 이 버킷 LOT_CD/TEMP로 전환 필요]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5780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8116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105656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31720" y="4105656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conversion_avoidable_fraction(현재 EQP, 이 버킷)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5780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6948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8116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496562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reward (이 결정)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31720" y="4496562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8항목 보상 합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6948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28116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4978908"/>
            <a:ext cx="11201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이 시점까지 누적 배정 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EQP001: 4건, EQP002: 3건, EQP003: 3건  — 대칭 벤치(SYM_3x3)에서 설비마다 전담 제품을 반복 배정받는 모습.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완전 해설 — MINI-A 예시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5486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34440"/>
            <a:ext cx="10881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위 값은 실제 SYM_3x3 트레이스가 아니라 산식 계산 과정을 보여주기 위한 가상 예시 데이터셋(MINI-A)입니다. 이후 슬라이드의 모든 대입 계산은 이 데이터셋을 그대로 사용합니다.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65960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설비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7400" y="1965960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EQP001: OPER001·OPER002 가능, 세팅 A, busy (free_at=320)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76856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57400" y="2276856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EQP002: OPER001·OPER002 가능, 세팅 B, idle (free_at=120) — 지금 결정 대상(current_eqp)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8775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57400" y="258775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EQP003: OPER002만 가능, 세팅 A, busy (free_at=400)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898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제품·공정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57400" y="2898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PPK001: OPER001→OPER002 (세팅 LOT_CD=A, TEMP=없음), PPK002: OPER001만 사용(계획 없음)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09543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계획/완료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3209543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(PPK001,OPER002) 목표 60장, 완료 10장  ·  가공시간 OPER001=2분/장, OPER002=5분/장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520439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WIP(대기재공)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3520439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(PPK001,OPER001)=140장, (PPK001,OPER002)=15장, (PPK002,OPER001)=20장 → 합계 175장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31335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배정 설비수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57400" y="3831335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OPER001=2대(EQP001,EQP002), OPER002=3대(EQP001,EQP002,EQP003)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4223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시각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7400" y="414223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t=120분, sim_end=soft_cutoff=480분 → T_avail=max(480-120,1)=360분, wf_unit=1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45312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직전 배정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57400" y="445312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EQP003이 PPK001 · OPER002 · 세팅A를 배정받음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64023"/>
            <a:ext cx="155448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인덱스맵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4764023"/>
            <a:ext cx="96469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PPK{PPK002:0,PPK001:1}(P=10) · OPER{OPER001:0,OPER002:1}(O=3) · EQP{EQP001:0,EQP002:1,EQP003:2} · LOT_CD{B:0,A:1}(n_lc=2)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184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기타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57400" y="5184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lot_pool=25/초기40, tool_tracker.utilization()=0.4(가정) — 이 둘은 별도 헬퍼/클래스 내부라 예시값으로 표기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obs[0] time_norm  ·  obs[1] takt_margin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time_norm = 0.25   /   takt_margin = 0.75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sim_end과 soft_cutoff을 같은 값(480)으로 두면 takt_margin ≈ 1-time_norm 처럼 보이지만, 두 값이 실제로 다르면(예: sim_end=600) 이 관계는 깨진다 — 서로 다른 변수임에 유의.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(clip 발동)  t=500분(&gt; sim_end=480)이면 time_norm=min(500/480,1)=1.0으로 saturate — min()이 왜 필요한지 보여주는 경계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874519"/>
            <a:ext cx="5166360" cy="209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time_norm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min(120/480,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113727"/>
            <a:ext cx="3203143" cy="1495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113727"/>
            <a:ext cx="800785" cy="149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077151"/>
            <a:ext cx="1798624" cy="222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64308"/>
            <a:ext cx="5166360" cy="209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takt_margin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min(max(480-120,0)/480, 1)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703515"/>
            <a:ext cx="3203143" cy="1495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2703515"/>
            <a:ext cx="2402357" cy="149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50247" y="2666939"/>
            <a:ext cx="1798624" cy="222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입력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132405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current_time=120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08198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44774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sim_end=480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16781" y="2240280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53357" y="2240280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soft_cutoff=480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42999" y="3544824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9575" y="3544824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current_time/sim_end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9349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969970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006546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120/480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93260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869739" y="3544824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906315" y="3544824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0.25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142999" y="4849367"/>
            <a:ext cx="210860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79575" y="4849367"/>
            <a:ext cx="203545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(soft_cutoff−t)/soft_cutoff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9275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69232" y="4849367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505808" y="4849367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360/480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9252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369002" y="4849367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405578" y="4849367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0.75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obs[2] remaining_lots  ·  obs[3] plan_progress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입력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lot_pool=25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151582" y="2240280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188158" y="2240280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initial_lot_count=40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02074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38650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produced=10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42999" y="2519172"/>
            <a:ext cx="111008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79575" y="2519172"/>
            <a:ext cx="103692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total_plan=60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42999" y="3544824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79575" y="3544824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lot_pool/initial_lot_count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21430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397909" y="3544824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34485" y="3544824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25/40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978553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155032" y="3544824"/>
            <a:ext cx="53949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91608" y="3544824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0.625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4849367"/>
            <a:ext cx="153802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4849367"/>
            <a:ext cx="14648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produced/total_plan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22167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898647" y="4849367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935223" y="4849367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10/60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7929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655770" y="4849367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92346" y="4849367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0.1667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지금(t=120분) — 초반, 재공 풀 여유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초기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40장 투입</a:t>
            </a:r>
          </a:p>
        </p:txBody>
      </p:sp>
      <p:sp>
        <p:nvSpPr>
          <p:cNvPr id="78" name="Right Arrow 77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미배정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25장 남음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설비에 배정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누적 15장 배정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remaining_lots = 25/40 = 0.625  (풀 62.5% 남음)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min(len(lot_pool)/initial_lot_count, 1) = min(25/40,1)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하루 막바지(t=440분), 풀 고갈 임박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초기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40장 투입</a:t>
            </a:r>
          </a:p>
        </p:txBody>
      </p:sp>
      <p:sp>
        <p:nvSpPr>
          <p:cNvPr id="90" name="Right Arrow 89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미배정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3장 남음</a:t>
            </a:r>
          </a:p>
        </p:txBody>
      </p:sp>
      <p:sp>
        <p:nvSpPr>
          <p:cNvPr id="93" name="Right Arrow 92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설비에 배정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누적 37장 배정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remaining_lots = 3/40 = 0.075  (풀 92.5% 소진)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같은 산식이라도 시각(t)에 따라 0.625→0.075로 계속 줄어드는 '소진형' 지표임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obs[4] conv_idle_ratio  ·  obs[5] tool_util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conv_idle_ratio = 0.0   /   tool_util = 0.4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rem&gt;0 조건 때문에 '방금 막 idle된' 설비는 카운트되지 않는다 — 진짜 전환 buffer 중인 설비만 잡음.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EQP002가 idle인데 free_at=150(t=120보다 뒤, 아직 전환 buffer 중)이면 rem=30&gt;0 → conv_eqps=1 → conv_idle_ratio=1/3=0.33 (전환대기 잡힘).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conv_idle_ratio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0/3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86147"/>
            <a:ext cx="18288" cy="18288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49571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615184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tool_util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min(0.4, 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926811"/>
            <a:ext cx="1281257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89023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설비 순회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EQP001:busy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151582" y="2240280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188158" y="2240280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EQP002:idle,free_at=t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873397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09973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EQP003:busy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조건 판정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3218687"/>
            <a:ext cx="217992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3218687"/>
            <a:ext cx="210677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rem&gt;0 &amp; idle &amp; prev_lot_cd≠∅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64076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540555" y="3218687"/>
            <a:ext cx="967435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577131" y="3218687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conv_eqps=0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conv_eqps/n_eqp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613354" y="4197095"/>
            <a:ext cx="39684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649930" y="4197095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0/3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51351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227831" y="4197095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64407" y="4197095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142999" y="5175503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79575" y="5175503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tool_tracker.utilization()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21430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397909" y="5175503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434485" y="5175503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ch0 wip_ratio_total  ·  ch1 wip_ratio_ppk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ch0 = 0.0857   /   ch1 = 0.0968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53612"/>
            <a:ext cx="5440680" cy="20985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분모가 다르다: ch0은 '팹 전체 WIP', ch1은 '같은 PPK001 안에서의 WIP' — 같은 wip_q라도 두 관점을 동시에 준다.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이 버킷에 재공이 전혀 없다면(wip_q=0) ch0=ch1=0.0 — '분모가 다르다'는 특징이 사라지고 둘 다 0으로 겹치는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33045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40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wip_ratio_total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15/175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49937"/>
            <a:ext cx="3203143" cy="172135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49937"/>
            <a:ext cx="274509" cy="172135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13361"/>
            <a:ext cx="1798624" cy="24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0.086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539746"/>
            <a:ext cx="5166360" cy="240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wip_ratio_ppk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15/155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815163"/>
            <a:ext cx="3203143" cy="172135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815163"/>
            <a:ext cx="310064" cy="172135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778587"/>
            <a:ext cx="1798624" cy="24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0.097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 집계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32405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wip_po[P1,O2]=15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508198" y="2240280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44774" y="2240280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ppk_wip[P1]=155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802074" y="2240280"/>
            <a:ext cx="111008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38650" y="2240280"/>
            <a:ext cx="103692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total_wip=175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분모 산출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3218687"/>
            <a:ext cx="82478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3218687"/>
            <a:ext cx="7516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total_wip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08935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185415" y="321868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221991" y="321868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175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623412" y="3218687"/>
            <a:ext cx="82478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659988" y="3218687"/>
            <a:ext cx="7516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ppk_total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89349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665828" y="321868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702404" y="321868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155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wip_ratio_total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wip_q/total_wip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13354" y="4197095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649930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15/175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65321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441800" y="4197095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78376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0.0857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wip_ratio_ppk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142999" y="5175503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179575" y="5175503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wip_q/ppk_total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436875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613354" y="5175503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649930" y="5175503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15/155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65321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441800" y="5175503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478376" y="5175503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0.0968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ch2 prev_takt  ·  ch3 post_takt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OPER001 vs OPER002 버킷 비교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eff_takt 정의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2240280"/>
            <a:ext cx="196596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2240280"/>
            <a:ext cx="189280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max(demand_takt,cap_takt)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150107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×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326586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63162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wf_unit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인접 공정 산출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3218687"/>
            <a:ext cx="153802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3218687"/>
            <a:ext cx="14648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eff_takt(OPER001)=1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22167" y="3218687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58743" y="3218687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eff_takt(OPER002)=7.2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정규화 기준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T_avail×wf_unit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13354" y="4197095"/>
            <a:ext cx="1038758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649930" y="4197095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max_takt=360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prev/post_takt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142999" y="5175503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79575" y="5175503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eff_takt(인접)/max_takt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864814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041293" y="5175503"/>
            <a:ext cx="753465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077869" y="5175503"/>
            <a:ext cx="68031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0.0~0.02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OPER002 — 수요가 설비능력보다 빠듯함(수요-병목)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설비능력(cap_takt)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86" name="Right Arrow 85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eff_takt = max(...)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7.2분/carrier</a:t>
            </a:r>
          </a:p>
        </p:txBody>
      </p:sp>
      <p:sp>
        <p:nvSpPr>
          <p:cNvPr id="89" name="Right Arrow 88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계획요구(demand_takt)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7.2분/carrier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demand_takt(7.2) &gt; cap_takt(1.67) → 수요가 더 빠듯 → eff_takt=7.2 채택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eff_takt=max(demand_takt,cap_takt)·wf_unit ; post_takt=eff_takt/360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계획이 널널해 설비능력이 병목(설비-병목)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설비능력(cap_takt)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eff_takt = max(...)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계획요구(demand_takt)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0.3분/carrier(가정)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demand_takt(0.3) &lt; cap_takt(1.67) → 설비능력이 병목 → eff_takt=1.67 채택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q_plan이 아주 크면(예:1200장) demand_takt=360/1200=0.3으로 역전됨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150" b="1" i="0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2100" b="1" i="0">
                <a:solidFill>
                  <a:srgbClr val="1B3255"/>
                </a:solidFill>
                <a:latin typeface="맑은 고딕"/>
              </a:rPr>
              <a:t>State 산식 해설 — ch2/ch3 prev_takt·post_takt 케이스 전수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900" b="0" i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00" b="1" i="0">
                <a:solidFill>
                  <a:srgbClr val="2E6FB0"/>
                </a:solidFill>
                <a:latin typeface="맑은 고딕"/>
              </a:rPr>
              <a:t>prev_takt(ch2)·post_takt(ch3) 공통 로직 — eff_takt = max(demand_takt, cap_takt)·wf_unit   (simulator.py::eff_takt)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30000"/>
            <a:ext cx="2450000" cy="8740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920" y="19700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5C6670"/>
                </a:solidFill>
                <a:latin typeface="맑은 고딕"/>
              </a:rPr>
              <a:t>인접공정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920" y="2250000"/>
            <a:ext cx="2330000" cy="514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flow_prev/flow_post에 해당 OPER 없음 (op=None)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02920" y="1930000"/>
            <a:ext cx="4001400" cy="8740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62920" y="19600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5C6670"/>
                </a:solidFill>
                <a:latin typeface="맑은 고딕"/>
              </a:rPr>
              <a:t>0.0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62920" y="2230000"/>
            <a:ext cx="3881400" cy="534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첫/막 공정 → 비교 대상 없음, 압박 신호 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2920" y="2192000"/>
            <a:ext cx="8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60" b="0" i="0">
                <a:solidFill>
                  <a:srgbClr val="5C6670"/>
                </a:solidFill>
                <a:latin typeface="맑은 고딕"/>
              </a:rPr>
              <a:t>cap_takt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82920" y="2197000"/>
            <a:ext cx="3750000" cy="14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82920" y="2192000"/>
            <a:ext cx="37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ctr"/>
            <a:r>
              <a:rPr sz="760" b="0" i="1">
                <a:solidFill>
                  <a:srgbClr val="5C6670"/>
                </a:solidFill>
                <a:latin typeface="맑은 고딕"/>
              </a:rPr>
              <a:t>해당 없음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02920" y="2392000"/>
            <a:ext cx="8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60" b="0" i="0">
                <a:solidFill>
                  <a:srgbClr val="5C6670"/>
                </a:solidFill>
                <a:latin typeface="맑은 고딕"/>
              </a:rPr>
              <a:t>demand_takt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82920" y="2397000"/>
            <a:ext cx="3750000" cy="14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82920" y="2392000"/>
            <a:ext cx="37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ctr"/>
            <a:r>
              <a:rPr sz="760" b="0" i="1">
                <a:solidFill>
                  <a:srgbClr val="5C6670"/>
                </a:solidFill>
                <a:latin typeface="맑은 고딕"/>
              </a:rPr>
              <a:t>해당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8010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804000"/>
            <a:ext cx="2450000" cy="874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2920" y="28440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2E6FB0"/>
                </a:solidFill>
                <a:latin typeface="맑은 고딕"/>
              </a:rPr>
              <a:t>무계획·capa만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920" y="3124000"/>
            <a:ext cx="2330000" cy="514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인접공정은 있으나 d0_plan_qty 계획이 없음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02920" y="2804000"/>
            <a:ext cx="4001400" cy="874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62920" y="28340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2E6FB0"/>
                </a:solidFill>
                <a:latin typeface="맑은 고딕"/>
              </a:rPr>
              <a:t>1.67분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2920" y="3104000"/>
            <a:ext cx="3881400" cy="534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계획 압박 없이 설비 처리속도만 반영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02920" y="3066000"/>
            <a:ext cx="8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60" b="0" i="0">
                <a:solidFill>
                  <a:srgbClr val="5C6670"/>
                </a:solidFill>
                <a:latin typeface="맑은 고딕"/>
              </a:rPr>
              <a:t>cap_takt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82920" y="3071000"/>
            <a:ext cx="3750000" cy="14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882920" y="3071000"/>
            <a:ext cx="3750000" cy="140000"/>
          </a:xfrm>
          <a:prstGeom prst="rect">
            <a:avLst/>
          </a:prstGeom>
          <a:solidFill>
            <a:srgbClr val="2E6FB0"/>
          </a:solidFill>
          <a:ln w="12700">
            <a:solidFill>
              <a:srgbClr val="1B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52920" y="3066000"/>
            <a:ext cx="70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80" b="1" i="0">
                <a:solidFill>
                  <a:srgbClr val="1B3255"/>
                </a:solidFill>
                <a:latin typeface="맑은 고딕"/>
              </a:rPr>
              <a:t>1.67분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77920" y="3066000"/>
            <a:ext cx="0" cy="14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0" b="0" i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02920" y="3266000"/>
            <a:ext cx="8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60" b="0" i="0">
                <a:solidFill>
                  <a:srgbClr val="5C6670"/>
                </a:solidFill>
                <a:latin typeface="맑은 고딕"/>
              </a:rPr>
              <a:t>demand_takt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82920" y="3271000"/>
            <a:ext cx="3750000" cy="14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52920" y="3266000"/>
            <a:ext cx="70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80" b="0" i="0">
                <a:solidFill>
                  <a:srgbClr val="5C6670"/>
                </a:solidFill>
                <a:latin typeface="맑은 고딕"/>
              </a:rPr>
              <a:t>0분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36750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3678000"/>
            <a:ext cx="2450000" cy="874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2920" y="37180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2E6FB0"/>
                </a:solidFill>
                <a:latin typeface="맑은 고딕"/>
              </a:rPr>
              <a:t>수요-병목 (Case A)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2920" y="3998000"/>
            <a:ext cx="2330000" cy="514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demand_takt(7.2) &gt; cap_takt(1.67)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02920" y="3678000"/>
            <a:ext cx="4001400" cy="874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62920" y="37080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2E6FB0"/>
                </a:solidFill>
                <a:latin typeface="맑은 고딕"/>
              </a:rPr>
              <a:t>7.2분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62920" y="3978000"/>
            <a:ext cx="3881400" cy="534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계획이 급함 → 인접공정 압박이 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02920" y="3940000"/>
            <a:ext cx="8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60" b="0" i="0">
                <a:solidFill>
                  <a:srgbClr val="5C6670"/>
                </a:solidFill>
                <a:latin typeface="맑은 고딕"/>
              </a:rPr>
              <a:t>cap_takt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82920" y="3945000"/>
            <a:ext cx="3750000" cy="14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882920" y="3945000"/>
            <a:ext cx="869791" cy="1400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52920" y="3940000"/>
            <a:ext cx="70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80" b="0" i="0">
                <a:solidFill>
                  <a:srgbClr val="5C6670"/>
                </a:solidFill>
                <a:latin typeface="맑은 고딕"/>
              </a:rPr>
              <a:t>1.67분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02920" y="4140000"/>
            <a:ext cx="8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60" b="0" i="0">
                <a:solidFill>
                  <a:srgbClr val="5C6670"/>
                </a:solidFill>
                <a:latin typeface="맑은 고딕"/>
              </a:rPr>
              <a:t>demand_takt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82920" y="4145000"/>
            <a:ext cx="3750000" cy="14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882920" y="4145000"/>
            <a:ext cx="3750000" cy="140000"/>
          </a:xfrm>
          <a:prstGeom prst="rect">
            <a:avLst/>
          </a:prstGeom>
          <a:solidFill>
            <a:srgbClr val="2E6FB0"/>
          </a:solidFill>
          <a:ln w="12700">
            <a:solidFill>
              <a:srgbClr val="1B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52920" y="4140000"/>
            <a:ext cx="70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80" b="1" i="0">
                <a:solidFill>
                  <a:srgbClr val="1B3255"/>
                </a:solidFill>
                <a:latin typeface="맑은 고딕"/>
              </a:rPr>
              <a:t>7.2분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77920" y="4140000"/>
            <a:ext cx="0" cy="14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0" b="0" i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45490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2920" y="4552000"/>
            <a:ext cx="2450000" cy="874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2920" y="45920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2E6FB0"/>
                </a:solidFill>
                <a:latin typeface="맑은 고딕"/>
              </a:rPr>
              <a:t>설비-병목 (Case B)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920" y="4872000"/>
            <a:ext cx="2330000" cy="514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demand_takt(0.3) ≤ cap_takt(1.67)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702920" y="4552000"/>
            <a:ext cx="4001400" cy="874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62920" y="45820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2E6FB0"/>
                </a:solidFill>
                <a:latin typeface="맑은 고딕"/>
              </a:rPr>
              <a:t>1.67분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62920" y="4852000"/>
            <a:ext cx="3881400" cy="534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설비 처리속도가 한계 → 계획 쪽은 여유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02920" y="4814000"/>
            <a:ext cx="8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60" b="0" i="0">
                <a:solidFill>
                  <a:srgbClr val="5C6670"/>
                </a:solidFill>
                <a:latin typeface="맑은 고딕"/>
              </a:rPr>
              <a:t>cap_takt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82920" y="4819000"/>
            <a:ext cx="3750000" cy="14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882920" y="4819000"/>
            <a:ext cx="3750000" cy="140000"/>
          </a:xfrm>
          <a:prstGeom prst="rect">
            <a:avLst/>
          </a:prstGeom>
          <a:solidFill>
            <a:srgbClr val="2E6FB0"/>
          </a:solidFill>
          <a:ln w="12700">
            <a:solidFill>
              <a:srgbClr val="1B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652920" y="4814000"/>
            <a:ext cx="70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80" b="1" i="0">
                <a:solidFill>
                  <a:srgbClr val="1B3255"/>
                </a:solidFill>
                <a:latin typeface="맑은 고딕"/>
              </a:rPr>
              <a:t>1.67분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877920" y="4814000"/>
            <a:ext cx="0" cy="14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0" b="0" i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002920" y="5014000"/>
            <a:ext cx="8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60" b="0" i="0">
                <a:solidFill>
                  <a:srgbClr val="5C6670"/>
                </a:solidFill>
                <a:latin typeface="맑은 고딕"/>
              </a:rPr>
              <a:t>demand_takt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882920" y="5019000"/>
            <a:ext cx="3750000" cy="14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882920" y="5019000"/>
            <a:ext cx="673652" cy="1400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652920" y="5014000"/>
            <a:ext cx="70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80" b="0" i="0">
                <a:solidFill>
                  <a:srgbClr val="5C6670"/>
                </a:solidFill>
                <a:latin typeface="맑은 고딕"/>
              </a:rPr>
              <a:t>0.3분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54230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02920" y="5426000"/>
            <a:ext cx="2450000" cy="8740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2920" y="54660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B07A2E"/>
                </a:solidFill>
                <a:latin typeface="맑은 고딕"/>
              </a:rPr>
              <a:t>클립 (정규화&gt;1)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2920" y="5746000"/>
            <a:ext cx="2330000" cy="514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eff_takt/max_takt &gt; 1 (잔여계획 극소)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702920" y="5426000"/>
            <a:ext cx="4001400" cy="8740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762920" y="54560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B07A2E"/>
                </a:solidFill>
                <a:latin typeface="맑은 고딕"/>
              </a:rPr>
              <a:t>1.0 (클립)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762920" y="5726000"/>
            <a:ext cx="3881400" cy="534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인접공정이 사실상 개점휴업 수준으로 느림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62920" y="5773000"/>
            <a:ext cx="2926666" cy="180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989586" y="5773000"/>
            <a:ext cx="1463334" cy="1800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062920" y="5773000"/>
            <a:ext cx="4390000" cy="180000"/>
          </a:xfrm>
          <a:prstGeom prst="rect">
            <a:avLst/>
          </a:prstGeom>
          <a:noFill/>
          <a:ln w="9525">
            <a:solidFill>
              <a:srgbClr val="5C6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712253" y="5743000"/>
            <a:ext cx="18000" cy="24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21253" y="5513000"/>
            <a:ext cx="800000" cy="21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900" b="1" i="0">
                <a:solidFill>
                  <a:srgbClr val="1B3255"/>
                </a:solidFill>
                <a:latin typeface="맑은 고딕"/>
              </a:rPr>
              <a:t>1.25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002920" y="5973000"/>
            <a:ext cx="3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750" b="0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89586" y="5973000"/>
            <a:ext cx="6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750" b="0" i="0">
                <a:solidFill>
                  <a:srgbClr val="5C6670"/>
                </a:solidFill>
                <a:latin typeface="맑은 고딕"/>
              </a:rPr>
              <a:t>1.0 (클립점)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02920" y="5973000"/>
            <a:ext cx="6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750" b="0" i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  <p:sp>
        <p:nvSpPr>
          <p:cNvPr id="84" name="Rectangle 83"/>
          <p:cNvSpPr/>
          <p:nvPr/>
        </p:nvSpPr>
        <p:spPr>
          <a:xfrm>
            <a:off x="502920" y="62970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900" b="1" i="0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ch4 self_st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self_st (ch4)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예시에서 OPER002가 가장 느린 공정이라 정규화 최댓값과 같아져 1.0 — 극단값 예시.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가장 빠른 공정(OPER001, st=2분/장) 기준이면 self_st=2/5=0.4 — 1.0(최댓값)이 아니라 여유 있는 공정의 낮은 값도 존재.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911095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self_st (ch4)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5분/장 ÷ max_arrange_st(5)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313432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가공 속도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139537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132222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st_per_wafer=5분/장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정규화 기준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42999" y="3544824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79575" y="3544824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max_arrange_st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6555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42031" y="3544824"/>
            <a:ext cx="254203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7" y="3544824"/>
            <a:ext cx="18105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self_st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4849367"/>
            <a:ext cx="39684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5/5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80996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757475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794051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ch5 plan_urgency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plan_urgency (ch5) = 0.0023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T_avail이 분모라서, 시간이 줄면(예: T_avail=30) 같은 gap=50이어도 urgency=min((50/30)/60,1)=0.0278로 12배 뜀.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마감이 임박해 T_avail=30분이면 같은 gap=50이어도 urgency=min((50/30)/60,1)=0.0278로 12배 뜀 — 시간이 급할수록 값이 커짐.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911095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plan_urgency (ch5)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min((50/360)/60,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350008"/>
            <a:ext cx="18288" cy="182880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313432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C8861E"/>
                </a:solidFill>
                <a:latin typeface="맑은 고딕"/>
              </a:rPr>
              <a:t>0.0023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잔여량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plan_qty=60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151582" y="2240280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88158" y="2240280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completed=10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31488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07967" y="2240280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44543" y="2240280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gap=50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시간 압박 산출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2999" y="3544824"/>
            <a:ext cx="175199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79575" y="3544824"/>
            <a:ext cx="167883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(gap/T_avail)/plan_qty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plan_urgency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42999" y="4849367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9575" y="4849367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(50/360)/60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51582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328061" y="4849367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64637" y="4849367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0.0023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ch6 wip_lot_cd  ·  ch7 wip_temp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wip_lot_cd (ch6) = 1.0   /   wip_temp (ch7) = 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ch7의 0.0은 'TEMP 조건이 아예 없다'는 뜻이지, 오류나 결측이 아니다 — encode_normalized(None,...)의 정상 동작.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TEMP 조건이 있는 공정이라면(temp_idx={T1:0,T2:1}) tp_enc=encode('T2')=1/(2-1)=1.0 — ch7=0.0은 'TEMP 미사용'일 때만 나오는 특수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874519"/>
            <a:ext cx="516636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wip_lot_cd (ch6)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1/(2-1)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093975"/>
            <a:ext cx="3203143" cy="13716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093975"/>
            <a:ext cx="3203143" cy="1371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057399"/>
            <a:ext cx="1798624" cy="210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23160"/>
            <a:ext cx="516636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wip_temp (ch7)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encode(None) → 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642615"/>
            <a:ext cx="3203143" cy="13716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2642615"/>
            <a:ext cx="18288" cy="13716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50247" y="2606039"/>
            <a:ext cx="1798624" cy="210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버킷 속성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lc="A"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794966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31542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tp=None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lot_cd 인코딩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3544824"/>
            <a:ext cx="139537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3544824"/>
            <a:ext cx="132222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encode(A), n_lc=2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952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56000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92576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1/(2−1)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7929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655770" y="3544824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92346" y="3544824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temp 인코딩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42999" y="4849367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79575" y="4849367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encode(None), n_tp=1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9349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969970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06546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ch8 needs_conversion  ·  ch9 tool_can_assign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current_eqp=EQP002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(ch8) = 1.0   /   tool_can_assign (ch9)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두 채널은 current_eqp가 속한 (op,model) 한 칸에만 기록되고, 나머지 칸은 0으로 남는다.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current_eqp의 prev_lot_cd가 이 버킷과 이미 같다면(A=A) would_need_conversion=False → needs_conversion=0.0 (전환 없이 바로 배정 가능).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needs_conversion (ch8)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would_need_conversion → True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49571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B33A3A"/>
                </a:solidFill>
                <a:latin typeface="맑은 고딕"/>
              </a:rPr>
              <a:t>YES (1.0)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615184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tool_can_assign (ch9)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not swap 또는 can_assign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89023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7D4F"/>
                </a:solidFill>
                <a:latin typeface="맑은 고딕"/>
              </a:rPr>
              <a:t>YES (1.0)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소속 판정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75199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167883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current_eqp∈(op,model)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36137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112616" y="2240280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49192" y="2240280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True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전환 필요 판정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42999" y="3218687"/>
            <a:ext cx="253654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9575" y="3218687"/>
            <a:ext cx="246339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would_need_conversion(EQP002,"A")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20692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897171" y="3218687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933747" y="3218687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True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319478" y="4197095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356054" y="4197095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ch8=1.0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공구 배정 판정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142999" y="5175503"/>
            <a:ext cx="225125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79575" y="5175503"/>
            <a:ext cx="21781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¬needs_tool_swap ∨ can_assign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35399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611879" y="5175503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48455" y="5175503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ch9=1.0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ch10 achievable_ratio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도달 가능량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189463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182148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reachable=자기(15)+상류(140)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78783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55263" y="2240280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91839" y="2240280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155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상한 계산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2999" y="3544824"/>
            <a:ext cx="217992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575" y="3544824"/>
            <a:ext cx="210677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min(plan_qty,done+reachable)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64076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40555" y="3544824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77131" y="3544824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min(60,165)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49139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725618" y="3544824"/>
            <a:ext cx="32552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62194" y="3544824"/>
            <a:ext cx="25237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60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achievable_ratio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42999" y="4849367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9575" y="4849367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60/60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2364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900122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936698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상류(OPER001) 재공 140장 — 넉넉함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WIP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140장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도달가능 재공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done10+reachable155</a:t>
            </a:r>
          </a:p>
        </p:txBody>
      </p:sp>
      <p:sp>
        <p:nvSpPr>
          <p:cNvPr id="71" name="Right Arrow 70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 목표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60장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achievable_ratio = min(60,165)/60 = 1.0  (계획 전량 달성 가능)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achievable_ratio = min(plan_qty, done+reachable)/plan_qty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상류 재공이 20장뿐이라면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WIP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20장(가정)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도달가능 재공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done10+reachable35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 목표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60장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achievable_ratio = min(60,45)/60 = 0.75  (상류 부족으로 75% 상한 캡)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상류가 못 따라오면 achievable_ratio&lt;1 → 이 버킷에 더 배정해도 소용없다는 신호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ch11 projected_cover_ratio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필요량 산출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2999" y="2240280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79575" y="2240280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max(achievable_qty−done,1)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21430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397909" y="2240280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34485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need=50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타 설비 탐색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142999" y="3218687"/>
            <a:ext cx="275051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79575" y="3218687"/>
            <a:ext cx="26773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 prev_prod=P1,prev_oper=O2 일치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커버량 산출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142999" y="4197095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9575" y="4197095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remaining/st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2290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399384" y="4197095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35960" y="4197095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360/5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80028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156507" y="4197095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193083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cov=72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42999" y="5175503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79575" y="5175503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min(72/50,2)/2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365551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542031" y="5175503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578607" y="5175503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0.72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다른 설비(EQP003)가 이미 이 버킷을 덮는 중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타 설비 투영생산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EQP003: 72장</a:t>
            </a:r>
          </a:p>
        </p:txBody>
      </p:sp>
      <p:sp>
        <p:nvSpPr>
          <p:cNvPr id="85" name="Right Arrow 84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남은 필요량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need=50장</a:t>
            </a:r>
          </a:p>
        </p:txBody>
      </p:sp>
      <p:sp>
        <p:nvSpPr>
          <p:cNvPr id="88" name="Right Arrow 87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cover/need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min(72/50,2)/2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projected_cover_ratio = 0.72  (이미 덮임 → 지금 설비는 회피 권장)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min(cov/need,2)/2 — 1에 가까울수록 '중복 배정' 위험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커버 중인 다른 설비가 전혀 없다면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타 설비 투영생산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0장(가정)</a:t>
            </a:r>
          </a:p>
        </p:txBody>
      </p:sp>
      <p:sp>
        <p:nvSpPr>
          <p:cNvPr id="97" name="Right Arrow 96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남은 필요량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need=50장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cover/need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min(0/50,2)/2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projected_cover_ratio = 0.0  (아무도 안 덮음 → 지금 배정이 안전)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cov=0이면 비율도 0 — 회피 신호 없이 바로 배정해도 됨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150" b="1" i="0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2100" b="1" i="0">
                <a:solidFill>
                  <a:srgbClr val="1B3255"/>
                </a:solidFill>
                <a:latin typeface="맑은 고딕"/>
              </a:rPr>
              <a:t>State 산식 해설 — ch11 projected_cover_ratio 케이스 전수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900" b="0" i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00" b="1" i="0">
                <a:solidFill>
                  <a:srgbClr val="2E6FB0"/>
                </a:solidFill>
                <a:latin typeface="맑은 고딕"/>
              </a:rPr>
              <a:t>projected_cover_ratio(ch11) 전체 분기 — min(cover/need,2)/2 게이지   (simulator.py::_bucket_projected_cover)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30000"/>
            <a:ext cx="2450000" cy="1092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920" y="19700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5C6670"/>
                </a:solidFill>
                <a:latin typeface="맑은 고딕"/>
              </a:rPr>
              <a:t>커버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920" y="22500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cover=0 (커밋된 다른 설비 없음)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02920" y="1930000"/>
            <a:ext cx="4001400" cy="1092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62920" y="19600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5C6670"/>
                </a:solidFill>
                <a:latin typeface="맑은 고딕"/>
              </a:rPr>
              <a:t>0.0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62920" y="22300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완전 안전 — 지금 배정해도 중복 위험 없음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62920" y="2386250"/>
            <a:ext cx="2195000" cy="180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257920" y="2386250"/>
            <a:ext cx="2195000" cy="1800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62920" y="2386250"/>
            <a:ext cx="4390000" cy="180000"/>
          </a:xfrm>
          <a:prstGeom prst="rect">
            <a:avLst/>
          </a:prstGeom>
          <a:noFill/>
          <a:ln w="9525">
            <a:solidFill>
              <a:srgbClr val="5C6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053920" y="2356250"/>
            <a:ext cx="18000" cy="24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62920" y="2126250"/>
            <a:ext cx="800000" cy="21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900" b="1" i="0">
                <a:solidFill>
                  <a:srgbClr val="1B3255"/>
                </a:solidFill>
                <a:latin typeface="맑은 고딕"/>
              </a:rPr>
              <a:t>0.00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02920" y="2586250"/>
            <a:ext cx="3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750" b="0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7920" y="2586250"/>
            <a:ext cx="6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750" b="0" i="0">
                <a:solidFill>
                  <a:srgbClr val="5C6670"/>
                </a:solidFill>
                <a:latin typeface="맑은 고딕"/>
              </a:rPr>
              <a:t>need(1x)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2920" y="2586250"/>
            <a:ext cx="6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750" b="0" i="0">
                <a:solidFill>
                  <a:srgbClr val="5C6670"/>
                </a:solidFill>
                <a:latin typeface="맑은 고딕"/>
              </a:rPr>
              <a:t>2x 클립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195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3022500"/>
            <a:ext cx="2450000" cy="1092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2920" y="30625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2E6FB0"/>
                </a:solidFill>
                <a:latin typeface="맑은 고딕"/>
              </a:rPr>
              <a:t>부분 커버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2920" y="33425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0 &lt; cover(20) &lt; need(50)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02920" y="3022500"/>
            <a:ext cx="4001400" cy="1092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62920" y="30525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2E6FB0"/>
                </a:solidFill>
                <a:latin typeface="맑은 고딕"/>
              </a:rPr>
              <a:t>0.20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2920" y="33225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일부만 겹침 — 아직 여유 있는 상태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62920" y="3478750"/>
            <a:ext cx="2195000" cy="180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257920" y="3478750"/>
            <a:ext cx="2195000" cy="1800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62920" y="3478750"/>
            <a:ext cx="4390000" cy="180000"/>
          </a:xfrm>
          <a:prstGeom prst="rect">
            <a:avLst/>
          </a:prstGeom>
          <a:noFill/>
          <a:ln w="9525">
            <a:solidFill>
              <a:srgbClr val="5C6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31920" y="3448750"/>
            <a:ext cx="18000" cy="24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40920" y="3218750"/>
            <a:ext cx="800000" cy="21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900" b="1" i="0">
                <a:solidFill>
                  <a:srgbClr val="1B3255"/>
                </a:solidFill>
                <a:latin typeface="맑은 고딕"/>
              </a:rPr>
              <a:t>0.40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02920" y="3678750"/>
            <a:ext cx="3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750" b="0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57920" y="3678750"/>
            <a:ext cx="6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750" b="0" i="0">
                <a:solidFill>
                  <a:srgbClr val="5C6670"/>
                </a:solidFill>
                <a:latin typeface="맑은 고딕"/>
              </a:rPr>
              <a:t>need(1x)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2920" y="3678750"/>
            <a:ext cx="6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750" b="0" i="0">
                <a:solidFill>
                  <a:srgbClr val="5C6670"/>
                </a:solidFill>
                <a:latin typeface="맑은 고딕"/>
              </a:rPr>
              <a:t>2x 클립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1120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4115000"/>
            <a:ext cx="2450000" cy="1092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2920" y="41550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2E6FB0"/>
                </a:solidFill>
                <a:latin typeface="맑은 고딕"/>
              </a:rPr>
              <a:t>정상 범위 (기존 예시)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2920" y="44350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cover(72) ≈ 1.4×need(50)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02920" y="4115000"/>
            <a:ext cx="4001400" cy="1092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62920" y="41450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2E6FB0"/>
                </a:solidFill>
                <a:latin typeface="맑은 고딕"/>
              </a:rPr>
              <a:t>0.72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2920" y="44150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이미 상당히 덮임 → 회피 권장 신호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62920" y="4571250"/>
            <a:ext cx="2195000" cy="180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57920" y="4571250"/>
            <a:ext cx="2195000" cy="1800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062920" y="4571250"/>
            <a:ext cx="4390000" cy="180000"/>
          </a:xfrm>
          <a:prstGeom prst="rect">
            <a:avLst/>
          </a:prstGeom>
          <a:noFill/>
          <a:ln w="9525">
            <a:solidFill>
              <a:srgbClr val="5C6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14720" y="4541250"/>
            <a:ext cx="18000" cy="24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23720" y="4311250"/>
            <a:ext cx="800000" cy="21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900" b="1" i="0">
                <a:solidFill>
                  <a:srgbClr val="1B3255"/>
                </a:solidFill>
                <a:latin typeface="맑은 고딕"/>
              </a:rPr>
              <a:t>1.44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02920" y="4771250"/>
            <a:ext cx="3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750" b="0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57920" y="4771250"/>
            <a:ext cx="6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750" b="0" i="0">
                <a:solidFill>
                  <a:srgbClr val="5C6670"/>
                </a:solidFill>
                <a:latin typeface="맑은 고딕"/>
              </a:rPr>
              <a:t>need(1x)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02920" y="4771250"/>
            <a:ext cx="6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750" b="0" i="0">
                <a:solidFill>
                  <a:srgbClr val="5C6670"/>
                </a:solidFill>
                <a:latin typeface="맑은 고딕"/>
              </a:rPr>
              <a:t>2x 클립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2045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5207500"/>
            <a:ext cx="2450000" cy="1092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2920" y="52475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B07A2E"/>
                </a:solidFill>
                <a:latin typeface="맑은 고딕"/>
              </a:rPr>
              <a:t>클립 (완전 중복)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920" y="55275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cover(120) ≥ 2×need(50)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702920" y="5207500"/>
            <a:ext cx="4001400" cy="1092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762920" y="52375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B07A2E"/>
                </a:solidFill>
                <a:latin typeface="맑은 고딕"/>
              </a:rPr>
              <a:t>1.0 (클립)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62920" y="55075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필요량의 2배 이상 커버 중 → 최댓값, 강력 회피 신호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062920" y="5663750"/>
            <a:ext cx="2195000" cy="180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257920" y="5663750"/>
            <a:ext cx="2195000" cy="1800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062920" y="5663750"/>
            <a:ext cx="4390000" cy="180000"/>
          </a:xfrm>
          <a:prstGeom prst="rect">
            <a:avLst/>
          </a:prstGeom>
          <a:noFill/>
          <a:ln w="9525">
            <a:solidFill>
              <a:srgbClr val="5C6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443920" y="5633750"/>
            <a:ext cx="18000" cy="24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052920" y="5403750"/>
            <a:ext cx="800000" cy="21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900" b="1" i="0">
                <a:solidFill>
                  <a:srgbClr val="1B3255"/>
                </a:solidFill>
                <a:latin typeface="맑은 고딕"/>
              </a:rPr>
              <a:t>2.40+ (초과)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002920" y="5863750"/>
            <a:ext cx="3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750" b="0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957920" y="5863750"/>
            <a:ext cx="6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750" b="0" i="0">
                <a:solidFill>
                  <a:srgbClr val="5C6670"/>
                </a:solidFill>
                <a:latin typeface="맑은 고딕"/>
              </a:rPr>
              <a:t>need(1x)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02920" y="5863750"/>
            <a:ext cx="6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750" b="0" i="0">
                <a:solidFill>
                  <a:srgbClr val="5C6670"/>
                </a:solidFill>
                <a:latin typeface="맑은 고딕"/>
              </a:rPr>
              <a:t>2x 클립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62970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900" b="1" i="0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ch12 starve_time_norm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소비 속도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Σ(1/st) 현재공정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222905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399384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35960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3×(1/5)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2675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299154" y="2240280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335730" y="2240280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공급 속도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42999" y="3544824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79575" y="3544824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Σ(1/st) 선행공정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22905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399384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435960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2×(1/2)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22675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299154" y="3544824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35730" y="3544824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비교·결과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849367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849367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consume≤supply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6555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542031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78607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실제 MINI-A — 공급(1.0)이 소비(0.6)보다 빠름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공급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supply 1.0매/분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재공(WIP)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15장 → 안 마름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이 공정 소비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consume 0.6매/분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supply≥consume → starve_time_norm = 1.0  (소진 없음, 안전)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consume≤supply 이면 재공이 계속 채워지므로 else 분기(=1.0) 적용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소비(1.0)가 공급(0.6)보다 빠르면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공급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supply 0.6매/분</a:t>
            </a:r>
          </a:p>
        </p:txBody>
      </p:sp>
      <p:sp>
        <p:nvSpPr>
          <p:cNvPr id="92" name="Right Arrow 91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재공(WIP)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15장 → 37.5분 후 0</a:t>
            </a:r>
          </a:p>
        </p:txBody>
      </p:sp>
      <p:sp>
        <p:nvSpPr>
          <p:cNvPr id="95" name="Right Arrow 94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이 공정 소비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consume 1.0매/분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net=0.4/분 → starve_time=15/0.4=37.5분 → norm=min(37.5/360,1)=0.10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consume&gt;supply 이면 net_rate로 재공이 줄어 T_avail 내 소진 위험(0에 가까움=위험)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150" b="1" i="0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2100" b="1" i="0">
                <a:solidFill>
                  <a:srgbClr val="1B3255"/>
                </a:solidFill>
                <a:latin typeface="맑은 고딕"/>
              </a:rPr>
              <a:t>State 산식 해설 — ch12 starve_time_norm 케이스 전수 (계층값)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900" b="0" i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00" b="1" i="0">
                <a:solidFill>
                  <a:srgbClr val="2E6FB0"/>
                </a:solidFill>
                <a:latin typeface="맑은 고딕"/>
              </a:rPr>
              <a:t>starve_time_norm(ch12) 전체 분기 — 소진까지 남은 시간을 1h/2h/4h 구간으로 이산화 (0/0.25/0.5/0.75/1)   (simulator.py, oi/pi 루프)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30000"/>
            <a:ext cx="2450000" cy="874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920" y="19700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2E6FB0"/>
                </a:solidFill>
                <a:latin typeface="맑은 고딕"/>
              </a:rPr>
              <a:t>공급≥소비 (안전)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920" y="2250000"/>
            <a:ext cx="2330000" cy="514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consume_rate ≤ supply_rate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02920" y="1930000"/>
            <a:ext cx="4001400" cy="874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62920" y="19600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62920" y="2230000"/>
            <a:ext cx="3881400" cy="534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재공이 안 마름 → 계층 판단과 무관하게 항상 최댓값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62920" y="2277000"/>
            <a:ext cx="4390000" cy="180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62920" y="2017000"/>
            <a:ext cx="4390000" cy="21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900" b="1" i="0">
                <a:solidFill>
                  <a:srgbClr val="2E6FB0"/>
                </a:solidFill>
                <a:latin typeface="맑은 고딕"/>
              </a:rPr>
              <a:t>공급 ≥ 소비 — 계층 무관, 항상 1.0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8010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804000"/>
            <a:ext cx="2450000" cy="874000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2920" y="28440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B33A3A"/>
                </a:solidFill>
                <a:latin typeface="맑은 고딕"/>
              </a:rPr>
              <a:t>1시간 이내 소진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2920" y="3124000"/>
            <a:ext cx="2330000" cy="514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starve_time ≤ 60분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02920" y="2804000"/>
            <a:ext cx="4001400" cy="874000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62920" y="28340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B33A3A"/>
                </a:solidFill>
                <a:latin typeface="맑은 고딕"/>
              </a:rPr>
              <a:t>0.0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2920" y="3104000"/>
            <a:ext cx="3881400" cy="534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가장 시급 — 1시간 안에 재공이 바닥날 것으로 예상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62920" y="3151000"/>
            <a:ext cx="823125" cy="180000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886045" y="3151000"/>
            <a:ext cx="823125" cy="1800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09170" y="3151000"/>
            <a:ext cx="1646250" cy="180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420" y="3151000"/>
            <a:ext cx="1097500" cy="1800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062920" y="3151000"/>
            <a:ext cx="4390000" cy="180000"/>
          </a:xfrm>
          <a:prstGeom prst="rect">
            <a:avLst/>
          </a:prstGeom>
          <a:noFill/>
          <a:ln w="9525">
            <a:solidFill>
              <a:srgbClr val="5C6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02670" y="3121000"/>
            <a:ext cx="18000" cy="24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11670" y="2891000"/>
            <a:ext cx="800000" cy="21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900" b="1" i="0">
                <a:solidFill>
                  <a:srgbClr val="1B3255"/>
                </a:solidFill>
                <a:latin typeface="맑은 고딕"/>
              </a:rPr>
              <a:t>40분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86045" y="3351000"/>
            <a:ext cx="6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730" b="0" i="0">
                <a:solidFill>
                  <a:srgbClr val="5C6670"/>
                </a:solidFill>
                <a:latin typeface="맑은 고딕"/>
              </a:rPr>
              <a:t>60분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9170" y="3351000"/>
            <a:ext cx="6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730" b="0" i="0">
                <a:solidFill>
                  <a:srgbClr val="5C6670"/>
                </a:solidFill>
                <a:latin typeface="맑은 고딕"/>
              </a:rPr>
              <a:t>120분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55420" y="3351000"/>
            <a:ext cx="6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730" b="0" i="0">
                <a:solidFill>
                  <a:srgbClr val="5C6670"/>
                </a:solidFill>
                <a:latin typeface="맑은 고딕"/>
              </a:rPr>
              <a:t>240분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6750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678000"/>
            <a:ext cx="2450000" cy="8740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2920" y="37180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B07A2E"/>
                </a:solidFill>
                <a:latin typeface="맑은 고딕"/>
              </a:rPr>
              <a:t>2시간 이내 소진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920" y="3998000"/>
            <a:ext cx="2330000" cy="514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60분 &lt; starve_time ≤ 120분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02920" y="3678000"/>
            <a:ext cx="4001400" cy="8740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62920" y="37080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B07A2E"/>
                </a:solidFill>
                <a:latin typeface="맑은 고딕"/>
              </a:rPr>
              <a:t>0.25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62920" y="3978000"/>
            <a:ext cx="3881400" cy="534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다소 시급 — 1~2시간 사이 소진 예상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062920" y="4025000"/>
            <a:ext cx="823125" cy="180000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886045" y="4025000"/>
            <a:ext cx="823125" cy="1800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709170" y="4025000"/>
            <a:ext cx="1646250" cy="180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55420" y="4025000"/>
            <a:ext cx="1097500" cy="1800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062920" y="4025000"/>
            <a:ext cx="4390000" cy="180000"/>
          </a:xfrm>
          <a:prstGeom prst="rect">
            <a:avLst/>
          </a:prstGeom>
          <a:noFill/>
          <a:ln w="9525">
            <a:solidFill>
              <a:srgbClr val="5C6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88607" y="3995000"/>
            <a:ext cx="18000" cy="24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97607" y="3765000"/>
            <a:ext cx="800000" cy="21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900" b="1" i="0">
                <a:solidFill>
                  <a:srgbClr val="1B3255"/>
                </a:solidFill>
                <a:latin typeface="맑은 고딕"/>
              </a:rPr>
              <a:t>90분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86045" y="4225000"/>
            <a:ext cx="6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730" b="0" i="0">
                <a:solidFill>
                  <a:srgbClr val="5C6670"/>
                </a:solidFill>
                <a:latin typeface="맑은 고딕"/>
              </a:rPr>
              <a:t>60분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09170" y="4225000"/>
            <a:ext cx="6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730" b="0" i="0">
                <a:solidFill>
                  <a:srgbClr val="5C6670"/>
                </a:solidFill>
                <a:latin typeface="맑은 고딕"/>
              </a:rPr>
              <a:t>120분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55420" y="4225000"/>
            <a:ext cx="6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730" b="0" i="0">
                <a:solidFill>
                  <a:srgbClr val="5C6670"/>
                </a:solidFill>
                <a:latin typeface="맑은 고딕"/>
              </a:rPr>
              <a:t>240분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5490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552000"/>
            <a:ext cx="2450000" cy="874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2920" y="45920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2E6FB0"/>
                </a:solidFill>
                <a:latin typeface="맑은 고딕"/>
              </a:rPr>
              <a:t>4시간 이내 소진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2920" y="4872000"/>
            <a:ext cx="2330000" cy="514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120분 &lt; starve_time ≤ 240분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702920" y="4552000"/>
            <a:ext cx="4001400" cy="874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62920" y="45820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2E6FB0"/>
                </a:solidFill>
                <a:latin typeface="맑은 고딕"/>
              </a:rPr>
              <a:t>0.5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62920" y="4852000"/>
            <a:ext cx="3881400" cy="534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보통 — 2~4시간 사이 소진 예상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062920" y="4899000"/>
            <a:ext cx="823125" cy="180000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886045" y="4899000"/>
            <a:ext cx="823125" cy="1800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709170" y="4899000"/>
            <a:ext cx="1646250" cy="180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55420" y="4899000"/>
            <a:ext cx="1097500" cy="1800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062920" y="4899000"/>
            <a:ext cx="4390000" cy="180000"/>
          </a:xfrm>
          <a:prstGeom prst="rect">
            <a:avLst/>
          </a:prstGeom>
          <a:noFill/>
          <a:ln w="9525">
            <a:solidFill>
              <a:srgbClr val="5C6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523295" y="4869000"/>
            <a:ext cx="18000" cy="24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32295" y="4639000"/>
            <a:ext cx="800000" cy="21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900" b="1" i="0">
                <a:solidFill>
                  <a:srgbClr val="1B3255"/>
                </a:solidFill>
                <a:latin typeface="맑은 고딕"/>
              </a:rPr>
              <a:t>180분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586045" y="5099000"/>
            <a:ext cx="6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730" b="0" i="0">
                <a:solidFill>
                  <a:srgbClr val="5C6670"/>
                </a:solidFill>
                <a:latin typeface="맑은 고딕"/>
              </a:rPr>
              <a:t>60분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09170" y="5099000"/>
            <a:ext cx="6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730" b="0" i="0">
                <a:solidFill>
                  <a:srgbClr val="5C6670"/>
                </a:solidFill>
                <a:latin typeface="맑은 고딕"/>
              </a:rPr>
              <a:t>120분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55420" y="5099000"/>
            <a:ext cx="6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730" b="0" i="0">
                <a:solidFill>
                  <a:srgbClr val="5C6670"/>
                </a:solidFill>
                <a:latin typeface="맑은 고딕"/>
              </a:rPr>
              <a:t>240분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54230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02920" y="5426000"/>
            <a:ext cx="2450000" cy="8740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2920" y="54660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5C6670"/>
                </a:solidFill>
                <a:latin typeface="맑은 고딕"/>
              </a:rPr>
              <a:t>4시간 초과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2920" y="5746000"/>
            <a:ext cx="2330000" cy="514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starve_time &gt; 240분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702920" y="5426000"/>
            <a:ext cx="4001400" cy="8740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762920" y="54560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5C6670"/>
                </a:solidFill>
                <a:latin typeface="맑은 고딕"/>
              </a:rPr>
              <a:t>0.75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762920" y="5726000"/>
            <a:ext cx="3881400" cy="534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여유 — 4시간을 넘어서야 소진되지만 언젠가는 소진됨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62920" y="5773000"/>
            <a:ext cx="823125" cy="180000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886045" y="5773000"/>
            <a:ext cx="823125" cy="1800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709170" y="5773000"/>
            <a:ext cx="1646250" cy="180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355420" y="5773000"/>
            <a:ext cx="1097500" cy="1800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062920" y="5773000"/>
            <a:ext cx="4390000" cy="180000"/>
          </a:xfrm>
          <a:prstGeom prst="rect">
            <a:avLst/>
          </a:prstGeom>
          <a:noFill/>
          <a:ln w="9525">
            <a:solidFill>
              <a:srgbClr val="5C6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443920" y="5743000"/>
            <a:ext cx="18000" cy="24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052920" y="5513000"/>
            <a:ext cx="800000" cy="21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900" b="1" i="0">
                <a:solidFill>
                  <a:srgbClr val="1B3255"/>
                </a:solidFill>
                <a:latin typeface="맑은 고딕"/>
              </a:rPr>
              <a:t>320분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586045" y="5973000"/>
            <a:ext cx="6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730" b="0" i="0">
                <a:solidFill>
                  <a:srgbClr val="5C6670"/>
                </a:solidFill>
                <a:latin typeface="맑은 고딕"/>
              </a:rPr>
              <a:t>60분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409170" y="5973000"/>
            <a:ext cx="6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730" b="0" i="0">
                <a:solidFill>
                  <a:srgbClr val="5C6670"/>
                </a:solidFill>
                <a:latin typeface="맑은 고딕"/>
              </a:rPr>
              <a:t>120분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55420" y="5973000"/>
            <a:ext cx="6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730" b="0" i="0">
                <a:solidFill>
                  <a:srgbClr val="5C6670"/>
                </a:solidFill>
                <a:latin typeface="맑은 고딕"/>
              </a:rPr>
              <a:t>240분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02920" y="62970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900" b="1" i="0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ch13 avoidable_frac (α)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avoidable_frac(ch13) 상세   (simulation/simulator.py)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(ch8) = 1.0   /   avoidable_frac (ch13) = 0.619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111496"/>
            <a:ext cx="5440680" cy="7406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α=0.619 → 이 전환의 62%는 다른 설비가 대신 커버 가능했다는 뜻 → 실제로 전환을 감행하면 avoidable_conversion = -8.0×0.619 ≈ -4.95 페널티.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대체 가능한 다른 설비가 전혀 없다면(alt_cap=0) coverage_frac=0 — α는 short_run_frac만으로 결정되고, 짧게 돌고 끝나는 상황이면 α가 1.0까지 치솟아 '회피 불가능한 전환'이 됨.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133295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133295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602382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291602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291602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730398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385108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513124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167835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448147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448147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295851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wn Arrow 40"/>
          <p:cNvSpPr/>
          <p:nvPr/>
        </p:nvSpPr>
        <p:spPr>
          <a:xfrm>
            <a:off x="704088" y="495056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30936" y="5264200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" y="5264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3271" y="5078577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63640" y="1819656"/>
            <a:ext cx="5440680" cy="268833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1892807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수요 vs 대체 capa (매)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2236388"/>
            <a:ext cx="1549908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demand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50708" y="2350472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50708" y="2350472"/>
            <a:ext cx="2583180" cy="1645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607040" y="2236388"/>
            <a:ext cx="941831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4A6D8C"/>
                </a:solidFill>
                <a:latin typeface="맑은 고딕"/>
              </a:rPr>
              <a:t>155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2629148"/>
            <a:ext cx="1549908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alt_cap (EQP001+EQP003)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50708" y="2743232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950708" y="2743232"/>
            <a:ext cx="1599905" cy="1645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07040" y="2629148"/>
            <a:ext cx="941831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2E6FB0"/>
                </a:solidFill>
                <a:latin typeface="맑은 고딕"/>
              </a:rPr>
              <a:t>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0" y="3021909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coverage_frac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min(96/155, 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0" y="338322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400800" y="3383221"/>
            <a:ext cx="1982745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50247" y="334664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0.619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0" y="3811219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α = avoidable_frac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max(0.619, short_run_frac=0)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417253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400800" y="4172531"/>
            <a:ext cx="1982745" cy="182880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50247" y="413595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C8861E"/>
                </a:solidFill>
                <a:latin typeface="맑은 고딕"/>
              </a:rPr>
              <a:t>0.619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수요 산출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142999" y="2240280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9575" y="2240280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140(O1)+15(O2)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65551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542031" y="2240280"/>
            <a:ext cx="89611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578607" y="2240280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demand=155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42999" y="2785262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대체 capa 산출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142999" y="3023006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79575" y="3023006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EQP001:160/2=80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436875" y="3023006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73451" y="3023006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EQP003:80/5=16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9427" y="3023006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835906" y="3023006"/>
            <a:ext cx="89611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72482" y="3023006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alt_cap=96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2999" y="3567988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coverage_frac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142999" y="3805732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79575" y="3805732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96/155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4966" y="3805732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971445" y="3805732"/>
            <a:ext cx="53949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008021" y="3805732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0.619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42999" y="435071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short_run_frac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142999" y="4588458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179575" y="4588458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여유 충분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723643" y="4588458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900122" y="4588458"/>
            <a:ext cx="1324051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936698" y="4588458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short_run_frac=0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42999" y="513344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α (avoidable_frac)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142999" y="5371184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179575" y="5371184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max(0.619,0)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222905" y="537118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399384" y="5371184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435960" y="537118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α=0.619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150" b="1" i="0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2100" b="1" i="0">
                <a:solidFill>
                  <a:srgbClr val="1B3255"/>
                </a:solidFill>
                <a:latin typeface="맑은 고딕"/>
              </a:rPr>
              <a:t>State 산식 해설 — ch13 avoidable_frac(α) 케이스 전수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900" b="0" i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00" b="1" i="0">
                <a:solidFill>
                  <a:srgbClr val="2E6FB0"/>
                </a:solidFill>
                <a:latin typeface="맑은 고딕"/>
              </a:rPr>
              <a:t>avoidable_frac(ch13, α) 전체 분기 — max(coverage_frac, short_run_frac)   (simulator.py::_conversion_avoidable_fraction)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30000"/>
            <a:ext cx="2450000" cy="1092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920" y="19700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5C6670"/>
                </a:solidFill>
                <a:latin typeface="맑은 고딕"/>
              </a:rPr>
              <a:t>수요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920" y="22500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demand ≤ 0 (이 세팅 재공 자체가 없음)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02920" y="1930000"/>
            <a:ext cx="4001400" cy="1092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62920" y="19600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5C6670"/>
                </a:solidFill>
                <a:latin typeface="맑은 고딕"/>
              </a:rPr>
              <a:t>0.0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62920" y="22300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비교할 수요가 없어 즉시 0 반환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2920" y="2301250"/>
            <a:ext cx="8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60" b="0" i="0">
                <a:solidFill>
                  <a:srgbClr val="5C6670"/>
                </a:solidFill>
                <a:latin typeface="맑은 고딕"/>
              </a:rPr>
              <a:t>coverage_frac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82920" y="2306250"/>
            <a:ext cx="3750000" cy="14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82920" y="2301250"/>
            <a:ext cx="37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ctr"/>
            <a:r>
              <a:rPr sz="760" b="0" i="1">
                <a:solidFill>
                  <a:srgbClr val="5C6670"/>
                </a:solidFill>
                <a:latin typeface="맑은 고딕"/>
              </a:rPr>
              <a:t>해당 없음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02920" y="2501250"/>
            <a:ext cx="8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60" b="0" i="0">
                <a:solidFill>
                  <a:srgbClr val="5C6670"/>
                </a:solidFill>
                <a:latin typeface="맑은 고딕"/>
              </a:rPr>
              <a:t>short_run_frac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82920" y="2506250"/>
            <a:ext cx="3750000" cy="14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82920" y="2501250"/>
            <a:ext cx="37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ctr"/>
            <a:r>
              <a:rPr sz="760" b="0" i="1">
                <a:solidFill>
                  <a:srgbClr val="5C6670"/>
                </a:solidFill>
                <a:latin typeface="맑은 고딕"/>
              </a:rPr>
              <a:t>해당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0195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022500"/>
            <a:ext cx="2450000" cy="1092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2920" y="30625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2E6FB0"/>
                </a:solidFill>
                <a:latin typeface="맑은 고딕"/>
              </a:rPr>
              <a:t>커버 우세 (기존 예시)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920" y="33425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alt_cap(96)/demand(155)=0.619 이 더 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02920" y="3022500"/>
            <a:ext cx="4001400" cy="1092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62920" y="30525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2E6FB0"/>
                </a:solidFill>
                <a:latin typeface="맑은 고딕"/>
              </a:rPr>
              <a:t>0.619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2920" y="33225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다른 설비가 62%를 대신 커버 가능 → 회피 권장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02920" y="3393750"/>
            <a:ext cx="8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60" b="0" i="0">
                <a:solidFill>
                  <a:srgbClr val="5C6670"/>
                </a:solidFill>
                <a:latin typeface="맑은 고딕"/>
              </a:rPr>
              <a:t>coverage_frac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82920" y="3398750"/>
            <a:ext cx="3750000" cy="14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882920" y="3398750"/>
            <a:ext cx="3750000" cy="140000"/>
          </a:xfrm>
          <a:prstGeom prst="rect">
            <a:avLst/>
          </a:prstGeom>
          <a:solidFill>
            <a:srgbClr val="2E6FB0"/>
          </a:solidFill>
          <a:ln w="12700">
            <a:solidFill>
              <a:srgbClr val="1B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52920" y="3393750"/>
            <a:ext cx="70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80" b="1" i="0">
                <a:solidFill>
                  <a:srgbClr val="1B3255"/>
                </a:solidFill>
                <a:latin typeface="맑은 고딕"/>
              </a:rPr>
              <a:t>0.619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77920" y="3393750"/>
            <a:ext cx="0" cy="14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0" b="0" i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02920" y="3593750"/>
            <a:ext cx="8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60" b="0" i="0">
                <a:solidFill>
                  <a:srgbClr val="5C6670"/>
                </a:solidFill>
                <a:latin typeface="맑은 고딕"/>
              </a:rPr>
              <a:t>short_run_frac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82920" y="3598750"/>
            <a:ext cx="3750000" cy="14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52920" y="3593750"/>
            <a:ext cx="70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80" b="0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1120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4115000"/>
            <a:ext cx="2450000" cy="1092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2920" y="41550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2E6FB0"/>
                </a:solidFill>
                <a:latin typeface="맑은 고딕"/>
              </a:rPr>
              <a:t>짧은 가동 우세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2920" y="44350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my_run_min(3) &lt; need(10) → short_run=0.7 이 더 큼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02920" y="4115000"/>
            <a:ext cx="4001400" cy="1092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62920" y="41450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2E6FB0"/>
                </a:solidFill>
                <a:latin typeface="맑은 고딕"/>
              </a:rPr>
              <a:t>0.70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62920" y="44150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변환해도 금방 일감이 끝나 비용을 못 뽑음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02920" y="4486250"/>
            <a:ext cx="8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60" b="0" i="0">
                <a:solidFill>
                  <a:srgbClr val="5C6670"/>
                </a:solidFill>
                <a:latin typeface="맑은 고딕"/>
              </a:rPr>
              <a:t>coverage_frac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82920" y="4491250"/>
            <a:ext cx="3750000" cy="14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882920" y="4491250"/>
            <a:ext cx="535714" cy="1400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52920" y="4486250"/>
            <a:ext cx="70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80" b="0" i="0">
                <a:solidFill>
                  <a:srgbClr val="5C6670"/>
                </a:solidFill>
                <a:latin typeface="맑은 고딕"/>
              </a:rPr>
              <a:t>0.1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02920" y="4686250"/>
            <a:ext cx="8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60" b="0" i="0">
                <a:solidFill>
                  <a:srgbClr val="5C6670"/>
                </a:solidFill>
                <a:latin typeface="맑은 고딕"/>
              </a:rPr>
              <a:t>short_run_frac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82920" y="4691250"/>
            <a:ext cx="3750000" cy="14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882920" y="4691250"/>
            <a:ext cx="3750000" cy="140000"/>
          </a:xfrm>
          <a:prstGeom prst="rect">
            <a:avLst/>
          </a:prstGeom>
          <a:solidFill>
            <a:srgbClr val="2E6FB0"/>
          </a:solidFill>
          <a:ln w="12700">
            <a:solidFill>
              <a:srgbClr val="1B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52920" y="4686250"/>
            <a:ext cx="70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80" b="1" i="0">
                <a:solidFill>
                  <a:srgbClr val="1B3255"/>
                </a:solidFill>
                <a:latin typeface="맑은 고딕"/>
              </a:rPr>
              <a:t>0.7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77920" y="4686250"/>
            <a:ext cx="0" cy="14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0" b="0" i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2045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2920" y="5207500"/>
            <a:ext cx="2450000" cy="1092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2920" y="52475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5C6670"/>
                </a:solidFill>
                <a:latin typeface="맑은 고딕"/>
              </a:rPr>
              <a:t>회피 불가 (합리적 전환)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920" y="55275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coverage_frac=0, short_run_frac=0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702920" y="5207500"/>
            <a:ext cx="4001400" cy="1092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62920" y="52375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5C6670"/>
                </a:solidFill>
                <a:latin typeface="맑은 고딕"/>
              </a:rPr>
              <a:t>0.0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62920" y="55075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대안도 없고 충분히 길게 돎 → 전환이 정당함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02920" y="5578750"/>
            <a:ext cx="8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60" b="0" i="0">
                <a:solidFill>
                  <a:srgbClr val="5C6670"/>
                </a:solidFill>
                <a:latin typeface="맑은 고딕"/>
              </a:rPr>
              <a:t>coverage_frac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82920" y="5583750"/>
            <a:ext cx="3750000" cy="14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652920" y="5578750"/>
            <a:ext cx="70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80" b="0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002920" y="5778750"/>
            <a:ext cx="8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60" b="0" i="0">
                <a:solidFill>
                  <a:srgbClr val="5C6670"/>
                </a:solidFill>
                <a:latin typeface="맑은 고딕"/>
              </a:rPr>
              <a:t>short_run_frac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882920" y="5783750"/>
            <a:ext cx="3750000" cy="14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652920" y="5778750"/>
            <a:ext cx="70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80" b="0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62970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900" b="1" i="0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212848"/>
            <a:ext cx="105156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21284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807208"/>
            <a:ext cx="5212080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8986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191256"/>
            <a:ext cx="489204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807208"/>
            <a:ext cx="5212080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8986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191256"/>
            <a:ext cx="489204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904487"/>
            <a:ext cx="105156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904487"/>
            <a:ext cx="105156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870448"/>
            <a:ext cx="105156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  <p:sp>
        <p:nvSpPr>
          <p:cNvPr id="4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한 번의 결정으로 버킷(무엇을)과 블록크기(몇 개 연속)를 함께 고릅니다.</a:t>
            </a:r>
          </a:p>
        </p:txBody>
      </p:sp>
      <p:sp>
        <p:nvSpPr>
          <p:cNvPr id="43" name="Rectangle 12"/>
          <p:cNvSpPr/>
          <p:nvPr/>
        </p:nvSpPr>
        <p:spPr>
          <a:xfrm>
            <a:off x="6199632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13"/>
          <p:cNvSpPr/>
          <p:nvPr/>
        </p:nvSpPr>
        <p:spPr>
          <a:xfrm>
            <a:off x="6199632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행동 차원을 줄이면서 같은 셋업을 크게 묶어 전환 횟수를 근본적으로 줄입니다.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스텝마다 8개 보상 항목의 가중합을 계산해 ±10으로 클리핑합니다.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무엇이 좋고 나쁜 행동인지 정책이 정량적으로 학습하도록 인센티브를 설계합니다.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3977639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2267712"/>
            <a:ext cx="37947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맑은 고딕"/>
              </a:rPr>
              <a:t>보상 항목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2212848"/>
            <a:ext cx="105156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2267712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624327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전환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w_conversion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셋업(LOT_CD/TEMP) 변경마다 부과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59" y="2578608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59" y="2697479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63239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3108959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회피가능 전환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w_avoidable_conversion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다른 무전환 설비가 커버 가능한 전환에 추가 부과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59" y="3063239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59" y="3182111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47872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3593591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페이싱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w_pacing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달성가능 상한 기준 takt에 가까울수록 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59" y="3547872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59" y="366674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32504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" y="4078224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동일 셋업 연속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w_same_setup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직전과 제품·공정 동일 + 재공 잔존 시 +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80559" y="4032504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0559" y="4151376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517136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" y="4562855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블록 크기 보너스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w_bulk_block_bonus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큰 블록으로 커밋할수록 + (takt예산 대비)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559" y="4517136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80559" y="4636007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001768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" y="5047488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전용 오용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w_dedication_misuse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전용 설비가 유휴인데 범용 설비가 대신 잡으면 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80559" y="5001768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59" y="51206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486400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8" y="5532120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중복 커버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w_redundant_cover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이미 충분히 커버된 버킷을 또 잡으면 −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80559" y="5486400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80559" y="5605272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80760" y="2322576"/>
            <a:ext cx="54406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B3255"/>
                </a:solidFill>
                <a:latin typeface="맑은 고딕"/>
              </a:rPr>
              <a:t>보상 가중치 비교 (인포그래픽)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57032" y="2651760"/>
            <a:ext cx="54864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5C6670"/>
                </a:solidFill>
                <a:latin typeface="맑은 고딕"/>
              </a:rPr>
              <a:t>-10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83980" y="2651760"/>
            <a:ext cx="36576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2651760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0">
                <a:solidFill>
                  <a:srgbClr val="5C6670"/>
                </a:solidFill>
                <a:latin typeface="맑은 고딕"/>
              </a:rPr>
              <a:t>+10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0760" y="281635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전환 패널티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75320" y="2935224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111996" y="2889504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75320" y="2935224"/>
            <a:ext cx="845820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835640" y="28437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32689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75320" y="3387852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111996" y="334213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444484" y="3387852"/>
            <a:ext cx="676656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35640" y="32964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80760" y="372160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75320" y="3840480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11996" y="3794760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121140" y="3840480"/>
            <a:ext cx="211455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835640" y="37490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80760" y="4174235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동일 셋업 연속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75320" y="4293107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11996" y="4247388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121140" y="4293107"/>
            <a:ext cx="84582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835640" y="42016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80760" y="462686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블록 크기 보너스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275320" y="4745736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11996" y="4700016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121140" y="4745736"/>
            <a:ext cx="253745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835640" y="46542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80760" y="507949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전용 오용 패널티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75320" y="5198364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11996" y="5152644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782812" y="5198364"/>
            <a:ext cx="338328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835640" y="510692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53212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중복 커버 패널티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275320" y="5650992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111996" y="56052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698230" y="5650992"/>
            <a:ext cx="422910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835640" y="55595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PLAN_PROD_ATTR_VAL,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PLAN_PROD_ATTR_VAL,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"PLAN_PROD_ATTR_VAL":"PPK001","OPER_ID":"OPER001",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48840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21992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21992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21992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624328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97480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97480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697480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99816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172968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172968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172968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575304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48456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648456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648456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050791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123944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123944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123944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526279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599431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599431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599431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001767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074919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074919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074919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5477255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550407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전용 오용  w_dedication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550407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더 전용 idle 설비가 있는데 범용이 선점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5550407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8개 보상 항목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을 항목별 상세(쉬운 설명·수식·A/B·실측)로 설명한 뒤,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Reward(8항 전체)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동일 셋업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w_same_setup · 1[직전 PPK·OPER 동일 &amp; 재공 잔존]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직전과 제품(PPK)·공정(OPER)이 같으면 셋업 변경 없이 +1. 셋업을 이어 붙이라는 신호.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1[동일]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직전 PPK·OPER = 이번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비용을 피하고 같은 셋업으로 연속 가공하도록 유도.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연속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EQP001이 직전과 동일 PPK001·OPER001로 블록 진행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셋업 변경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PPK001→PPK002로 LOT_CD/TEMP 전환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4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+1.00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93726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페이싱  (w=+2.5)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w_pacing · (|ideal − eff_before| − |ideal − eff_after|) /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takt 목표선(ideal)에 실제 진척(eff)이 가까워지면 +, 멀어지면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ideal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target·min(t,H)/H — 지금까지 만들어야 할 이상량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eff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done + 다른설비 cover — 실제+커버 진척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상한(재공 한도)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속도(takt)에 맞추되, 이미 다른 설비가 덮으면 pace 충족으로 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pace 개선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0.3→0.5 (target=8)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과생산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0.3→0.8 (takt 초과)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→  = -0.31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23431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계획 달성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w_plan_hit · (gap_before − gap_after) / target   ;  gap = max(target − done, 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아직 만들어야 할 양(gap)이 줄면 +. 이미 다 만들었으면 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gap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max(target−done,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수량 달성을 직접 장려.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gap 감소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target=8, done 0→1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gap=0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이미 target 달성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+0.14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93726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블록 보너스  (w=+3.0)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w_bulk · min(N / takt예산, 1)   [블록 시작 시에만]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블록 시작 시 N캐리어 연속 처리를 약속(commit)하면 +. 연속 2번째 LOT에는 없음.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커밋 블록 크기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takt 예산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horizon 내 허용 캐리어 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w_bulk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+3.0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한 설비·한 셋업으로 길게 밀어라 — Bulk-Fill 핵심.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시작 N=8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EQP001, PPK001, takt 예산=8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+3.0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N=1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블록 없이 1캐리어만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+3.00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281178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전환  (w=−10.0)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w_conversion · 1[LOT_CD/TEMP 셋업 변경]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LOT_CD/TEMP 셋업이 바뀌는 전환 1회마다 −10.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w_conv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−10.0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1[전환]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셋업 변경 발생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= 설비 가동 손실. 근본적으로 줄이게 함.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동일 셋업 블록 연속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1[전환]=0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전환 발생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 셋업 변경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87568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732520" y="621792"/>
            <a:ext cx="937259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회피가능 전환  (w=−8.0)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w_avoidable · α   ;  α = 회피가능 비율 (0~1)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굳이 이 설비에서 바꿀 필요 없었는데 전환하면 추가 −8×α.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α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0~1 회피가능 비율 (다른 설비 커버 등)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다른 idle 설비에 맡기라는 신호.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회피가능 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다른 설비가 PPK002를 70% 커버 가능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−5.6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19972" y="621792"/>
            <a:ext cx="749808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150" b="1" i="0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2100" b="1" i="0">
                <a:solidFill>
                  <a:srgbClr val="1B3255"/>
                </a:solidFill>
                <a:latin typeface="맑은 고딕"/>
              </a:rPr>
              <a:t>보상 항목 — 회피가능 전환 케이스 전수  (w=−8.0)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900" b="0" i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00" b="1" i="0">
                <a:solidFill>
                  <a:srgbClr val="2E6FB0"/>
                </a:solidFill>
                <a:latin typeface="맑은 고딕"/>
              </a:rPr>
              <a:t>r = w_avoidable · α  전체 분기 — 보상 기여도   (simulator.py:930-942)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30000"/>
            <a:ext cx="2450000" cy="1092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920" y="19700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5C6670"/>
                </a:solidFill>
                <a:latin typeface="맑은 고딕"/>
              </a:rPr>
              <a:t>전환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920" y="22500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needs_conversion=0 → 항 자체 미평가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02920" y="1930000"/>
            <a:ext cx="4001400" cy="1092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62920" y="19600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62920" y="22300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전환이 아예 없으면 페널티도 없음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62920" y="2376250"/>
            <a:ext cx="3950000" cy="20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2920" y="2351250"/>
            <a:ext cx="700000" cy="25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1100" b="1" i="0">
                <a:solidFill>
                  <a:srgbClr val="2E7D4F"/>
                </a:solidFill>
                <a:latin typeface="맑은 고딕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2920" y="2596250"/>
            <a:ext cx="25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730" b="0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2920" y="2596250"/>
            <a:ext cx="60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730" b="0" i="0">
                <a:solidFill>
                  <a:srgbClr val="5C6670"/>
                </a:solidFill>
                <a:latin typeface="맑은 고딕"/>
              </a:rPr>
              <a:t>최대 -8.0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0195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022500"/>
            <a:ext cx="2450000" cy="1092500"/>
          </a:xfrm>
          <a:prstGeom prst="rect">
            <a:avLst/>
          </a:prstGeom>
          <a:solidFill>
            <a:srgbClr val="E5F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2920" y="30625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2E7D4F"/>
                </a:solidFill>
                <a:latin typeface="맑은 고딕"/>
              </a:rPr>
              <a:t>α=0 (합리적 전환)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920" y="33425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전환 발생, avoidable_frac=0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02920" y="3022500"/>
            <a:ext cx="4001400" cy="1092500"/>
          </a:xfrm>
          <a:prstGeom prst="rect">
            <a:avLst/>
          </a:prstGeom>
          <a:solidFill>
            <a:srgbClr val="E5F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62920" y="30525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2E7D4F"/>
                </a:solidFill>
                <a:latin typeface="맑은 고딕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2920" y="33225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대안 없고 내가 길게 돎 → 페널티 없이 전환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62920" y="3468750"/>
            <a:ext cx="3950000" cy="20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2920" y="3443750"/>
            <a:ext cx="700000" cy="25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1100" b="1" i="0">
                <a:solidFill>
                  <a:srgbClr val="2E7D4F"/>
                </a:solidFill>
                <a:latin typeface="맑은 고딕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62920" y="3688750"/>
            <a:ext cx="25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730" b="0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2920" y="3688750"/>
            <a:ext cx="60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730" b="0" i="0">
                <a:solidFill>
                  <a:srgbClr val="5C6670"/>
                </a:solidFill>
                <a:latin typeface="맑은 고딕"/>
              </a:rPr>
              <a:t>최대 -8.0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1120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4115000"/>
            <a:ext cx="2450000" cy="1092500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2920" y="41550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B33A3A"/>
                </a:solidFill>
                <a:latin typeface="맑은 고딕"/>
              </a:rPr>
              <a:t>커버 우세 페널티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2920" y="44350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전환 발생, coverage_frac 지배(α=0.619)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02920" y="4115000"/>
            <a:ext cx="4001400" cy="1092500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62920" y="41450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B33A3A"/>
                </a:solidFill>
                <a:latin typeface="맑은 고딕"/>
              </a:rPr>
              <a:t>−4.95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62920" y="44150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다른 설비가 대신할 수 있었던 전환 → 페널티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62920" y="4561250"/>
            <a:ext cx="3950000" cy="20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062920" y="4561250"/>
            <a:ext cx="2444062" cy="200000"/>
          </a:xfrm>
          <a:prstGeom prst="rect">
            <a:avLst/>
          </a:prstGeom>
          <a:solidFill>
            <a:srgbClr val="B33A3A"/>
          </a:solidFill>
          <a:ln w="12700">
            <a:solidFill>
              <a:srgbClr val="B3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42920" y="4536250"/>
            <a:ext cx="700000" cy="25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1100" b="1" i="0">
                <a:solidFill>
                  <a:srgbClr val="B33A3A"/>
                </a:solidFill>
                <a:latin typeface="맑은 고딕"/>
              </a:rPr>
              <a:t>-4.95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62920" y="4781250"/>
            <a:ext cx="25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730" b="0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62920" y="4781250"/>
            <a:ext cx="60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730" b="0" i="0">
                <a:solidFill>
                  <a:srgbClr val="5C6670"/>
                </a:solidFill>
                <a:latin typeface="맑은 고딕"/>
              </a:rPr>
              <a:t>최대 -8.0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2045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5207500"/>
            <a:ext cx="2450000" cy="1092500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2920" y="52475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B33A3A"/>
                </a:solidFill>
                <a:latin typeface="맑은 고딕"/>
              </a:rPr>
              <a:t>짧은가동 페널티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920" y="55275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전환 발생, short_run_frac 지배(α=0.70)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02920" y="5207500"/>
            <a:ext cx="4001400" cy="1092500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62920" y="52375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B33A3A"/>
                </a:solidFill>
                <a:latin typeface="맑은 고딕"/>
              </a:rPr>
              <a:t>−5.60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62920" y="55075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전환해도 금방 끝날 일이었음 → 페널티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062920" y="5653750"/>
            <a:ext cx="3950000" cy="20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062920" y="5653750"/>
            <a:ext cx="2765000" cy="200000"/>
          </a:xfrm>
          <a:prstGeom prst="rect">
            <a:avLst/>
          </a:prstGeom>
          <a:solidFill>
            <a:srgbClr val="B33A3A"/>
          </a:solidFill>
          <a:ln w="12700">
            <a:solidFill>
              <a:srgbClr val="B3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42920" y="5628750"/>
            <a:ext cx="700000" cy="25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1100" b="1" i="0">
                <a:solidFill>
                  <a:srgbClr val="B33A3A"/>
                </a:solidFill>
                <a:latin typeface="맑은 고딕"/>
              </a:rPr>
              <a:t>-5.60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62920" y="5873750"/>
            <a:ext cx="25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730" b="0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62920" y="5873750"/>
            <a:ext cx="60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730" b="0" i="0">
                <a:solidFill>
                  <a:srgbClr val="5C6670"/>
                </a:solidFill>
                <a:latin typeface="맑은 고딕"/>
              </a:rPr>
              <a:t>최대 -8.0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62970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900" b="1" i="0">
                <a:solidFill>
                  <a:srgbClr val="5C6670"/>
                </a:solidFill>
                <a:latin typeface="맑은 고딕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중복 커버  (w=−5.0)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w_redundant · min(cover / need,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다른 설비가 이미 충분히 덮는 제품을 또 잡으면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cover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다른 EQP horizon 투영 생산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need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잔여 필요량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3대가 같은 제품만 몰리는 lockstep 방지.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cover=0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전담 제품, 다른 설비 커버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cover=0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중복 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cover/need ≈ 0.4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→  = -0.00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01150" y="621792"/>
            <a:ext cx="468629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150" b="1" i="0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2100" b="1" i="0">
                <a:solidFill>
                  <a:srgbClr val="1B3255"/>
                </a:solidFill>
                <a:latin typeface="맑은 고딕"/>
              </a:rPr>
              <a:t>보상 항목 — 중복 커버 케이스 전수  (w=−5.0)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900" b="0" i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00" b="1" i="0">
                <a:solidFill>
                  <a:srgbClr val="2E6FB0"/>
                </a:solidFill>
                <a:latin typeface="맑은 고딕"/>
              </a:rPr>
              <a:t>r = w_redundant · min(cover/need, 2)  전체 분기 — 보상 기여도   (simulator.py:1553-1560)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30000"/>
            <a:ext cx="2450000" cy="1092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920" y="19700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5C6670"/>
                </a:solidFill>
                <a:latin typeface="맑은 고딕"/>
              </a:rPr>
              <a:t>cover=0 (예시 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920" y="22500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다른 설비 투영생산 없음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02920" y="1930000"/>
            <a:ext cx="4001400" cy="1092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62920" y="19600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62920" y="22300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전담 — 페널티 없음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62920" y="2376250"/>
            <a:ext cx="3950000" cy="20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2920" y="2351250"/>
            <a:ext cx="700000" cy="25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1100" b="1" i="0">
                <a:solidFill>
                  <a:srgbClr val="2E7D4F"/>
                </a:solidFill>
                <a:latin typeface="맑은 고딕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2920" y="2596250"/>
            <a:ext cx="25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730" b="0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2920" y="2596250"/>
            <a:ext cx="60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730" b="0" i="0">
                <a:solidFill>
                  <a:srgbClr val="5C6670"/>
                </a:solidFill>
                <a:latin typeface="맑은 고딕"/>
              </a:rPr>
              <a:t>최대 -10.0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0195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022500"/>
            <a:ext cx="2450000" cy="1092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2920" y="30625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2E6FB0"/>
                </a:solidFill>
                <a:latin typeface="맑은 고딕"/>
              </a:rPr>
              <a:t>부분 중복 (예시 B)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920" y="33425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cover/need=0.4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02920" y="3022500"/>
            <a:ext cx="4001400" cy="1092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62920" y="30525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2E6FB0"/>
                </a:solidFill>
                <a:latin typeface="맑은 고딕"/>
              </a:rPr>
              <a:t>−2.0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2920" y="33225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약간 겹침 — 경미한 페널티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62920" y="3468750"/>
            <a:ext cx="3950000" cy="20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062920" y="3468750"/>
            <a:ext cx="790000" cy="200000"/>
          </a:xfrm>
          <a:prstGeom prst="rect">
            <a:avLst/>
          </a:prstGeom>
          <a:solidFill>
            <a:srgbClr val="B33A3A"/>
          </a:solidFill>
          <a:ln w="12700">
            <a:solidFill>
              <a:srgbClr val="B3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2920" y="3443750"/>
            <a:ext cx="700000" cy="25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1100" b="1" i="0">
                <a:solidFill>
                  <a:srgbClr val="B33A3A"/>
                </a:solidFill>
                <a:latin typeface="맑은 고딕"/>
              </a:rPr>
              <a:t>-2.00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62920" y="3688750"/>
            <a:ext cx="25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730" b="0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2920" y="3688750"/>
            <a:ext cx="60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730" b="0" i="0">
                <a:solidFill>
                  <a:srgbClr val="5C6670"/>
                </a:solidFill>
                <a:latin typeface="맑은 고딕"/>
              </a:rPr>
              <a:t>최대 -10.0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1120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4115000"/>
            <a:ext cx="2450000" cy="1092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2920" y="41550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B07A2E"/>
                </a:solidFill>
                <a:latin typeface="맑은 고딕"/>
              </a:rPr>
              <a:t>완전 중복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2920" y="44350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cover/need=1.5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02920" y="4115000"/>
            <a:ext cx="4001400" cy="1092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62920" y="41450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B07A2E"/>
                </a:solidFill>
                <a:latin typeface="맑은 고딕"/>
              </a:rPr>
              <a:t>−7.5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2920" y="44150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필요량만큼 이미 덮임 — 큰 페널티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62920" y="4561250"/>
            <a:ext cx="3950000" cy="20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062920" y="4561250"/>
            <a:ext cx="2962500" cy="200000"/>
          </a:xfrm>
          <a:prstGeom prst="rect">
            <a:avLst/>
          </a:prstGeom>
          <a:solidFill>
            <a:srgbClr val="B33A3A"/>
          </a:solidFill>
          <a:ln w="12700">
            <a:solidFill>
              <a:srgbClr val="B3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42920" y="4536250"/>
            <a:ext cx="700000" cy="25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1100" b="1" i="0">
                <a:solidFill>
                  <a:srgbClr val="B33A3A"/>
                </a:solidFill>
                <a:latin typeface="맑은 고딕"/>
              </a:rPr>
              <a:t>-7.50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62920" y="4781250"/>
            <a:ext cx="25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730" b="0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62920" y="4781250"/>
            <a:ext cx="60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730" b="0" i="0">
                <a:solidFill>
                  <a:srgbClr val="5C6670"/>
                </a:solidFill>
                <a:latin typeface="맑은 고딕"/>
              </a:rPr>
              <a:t>최대 -10.0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2045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5207500"/>
            <a:ext cx="2450000" cy="1092500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2920" y="52475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B33A3A"/>
                </a:solidFill>
                <a:latin typeface="맑은 고딕"/>
              </a:rPr>
              <a:t>클립 (최대 페널티)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920" y="55275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cover/need=2.4 → min(·,2) 클립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02920" y="5207500"/>
            <a:ext cx="4001400" cy="1092500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62920" y="52375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62920" y="55075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2배 상한 클립 — 이 항목 최대 감점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062920" y="5653750"/>
            <a:ext cx="3950000" cy="20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062920" y="5653750"/>
            <a:ext cx="3950000" cy="200000"/>
          </a:xfrm>
          <a:prstGeom prst="rect">
            <a:avLst/>
          </a:prstGeom>
          <a:solidFill>
            <a:srgbClr val="B33A3A"/>
          </a:solidFill>
          <a:ln w="12700">
            <a:solidFill>
              <a:srgbClr val="B3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042920" y="5628750"/>
            <a:ext cx="700000" cy="25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1100" b="1" i="0">
                <a:solidFill>
                  <a:srgbClr val="B33A3A"/>
                </a:solidFill>
                <a:latin typeface="맑은 고딕"/>
              </a:rPr>
              <a:t>-10.00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62920" y="5873750"/>
            <a:ext cx="25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730" b="0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62920" y="5873750"/>
            <a:ext cx="60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730" b="0" i="0">
                <a:solidFill>
                  <a:srgbClr val="5C6670"/>
                </a:solidFill>
                <a:latin typeface="맑은 고딕"/>
              </a:rPr>
              <a:t>최대 -10.0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62970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900" b="1" i="0">
                <a:solidFill>
                  <a:srgbClr val="5C6670"/>
                </a:solidFill>
                <a:latin typeface="맑은 고딕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전용 오용  (w=−4.0)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w_dedication_misuse · 1[더 전용 idle 설비 존재]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범용 설비가 전용 idle 설비도 할 수 있는 일을 가져가면 −4.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breadth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장비가 할 수 있는 제품 종류 수 — 작을수록 전용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전용 설비는 전용 제품에, 범용은 범용에.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전담 적합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 전담 PPK001, 더 전용 idle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범용 오용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범용 EQP가 전용 EQP 가능 버킷 선점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−4.0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294876" y="621792"/>
            <a:ext cx="374904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150" b="1" i="0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2100" b="1" i="0">
                <a:solidFill>
                  <a:srgbClr val="1B3255"/>
                </a:solidFill>
                <a:latin typeface="맑은 고딕"/>
              </a:rPr>
              <a:t>보상 항목 — 전용 오용 케이스 전수  (w=−4.0)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900" b="0" i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00" b="1" i="0">
                <a:solidFill>
                  <a:srgbClr val="2E6FB0"/>
                </a:solidFill>
                <a:latin typeface="맑은 고딕"/>
              </a:rPr>
              <a:t>r = w_dedication_misuse · 1[narrower_idle_specialist_exists]  판정 흐름   (simulator.py::narrower_idle_specialist_exists)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050000"/>
            <a:ext cx="2050000" cy="9000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2E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050000"/>
            <a:ext cx="2050000" cy="90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ctr"/>
            <a:r>
              <a:rPr sz="1150" b="1" i="0">
                <a:solidFill>
                  <a:srgbClr val="1B3255"/>
                </a:solidFill>
                <a:latin typeface="맑은 고딕"/>
              </a:rPr>
              <a:t>① 다른 idle
설비 존재?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592920" y="2445000"/>
            <a:ext cx="620000" cy="110000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92920" y="2030000"/>
            <a:ext cx="62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850" b="1" i="0">
                <a:solidFill>
                  <a:srgbClr val="2E6FB0"/>
                </a:solidFill>
                <a:latin typeface="맑은 고딕"/>
              </a:rPr>
              <a:t>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2920" y="2050000"/>
            <a:ext cx="2050000" cy="9000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2E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2920" y="2050000"/>
            <a:ext cx="2050000" cy="90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ctr"/>
            <a:r>
              <a:rPr sz="1150" b="1" i="0">
                <a:solidFill>
                  <a:srgbClr val="1B3255"/>
                </a:solidFill>
                <a:latin typeface="맑은 고딕"/>
              </a:rPr>
              <a:t>② breadth(other)
&lt; breadth(me)?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342920" y="2445000"/>
            <a:ext cx="620000" cy="110000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2920" y="2030000"/>
            <a:ext cx="62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850" b="1" i="0">
                <a:solidFill>
                  <a:srgbClr val="2E6FB0"/>
                </a:solidFill>
                <a:latin typeface="맑은 고딕"/>
              </a:rPr>
              <a:t>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02920" y="2050000"/>
            <a:ext cx="2050000" cy="9000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2E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02920" y="2050000"/>
            <a:ext cx="2050000" cy="90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ctr"/>
            <a:r>
              <a:rPr sz="1150" b="1" i="0">
                <a:solidFill>
                  <a:srgbClr val="1B3255"/>
                </a:solidFill>
                <a:latin typeface="맑은 고딕"/>
              </a:rPr>
              <a:t>③ (ppk,oper)
처리 가능?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52920" y="2050000"/>
            <a:ext cx="2050000" cy="900000"/>
          </a:xfrm>
          <a:prstGeom prst="roundRect">
            <a:avLst/>
          </a:prstGeom>
          <a:solidFill>
            <a:srgbClr val="F7E6E6"/>
          </a:solidFill>
          <a:ln w="22225">
            <a:solidFill>
              <a:srgbClr val="B3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52920" y="2110000"/>
            <a:ext cx="2050000" cy="78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ctr"/>
            <a:r>
              <a:rPr sz="1150" b="1" i="0">
                <a:solidFill>
                  <a:srgbClr val="B33A3A"/>
                </a:solidFill>
                <a:latin typeface="맑은 고딕"/>
              </a:rPr>
              <a:t>전용 오용 발생
1[True]
r = −4.0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092920" y="2445000"/>
            <a:ext cx="620000" cy="110000"/>
          </a:xfrm>
          <a:prstGeom prst="rightArrow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92920" y="2030000"/>
            <a:ext cx="62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850" b="1" i="0">
                <a:solidFill>
                  <a:srgbClr val="B33A3A"/>
                </a:solidFill>
                <a:latin typeface="맑은 고딕"/>
              </a:rPr>
              <a:t>예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1472920" y="2970000"/>
            <a:ext cx="110000" cy="260000"/>
          </a:xfrm>
          <a:prstGeom prst="downArrow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2920" y="3250000"/>
            <a:ext cx="217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850" b="1" i="0">
                <a:solidFill>
                  <a:srgbClr val="5C6670"/>
                </a:solidFill>
                <a:latin typeface="맑은 고딕"/>
              </a:rPr>
              <a:t>아니오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430000"/>
            <a:ext cx="2050000" cy="780000"/>
          </a:xfrm>
          <a:prstGeom prst="roundRect">
            <a:avLst/>
          </a:prstGeom>
          <a:solidFill>
            <a:srgbClr val="ECF1F7"/>
          </a:solidFill>
          <a:ln w="12700">
            <a:solidFill>
              <a:srgbClr val="5C6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2920" y="3470000"/>
            <a:ext cx="19700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950" b="1" i="0">
                <a:solidFill>
                  <a:srgbClr val="5C6670"/>
                </a:solidFill>
                <a:latin typeface="맑은 고딕"/>
              </a:rPr>
              <a:t>idle 대안 없음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2920" y="3730000"/>
            <a:ext cx="1970000" cy="44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780" b="0" i="0">
                <a:solidFill>
                  <a:srgbClr val="222A33"/>
                </a:solidFill>
                <a:latin typeface="맑은 고딕"/>
              </a:rPr>
              <a:t>다른 idle 설비 자체가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2920" y="4020000"/>
            <a:ext cx="1970000" cy="17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000" b="1" i="0">
                <a:solidFill>
                  <a:srgbClr val="2E7D4F"/>
                </a:solidFill>
                <a:latin typeface="맑은 고딕"/>
              </a:rPr>
              <a:t>r = 0</a:t>
            </a:r>
          </a:p>
        </p:txBody>
      </p:sp>
      <p:sp>
        <p:nvSpPr>
          <p:cNvPr id="30" name="Down Arrow 29"/>
          <p:cNvSpPr/>
          <p:nvPr/>
        </p:nvSpPr>
        <p:spPr>
          <a:xfrm>
            <a:off x="4222920" y="2970000"/>
            <a:ext cx="110000" cy="260000"/>
          </a:xfrm>
          <a:prstGeom prst="downArrow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92920" y="3250000"/>
            <a:ext cx="217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850" b="1" i="0">
                <a:solidFill>
                  <a:srgbClr val="5C6670"/>
                </a:solidFill>
                <a:latin typeface="맑은 고딕"/>
              </a:rPr>
              <a:t>아니오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52920" y="3430000"/>
            <a:ext cx="2050000" cy="780000"/>
          </a:xfrm>
          <a:prstGeom prst="roundRect">
            <a:avLst/>
          </a:prstGeom>
          <a:solidFill>
            <a:srgbClr val="ECF1F7"/>
          </a:solidFill>
          <a:ln w="12700">
            <a:solidFill>
              <a:srgbClr val="5C6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92920" y="3470000"/>
            <a:ext cx="19700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950" b="1" i="0">
                <a:solidFill>
                  <a:srgbClr val="5C6670"/>
                </a:solidFill>
                <a:latin typeface="맑은 고딕"/>
              </a:rPr>
              <a:t>동급/범용 idle만 존재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2920" y="3730000"/>
            <a:ext cx="1970000" cy="44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780" b="0" i="0">
                <a:solidFill>
                  <a:srgbClr val="222A33"/>
                </a:solidFill>
                <a:latin typeface="맑은 고딕"/>
              </a:rPr>
              <a:t>breadth(other) ≥ breadth(me)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2920" y="4020000"/>
            <a:ext cx="1970000" cy="17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000" b="1" i="0">
                <a:solidFill>
                  <a:srgbClr val="2E7D4F"/>
                </a:solidFill>
                <a:latin typeface="맑은 고딕"/>
              </a:rPr>
              <a:t>r = 0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6972920" y="2970000"/>
            <a:ext cx="110000" cy="260000"/>
          </a:xfrm>
          <a:prstGeom prst="downArrow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2920" y="3250000"/>
            <a:ext cx="217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850" b="1" i="0">
                <a:solidFill>
                  <a:srgbClr val="5C6670"/>
                </a:solidFill>
                <a:latin typeface="맑은 고딕"/>
              </a:rPr>
              <a:t>아니오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02920" y="3430000"/>
            <a:ext cx="2050000" cy="780000"/>
          </a:xfrm>
          <a:prstGeom prst="roundRect">
            <a:avLst/>
          </a:prstGeom>
          <a:solidFill>
            <a:srgbClr val="ECF1F7"/>
          </a:solidFill>
          <a:ln w="12700">
            <a:solidFill>
              <a:srgbClr val="5C6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42920" y="3470000"/>
            <a:ext cx="19700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950" b="1" i="0">
                <a:solidFill>
                  <a:srgbClr val="5C6670"/>
                </a:solidFill>
                <a:latin typeface="맑은 고딕"/>
              </a:rPr>
              <a:t>전용 idle 있으나 처리 불가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42920" y="3730000"/>
            <a:ext cx="1970000" cy="44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780" b="0" i="0">
                <a:solidFill>
                  <a:srgbClr val="222A33"/>
                </a:solidFill>
                <a:latin typeface="맑은 고딕"/>
              </a:rPr>
              <a:t>그 설비가 (ppk,oper)를 못 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42920" y="4020000"/>
            <a:ext cx="1970000" cy="17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000" b="1" i="0">
                <a:solidFill>
                  <a:srgbClr val="2E7D4F"/>
                </a:solidFill>
                <a:latin typeface="맑은 고딕"/>
              </a:rPr>
              <a:t>r =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4370000"/>
            <a:ext cx="112014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900" b="0" i="1">
                <a:solidFill>
                  <a:srgbClr val="5C6670"/>
                </a:solidFill>
                <a:latin typeface="맑은 고딕"/>
              </a:rPr>
              <a:t>narrower_idle_specialist_exists() — 3개 게이트를 모두 통과(예-예-예)해야만 전용 오용 페널티가 걸린다.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900" b="1" i="0">
                <a:solidFill>
                  <a:srgbClr val="5C6670"/>
                </a:solidFill>
                <a:latin typeface="맑은 고딕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 커밋 · 이번 1LOT)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053480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053480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296448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296448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539416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539416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782384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2782384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025352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025352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268320"/>
            <a:ext cx="109728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268320"/>
            <a:ext cx="141732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+2.83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+0.00 + 페이싱 -0.31 + 계획 달성 +0.14 + 블록 보너스 +3.00 + 전환 +0.00 + 회피가능 전환 +0.00 + 중복 커버 -0.00 + 전용 오용 +0.00  →  r = +2.83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8" name="Picture 97" descr="step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(N=4 커밋 · 이번 1LOT)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053480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053480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296448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296448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539416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539416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N=4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782384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2782384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3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025352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025352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268320"/>
            <a:ext cx="109728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268320"/>
            <a:ext cx="141732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(N=4 커밋 · 이번 1LOT)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+2.75   ·   누적 Σr = +5.58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1[None→PPK002,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5·0/1320 = 0.0 · eff: 0.0→1.0 (done=0, cover=0.0, wf=1) · 2.5·(0.0−1.0)/5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5→4 (done 0→1, target=5) · 1.0·(5−4)/5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min(4 / 4,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need=5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+0.00 + 페이싱 -0.50 + 계획 달성 +0.25 + 블록 보너스 +3.00 + 전환 +0.00 + 회피가능 전환 +0.00 + 중복 커버 -0.00 + 전용 오용 +0.00  →  r = +2.75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8" name="Picture 97" descr="step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(N=9 커밋 · 이번 1LOT)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053480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053480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296448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296448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539416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539416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N=9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782384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2782384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8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025352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025352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268320"/>
            <a:ext cx="109728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268320"/>
            <a:ext cx="141732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(N=9 커밋 · 이번 1LOT)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+2.86   ·   누적 Σr = +8.44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1[None→PPK003,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10·0/1320 = 0.0 · eff: 0.0→1.0 (done=0, cover=0.0, wf=1) · 2.5·(0.0−1.0)/10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10→9 (done 0→1, target=10) · 1.0·(10−9)/10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min(9 / 9,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need=10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+0.00 + 페이싱 -0.25 + 계획 달성 +0.11 + 블록 보너스 +3.00 + 전환 +0.00 + 회피가능 전환 +0.00 + 중복 커버 -0.00 + 전용 오용 +0.00  →  r = +2.86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8" name="Picture 97" descr="step_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5 — 블록 연속 (LOT 2/6 · masked replay)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17.4%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0.174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02073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02073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393634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393634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685195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685195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976756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2976756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268317"/>
            <a:ext cx="109728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268317"/>
            <a:ext cx="141732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+10.02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8·40/1320 = 0.24 · eff: 22.0→23.0 (done=1, cover=21.0, wf=1) · 2.5·(21.76−22.76)/8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cover=21.0,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+1.00 + 페이싱 -0.31 + 계획 달성 +0.14 + 블록 보너스 +0.00 + 전환 +0.00 + 회피가능 전환 +0.00 + 중복 커버 +0.00 + 전용 오용 +0.00  →  r = +0.83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6" name="Picture 95" descr="step_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9 — 블록 연속 (LOT 2/4 · masked replay)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34.8%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0.348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02073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02073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393634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393634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685195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685195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2/4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976756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2976756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268317"/>
            <a:ext cx="109728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268317"/>
            <a:ext cx="141732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2/4 · masked replay)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+0.75   ·   누적 Σr = +13.21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1[PPK002→PPK002,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-0.50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5·120/1320 = 0.45 · eff: 3.0→4.0 (done=3, cover=0.0, wf=1) · 2.5·(2.55−3.55)/5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2→1 (done 3→4, target=5) · 1.0·(2−1)/5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need=2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+1.00 + 페이싱 -0.50 + 계획 달성 +0.25 + 블록 보너스 +0.00 + 전환 +0.00 + 회피가능 전환 +0.00 + 중복 커버 +0.00 + 전용 오용 +0.00  →  r = +0.75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6" name="Picture 95" descr="step_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12 — 블록 연속 (LOT 2/9 · masked replay)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180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43.5%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10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0.375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0.435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2/9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2/9 · masked replay)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+0.86   ·   누적 Σr = +4.88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1[PPK003→PPK003,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10·180/1320 = 1.36 · eff: 2.0→3.0 (done=2, cover=0.0, wf=1) · 2.5·(0.64−1.64)/10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2→3, target=10) · 1.0·(8−7)/10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+1.00 + 페이싱 -0.25 + 계획 달성 +0.11 + 블록 보너스 +0.00 + 전환 +0.00 + 회피가능 전환 +0.00 + 중복 커버 +0.00 + 전용 오용 +0.00  →  r = +0.86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6" name="Picture 95" descr="step_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 (전체 항목)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1[전환]=0 →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cover=0 →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7492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+4~+6 수준의 강한 양(+) 보상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764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3524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7844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3524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7844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764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3524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2764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7844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2764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2764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7844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−5.6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2764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7844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−2.0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2764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524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2764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7844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 전담 블록 시작(보상 큼), 4~8은 같은 셋업 연속. 상세 State/Action/Reward·간트는 슬라이드 12~17 참고.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53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54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58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59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