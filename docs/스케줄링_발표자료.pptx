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2" r:id="rId33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3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1056차원 Box 벡터 입니다.  (O=3, P=10, K=5 기준 — 버킷 채널: PPK×OPER 10개 + PPK×OPER×MODEL 5개)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/>
            </a:r>
            <a:r>
              <a:rPr sz="13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O×P×10 + O×P×K×5 (버킷)  =  1056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1050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(OPER×PPK) 10채널(모델 무관) + (OPER×PPK×MODEL) 5채널(모델별): WIP비중·takt·urgency·달성가능·투영커버·소진시간 / ST·전환·공구·회피가능·셋업변경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325112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2개 State 블록을 항목별 상세(채널 정의·실측 산출식 값)로 설명합니다. 버킷 채널이 전환 회피·페이싱 판단의 근거가 됩니다.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222A33"/>
                </a:solidFill>
                <a:latin typeface="맑은 고딕"/>
              </a:rPr>
              <a:t/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O×P×K×5])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(OPER×PPK) 격자마다 10채널(모델 무관) + (OPER×PPK×MODEL) 격자마다 5채널(모델별)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8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0000" y="2212848"/>
            <a:ext cx="110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0000" y="2212848"/>
            <a:ext cx="2117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0000" y="2212848"/>
            <a:ext cx="10321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3707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57860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83707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57860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(팹 전체 대비)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83707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(동일 PPK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57860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0.0857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83707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0.0968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9554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5401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09554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prev_takt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35401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09554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상류 공정 요구 속도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35401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하류 공정 요구 속도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09554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35401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6330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0000" y="516330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self_st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0000" y="516330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모델별 per-wafer 처리시간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0000" y="516330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61248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87095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12942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361248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plan_urgency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387095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wip_lot_cd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12942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wip_temp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361248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계획 대비 시간 압박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387095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LOT_CD 인코딩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12942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TEMP 인코딩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361248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0.0023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387095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12942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42177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60000" y="542177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needs_conversion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0000" y="542177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셋업 변경 필요 여부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00000" y="542177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68024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obs_09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60000" y="568024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tool_can_assign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60000" y="568024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공구 cap 통과 여부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00000" y="568024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38789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60000" y="438789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achievable_ratio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60000" y="438789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달성가능 상한 비율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0000" y="438789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64636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60000" y="464636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60000" y="464636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중복 커버 신호 (회피 유도)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00000" y="464636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0.72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90483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3871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619718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490483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starve_time_norm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593871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avoidable_frac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619718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setup_changed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490483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안전재공 소진까지 남은 시간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593871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전환 회피 가능 정도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619718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PPK 또는 OPER가 직전과 다름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490483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593871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0.619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619718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B3255"/>
                </a:solidFill>
                <a:latin typeface="맑은 고딕"/>
              </a:rPr>
              <a:t>현재 설비 → Feasible 버킷 필터링 → State 채널 계산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5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3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[lot_cd 또는 temp 상이]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회피가능 전환(avoidable_frac)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conversion_avoidable_fraction(현재 EQP, 이 버킷)  (needs_conversion=1일 때만)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변경(setup_changed)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[PPK 또는 OPER가 직전과 다름]  (연속 배정 여부)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80760" y="2692616"/>
            <a:ext cx="1300000" cy="650000"/>
          </a:xfrm>
          <a:prstGeom prst="round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현재 설비</a:t>
            </a:r>
            <a:br/>
            <a:r>
              <a:rPr sz="1050" b="1">
                <a:solidFill>
                  <a:srgbClr val="FFFFFF"/>
                </a:solidFill>
              </a:rPr>
              <a:t>(current_eqp)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740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670760" y="2692616"/>
            <a:ext cx="1650000" cy="650000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Feasible 버킷 필터링</a:t>
            </a:r>
            <a:br/>
            <a:r>
              <a:rPr sz="1000" b="1">
                <a:solidFill>
                  <a:srgbClr val="FFFFFF"/>
                </a:solidFill>
              </a:rPr>
              <a:t>(가능한 PPK,OPER,MODEL 조합만)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934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610760" y="2692616"/>
            <a:ext cx="2050000" cy="315000"/>
          </a:xfrm>
          <a:prstGeom prst="roundRect">
            <a:avLst/>
          </a:prstGeom>
          <a:solidFill>
            <a:srgbClr val="DEEAF6"/>
          </a:solidFill>
          <a:ln w="95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2E6FB0"/>
                </a:solidFill>
              </a:rPr>
              <a:t>PPK×OPER 10채널 (모델 무관)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10760" y="3027616"/>
            <a:ext cx="2050000" cy="315000"/>
          </a:xfrm>
          <a:prstGeom prst="roundRect">
            <a:avLst/>
          </a:prstGeom>
          <a:solidFill>
            <a:srgbClr val="F3E8D6"/>
          </a:solidFill>
          <a:ln w="9525">
            <a:solidFill>
              <a:srgbClr val="B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B07A2E"/>
                </a:solidFill>
              </a:rPr>
              <a:t>PPK×OPER×MODEL 5채널 (모델별)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3372616"/>
            <a:ext cx="544068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222A33"/>
                </a:solidFill>
              </a:rPr>
              <a:t>현재 idle 설비 기준으로 feasible한 (PPK,OPER,MODEL) 버킷만 골라, 그 버킷들에 대해 State 채널을 계산합니다.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1[현재 EQP에서 이 버킷 LOT_CD/TEMP로 전환 필요]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conversion_avoidable_fraction(현재 EQP, 이 버킷)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4978908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(clip 발동)  t=500분(&gt; sim_end=480)이면 time_norm=min(500/480,1)=1.0으로 saturate — min()이 왜 필요한지 보여주는 경계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min(120/480,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800785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min(max(480-120,0)/480,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2402357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current_time=120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sim_end=480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6781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3357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soft_cutoff=480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3544824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3544824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current_time/sim_end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34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997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0654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120/480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326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869739" y="3544824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06315" y="3544824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4849367"/>
            <a:ext cx="210860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4849367"/>
            <a:ext cx="20354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(soft_cutoff−t)/soft_cutoff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275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9232" y="4849367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05808" y="484936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9252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69002" y="484936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05578" y="484936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lot_pool=25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51582" y="2240280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88158" y="2240280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initial_lot_count=40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02074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38650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produced=10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2999" y="2519172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79575" y="2519172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total_plan=60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2999" y="3544824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79575" y="3544824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lot_pool/initial_lot_count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2143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7909" y="3544824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4485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25/40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8553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55032" y="3544824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91608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84936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84936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produced/total_plan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2167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898647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3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10/60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92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55770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92346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0.1667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지금(t=120분) — 초반, 재공 풀 여유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25장 남음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15장 배정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remaining_lots = 25/40 = 0.625  (풀 62.5% 남음)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min(len(lot_pool)/initial_lot_count, 1) = min(25/40,1)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하루 막바지(t=440분), 풀 고갈 임박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3장 남음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37장 배정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remaining_lots = 3/40 = 0.075  (풀 92.5% 소진)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같은 산식이라도 시각(t)에 따라 0.625→0.075로 계속 줄어드는 '소진형' 지표임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EQP002가 idle인데 free_at=150(t=120보다 뒤, 아직 전환 buffer 중)이면 rem=30&gt;0 → conv_eqps=1 → conv_idle_ratio=1/3=0.33 (전환대기 잡힘).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0/3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18288" cy="18288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min(0.4,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1281257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설비 순회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EQP001:busy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151582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88158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EQP002:idle,free_at=t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73397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09973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EQP003:busy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조건 판정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rem&gt;0 &amp; idle &amp; prev_lot_cd≠∅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64076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40555" y="3218687"/>
            <a:ext cx="96743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77131" y="321868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conv_eqps=0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conv_eqps/n_eqp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613354" y="4197095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49930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0/3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5135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27831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64407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42999" y="5175503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79575" y="5175503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tool_tracker.utilization()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21430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97909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34485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이 버킷에 재공이 전혀 없다면(wip_q=0) ch0=ch1=0.0 — '분모가 다르다'는 특징이 사라지고 둘 다 0으로 겹치는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15/175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49937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49937"/>
            <a:ext cx="274509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13361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539746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15/155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15163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15163"/>
            <a:ext cx="310064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778587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0.097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 집계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wip_po[P1,O2]=15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08198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4774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ppk_wip[P1]=155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02074" y="2240280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38650" y="2240280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total_wip=175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분모 산출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total_wip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08935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85415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21991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175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23412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59988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ppk_total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89349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65828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02404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wip_ratio_total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wip_q/total_wip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6532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41800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8376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0.0857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wip_ratio_ppk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2999" y="5175503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79575" y="5175503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wip_q/ppk_total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36875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13354" y="5175503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49930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15/155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6532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41800" y="5175503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8376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0.0968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eff_takt 정의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2240280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2240280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max(demand_takt,cap_takt)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5010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2658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316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wf_unit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인접 공정 산출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321868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321868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eff_takt(OPER001)=1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22167" y="3218687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58743" y="3218687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eff_takt(OPER002)=7.2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T_avail×wf_unit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1038758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max_takt=360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42999" y="5175503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9575" y="5175503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eff_takt(인접)/max_takt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64814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041293" y="5175503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77869" y="5175503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0.0~0.02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OPER002 — 수요가 설비능력보다 빠듯함(수요-병목)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demand_takt(7.2) &gt; cap_takt(1.67) → 수요가 더 빠듯 → eff_takt=7.2 채택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eff_takt=max(demand_takt,cap_takt)·wf_unit ; post_takt=eff_takt/360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계획이 널널해 설비능력이 병목(설비-병목)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0.3분/carrier(가정)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demand_takt(0.3) &lt; cap_takt(1.67) → 설비능력이 병목 → eff_takt=1.67 채택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q_plan이 아주 크면(예:1200장) demand_takt=360/1200=0.3으로 역전됨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가장 빠른 공정(OPER001, st=2분/장) 기준이면 self_st=2/5=0.4 — 1.0(최댓값)이 아니라 여유 있는 공정의 낮은 값도 존재.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 (ch4)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5분/장 ÷ max_arrange_st(5)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가공 속도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st_per_wafer=5분/장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2999" y="3544824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9575" y="3544824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max_arrange_st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6555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42031" y="3544824"/>
            <a:ext cx="254203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7" y="3544824"/>
            <a:ext cx="1810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4849367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5/5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0996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57475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94051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마감이 임박해 T_avail=30분이면 같은 gap=50이어도 urgency=min((50/30)/60,1)=0.0278로 12배 뜀 — 시간이 급할수록 값이 커짐.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 (ch5)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min((50/360)/60,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18288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0.0023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잔여량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plan_qty=60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51582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88158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completed=10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31488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07967" y="2240280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44543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gap=50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시간 압박 산출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2999" y="3544824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9575" y="3544824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(gap/T_avail)/plan_qty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4849367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484936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(50/360)/60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1582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28061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64637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0.0023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TEMP 조건이 있는 공정이라면(temp_idx={T1:0,T2:1}) tp_enc=encode('T2')=1/(2-1)=1.0 — ch7=0.0은 'TEMP 미사용'일 때만 나오는 특수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wip_lot_cd (ch6)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1/(2-1)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5739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23160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wip_temp (ch7)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encode(None) → 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64261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642615"/>
            <a:ext cx="18288" cy="13716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0603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버킷 속성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lc="A"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79496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3154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tp=None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lot_cd 인코딩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3544824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3544824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encode(A), n_lc=2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952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5600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9257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1/(2−1)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92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655770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92346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temp 인코딩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4849367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4849367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encode(None), n_tp=1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934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69970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06546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current_eqp의 prev_lot_cd가 이 버킷과 이미 같다면(A=A) would_need_conversion=False → needs_conversion=0.0 (전환 없이 바로 배정 가능).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 (ch8)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tool_can_assign (ch9)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not swap 또는 can_assign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YES (1.0)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소속 판정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current_eqp∈(op,model)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613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12616" y="2240280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9192" y="2240280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전환 필요 판정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3218687"/>
            <a:ext cx="253654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3218687"/>
            <a:ext cx="246339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would_need_conversion(EQP002,"A")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20692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97171" y="321868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3747" y="321868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19478" y="4197095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56054" y="4197095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ch8=1.0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공구 배정 판정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42999" y="5175503"/>
            <a:ext cx="225125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9575" y="5175503"/>
            <a:ext cx="21781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¬needs_tool_swap ∨ can_assign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35399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11879" y="5175503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48455" y="5175503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ch9=1.0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도달 가능량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89463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8214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reachable=자기(15)+상류(140)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78783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55263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39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상한 계산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2999" y="3544824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575" y="3544824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min(plan_qty,done+reachable)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4076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40555" y="3544824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77131" y="3544824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min(60,165)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9139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25618" y="3544824"/>
            <a:ext cx="32552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62194" y="3544824"/>
            <a:ext cx="25237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60/60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2364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00122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36698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상류(OPER001) 재공 140장 — 넉넉함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140장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done10+reachable155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achievable_ratio = min(60,165)/60 = 1.0  (계획 전량 달성 가능)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achievable_ratio = min(plan_qty, done+reachable)/plan_qty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상류 재공이 20장뿐이라면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20장(가정)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done10+reachable35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achievable_ratio = min(60,45)/60 = 0.75  (상류 부족으로 75% 상한 캡)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상류가 못 따라오면 achievable_ratio&lt;1 → 이 버킷에 더 배정해도 소용없다는 신호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필요량 산출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2999" y="2240280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79575" y="2240280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max(achievable_qty−done,1)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21430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97909" y="2240280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4485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need=50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타 설비 탐색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3218687"/>
            <a:ext cx="275051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3218687"/>
            <a:ext cx="26773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 prev_prod=P1,prev_oper=O2 일치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커버량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4197095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remaining/st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290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99384" y="4197095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35960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80028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156507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93083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cov=72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5175503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5175503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min(72/50,2)/2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6555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542031" y="5175503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78607" y="5175503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다른 설비(EQP003)가 이미 이 버킷을 덮는 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EQP003: 72장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min(72/50,2)/2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projected_cover_ratio = 0.72  (이미 덮임 → 지금 설비는 회피 권장)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min(cov/need,2)/2 — 1에 가까울수록 '중복 배정' 위험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커버 중인 다른 설비가 전혀 없다면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0장(가정)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min(0/50,2)/2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projected_cover_ratio = 0.0  (아무도 안 덮음 → 지금 배정이 안전)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cov=0이면 비율도 0 — 회피 신호 없이 바로 배정해도 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소비 속도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현재공정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2290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99384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960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3×(1/5)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267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9154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5730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공급 속도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354482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354482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선행공정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2290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99384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35960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2×(1/2)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2267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99154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35730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비교·결과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84936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84936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consume≤supply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6555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42031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78607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실제 MINI-A — 공급(1.0)이 소비(0.6)보다 빠름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1.0매/분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안 마름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0.6매/분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supply≥consume → starve_time_norm = 1.0  (소진 없음, 안전)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consume≤supply 이면 재공이 계속 채워지므로 else 분기(=1.0) 적용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소비(1.0)가 공급(0.6)보다 빠르면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0.6매/분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37.5분 후 0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1.0매/분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net=0.4/분 → starve_time=15/0.4=37.5분 → norm=min(37.5/360,1)=0.10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consume&gt;supply 이면 net_rate로 재공이 줄어 T_avail 내 소진 위험(0에 가까움=위험)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ch13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avoidable_frac(ch13) 상세   (simulation/simulator.py)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avoidable_frac (ch13)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대체 가능한 다른 설비가 전혀 없다면(alt_cap=0) coverage_frac=0 — α는 short_run_frac만으로 결정되고, 짧게 돌고 끝나는 상황이면 α가 1.0까지 치솟아 '회피 불가능한 전환'이 됨.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133295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133295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602382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291602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1602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730398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385108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513124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167835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448147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448147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295851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704088" y="495056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0936" y="5264200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5264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1" y="5078577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892807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수요 vs 대체 capa (매)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223638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demand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223638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262914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alt_cap (EQP001+EQP003)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0708" y="274323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0708" y="2743232"/>
            <a:ext cx="1599905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262914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02190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coverage_frac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min(96/155,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38322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00800" y="3383221"/>
            <a:ext cx="1982745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0247" y="334664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381121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α = 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max(0.619, short_run_frac=0)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17253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0" y="4172531"/>
            <a:ext cx="1982745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0247" y="413595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수요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2240280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224028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140(O1)+15(O2)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65551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42031" y="2240280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78607" y="224028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demand=155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2999" y="2785262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대체 capa 산출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42999" y="3023006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79575" y="3023006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EQP001:160/2=80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6875" y="3023006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73451" y="3023006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EQP003:80/5=16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9427" y="3023006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35906" y="3023006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482" y="3023006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alt_cap=96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2999" y="3567988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coverage_frac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2999" y="3805732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79575" y="3805732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96/155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4966" y="3805732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71445" y="3805732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08021" y="3805732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35071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short_run_frac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4588458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4588458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여유 충분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23643" y="4588458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00122" y="4588458"/>
            <a:ext cx="1324051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936698" y="4588458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short_run_frac=0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42999" y="513344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α (avoidable_frac)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142999" y="537118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79575" y="537118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max(0.619,0)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22905" y="537118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399384" y="5371184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35960" y="537118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α=0.619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-0.31 + 계획 달성 +0.14 + 블록 보너스 +3.00 + 전환 +0.00 + 회피가능 전환 +0.00 + 중복 커버 -0.00 + 전용 오용 +0.00  →  r = +2.83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(N=4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N=4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3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(N=4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+2.75   ·   누적 Σr = +5.58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5·0/1320 = 0.0 · eff: 0.0→1.0 (done=0, cover=0.0, wf=1) · 2.5·(0.0−1.0)/5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5→4 (done 0→1, target=5) · 1.0·(5−4)/5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min(4 / 4,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need=5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-0.50 + 계획 달성 +0.25 + 블록 보너스 +3.00 + 전환 +0.00 + 회피가능 전환 +0.00 + 중복 커버 -0.00 + 전용 오용 +0.00  →  r = +2.75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(N=9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N=9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8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(N=9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+2.86   ·   누적 Σr = +8.44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10·0/1320 = 0.0 · eff: 0.0→1.0 (done=0, cover=0.0, wf=1) · 2.5·(0.0−1.0)/10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10→9 (done 0→1, target=10) · 1.0·(10−9)/10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min(9 / 9,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need=10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-0.25 + 계획 달성 +0.11 + 블록 보너스 +3.00 + 전환 +0.00 + 회피가능 전환 +0.00 + 중복 커버 -0.00 + 전용 오용 +0.00  →  r = +2.86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5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17.4%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+10.02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8·40/1320 = 0.24 · eff: 22.0→23.0 (done=1, cover=21.0, wf=1) · 2.5·(21.76−22.76)/8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-0.31 + 계획 달성 +0.14 + 블록 보너스 +0.00 + 전환 +0.00 + 회피가능 전환 +0.00 + 중복 커버 +0.00 + 전용 오용 +0.00  →  r = +0.83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9 — 블록 연속 (LOT 2/4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34.8%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0.348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2/4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2/4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+0.75   ·   누적 Σr = +13.21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5·120/1320 = 0.45 · eff: 3.0→4.0 (done=3, cover=0.0, wf=1) · 2.5·(2.55−3.55)/5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2→1 (done 3→4, target=5) · 1.0·(2−1)/5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need=2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-0.50 + 계획 달성 +0.25 + 블록 보너스 +0.00 + 전환 +0.00 + 회피가능 전환 +0.00 + 중복 커버 +0.00 + 전용 오용 +0.00  →  r = +0.75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12 — 블록 연속 (LOT 2/9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180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43.5%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0.375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0.435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2/9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2/9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+0.86   ·   누적 Σr = +4.88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10·180/1320 = 1.36 · eff: 2.0→3.0 (done=2, cover=0.0, wf=1) · 2.5·(0.64−1.64)/10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2→3, target=10) · 1.0·(8−7)/10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-0.25 + 계획 달성 +0.11 + 블록 보너스 +0.00 + 전환 +0.00 + 회피가능 전환 +0.00 + 중복 커버 +0.00 + 전용 오용 +0.00  →  r = +0.86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