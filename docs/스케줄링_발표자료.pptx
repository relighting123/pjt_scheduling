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2" r:id="rId33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3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Relationship Id="rId45" Type="http://schemas.openxmlformats.org/officeDocument/2006/relationships/slide" Target="slides/slide35.xml"/><Relationship Id="rId46" Type="http://schemas.openxmlformats.org/officeDocument/2006/relationships/slide" Target="slides/slide36.xml"/><Relationship Id="rId47" Type="http://schemas.openxmlformats.org/officeDocument/2006/relationships/slide" Target="slides/slide37.xml"/><Relationship Id="rId48" Type="http://schemas.openxmlformats.org/officeDocument/2006/relationships/slide" Target="slides/slide38.xml"/><Relationship Id="rId49" Type="http://schemas.openxmlformats.org/officeDocument/2006/relationships/slide" Target="slides/slide39.xml"/><Relationship Id="rId50" Type="http://schemas.openxmlformats.org/officeDocument/2006/relationships/slide" Target="slides/slide40.xml"/><Relationship Id="rId51" Type="http://schemas.openxmlformats.org/officeDocument/2006/relationships/slide" Target="slides/slide41.xml"/><Relationship Id="rId52" Type="http://schemas.openxmlformats.org/officeDocument/2006/relationships/slide" Target="slides/slide42.xml"/><Relationship Id="rId53" Type="http://schemas.openxmlformats.org/officeDocument/2006/relationships/slide" Target="slides/slide43.xml"/><Relationship Id="rId54" Type="http://schemas.openxmlformats.org/officeDocument/2006/relationships/slide" Target="slides/slide44.xml"/><Relationship Id="rId55" Type="http://schemas.openxmlformats.org/officeDocument/2006/relationships/slide" Target="slides/slide45.xml"/><Relationship Id="rId56" Type="http://schemas.openxmlformats.org/officeDocument/2006/relationships/slide" Target="slides/slide46.xml"/><Relationship Id="rId57" Type="http://schemas.openxmlformats.org/officeDocument/2006/relationships/slide" Target="slides/slide47.xml"/><Relationship Id="rId58" Type="http://schemas.openxmlformats.org/officeDocument/2006/relationships/slide" Target="slides/slide48.xml"/><Relationship Id="rId59" Type="http://schemas.openxmlformats.org/officeDocument/2006/relationships/slide" Target="slides/slide49.xml"/><Relationship Id="rId60" Type="http://schemas.openxmlformats.org/officeDocument/2006/relationships/slide" Target="slides/slide50.xml"/><Relationship Id="rId61" Type="http://schemas.openxmlformats.org/officeDocument/2006/relationships/slide" Target="slides/slide51.xml"/><Relationship Id="rId62" Type="http://schemas.openxmlformats.org/officeDocument/2006/relationships/slide" Target="slides/slide52.xml"/><Relationship Id="rId63" Type="http://schemas.openxmlformats.org/officeDocument/2006/relationships/slide" Target="slides/slide5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50" b="1">
                <a:solidFill>
                  <a:srgbClr val="1B3255"/>
                </a:solidFill>
                <a:latin typeface="맑은 고딕"/>
              </a:defRPr>
            </a:pPr>
            <a:r>
              <a:t>생산 수량 (개, 최대 24)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생산 수량</c:v>
                </c:pt>
              </c:strCache>
            </c:strRef>
          </c:tx>
          <c:dPt>
            <c:idx val="0"/>
            <c:spPr>
              <a:solidFill>
                <a:srgbClr val="C28A8A"/>
              </a:solidFill>
            </c:spPr>
          </c:dPt>
          <c:dPt>
            <c:idx val="1"/>
            <c:spPr>
              <a:solidFill>
                <a:srgbClr val="4A6D8C"/>
              </a:solidFill>
            </c:spPr>
          </c:dPt>
          <c:dPt>
            <c:idx val="2"/>
            <c:spPr>
              <a:solidFill>
                <a:srgbClr val="2E6FB0"/>
              </a:solidFill>
            </c:spPr>
          </c:dPt>
          <c:cat>
            <c:strRef>
              <c:f>Sheet1!$A$2:$A$4</c:f>
              <c:strCache>
                <c:ptCount val="3"/>
                <c:pt idx="0">
                  <c:v>Earliest-ST</c:v>
                </c:pt>
                <c:pt idx="1">
                  <c:v>Min-Progress</c:v>
                </c:pt>
                <c:pt idx="2">
                  <c:v>Bulk-Fill PPO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24</c:v>
                </c:pt>
                <c:pt idx="2">
                  <c:v>24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>
                  <a:solidFill>
                    <a:srgbClr val="1B3255"/>
                  </a:solidFill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5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6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맑은 고딕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50" b="1">
                <a:solidFill>
                  <a:srgbClr val="1B3255"/>
                </a:solidFill>
                <a:latin typeface="맑은 고딕"/>
              </a:defRPr>
            </a:pPr>
            <a:r>
              <a:t>전환 횟수 (회, 낮을수록 우수)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전환 횟수</c:v>
                </c:pt>
              </c:strCache>
            </c:strRef>
          </c:tx>
          <c:dPt>
            <c:idx val="0"/>
            <c:spPr>
              <a:solidFill>
                <a:srgbClr val="B33A3A"/>
              </a:solidFill>
            </c:spPr>
          </c:dPt>
          <c:dPt>
            <c:idx val="1"/>
            <c:spPr>
              <a:solidFill>
                <a:srgbClr val="4A6D8C"/>
              </a:solidFill>
            </c:spPr>
          </c:dPt>
          <c:dPt>
            <c:idx val="2"/>
            <c:spPr>
              <a:solidFill>
                <a:srgbClr val="2E6FB0"/>
              </a:solidFill>
            </c:spPr>
          </c:dPt>
          <c:cat>
            <c:strRef>
              <c:f>Sheet1!$A$2:$A$4</c:f>
              <c:strCache>
                <c:ptCount val="3"/>
                <c:pt idx="0">
                  <c:v>Earliest-ST</c:v>
                </c:pt>
                <c:pt idx="1">
                  <c:v>Min-Progress</c:v>
                </c:pt>
                <c:pt idx="2">
                  <c:v>Bulk-Fill PPO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>
                  <a:solidFill>
                    <a:srgbClr val="1B3255"/>
                  </a:solidFill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5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맑은 고딕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 b="1">
                <a:solidFill>
                  <a:srgbClr val="1B3255"/>
                </a:solidFill>
                <a:latin typeface="맑은 고딕"/>
              </a:defRPr>
            </a:pPr>
            <a:r>
              <a:t>8종 종합 — 생산률 · 평균 가동률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생산률(%)</c:v>
                </c:pt>
              </c:strCache>
            </c:strRef>
          </c:tx>
          <c:spPr>
            <a:solidFill>
              <a:srgbClr val="2E6FB0"/>
            </a:solidFill>
          </c:spPr>
          <c:cat>
            <c:strRef>
              <c:f>Sheet1!$A$2:$A$4</c:f>
              <c:strCache>
                <c:ptCount val="3"/>
                <c:pt idx="0">
                  <c:v>Earliest-ST</c:v>
                </c:pt>
                <c:pt idx="1">
                  <c:v>Min-Progress</c:v>
                </c:pt>
                <c:pt idx="2">
                  <c:v>Bulk-Fill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67.8</c:v>
                </c:pt>
                <c:pt idx="1">
                  <c:v>80.8</c:v>
                </c:pt>
                <c:pt idx="2">
                  <c:v>93.8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평균 가동률(%)</c:v>
                </c:pt>
              </c:strCache>
            </c:strRef>
          </c:tx>
          <c:spPr>
            <a:solidFill>
              <a:srgbClr val="4A6D8C"/>
            </a:solidFill>
          </c:spPr>
          <c:cat>
            <c:strRef>
              <c:f>Sheet1!$A$2:$A$4</c:f>
              <c:strCache>
                <c:ptCount val="3"/>
                <c:pt idx="0">
                  <c:v>Earliest-ST</c:v>
                </c:pt>
                <c:pt idx="1">
                  <c:v>Min-Progress</c:v>
                </c:pt>
                <c:pt idx="2">
                  <c:v>Bulk-Fill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57.1</c:v>
                </c:pt>
                <c:pt idx="1">
                  <c:v>71.1</c:v>
                </c:pt>
                <c:pt idx="2">
                  <c:v>81.3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50" b="1">
                  <a:solidFill>
                    <a:srgbClr val="1B3255"/>
                  </a:solidFill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맑은 고딕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869680" y="0"/>
            <a:ext cx="3322015" cy="6858000"/>
          </a:xfrm>
          <a:prstGeom prst="rect">
            <a:avLst/>
          </a:prstGeom>
          <a:solidFill>
            <a:srgbClr val="162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914400"/>
            <a:ext cx="109728" cy="155448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914400"/>
            <a:ext cx="82296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9DBEE0"/>
                </a:solidFill>
                <a:latin typeface="맑은 고딕"/>
              </a:rPr>
              <a:t>설비 스케줄링 · 강화학습 적용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1" y="1417320"/>
            <a:ext cx="8412480" cy="1828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>
                <a:solidFill>
                  <a:srgbClr val="FFFFFF"/>
                </a:solidFill>
                <a:latin typeface="맑은 고딕"/>
              </a:rPr>
              <a:t>Bulk-Fill 강화학습 기반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>
                <a:solidFill>
                  <a:srgbClr val="FFFFFF"/>
                </a:solidFill>
                <a:latin typeface="맑은 고딕"/>
              </a:rPr>
              <a:t>반도체 설비 스케줄링 모델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3611880"/>
            <a:ext cx="4754880" cy="18288"/>
          </a:xfrm>
          <a:prstGeom prst="rect">
            <a:avLst/>
          </a:prstGeom>
          <a:solidFill>
            <a:srgbClr val="3A5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767328"/>
            <a:ext cx="86868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C9D8E8"/>
                </a:solidFill>
                <a:latin typeface="맑은 고딕"/>
              </a:rPr>
              <a:t>MDP 모델 정의(State · Action · Reward)와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C9D8E8"/>
                </a:solidFill>
                <a:latin typeface="맑은 고딕"/>
              </a:rPr>
              <a:t>테스트 데이터 기반 알고리즘 KPI 비교 · 효과성 검증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943600"/>
            <a:ext cx="7315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8FA6C0"/>
                </a:solidFill>
                <a:latin typeface="맑은 고딕"/>
              </a:rPr>
              <a:t>Project  pjt_scheduling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5943600"/>
            <a:ext cx="2743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8FA6C0"/>
                </a:solidFill>
                <a:latin typeface="맑은 고딕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목차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508760"/>
            <a:ext cx="786384" cy="786384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508760"/>
            <a:ext cx="786384" cy="7863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1572768"/>
            <a:ext cx="96926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B3255"/>
                </a:solidFill>
                <a:latin typeface="맑은 고딕"/>
              </a:rPr>
              <a:t>문제 정의 및 시스템 구조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1368" y="1965960"/>
            <a:ext cx="96926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C6670"/>
                </a:solidFill>
                <a:latin typeface="맑은 고딕"/>
              </a:rPr>
              <a:t>스케줄링 과제 · 전환 비용 · 모듈 아키텍처와 구조적 강점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587752"/>
            <a:ext cx="786384" cy="786384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587752"/>
            <a:ext cx="786384" cy="7863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2651760"/>
            <a:ext cx="96926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B3255"/>
                </a:solidFill>
                <a:latin typeface="맑은 고딕"/>
              </a:rPr>
              <a:t>Bulk-Fill MDP 모델 정의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1368" y="3044952"/>
            <a:ext cx="96926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C6670"/>
                </a:solidFill>
                <a:latin typeface="맑은 고딕"/>
              </a:rPr>
              <a:t>State · Action · Reward 상세(항목별 예시) · 마스킹 · 블록 점유 메커니즘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666744"/>
            <a:ext cx="786384" cy="786384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666744"/>
            <a:ext cx="786384" cy="7863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3730752"/>
            <a:ext cx="96926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B3255"/>
                </a:solidFill>
                <a:latin typeface="맑은 고딕"/>
              </a:rPr>
              <a:t>보상 산출 로직 예시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01368" y="4123944"/>
            <a:ext cx="96926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C6670"/>
                </a:solidFill>
                <a:latin typeface="맑은 고딕"/>
              </a:rPr>
              <a:t>입력 JSON · 보상 항목별 상세(8p) · 스텝별 SAR · 누적 간트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745736"/>
            <a:ext cx="786384" cy="786384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745736"/>
            <a:ext cx="786384" cy="7863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4809744"/>
            <a:ext cx="96926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B3255"/>
                </a:solidFill>
                <a:latin typeface="맑은 고딕"/>
              </a:rPr>
              <a:t>알고리즘 KPI 비교 및 효과성 검증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01368" y="5202936"/>
            <a:ext cx="96926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C6670"/>
                </a:solidFill>
                <a:latin typeface="맑은 고딕"/>
              </a:rPr>
              <a:t>테스트 데이터 기반 정량 비교 · 학습 모델 효과 입증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01  문제 정의 및 시스템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스케줄링 과제와 전환(Conversion) 비용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1060704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22A33"/>
                </a:solidFill>
                <a:latin typeface="맑은 고딕"/>
              </a:rPr>
              <a:t>설비가 유휴 상태가 될 때마다 </a:t>
            </a:r>
            <a:r>
              <a:rPr sz="1400" b="1">
                <a:solidFill>
                  <a:srgbClr val="1B3255"/>
                </a:solidFill>
                <a:latin typeface="맑은 고딕"/>
              </a:rPr>
              <a:t>어떤 제품·공정(PPK·OPER)을 투입할지</a:t>
            </a:r>
            <a:r>
              <a:rPr sz="1400" b="0">
                <a:solidFill>
                  <a:srgbClr val="222A33"/>
                </a:solidFill>
                <a:latin typeface="맑은 고딕"/>
              </a:rPr>
              <a:t> 결정하는 순차적 의사결정 문제입니다.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057400"/>
            <a:ext cx="5257800" cy="45720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057400"/>
            <a:ext cx="52578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핵심 난점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514600"/>
            <a:ext cx="5257800" cy="269748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697480"/>
            <a:ext cx="4846320" cy="2377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2E6FB0"/>
                </a:solidFill>
                <a:latin typeface="맑은 고딕"/>
              </a:rPr>
              <a:t>▪  </a:t>
            </a:r>
            <a:r>
              <a:rPr sz="1280" b="1">
                <a:solidFill>
                  <a:srgbClr val="1B3255"/>
                </a:solidFill>
                <a:latin typeface="맑은 고딕"/>
              </a:rPr>
              <a:t>제품 전환마다 셋업 손실</a:t>
            </a:r>
            <a:r>
              <a:rPr sz="1230" b="0">
                <a:solidFill>
                  <a:srgbClr val="5C6670"/>
                </a:solidFill>
                <a:latin typeface="맑은 고딕"/>
              </a:rPr>
              <a:t>   LOT_CD/TEMP가 바뀌면 전환(conversion) 시간이 발생해 그만큼 가동 시간이 사라집니다.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2E6FB0"/>
                </a:solidFill>
                <a:latin typeface="맑은 고딕"/>
              </a:rPr>
              <a:t>▪  </a:t>
            </a:r>
            <a:r>
              <a:rPr sz="1280" b="1">
                <a:solidFill>
                  <a:srgbClr val="1B3255"/>
                </a:solidFill>
                <a:latin typeface="맑은 고딕"/>
              </a:rPr>
              <a:t>계획·재공·설비 제약 동시 고려</a:t>
            </a:r>
            <a:r>
              <a:rPr sz="1230" b="0">
                <a:solidFill>
                  <a:srgbClr val="5C6670"/>
                </a:solidFill>
                <a:latin typeface="맑은 고딕"/>
              </a:rPr>
              <a:t>   계획량, 가용 재공(WIP), 설비-제품 적합성, 동시 가공 공구(tool) 한도를 함께 만족해야 합니다.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2E6FB0"/>
                </a:solidFill>
                <a:latin typeface="맑은 고딕"/>
              </a:rPr>
              <a:t>▪  </a:t>
            </a:r>
            <a:r>
              <a:rPr sz="1280" b="1">
                <a:solidFill>
                  <a:srgbClr val="1B3255"/>
                </a:solidFill>
                <a:latin typeface="맑은 고딕"/>
              </a:rPr>
              <a:t>근시안적 1매 배정의 한계</a:t>
            </a:r>
            <a:r>
              <a:rPr sz="1230" b="0">
                <a:solidFill>
                  <a:srgbClr val="5C6670"/>
                </a:solidFill>
                <a:latin typeface="맑은 고딕"/>
              </a:rPr>
              <a:t>   유휴 설비에 1캐리어씩만 배정하면 같은 셋업을 길게 이어가지 못해 전환이 잦아집니다.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2057400"/>
            <a:ext cx="4983480" cy="45720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057400"/>
            <a:ext cx="498348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전환 비용의 정량적 의미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2514600"/>
            <a:ext cx="4983480" cy="269748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697480"/>
            <a:ext cx="4572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5C6670"/>
                </a:solidFill>
                <a:latin typeface="맑은 고딕"/>
              </a:rPr>
              <a:t>처리시간 = 전환시간 = 60분, 가동 8시간 기준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3200400"/>
            <a:ext cx="4526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200400"/>
            <a:ext cx="4526280" cy="8686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B3255"/>
                </a:solidFill>
                <a:latin typeface="맑은 고딕"/>
              </a:rPr>
              <a:t>전환 1회  =  캐리어 1개 손실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C6670"/>
                </a:solidFill>
                <a:latin typeface="맑은 고딕"/>
              </a:rPr>
              <a:t>설비당 8캐리어 처리 가능 → 전환 n회 시 (8 − n)개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206240"/>
            <a:ext cx="457200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22A33"/>
                </a:solidFill>
                <a:latin typeface="맑은 고딕"/>
              </a:rPr>
              <a:t>전환 비용이 </a:t>
            </a:r>
            <a:r>
              <a:rPr sz="1250" b="1">
                <a:solidFill>
                  <a:srgbClr val="B33A3A"/>
                </a:solidFill>
                <a:latin typeface="맑은 고딕"/>
              </a:rPr>
              <a:t>생산 수량 손실로 직접 환산</a:t>
            </a:r>
            <a:r>
              <a:rPr sz="1250" b="0">
                <a:solidFill>
                  <a:srgbClr val="222A33"/>
                </a:solidFill>
                <a:latin typeface="맑은 고딕"/>
              </a:rPr>
              <a:t>되므로, 전환 최소화가 곧 처리량 극대화로 이어집니다.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5440680"/>
            <a:ext cx="10515600" cy="77724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440680"/>
            <a:ext cx="1005840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9DBEE0"/>
                </a:solidFill>
                <a:latin typeface="맑은 고딕"/>
              </a:rPr>
              <a:t>설계 목표  </a:t>
            </a:r>
            <a:r>
              <a:rPr sz="1350" b="0">
                <a:solidFill>
                  <a:srgbClr val="FFFFFF"/>
                </a:solidFill>
                <a:latin typeface="맑은 고딕"/>
              </a:rPr>
              <a:t>재공이 충분하면 takt에 맞춰 균등 생산하고, 편중되면 몰린 공정에 집중하되 </a:t>
            </a:r>
            <a:r>
              <a:rPr sz="1350" b="1">
                <a:solidFill>
                  <a:srgbClr val="FFFFFF"/>
                </a:solidFill>
                <a:latin typeface="맑은 고딕"/>
              </a:rPr>
              <a:t>불필요한 전환은 회피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01  문제 정의 및 시스템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모듈 아키텍처 — 데이터에서 추론·시각화까지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54480"/>
            <a:ext cx="2084831" cy="457200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data/loader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011680"/>
            <a:ext cx="2084831" cy="137160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21408"/>
            <a:ext cx="1938527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3255"/>
                </a:solidFill>
                <a:latin typeface="맑은 고딕"/>
              </a:rPr>
              <a:t>데이터 적재·전처리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42032"/>
            <a:ext cx="1938527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C6670"/>
                </a:solidFill>
                <a:latin typeface="맑은 고딕"/>
              </a:rPr>
              <a:t>Oracle·JSON → env_data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C6670"/>
                </a:solidFill>
                <a:latin typeface="맑은 고딕"/>
              </a:rPr>
              <a:t>(arrange·plan·flow·tool)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656332" y="2267712"/>
            <a:ext cx="182879" cy="384048"/>
          </a:xfrm>
          <a:prstGeom prst="rightArrow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16352" y="1554480"/>
            <a:ext cx="2084831" cy="45720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simulation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2011680"/>
            <a:ext cx="2084831" cy="137160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9504" y="2121408"/>
            <a:ext cx="1938527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3255"/>
                </a:solidFill>
                <a:latin typeface="맑은 고딕"/>
              </a:rPr>
              <a:t>이산사건 시뮬레이터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9504" y="2542032"/>
            <a:ext cx="1938527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C6670"/>
                </a:solidFill>
                <a:latin typeface="맑은 고딕"/>
              </a:rPr>
              <a:t>DES 엔진·상태/보상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C6670"/>
                </a:solidFill>
                <a:latin typeface="맑은 고딕"/>
              </a:rPr>
              <a:t>LOT·EQP 규칙 배정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905755" y="2267712"/>
            <a:ext cx="182879" cy="384048"/>
          </a:xfrm>
          <a:prstGeom prst="rightArrow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65776" y="1554480"/>
            <a:ext cx="2084831" cy="45720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env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65776" y="2011680"/>
            <a:ext cx="2084831" cy="137160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2121408"/>
            <a:ext cx="1938527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3255"/>
                </a:solidFill>
                <a:latin typeface="맑은 고딕"/>
              </a:rPr>
              <a:t>Gym 환경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8928" y="2542032"/>
            <a:ext cx="1938527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C6670"/>
                </a:solidFill>
                <a:latin typeface="맑은 고딕"/>
              </a:rPr>
              <a:t>SchedulingEnv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C6670"/>
                </a:solidFill>
                <a:latin typeface="맑은 고딕"/>
              </a:rPr>
              <a:t>BulkFillEnv(마스킹)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155180" y="2267712"/>
            <a:ext cx="182879" cy="384048"/>
          </a:xfrm>
          <a:prstGeom prst="rightArrow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0" y="1554480"/>
            <a:ext cx="2084831" cy="45720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agent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2011680"/>
            <a:ext cx="2084831" cy="137160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88352" y="2121408"/>
            <a:ext cx="1938527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3255"/>
                </a:solidFill>
                <a:latin typeface="맑은 고딕"/>
              </a:rPr>
              <a:t>정책·휴리스틱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8352" y="2542032"/>
            <a:ext cx="1938527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C6670"/>
                </a:solidFill>
                <a:latin typeface="맑은 고딕"/>
              </a:rPr>
              <a:t>PPO(학습)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C6670"/>
                </a:solidFill>
                <a:latin typeface="맑은 고딕"/>
              </a:rPr>
              <a:t>Min-Progress·Earliest-ST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404604" y="2267712"/>
            <a:ext cx="182879" cy="384048"/>
          </a:xfrm>
          <a:prstGeom prst="rightArrow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64624" y="1554480"/>
            <a:ext cx="2084831" cy="457200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inference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64624" y="2011680"/>
            <a:ext cx="2084831" cy="137160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37776" y="2121408"/>
            <a:ext cx="1938527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3255"/>
                </a:solidFill>
                <a:latin typeface="맑은 고딕"/>
              </a:rPr>
              <a:t>추론·결과 출력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37776" y="2542032"/>
            <a:ext cx="1938527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C6670"/>
                </a:solidFill>
                <a:latin typeface="맑은 고딕"/>
              </a:rPr>
              <a:t>스케줄·KPI·전환계획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C6670"/>
                </a:solidFill>
                <a:latin typeface="맑은 고딕"/>
              </a:rPr>
              <a:t>output.json / DB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3657600"/>
            <a:ext cx="11064240" cy="18288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3886200"/>
            <a:ext cx="2706624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6928" y="3886200"/>
            <a:ext cx="73152" cy="91440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3986784"/>
            <a:ext cx="2432304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3255"/>
                </a:solidFill>
                <a:latin typeface="맑은 고딕"/>
              </a:rPr>
              <a:t>config.py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4334256"/>
            <a:ext cx="241401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5C6670"/>
                </a:solidFill>
                <a:latin typeface="맑은 고딕"/>
              </a:rPr>
              <a:t>환경 축(O·P·K)·보상 가중치·경로 설정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55848" y="3886200"/>
            <a:ext cx="2706624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355848" y="3886200"/>
            <a:ext cx="73152" cy="91440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38728" y="3986784"/>
            <a:ext cx="2432304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3255"/>
                </a:solidFill>
                <a:latin typeface="맑은 고딕"/>
              </a:rPr>
              <a:t>api · frontend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38728" y="4334256"/>
            <a:ext cx="241401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5C6670"/>
                </a:solidFill>
                <a:latin typeface="맑은 고딕"/>
              </a:rPr>
              <a:t>FastAPI + React 대시보드 · 간트/KPI 시각화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44768" y="3886200"/>
            <a:ext cx="2706624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44768" y="3886200"/>
            <a:ext cx="73152" cy="91440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27648" y="3986784"/>
            <a:ext cx="2432304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3255"/>
                </a:solidFill>
                <a:latin typeface="맑은 고딕"/>
              </a:rPr>
              <a:t>benchmark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27648" y="4334256"/>
            <a:ext cx="241401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5C6670"/>
                </a:solidFill>
                <a:latin typeface="맑은 고딕"/>
              </a:rPr>
              <a:t>직관형 검증 데이터셋(CONV_BENCH) 생성·평가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33688" y="3886200"/>
            <a:ext cx="2706624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933688" y="3886200"/>
            <a:ext cx="73152" cy="91440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16567" y="3986784"/>
            <a:ext cx="2432304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3255"/>
                </a:solidFill>
                <a:latin typeface="맑은 고딕"/>
              </a:rPr>
              <a:t>models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16567" y="4334256"/>
            <a:ext cx="241401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5C6670"/>
                </a:solidFill>
                <a:latin typeface="맑은 고딕"/>
              </a:rPr>
              <a:t>PPO 체크포인트(rl · bulkfill 분리 저장)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" y="5074920"/>
            <a:ext cx="11064240" cy="1143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" y="5175504"/>
            <a:ext cx="106984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6FB0"/>
                </a:solidFill>
                <a:latin typeface="맑은 고딕"/>
              </a:rPr>
              <a:t>설계 포인트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" y="5522976"/>
            <a:ext cx="1078992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22A33"/>
                </a:solidFill>
                <a:latin typeface="맑은 고딕"/>
              </a:rPr>
              <a:t>정책(RL)은 </a:t>
            </a:r>
            <a:r>
              <a:rPr sz="1250" b="1">
                <a:solidFill>
                  <a:srgbClr val="1B3255"/>
                </a:solidFill>
                <a:latin typeface="맑은 고딕"/>
              </a:rPr>
              <a:t>(PPK, OPER) 버킷 선택에만 집중</a:t>
            </a:r>
            <a:r>
              <a:rPr sz="1250" b="0">
                <a:solidFill>
                  <a:srgbClr val="222A33"/>
                </a:solidFill>
                <a:latin typeface="맑은 고딕"/>
              </a:rPr>
              <a:t>하고, LOT·EQP 세부 배정과 이산사건 무결성은 시뮬레이터 규칙이 보장합니다. </a:t>
            </a:r>
            <a:r>
              <a:rPr sz="1250" b="1">
                <a:solidFill>
                  <a:srgbClr val="1B3255"/>
                </a:solidFill>
                <a:latin typeface="맑은 고딕"/>
              </a:rPr>
              <a:t>행동 공간을 작게 유지</a:t>
            </a:r>
            <a:r>
              <a:rPr sz="1250" b="0">
                <a:solidFill>
                  <a:srgbClr val="222A33"/>
                </a:solidFill>
                <a:latin typeface="맑은 고딕"/>
              </a:rPr>
              <a:t>해 학습이 안정적이며, 시뮬레이터·환경·정책이 느슨하게 결합되어 휴리스틱과 동일 조건에서 비교할 수 있습니다.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01  문제 정의 및 시스템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구조적 특징과 강점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417320"/>
            <a:ext cx="3401568" cy="1481328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417320"/>
            <a:ext cx="3401568" cy="82296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618488"/>
            <a:ext cx="3035808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B3255"/>
                </a:solidFill>
                <a:latin typeface="맑은 고딕"/>
              </a:rPr>
              <a:t>이산사건 시뮬레이션 기반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093976"/>
            <a:ext cx="305409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C6670"/>
                </a:solidFill>
                <a:latin typeface="맑은 고딕"/>
              </a:rPr>
              <a:t>설비 배정 즉시 busy 전환·종료 이벤트로 진행하는 DES로 실제 라인 동작에 부합하는 일정·전환을 재현합니다.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417320"/>
            <a:ext cx="3401568" cy="1481328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417320"/>
            <a:ext cx="3401568" cy="82296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618488"/>
            <a:ext cx="3035808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B3255"/>
                </a:solidFill>
                <a:latin typeface="맑은 고딕"/>
              </a:rPr>
              <a:t>벌크 점유(Bulk-Fill) 행동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093976"/>
            <a:ext cx="305409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C6670"/>
                </a:solidFill>
                <a:latin typeface="맑은 고딕"/>
              </a:rPr>
              <a:t>정책이 (버킷 + 블록 크기)를 함께 선택해 같은 셋업으로 N캐리어를 연속 점유 → 전환 빈도를 구조적으로 억제합니다.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80" y="1417320"/>
            <a:ext cx="3401568" cy="1481328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80" y="1417320"/>
            <a:ext cx="3401568" cy="82296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1618488"/>
            <a:ext cx="3035808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B3255"/>
                </a:solidFill>
                <a:latin typeface="맑은 고딕"/>
              </a:rPr>
              <a:t>행동 마스킹(MaskablePPO)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093976"/>
            <a:ext cx="305409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C6670"/>
                </a:solidFill>
                <a:latin typeface="맑은 고딕"/>
              </a:rPr>
              <a:t>유효하지 않은 (PPK·OPER)·블록 크기는 마스크로 차단해 무효 행동 탐색을 제거하고 학습 효율을 높입니다.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081528"/>
            <a:ext cx="3401568" cy="1481328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3081528"/>
            <a:ext cx="3401568" cy="82296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3282696"/>
            <a:ext cx="3035808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B3255"/>
                </a:solidFill>
                <a:latin typeface="맑은 고딕"/>
              </a:rPr>
              <a:t>계획·재공 적응형 보상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758184"/>
            <a:ext cx="305409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C6670"/>
                </a:solidFill>
                <a:latin typeface="맑은 고딕"/>
              </a:rPr>
              <a:t>고정 계획이 아닌 달성가능 상한(achievable) 기준 takt를 추종해 재공 한계 내에서만 페이싱합니다.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3081528"/>
            <a:ext cx="3401568" cy="1481328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89120" y="3081528"/>
            <a:ext cx="3401568" cy="82296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3282696"/>
            <a:ext cx="3035808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B3255"/>
                </a:solidFill>
                <a:latin typeface="맑은 고딕"/>
              </a:rPr>
              <a:t>전환 비용의 정량 모델링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3758184"/>
            <a:ext cx="305409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C6670"/>
                </a:solidFill>
                <a:latin typeface="맑은 고딕"/>
              </a:rPr>
              <a:t>전환 1회=설비 가동 손실로 환산해 회피가능 전환에 추가 패널티를 부여, 불필요한 셋업 변경을 억제합니다.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80" y="3081528"/>
            <a:ext cx="3401568" cy="1481328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55280" y="3081528"/>
            <a:ext cx="3401568" cy="82296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0" y="3282696"/>
            <a:ext cx="3035808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B3255"/>
                </a:solidFill>
                <a:latin typeface="맑은 고딕"/>
              </a:rPr>
              <a:t>동일 조건 알고리즘 비교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3758184"/>
            <a:ext cx="305409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C6670"/>
                </a:solidFill>
                <a:latin typeface="맑은 고딕"/>
              </a:rPr>
              <a:t>PPO·휴리스틱이 같은 시뮬레이터·KPI로 평가되어 효과를 객관적으로 검증할 수 있습니다.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4754880"/>
            <a:ext cx="10515600" cy="141732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4882896"/>
            <a:ext cx="100584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DBEE0"/>
                </a:solidFill>
                <a:latin typeface="맑은 고딕"/>
              </a:rPr>
              <a:t>요약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212080"/>
            <a:ext cx="1005840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맑은 고딕"/>
              </a:rPr>
              <a:t>작은 행동 공간 · 마스킹 · 벌크 점유</a:t>
            </a:r>
            <a:r>
              <a:rPr sz="1300" b="0">
                <a:solidFill>
                  <a:srgbClr val="D7E2EE"/>
                </a:solidFill>
                <a:latin typeface="맑은 고딕"/>
              </a:rPr>
              <a:t>를 결합해 전환을 줄이면서 계획을 추종하도록 설계했으며, 이산사건 시뮬레이터 위에서 </a:t>
            </a:r>
            <a:r>
              <a:rPr sz="1350" b="1">
                <a:solidFill>
                  <a:srgbClr val="FFFFFF"/>
                </a:solidFill>
                <a:latin typeface="맑은 고딕"/>
              </a:rPr>
              <a:t>휴리스틱과 1:1로 비교 가능한 검증 체계</a:t>
            </a:r>
            <a:r>
              <a:rPr sz="1300" b="0">
                <a:solidFill>
                  <a:srgbClr val="D7E2EE"/>
                </a:solidFill>
                <a:latin typeface="맑은 고딕"/>
              </a:rPr>
              <a:t>를 갖췄습니다.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02  Bulk-Fill MDP 모델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강화학습 의사결정 구조 (MDP) 개요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280160"/>
            <a:ext cx="106070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222A33"/>
                </a:solidFill>
                <a:latin typeface="맑은 고딕"/>
              </a:rPr>
              <a:t>매 유휴 설비 결정 시점을 1 스텝으로 보고, </a:t>
            </a:r>
            <a:r>
              <a:rPr sz="1350" b="1">
                <a:solidFill>
                  <a:srgbClr val="1B3255"/>
                </a:solidFill>
                <a:latin typeface="맑은 고딕"/>
              </a:rPr>
              <a:t>상태(State) → 행동(Action) → 보상(Reward)</a:t>
            </a:r>
            <a:r>
              <a:rPr sz="1350" b="0">
                <a:solidFill>
                  <a:srgbClr val="222A33"/>
                </a:solidFill>
                <a:latin typeface="맑은 고딕"/>
              </a:rPr>
              <a:t> 순환으로 정책을 학습합니다.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2057400"/>
            <a:ext cx="3017520" cy="105156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정책 (Agent)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MaskablePPO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2057400"/>
            <a:ext cx="3017520" cy="105156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환경 (Environment)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이산사건 시뮬레이터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114800" y="2240280"/>
            <a:ext cx="3931920" cy="365760"/>
          </a:xfrm>
          <a:prstGeom prst="rightArrow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1883664"/>
            <a:ext cx="3931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B3255"/>
                </a:solidFill>
                <a:latin typeface="맑은 고딕"/>
              </a:rPr>
              <a:t>행동 a : (버킷, 블록크기)</a:t>
            </a:r>
          </a:p>
        </p:txBody>
      </p:sp>
      <p:sp>
        <p:nvSpPr>
          <p:cNvPr id="15" name="Left Arrow 14"/>
          <p:cNvSpPr/>
          <p:nvPr/>
        </p:nvSpPr>
        <p:spPr>
          <a:xfrm>
            <a:off x="4114800" y="2743200"/>
            <a:ext cx="3931920" cy="365760"/>
          </a:xfrm>
          <a:prstGeom prst="leftArrow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3127248"/>
            <a:ext cx="3931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B3255"/>
                </a:solidFill>
                <a:latin typeface="맑은 고딕"/>
              </a:rPr>
              <a:t>상태 s′ · 보상 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749039"/>
            <a:ext cx="3456432" cy="214884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749039"/>
            <a:ext cx="3456432" cy="502920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749039"/>
            <a:ext cx="3456432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State  (관측)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434840"/>
            <a:ext cx="3127248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B3255"/>
                </a:solidFill>
                <a:latin typeface="맑은 고딕"/>
              </a:rPr>
              <a:t>1,814차원 벡터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80160" y="5029200"/>
            <a:ext cx="2542032" cy="18288"/>
          </a:xfrm>
          <a:prstGeom prst="rect">
            <a:avLst/>
          </a:prstGeom>
          <a:solidFill>
            <a:srgbClr val="C4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138928"/>
            <a:ext cx="3090672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0">
                <a:solidFill>
                  <a:srgbClr val="5C6670"/>
                </a:solidFill>
                <a:latin typeface="맑은 고딕"/>
              </a:rPr>
              <a:t>전역 6 + 버킷 O×P×K×12 + 설비 4 + 맥락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53128" y="3749039"/>
            <a:ext cx="3456432" cy="214884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53128" y="3749039"/>
            <a:ext cx="3456432" cy="50292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53128" y="3749039"/>
            <a:ext cx="3456432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Action  (행동)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434840"/>
            <a:ext cx="3127248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B3255"/>
                </a:solidFill>
                <a:latin typeface="맑은 고딕"/>
              </a:rPr>
              <a:t>MultiDiscrete([O·P, L])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10328" y="5029200"/>
            <a:ext cx="2542032" cy="18288"/>
          </a:xfrm>
          <a:prstGeom prst="rect">
            <a:avLst/>
          </a:prstGeom>
          <a:solidFill>
            <a:srgbClr val="C4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36008" y="5138928"/>
            <a:ext cx="3090672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0">
                <a:solidFill>
                  <a:srgbClr val="5C6670"/>
                </a:solidFill>
                <a:latin typeface="맑은 고딕"/>
              </a:rPr>
              <a:t>투입할 (PPK·OPER) 버킷 + 블록 크기 레벨 4단계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83296" y="3749039"/>
            <a:ext cx="3456432" cy="214884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83296" y="3749039"/>
            <a:ext cx="3456432" cy="50292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83296" y="3749039"/>
            <a:ext cx="3456432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Reward  (보상)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7888" y="4434840"/>
            <a:ext cx="3127248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B3255"/>
                </a:solidFill>
                <a:latin typeface="맑은 고딕"/>
              </a:rPr>
              <a:t>전환·페이싱·벌크 합산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40496" y="5029200"/>
            <a:ext cx="2542032" cy="18288"/>
          </a:xfrm>
          <a:prstGeom prst="rect">
            <a:avLst/>
          </a:prstGeom>
          <a:solidFill>
            <a:srgbClr val="C4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66175" y="5138928"/>
            <a:ext cx="3090672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0">
                <a:solidFill>
                  <a:srgbClr val="5C6670"/>
                </a:solidFill>
                <a:latin typeface="맑은 고딕"/>
              </a:rPr>
              <a:t>전환 회피 + takt 추종 + 큰 블록 점유 유도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02  Bulk-Fill MDP 모델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State — 관측 공간 정의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280160"/>
            <a:ext cx="106070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222A33"/>
                </a:solidFill>
                <a:latin typeface="맑은 고딕"/>
              </a:rPr>
              <a:t>관측은 [0,1]로 정규화된 906차원 Box 벡터 입니다.  (O=3, P=10, K=5 기준 — 버킷 채널: PPK×OPER 10개 + PPK×OPER×MODEL 4개)</a:t>
            </a:r>
            <a:r>
              <a:rPr sz="1350" b="1">
                <a:solidFill>
                  <a:srgbClr val="1B3255"/>
                </a:solidFill>
                <a:latin typeface="맑은 고딕"/>
              </a:rPr>
              <a:t/>
            </a:r>
            <a:r>
              <a:rPr sz="1300" b="0">
                <a:solidFill>
                  <a:srgbClr val="5C6670"/>
                </a:solidFill>
                <a:latin typeface="맑은 고딕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1874519"/>
            <a:ext cx="10515600" cy="603504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874519"/>
            <a:ext cx="1051560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맑은 고딕"/>
              </a:rPr>
              <a:t>obs_dim = 6 (전역)  +  O×P×10 + O×P×K×4 (버킷)  =  906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606040"/>
            <a:ext cx="5166360" cy="146304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2606040"/>
            <a:ext cx="5166360" cy="384048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679192"/>
            <a:ext cx="3099816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전역 상태 (Global)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2679192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6 차원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081528"/>
            <a:ext cx="480060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22A33"/>
                </a:solidFill>
                <a:latin typeface="맑은 고딕"/>
              </a:rPr>
              <a:t>경과시간 · 잔여 takt여유 · 재공 소진율 · 계획 달성률 · 전환대기 설비 비율 · 공구 가동률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2606040"/>
            <a:ext cx="5166360" cy="146304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2606040"/>
            <a:ext cx="5166360" cy="38404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679192"/>
            <a:ext cx="3099816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버킷 특징 (Bucket)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679192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900 차원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081528"/>
            <a:ext cx="480060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22A33"/>
                </a:solidFill>
                <a:latin typeface="맑은 고딕"/>
              </a:rPr>
              <a:t>(OPER×PPK) 10채널(모델 무관) + (OPER×PPK×MODEL) 4채널(모델별): WIP비중·takt·urgency·달성가능·투영커버·소진시간 / ST·전환·공구·회피가능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325112"/>
            <a:ext cx="105156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E6FB0"/>
                </a:solidFill>
                <a:latin typeface="맑은 고딕"/>
              </a:rPr>
              <a:t>다음 2개 State 블록을 항목별 상세(채널 정의·실측 산출식 값)로 설명합니다. 버킷 채널이 전환 회피·페이싱 판단의 근거가 됩니다.</a:t>
            </a:r>
            <a:r>
              <a:rPr sz="1250" b="1">
                <a:solidFill>
                  <a:srgbClr val="1B3255"/>
                </a:solidFill>
                <a:latin typeface="맑은 고딕"/>
              </a:rPr>
              <a:t/>
            </a:r>
            <a:r>
              <a:rPr sz="1250" b="0">
                <a:solidFill>
                  <a:srgbClr val="222A33"/>
                </a:solidFill>
                <a:latin typeface="맑은 고딕"/>
              </a:rPr>
              <a:t/>
            </a:r>
            <a:r>
              <a:rPr sz="1250" b="1">
                <a:solidFill>
                  <a:srgbClr val="1B3255"/>
                </a:solidFill>
                <a:latin typeface="맑은 고딕"/>
              </a:rPr>
              <a:t/>
            </a:r>
            <a:r>
              <a:rPr sz="1250" b="0">
                <a:solidFill>
                  <a:srgbClr val="5C6670"/>
                </a:solidFill>
                <a:latin typeface="맑은 고딕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02  Bulk-Fill MDP 모델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State 항목 — 전역 상태 (Global)  (obs[0:6])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07008"/>
            <a:ext cx="5504688" cy="86868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07008"/>
            <a:ext cx="73152" cy="86868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298448"/>
            <a:ext cx="5184648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6FB0"/>
                </a:solidFill>
                <a:latin typeface="맑은 고딕"/>
              </a:rPr>
              <a:t>쉬운 설명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22A33"/>
                </a:solidFill>
                <a:latin typeface="맑은 고딕"/>
              </a:rPr>
              <a:t>라인 전체 상황 — 시간·takt 여유·재공·계획·전환·공구를 6개 숫자로 요약합니다.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1" y="1207008"/>
            <a:ext cx="5504688" cy="868680"/>
          </a:xfrm>
          <a:prstGeom prst="rect">
            <a:avLst/>
          </a:prstGeom>
          <a:solidFill>
            <a:srgbClr val="ECF1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1" y="1207008"/>
            <a:ext cx="73152" cy="868680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1298448"/>
            <a:ext cx="5184648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4A6D8C"/>
                </a:solidFill>
                <a:latin typeface="맑은 고딕"/>
              </a:rPr>
              <a:t>핵심 목적 (필요성)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정책이 "지금 몇 시쯤인지, 얼마나 급한지"를 전역적으로 파악하게 합니다.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212848"/>
            <a:ext cx="777240" cy="365760"/>
          </a:xfrm>
          <a:prstGeom prst="rect">
            <a:avLst/>
          </a:prstGeom>
          <a:solidFill>
            <a:srgbClr val="1B3255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인덱스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80160" y="2212848"/>
            <a:ext cx="1051560" cy="365760"/>
          </a:xfrm>
          <a:prstGeom prst="rect">
            <a:avLst/>
          </a:prstGeom>
          <a:solidFill>
            <a:srgbClr val="1B3255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이름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1720" y="2212848"/>
            <a:ext cx="1737360" cy="365760"/>
          </a:xfrm>
          <a:prstGeom prst="rect">
            <a:avLst/>
          </a:prstGeom>
          <a:solidFill>
            <a:srgbClr val="1B3255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의미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69080" y="2212848"/>
            <a:ext cx="1463040" cy="365760"/>
          </a:xfrm>
          <a:prstGeom prst="rect">
            <a:avLst/>
          </a:prstGeom>
          <a:solidFill>
            <a:srgbClr val="1B3255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실측치 (Step 1)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578608"/>
            <a:ext cx="7772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1">
                <a:solidFill>
                  <a:srgbClr val="1B3255"/>
                </a:solidFill>
                <a:latin typeface="맑은 고딕"/>
              </a:rPr>
              <a:t>obs[0]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80160" y="2578608"/>
            <a:ext cx="10515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0">
                <a:solidFill>
                  <a:srgbClr val="1B3255"/>
                </a:solidFill>
                <a:latin typeface="맑은 고딕"/>
              </a:rPr>
              <a:t>time_norm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31720" y="2578608"/>
            <a:ext cx="17373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5C6670"/>
                </a:solidFill>
                <a:latin typeface="맑은 고딕"/>
              </a:rPr>
              <a:t>시뮬 경과 비율 (0=시작, 1=종료)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69080" y="2578608"/>
            <a:ext cx="14630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2E6FB0"/>
                </a:solidFill>
                <a:latin typeface="맑은 고딕"/>
              </a:rPr>
              <a:t>min(0/480, 1) = 0.0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054096"/>
            <a:ext cx="77724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1">
                <a:solidFill>
                  <a:srgbClr val="1B3255"/>
                </a:solidFill>
                <a:latin typeface="맑은 고딕"/>
              </a:rPr>
              <a:t>obs[1]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80160" y="3054096"/>
            <a:ext cx="105156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0">
                <a:solidFill>
                  <a:srgbClr val="1B3255"/>
                </a:solidFill>
                <a:latin typeface="맑은 고딕"/>
              </a:rPr>
              <a:t>takt_margin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31720" y="3054096"/>
            <a:ext cx="173736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5C6670"/>
                </a:solidFill>
                <a:latin typeface="맑은 고딕"/>
              </a:rPr>
              <a:t>남은 horizon 여유 (1→여유 많음)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69080" y="3054096"/>
            <a:ext cx="146304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2E6FB0"/>
                </a:solidFill>
                <a:latin typeface="맑은 고딕"/>
              </a:rPr>
              <a:t>= 1.0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529584"/>
            <a:ext cx="7772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1">
                <a:solidFill>
                  <a:srgbClr val="1B3255"/>
                </a:solidFill>
                <a:latin typeface="맑은 고딕"/>
              </a:rPr>
              <a:t>obs[2]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80160" y="3529584"/>
            <a:ext cx="10515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0">
                <a:solidFill>
                  <a:srgbClr val="1B3255"/>
                </a:solidFill>
                <a:latin typeface="맑은 고딕"/>
              </a:rPr>
              <a:t>remaining_lots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31720" y="3529584"/>
            <a:ext cx="17373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5C6670"/>
                </a:solidFill>
                <a:latin typeface="맑은 고딕"/>
              </a:rPr>
              <a:t>미배정 재공 비율 (↓=소진)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69080" y="3529584"/>
            <a:ext cx="14630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2E6FB0"/>
                </a:solidFill>
                <a:latin typeface="맑은 고딕"/>
              </a:rPr>
              <a:t>= 1.0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005072"/>
            <a:ext cx="77724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1">
                <a:solidFill>
                  <a:srgbClr val="1B3255"/>
                </a:solidFill>
                <a:latin typeface="맑은 고딕"/>
              </a:rPr>
              <a:t>obs[3]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80160" y="4005072"/>
            <a:ext cx="105156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0">
                <a:solidFill>
                  <a:srgbClr val="1B3255"/>
                </a:solidFill>
                <a:latin typeface="맑은 고딕"/>
              </a:rPr>
              <a:t>plan_progress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31720" y="4005072"/>
            <a:ext cx="173736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5C6670"/>
                </a:solidFill>
                <a:latin typeface="맑은 고딕"/>
              </a:rPr>
              <a:t>전체 계획 달성률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69080" y="4005072"/>
            <a:ext cx="146304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2E6FB0"/>
                </a:solidFill>
                <a:latin typeface="맑은 고딕"/>
              </a:rPr>
              <a:t>min(0/24, 1) = 0.0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480560"/>
            <a:ext cx="7772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1">
                <a:solidFill>
                  <a:srgbClr val="1B3255"/>
                </a:solidFill>
                <a:latin typeface="맑은 고딕"/>
              </a:rPr>
              <a:t>obs[4]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80160" y="4480560"/>
            <a:ext cx="10515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0">
                <a:solidFill>
                  <a:srgbClr val="1B3255"/>
                </a:solidFill>
                <a:latin typeface="맑은 고딕"/>
              </a:rPr>
              <a:t>conv_idle_ratio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31720" y="4480560"/>
            <a:ext cx="17373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5C6670"/>
                </a:solidFill>
                <a:latin typeface="맑은 고딕"/>
              </a:rPr>
              <a:t>셋업 바꾸느라 대기 중인 설비 비율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69080" y="4480560"/>
            <a:ext cx="14630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2E6FB0"/>
                </a:solidFill>
                <a:latin typeface="맑은 고딕"/>
              </a:rPr>
              <a:t>= 0.0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4956048"/>
            <a:ext cx="77724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1">
                <a:solidFill>
                  <a:srgbClr val="1B3255"/>
                </a:solidFill>
                <a:latin typeface="맑은 고딕"/>
              </a:rPr>
              <a:t>obs[5]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80160" y="4956048"/>
            <a:ext cx="105156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19" b="0">
                <a:solidFill>
                  <a:srgbClr val="1B3255"/>
                </a:solidFill>
                <a:latin typeface="맑은 고딕"/>
              </a:rPr>
              <a:t>tool_util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331720" y="4956048"/>
            <a:ext cx="173736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5C6670"/>
                </a:solidFill>
                <a:latin typeface="맑은 고딕"/>
              </a:rPr>
              <a:t>tool cap 포화 정도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69080" y="4956048"/>
            <a:ext cx="146304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2E6FB0"/>
                </a:solidFill>
                <a:latin typeface="맑은 고딕"/>
              </a:rPr>
              <a:t>= 0.0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97880" y="2212848"/>
            <a:ext cx="5806440" cy="379476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80760" y="2350008"/>
            <a:ext cx="54406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3255"/>
                </a:solidFill>
                <a:latin typeface="맑은 고딕"/>
              </a:rPr>
              <a:t>전역 모니터링 메트릭스 (인포그래픽)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80760" y="2761488"/>
            <a:ext cx="54406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1. 시뮬레이션 경과 시간 (time_norm)</a:t>
            </a:r>
            <a:r>
              <a:rPr sz="900" b="0">
                <a:solidFill>
                  <a:srgbClr val="5C6670"/>
                </a:solidFill>
                <a:latin typeface="맑은 고딕"/>
              </a:rPr>
              <a:t>  min(t / sim_end, 1)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80760" y="3035808"/>
            <a:ext cx="347472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080760" y="3035808"/>
            <a:ext cx="2258568" cy="20116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92640" y="3008376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2E6FB0"/>
                </a:solidFill>
                <a:latin typeface="맑은 고딕"/>
              </a:rPr>
              <a:t>65%  (t=936 / 1440)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3538728"/>
            <a:ext cx="54406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2. 납기 시간 마진 (takt_margin)</a:t>
            </a:r>
            <a:r>
              <a:rPr sz="900" b="0">
                <a:solidFill>
                  <a:srgbClr val="5C6670"/>
                </a:solidFill>
                <a:latin typeface="맑은 고딕"/>
              </a:rPr>
              <a:t>  (soft_cutoff − t) / soft_cutoff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80760" y="3813048"/>
            <a:ext cx="347472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080760" y="3813048"/>
            <a:ext cx="1216151" cy="20116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92640" y="3785616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2E6FB0"/>
                </a:solidFill>
                <a:latin typeface="맑은 고딕"/>
              </a:rPr>
              <a:t>35%  (남은 시간 여유 35%)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80760" y="4315968"/>
            <a:ext cx="54406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3. 전체 계획 달성률 (plan_progress)</a:t>
            </a:r>
            <a:r>
              <a:rPr sz="900" b="0">
                <a:solidFill>
                  <a:srgbClr val="5C6670"/>
                </a:solidFill>
                <a:latin typeface="맑은 고딕"/>
              </a:rPr>
              <a:t>  Σ완료 / Σ계획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80760" y="4590288"/>
            <a:ext cx="347472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080760" y="4590288"/>
            <a:ext cx="1911095" cy="20116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92640" y="4562856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2E6FB0"/>
                </a:solidFill>
                <a:latin typeface="맑은 고딕"/>
              </a:rPr>
              <a:t>55%  (생산 달성 55%)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80760" y="5093207"/>
            <a:ext cx="54406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4. 공구 가동 사용률 (tool_util)</a:t>
            </a:r>
            <a:r>
              <a:rPr sz="900" b="0">
                <a:solidFill>
                  <a:srgbClr val="5C6670"/>
                </a:solidFill>
                <a:latin typeface="맑은 고딕"/>
              </a:rPr>
              <a:t>  utilization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80760" y="5367527"/>
            <a:ext cx="347472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080760" y="5367527"/>
            <a:ext cx="1563624" cy="20116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692640" y="5340096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2E6FB0"/>
                </a:solidFill>
                <a:latin typeface="맑은 고딕"/>
              </a:rPr>
              <a:t>45%  (동시 점유 공구 45%)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02  Bulk-Fill MDP 모델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State 항목 — 버킷 특징 (Bucket)  (obs[6 : 6 + O×P×10 + O×P×K×4])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07008"/>
            <a:ext cx="5504688" cy="86868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07008"/>
            <a:ext cx="73152" cy="86868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298448"/>
            <a:ext cx="5184648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6FB0"/>
                </a:solidFill>
                <a:latin typeface="맑은 고딕"/>
              </a:rPr>
              <a:t>쉬운 설명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22A33"/>
                </a:solidFill>
                <a:latin typeface="맑은 고딕"/>
              </a:rPr>
              <a:t>(OPER×PPK) 격자마다 10채널(모델 무관) + (OPER×PPK×MODEL) 격자마다 4채널(모델별) — "이 버킷을 지금 잡으면 시급·전환·중복인가"를 알려줍니다.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1" y="1207008"/>
            <a:ext cx="5504688" cy="868680"/>
          </a:xfrm>
          <a:prstGeom prst="rect">
            <a:avLst/>
          </a:prstGeom>
          <a:solidFill>
            <a:srgbClr val="ECF1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1" y="1207008"/>
            <a:ext cx="73152" cy="868680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1298448"/>
            <a:ext cx="5184648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4A6D8C"/>
                </a:solidFill>
                <a:latin typeface="맑은 고딕"/>
              </a:rPr>
              <a:t>핵심 목적 (필요성)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보상(페이싱·중복커버·전환) 판단의 근거가 되는 핵심 특징입니다.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212848"/>
            <a:ext cx="777240" cy="365760"/>
          </a:xfrm>
          <a:prstGeom prst="rect">
            <a:avLst/>
          </a:prstGeom>
          <a:solidFill>
            <a:srgbClr val="1B3255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인덱스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80160" y="2212848"/>
            <a:ext cx="1051560" cy="365760"/>
          </a:xfrm>
          <a:prstGeom prst="rect">
            <a:avLst/>
          </a:prstGeom>
          <a:solidFill>
            <a:srgbClr val="1B3255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이름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1720" y="2212848"/>
            <a:ext cx="1737360" cy="365760"/>
          </a:xfrm>
          <a:prstGeom prst="rect">
            <a:avLst/>
          </a:prstGeom>
          <a:solidFill>
            <a:srgbClr val="1B3255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의미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69080" y="2212848"/>
            <a:ext cx="1463040" cy="365760"/>
          </a:xfrm>
          <a:prstGeom prst="rect">
            <a:avLst/>
          </a:prstGeom>
          <a:solidFill>
            <a:srgbClr val="1B3255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실측치 (Step 1)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578608"/>
            <a:ext cx="777240" cy="352459"/>
          </a:xfrm>
          <a:prstGeom prst="rect">
            <a:avLst/>
          </a:prstGeom>
          <a:solidFill>
            <a:srgbClr val="DEEAF6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50" b="1">
                <a:solidFill>
                  <a:srgbClr val="2E6FB0"/>
                </a:solidFill>
                <a:latin typeface="맑은 고딕"/>
              </a:rPr>
              <a:t>ch0-1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80160" y="2578608"/>
            <a:ext cx="1051560" cy="352459"/>
          </a:xfrm>
          <a:prstGeom prst="rect">
            <a:avLst/>
          </a:prstGeom>
          <a:solidFill>
            <a:srgbClr val="DEEAF6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50" b="0">
                <a:solidFill>
                  <a:srgbClr val="222A33"/>
                </a:solidFill>
                <a:latin typeface="맑은 고딕"/>
              </a:rPr>
              <a:t>wip_비중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31720" y="2578608"/>
            <a:ext cx="1737360" cy="352459"/>
          </a:xfrm>
          <a:prstGeom prst="rect">
            <a:avLst/>
          </a:prstGeom>
          <a:solidFill>
            <a:srgbClr val="DEEAF6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50" b="0">
                <a:solidFill>
                  <a:srgbClr val="222A33"/>
                </a:solidFill>
                <a:latin typeface="맑은 고딕"/>
              </a:rPr>
              <a:t>재공이 이 버킷에 얼마나 몰려있나 (전체 대비 / 같은 제품 대비)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69080" y="2578608"/>
            <a:ext cx="1463040" cy="352459"/>
          </a:xfrm>
          <a:prstGeom prst="rect">
            <a:avLst/>
          </a:prstGeom>
          <a:solidFill>
            <a:srgbClr val="DEEAF6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50" b="0">
                <a:solidFill>
                  <a:srgbClr val="222A33"/>
                </a:solidFill>
                <a:latin typeface="맑은 고딕"/>
              </a:rPr>
              <a:t>0.0857 / 0.0968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931067"/>
            <a:ext cx="777240" cy="352459"/>
          </a:xfrm>
          <a:prstGeom prst="rect">
            <a:avLst/>
          </a:prstGeom>
          <a:solidFill>
            <a:srgbClr val="DEEAF6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50" b="1">
                <a:solidFill>
                  <a:srgbClr val="2E6FB0"/>
                </a:solidFill>
                <a:latin typeface="맑은 고딕"/>
              </a:rPr>
              <a:t>ch2-3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80160" y="2931067"/>
            <a:ext cx="1051560" cy="352459"/>
          </a:xfrm>
          <a:prstGeom prst="rect">
            <a:avLst/>
          </a:prstGeom>
          <a:solidFill>
            <a:srgbClr val="DEEAF6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50" b="0">
                <a:solidFill>
                  <a:srgbClr val="222A33"/>
                </a:solidFill>
                <a:latin typeface="맑은 고딕"/>
              </a:rPr>
              <a:t>prev/post_takt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31720" y="2931067"/>
            <a:ext cx="1737360" cy="352459"/>
          </a:xfrm>
          <a:prstGeom prst="rect">
            <a:avLst/>
          </a:prstGeom>
          <a:solidFill>
            <a:srgbClr val="DEEAF6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50" b="0">
                <a:solidFill>
                  <a:srgbClr val="222A33"/>
                </a:solidFill>
                <a:latin typeface="맑은 고딕"/>
              </a:rPr>
              <a:t>상류(이전공정)·하류(다음공정) 기준 요구 속도 — 수요 vs 설비capa 중 더 빠듯한 쪽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69080" y="2931067"/>
            <a:ext cx="1463040" cy="352459"/>
          </a:xfrm>
          <a:prstGeom prst="rect">
            <a:avLst/>
          </a:prstGeom>
          <a:solidFill>
            <a:srgbClr val="DEEAF6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50" b="0">
                <a:solidFill>
                  <a:srgbClr val="222A33"/>
                </a:solidFill>
                <a:latin typeface="맑은 고딕"/>
              </a:rPr>
              <a:t>0.0 / 0.02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283526"/>
            <a:ext cx="777240" cy="352459"/>
          </a:xfrm>
          <a:prstGeom prst="rect">
            <a:avLst/>
          </a:prstGeom>
          <a:solidFill>
            <a:srgbClr val="F3E8D6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50" b="1">
                <a:solidFill>
                  <a:srgbClr val="B07A2E"/>
                </a:solidFill>
                <a:latin typeface="맑은 고딕"/>
              </a:rPr>
              <a:t>ch4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80160" y="3283526"/>
            <a:ext cx="1051560" cy="352459"/>
          </a:xfrm>
          <a:prstGeom prst="rect">
            <a:avLst/>
          </a:prstGeom>
          <a:solidFill>
            <a:srgbClr val="F3E8D6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50" b="0">
                <a:solidFill>
                  <a:srgbClr val="222A33"/>
                </a:solidFill>
                <a:latin typeface="맑은 고딕"/>
              </a:rPr>
              <a:t>self_st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31720" y="3283526"/>
            <a:ext cx="1737360" cy="352459"/>
          </a:xfrm>
          <a:prstGeom prst="rect">
            <a:avLst/>
          </a:prstGeom>
          <a:solidFill>
            <a:srgbClr val="F3E8D6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50" b="0">
                <a:solidFill>
                  <a:srgbClr val="222A33"/>
                </a:solidFill>
                <a:latin typeface="맑은 고딕"/>
              </a:rPr>
              <a:t>이 (PPK×OPER×MODEL) per-wafer 처리시간(정규화)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69080" y="3283526"/>
            <a:ext cx="1463040" cy="352459"/>
          </a:xfrm>
          <a:prstGeom prst="rect">
            <a:avLst/>
          </a:prstGeom>
          <a:solidFill>
            <a:srgbClr val="F3E8D6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50" b="0">
                <a:solidFill>
                  <a:srgbClr val="222A33"/>
                </a:solidFill>
                <a:latin typeface="맑은 고딕"/>
              </a:rPr>
              <a:t>1.0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635985"/>
            <a:ext cx="777240" cy="352459"/>
          </a:xfrm>
          <a:prstGeom prst="rect">
            <a:avLst/>
          </a:prstGeom>
          <a:solidFill>
            <a:srgbClr val="DEEAF6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50" b="1">
                <a:solidFill>
                  <a:srgbClr val="2E6FB0"/>
                </a:solidFill>
                <a:latin typeface="맑은 고딕"/>
              </a:rPr>
              <a:t>ch5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988444"/>
            <a:ext cx="777240" cy="352459"/>
          </a:xfrm>
          <a:prstGeom prst="rect">
            <a:avLst/>
          </a:prstGeom>
          <a:solidFill>
            <a:srgbClr val="DEEAF6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50" b="1">
                <a:solidFill>
                  <a:srgbClr val="2E6FB0"/>
                </a:solidFill>
                <a:latin typeface="맑은 고딕"/>
              </a:rPr>
              <a:t>ch6-7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80160" y="3635985"/>
            <a:ext cx="1051560" cy="352459"/>
          </a:xfrm>
          <a:prstGeom prst="rect">
            <a:avLst/>
          </a:prstGeom>
          <a:solidFill>
            <a:srgbClr val="DEEAF6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50" b="0">
                <a:solidFill>
                  <a:srgbClr val="222A33"/>
                </a:solidFill>
                <a:latin typeface="맑은 고딕"/>
              </a:rPr>
              <a:t>plan_urgency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80160" y="3988444"/>
            <a:ext cx="1051560" cy="352459"/>
          </a:xfrm>
          <a:prstGeom prst="rect">
            <a:avLst/>
          </a:prstGeom>
          <a:solidFill>
            <a:srgbClr val="DEEAF6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50" b="0">
                <a:solidFill>
                  <a:srgbClr val="222A33"/>
                </a:solidFill>
                <a:latin typeface="맑은 고딕"/>
              </a:rPr>
              <a:t>wip_lot_cd / wip_temp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31720" y="3635985"/>
            <a:ext cx="1737360" cy="352459"/>
          </a:xfrm>
          <a:prstGeom prst="rect">
            <a:avLst/>
          </a:prstGeom>
          <a:solidFill>
            <a:srgbClr val="DEEAF6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50" b="0">
                <a:solidFill>
                  <a:srgbClr val="222A33"/>
                </a:solidFill>
                <a:latin typeface="맑은 고딕"/>
              </a:rPr>
              <a:t>남은 계획 대비 시간 압박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31720" y="3988444"/>
            <a:ext cx="1737360" cy="352459"/>
          </a:xfrm>
          <a:prstGeom prst="rect">
            <a:avLst/>
          </a:prstGeom>
          <a:solidFill>
            <a:srgbClr val="DEEAF6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50" b="0">
                <a:solidFill>
                  <a:srgbClr val="222A33"/>
                </a:solidFill>
                <a:latin typeface="맑은 고딕"/>
              </a:rPr>
              <a:t>이 버킷의 LOT_CD·TEMP 인코딩 (셋업 식별, needs_conversion 판단 재료)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69080" y="3635985"/>
            <a:ext cx="1463040" cy="352459"/>
          </a:xfrm>
          <a:prstGeom prst="rect">
            <a:avLst/>
          </a:prstGeom>
          <a:solidFill>
            <a:srgbClr val="DEEAF6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50" b="0">
                <a:solidFill>
                  <a:srgbClr val="222A33"/>
                </a:solidFill>
                <a:latin typeface="맑은 고딕"/>
              </a:rPr>
              <a:t>0.0023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69080" y="3988444"/>
            <a:ext cx="1463040" cy="352459"/>
          </a:xfrm>
          <a:prstGeom prst="rect">
            <a:avLst/>
          </a:prstGeom>
          <a:solidFill>
            <a:srgbClr val="DEEAF6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50" b="0">
                <a:solidFill>
                  <a:srgbClr val="222A33"/>
                </a:solidFill>
                <a:latin typeface="맑은 고딕"/>
              </a:rPr>
              <a:t>1.0 / 0.0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340903"/>
            <a:ext cx="777240" cy="352459"/>
          </a:xfrm>
          <a:prstGeom prst="rect">
            <a:avLst/>
          </a:prstGeom>
          <a:solidFill>
            <a:srgbClr val="F3E8D6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50" b="1">
                <a:solidFill>
                  <a:srgbClr val="B07A2E"/>
                </a:solidFill>
                <a:latin typeface="맑은 고딕"/>
              </a:rPr>
              <a:t>ch8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80160" y="4340903"/>
            <a:ext cx="1051560" cy="352459"/>
          </a:xfrm>
          <a:prstGeom prst="rect">
            <a:avLst/>
          </a:prstGeom>
          <a:solidFill>
            <a:srgbClr val="F3E8D6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50" b="0">
                <a:solidFill>
                  <a:srgbClr val="222A33"/>
                </a:solidFill>
                <a:latin typeface="맑은 고딕"/>
              </a:rPr>
              <a:t>needs_conversion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31720" y="4340903"/>
            <a:ext cx="1737360" cy="352459"/>
          </a:xfrm>
          <a:prstGeom prst="rect">
            <a:avLst/>
          </a:prstGeom>
          <a:solidFill>
            <a:srgbClr val="F3E8D6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50" b="0">
                <a:solidFill>
                  <a:srgbClr val="222A33"/>
                </a:solidFill>
                <a:latin typeface="맑은 고딕"/>
              </a:rPr>
              <a:t>이 버킷 잡으면 셋업 변경?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69080" y="4340903"/>
            <a:ext cx="1463040" cy="352459"/>
          </a:xfrm>
          <a:prstGeom prst="rect">
            <a:avLst/>
          </a:prstGeom>
          <a:solidFill>
            <a:srgbClr val="F3E8D6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50" b="0">
                <a:solidFill>
                  <a:srgbClr val="222A33"/>
                </a:solidFill>
                <a:latin typeface="맑은 고딕"/>
              </a:rPr>
              <a:t>1.0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4693362"/>
            <a:ext cx="777240" cy="352459"/>
          </a:xfrm>
          <a:prstGeom prst="rect">
            <a:avLst/>
          </a:prstGeom>
          <a:solidFill>
            <a:srgbClr val="F3E8D6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50" b="1">
                <a:solidFill>
                  <a:srgbClr val="B07A2E"/>
                </a:solidFill>
                <a:latin typeface="맑은 고딕"/>
              </a:rPr>
              <a:t>ch9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80160" y="4693362"/>
            <a:ext cx="1051560" cy="352459"/>
          </a:xfrm>
          <a:prstGeom prst="rect">
            <a:avLst/>
          </a:prstGeom>
          <a:solidFill>
            <a:srgbClr val="F3E8D6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50" b="0">
                <a:solidFill>
                  <a:srgbClr val="222A33"/>
                </a:solidFill>
                <a:latin typeface="맑은 고딕"/>
              </a:rPr>
              <a:t>tool_can_assign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331720" y="4693362"/>
            <a:ext cx="1737360" cy="352459"/>
          </a:xfrm>
          <a:prstGeom prst="rect">
            <a:avLst/>
          </a:prstGeom>
          <a:solidFill>
            <a:srgbClr val="F3E8D6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50" b="0">
                <a:solidFill>
                  <a:srgbClr val="222A33"/>
                </a:solidFill>
                <a:latin typeface="맑은 고딕"/>
              </a:rPr>
              <a:t>tool cap 통과 여부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69080" y="4693362"/>
            <a:ext cx="1463040" cy="352459"/>
          </a:xfrm>
          <a:prstGeom prst="rect">
            <a:avLst/>
          </a:prstGeom>
          <a:solidFill>
            <a:srgbClr val="F3E8D6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50" b="0">
                <a:solidFill>
                  <a:srgbClr val="222A33"/>
                </a:solidFill>
                <a:latin typeface="맑은 고딕"/>
              </a:rPr>
              <a:t>1.0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5045821"/>
            <a:ext cx="777240" cy="352459"/>
          </a:xfrm>
          <a:prstGeom prst="rect">
            <a:avLst/>
          </a:prstGeom>
          <a:solidFill>
            <a:srgbClr val="DEEAF6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50" b="1">
                <a:solidFill>
                  <a:srgbClr val="2E6FB0"/>
                </a:solidFill>
                <a:latin typeface="맑은 고딕"/>
              </a:rPr>
              <a:t>ch10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80160" y="5045821"/>
            <a:ext cx="1051560" cy="352459"/>
          </a:xfrm>
          <a:prstGeom prst="rect">
            <a:avLst/>
          </a:prstGeom>
          <a:solidFill>
            <a:srgbClr val="DEEAF6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50" b="0">
                <a:solidFill>
                  <a:srgbClr val="222A33"/>
                </a:solidFill>
                <a:latin typeface="맑은 고딕"/>
              </a:rPr>
              <a:t>achievable_ratio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331720" y="5045821"/>
            <a:ext cx="1737360" cy="352459"/>
          </a:xfrm>
          <a:prstGeom prst="rect">
            <a:avLst/>
          </a:prstGeom>
          <a:solidFill>
            <a:srgbClr val="DEEAF6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50" b="0">
                <a:solidFill>
                  <a:srgbClr val="222A33"/>
                </a:solidFill>
                <a:latin typeface="맑은 고딕"/>
              </a:rPr>
              <a:t>재공 한도 내 달성 가능한 상한 비율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69080" y="5045821"/>
            <a:ext cx="1463040" cy="352459"/>
          </a:xfrm>
          <a:prstGeom prst="rect">
            <a:avLst/>
          </a:prstGeom>
          <a:solidFill>
            <a:srgbClr val="DEEAF6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50" b="0">
                <a:solidFill>
                  <a:srgbClr val="222A33"/>
                </a:solidFill>
                <a:latin typeface="맑은 고딕"/>
              </a:rPr>
              <a:t>1.0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5398280"/>
            <a:ext cx="777240" cy="352459"/>
          </a:xfrm>
          <a:prstGeom prst="rect">
            <a:avLst/>
          </a:prstGeom>
          <a:solidFill>
            <a:srgbClr val="DEEAF6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50" b="1">
                <a:solidFill>
                  <a:srgbClr val="2E6FB0"/>
                </a:solidFill>
                <a:latin typeface="맑은 고딕"/>
              </a:rPr>
              <a:t>ch11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280160" y="5398280"/>
            <a:ext cx="1051560" cy="352459"/>
          </a:xfrm>
          <a:prstGeom prst="rect">
            <a:avLst/>
          </a:prstGeom>
          <a:solidFill>
            <a:srgbClr val="DEEAF6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50" b="0">
                <a:solidFill>
                  <a:srgbClr val="222A33"/>
                </a:solidFill>
                <a:latin typeface="맑은 고딕"/>
              </a:rPr>
              <a:t>projected_cover_ratio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331720" y="5398280"/>
            <a:ext cx="1737360" cy="352459"/>
          </a:xfrm>
          <a:prstGeom prst="rect">
            <a:avLst/>
          </a:prstGeom>
          <a:solidFill>
            <a:srgbClr val="DEEAF6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50" b="0">
                <a:solidFill>
                  <a:srgbClr val="222A33"/>
                </a:solidFill>
                <a:latin typeface="맑은 고딕"/>
              </a:rPr>
              <a:t>중복 커버 신호 — 클수록 다른 설비가 이미 커버 중(회피 유도)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069080" y="5398280"/>
            <a:ext cx="1463040" cy="352459"/>
          </a:xfrm>
          <a:prstGeom prst="rect">
            <a:avLst/>
          </a:prstGeom>
          <a:solidFill>
            <a:srgbClr val="DEEAF6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50" b="0">
                <a:solidFill>
                  <a:srgbClr val="222A33"/>
                </a:solidFill>
                <a:latin typeface="맑은 고딕"/>
              </a:rPr>
              <a:t>0.72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5750739"/>
            <a:ext cx="777240" cy="352459"/>
          </a:xfrm>
          <a:prstGeom prst="rect">
            <a:avLst/>
          </a:prstGeom>
          <a:solidFill>
            <a:srgbClr val="DEEAF6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50" b="1">
                <a:solidFill>
                  <a:srgbClr val="2E6FB0"/>
                </a:solidFill>
                <a:latin typeface="맑은 고딕"/>
              </a:rPr>
              <a:t>ch12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6103198"/>
            <a:ext cx="777240" cy="352459"/>
          </a:xfrm>
          <a:prstGeom prst="rect">
            <a:avLst/>
          </a:prstGeom>
          <a:solidFill>
            <a:srgbClr val="F3E8D6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50" b="1">
                <a:solidFill>
                  <a:srgbClr val="B07A2E"/>
                </a:solidFill>
                <a:latin typeface="맑은 고딕"/>
              </a:rPr>
              <a:t>ch13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280160" y="5750739"/>
            <a:ext cx="1051560" cy="352459"/>
          </a:xfrm>
          <a:prstGeom prst="rect">
            <a:avLst/>
          </a:prstGeom>
          <a:solidFill>
            <a:srgbClr val="DEEAF6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50" b="0">
                <a:solidFill>
                  <a:srgbClr val="222A33"/>
                </a:solidFill>
                <a:latin typeface="맑은 고딕"/>
              </a:rPr>
              <a:t>starve_time_norm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280160" y="6103198"/>
            <a:ext cx="1051560" cy="352459"/>
          </a:xfrm>
          <a:prstGeom prst="rect">
            <a:avLst/>
          </a:prstGeom>
          <a:solidFill>
            <a:srgbClr val="F3E8D6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50" b="0">
                <a:solidFill>
                  <a:srgbClr val="222A33"/>
                </a:solidFill>
                <a:latin typeface="맑은 고딕"/>
              </a:rPr>
              <a:t>avoidable_frac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331720" y="5750739"/>
            <a:ext cx="1737360" cy="352459"/>
          </a:xfrm>
          <a:prstGeom prst="rect">
            <a:avLst/>
          </a:prstGeom>
          <a:solidFill>
            <a:srgbClr val="DEEAF6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50" b="0">
                <a:solidFill>
                  <a:srgbClr val="222A33"/>
                </a:solidFill>
                <a:latin typeface="맑은 고딕"/>
              </a:rPr>
              <a:t>안전재공 소진 시간 (몇 시간 후 재공이 말라 안전재공이 사라지는지)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331720" y="6103198"/>
            <a:ext cx="1737360" cy="352459"/>
          </a:xfrm>
          <a:prstGeom prst="rect">
            <a:avLst/>
          </a:prstGeom>
          <a:solidFill>
            <a:srgbClr val="F3E8D6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50" b="0">
                <a:solidFill>
                  <a:srgbClr val="222A33"/>
                </a:solidFill>
                <a:latin typeface="맑은 고딕"/>
              </a:rPr>
              <a:t>이 버킷 잡을 때 전환이 회피 가능한 정도 (needs_conversion=1일 때만)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069080" y="5750739"/>
            <a:ext cx="1463040" cy="352459"/>
          </a:xfrm>
          <a:prstGeom prst="rect">
            <a:avLst/>
          </a:prstGeom>
          <a:solidFill>
            <a:srgbClr val="DEEAF6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50" b="0">
                <a:solidFill>
                  <a:srgbClr val="222A33"/>
                </a:solidFill>
                <a:latin typeface="맑은 고딕"/>
              </a:rPr>
              <a:t>1.0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069080" y="6103198"/>
            <a:ext cx="1463040" cy="352459"/>
          </a:xfrm>
          <a:prstGeom prst="rect">
            <a:avLst/>
          </a:prstGeom>
          <a:solidFill>
            <a:srgbClr val="F3E8D6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50" b="0">
                <a:solidFill>
                  <a:srgbClr val="222A33"/>
                </a:solidFill>
                <a:latin typeface="맑은 고딕"/>
              </a:rPr>
              <a:t>0.619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97880" y="2212848"/>
            <a:ext cx="5806440" cy="379476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80760" y="2322576"/>
            <a:ext cx="54406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3255"/>
                </a:solidFill>
                <a:latin typeface="맑은 고딕"/>
              </a:rPr>
              <a:t>버킷 구조 — PPK×OPER 격자(10채널) + MODEL별 하위채널(4채널)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80760" y="3584448"/>
            <a:ext cx="544068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17920" y="3694176"/>
            <a:ext cx="5166360" cy="2011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B3255"/>
                </a:solidFill>
                <a:latin typeface="맑은 고딕"/>
              </a:rPr>
              <a:t>핵심 제약 조건 및 케이스별 산식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▪ 가공 속도(self_st) :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st_per_wafer / max_st  (모델별 가공속도)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▪ 셋업 전환(needs_conversion) :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1 [lot_cd 또는 temp 상이]  (1회당 패널티)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▪ 공구 포화(tool_can_assign) :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1 [net capa 잔여]  (부족 시 배정 차단)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▪ 달성 목표(achievable_ratio) :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min(계획, 완료+상류WIP) / 계획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▪ 안전재공 소진(starve_time_norm) :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wip / (현재capa - 상류capa) / T_avail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▪ 회피가능 전환(avoidable_frac) :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conversion_avoidable_fraction(현재 EQP, 이 버킷)  (needs_conversion=1일 때만)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150000" y="2662616"/>
            <a:ext cx="620000" cy="220000"/>
          </a:xfrm>
          <a:prstGeom prst="roundRect">
            <a:avLst/>
          </a:prstGeom>
          <a:solidFill>
            <a:srgbClr val="DEEAF6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6795000" y="2662616"/>
            <a:ext cx="620000" cy="220000"/>
          </a:xfrm>
          <a:prstGeom prst="roundRect">
            <a:avLst/>
          </a:prstGeom>
          <a:solidFill>
            <a:srgbClr val="DEEAF6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440000" y="2662616"/>
            <a:ext cx="620000" cy="220000"/>
          </a:xfrm>
          <a:prstGeom prst="roundRect">
            <a:avLst/>
          </a:prstGeom>
          <a:solidFill>
            <a:srgbClr val="DEEAF6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150000" y="2907616"/>
            <a:ext cx="620000" cy="220000"/>
          </a:xfrm>
          <a:prstGeom prst="roundRect">
            <a:avLst/>
          </a:prstGeom>
          <a:solidFill>
            <a:srgbClr val="DEEAF6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6795000" y="2907616"/>
            <a:ext cx="620000" cy="220000"/>
          </a:xfrm>
          <a:prstGeom prst="roundRect">
            <a:avLst/>
          </a:prstGeom>
          <a:solidFill>
            <a:srgbClr val="DEEAF6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7440000" y="2907616"/>
            <a:ext cx="620000" cy="220000"/>
          </a:xfrm>
          <a:prstGeom prst="roundRect">
            <a:avLst/>
          </a:prstGeom>
          <a:solidFill>
            <a:srgbClr val="B7D3EF"/>
          </a:solidFill>
          <a:ln w="9525">
            <a:solidFill>
              <a:srgbClr val="2E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B3255"/>
                </a:solidFill>
              </a:rPr>
              <a:t>이 버킷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150000" y="3152616"/>
            <a:ext cx="620000" cy="220000"/>
          </a:xfrm>
          <a:prstGeom prst="roundRect">
            <a:avLst/>
          </a:prstGeom>
          <a:solidFill>
            <a:srgbClr val="DEEAF6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6795000" y="3152616"/>
            <a:ext cx="620000" cy="220000"/>
          </a:xfrm>
          <a:prstGeom prst="roundRect">
            <a:avLst/>
          </a:prstGeom>
          <a:solidFill>
            <a:srgbClr val="DEEAF6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7440000" y="3152616"/>
            <a:ext cx="620000" cy="220000"/>
          </a:xfrm>
          <a:prstGeom prst="roundRect">
            <a:avLst/>
          </a:prstGeom>
          <a:solidFill>
            <a:srgbClr val="DEEAF6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50000" y="3392616"/>
            <a:ext cx="191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E6FB0"/>
                </a:solidFill>
              </a:rPr>
              <a:t>PPK×OPER 격자 — 10채널 (모델 무관)</a:t>
            </a:r>
          </a:p>
        </p:txBody>
      </p:sp>
      <p:sp>
        <p:nvSpPr>
          <p:cNvPr id="75" name="Right Arrow 74"/>
          <p:cNvSpPr/>
          <p:nvPr/>
        </p:nvSpPr>
        <p:spPr>
          <a:xfrm>
            <a:off x="8090000" y="2903316"/>
            <a:ext cx="360000" cy="228600"/>
          </a:xfrm>
          <a:prstGeom prst="rightArrow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8480000" y="2662616"/>
            <a:ext cx="3150000" cy="210000"/>
          </a:xfrm>
          <a:prstGeom prst="roundRect">
            <a:avLst/>
          </a:prstGeom>
          <a:solidFill>
            <a:srgbClr val="F3E8D6"/>
          </a:solidFill>
          <a:ln w="9525">
            <a:solidFill>
              <a:srgbClr val="B0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222A33"/>
                </a:solidFill>
              </a:rPr>
              <a:t>MODEL A  (self_st·needs_conversion·tool_can_assign·avoidable_frac)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480000" y="2897616"/>
            <a:ext cx="3150000" cy="210000"/>
          </a:xfrm>
          <a:prstGeom prst="roundRect">
            <a:avLst/>
          </a:prstGeom>
          <a:solidFill>
            <a:srgbClr val="F3E8D6"/>
          </a:solidFill>
          <a:ln w="9525">
            <a:solidFill>
              <a:srgbClr val="B0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222A33"/>
                </a:solidFill>
              </a:rPr>
              <a:t>MODEL B  (self_st·needs_conversion·tool_can_assign·avoidable_frac)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480000" y="3132616"/>
            <a:ext cx="3150000" cy="210000"/>
          </a:xfrm>
          <a:prstGeom prst="roundRect">
            <a:avLst/>
          </a:prstGeom>
          <a:solidFill>
            <a:srgbClr val="F3E8D6"/>
          </a:solidFill>
          <a:ln w="9525">
            <a:solidFill>
              <a:srgbClr val="B0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222A33"/>
                </a:solidFill>
              </a:rPr>
              <a:t>MODEL C  (self_st·needs_conversion·tool_can_assign·avoidable_frac)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80000" y="3362616"/>
            <a:ext cx="315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B07A2E"/>
                </a:solidFill>
              </a:rPr>
              <a:t>MODEL별 하위채널 — 4채널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02  Bulk-Fill MDP 모델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State — 다장비 동시 비교 (t=120분, 3대 설비 실측)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1120140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98448"/>
            <a:ext cx="1088136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6FB0"/>
                </a:solidFill>
                <a:latin typeface="맑은 고딕"/>
              </a:rPr>
              <a:t>쉬운 설명  </a:t>
            </a:r>
            <a:r>
              <a:rPr sz="1050" b="0">
                <a:solidFill>
                  <a:srgbClr val="222A33"/>
                </a:solidFill>
                <a:latin typeface="맑은 고딕"/>
              </a:rPr>
              <a:t>같은 시각에 3대 설비가 차례로 판단을 내릴 때, 설비마다 State 값이 실제로 다르게 계산됩니다.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755648"/>
            <a:ext cx="11201400" cy="347472"/>
          </a:xfrm>
          <a:prstGeom prst="rect">
            <a:avLst/>
          </a:prstGeom>
          <a:solidFill>
            <a:srgbClr val="ECF1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810512"/>
            <a:ext cx="108813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4A6D8C"/>
                </a:solidFill>
                <a:latin typeface="맑은 고딕"/>
              </a:rPr>
              <a:t>공통 전역값 (3대 동일)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time_norm=0.25, takt_margin=0.75, conv_idle_ratio=0.0, tool_util=0.0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176272"/>
            <a:ext cx="1828800" cy="365760"/>
          </a:xfrm>
          <a:prstGeom prst="rect">
            <a:avLst/>
          </a:prstGeom>
          <a:solidFill>
            <a:srgbClr val="1B3255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항목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1720" y="2176272"/>
            <a:ext cx="2926080" cy="365760"/>
          </a:xfrm>
          <a:prstGeom prst="rect">
            <a:avLst/>
          </a:prstGeom>
          <a:solidFill>
            <a:srgbClr val="1B3255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산식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57800" y="2176272"/>
            <a:ext cx="2011680" cy="365760"/>
          </a:xfrm>
          <a:prstGeom prst="rect">
            <a:avLst/>
          </a:prstGeom>
          <a:solidFill>
            <a:srgbClr val="1B3255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EQP001  (Step 10)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9480" y="2176272"/>
            <a:ext cx="2011680" cy="365760"/>
          </a:xfrm>
          <a:prstGeom prst="rect">
            <a:avLst/>
          </a:prstGeom>
          <a:solidFill>
            <a:srgbClr val="1B3255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EQP002  (Step 8)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81160" y="2176272"/>
            <a:ext cx="2011680" cy="365760"/>
          </a:xfrm>
          <a:prstGeom prst="rect">
            <a:avLst/>
          </a:prstGeom>
          <a:solidFill>
            <a:srgbClr val="1B3255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EQP003  (Step 9)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542032"/>
            <a:ext cx="1828800" cy="390906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50" b="1">
                <a:solidFill>
                  <a:srgbClr val="1B3255"/>
                </a:solidFill>
                <a:latin typeface="맑은 고딕"/>
              </a:rPr>
              <a:t>배정 결정 (참고)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31720" y="2542032"/>
            <a:ext cx="2926080" cy="390906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5C6670"/>
                </a:solidFill>
                <a:latin typeface="맑은 고딕"/>
              </a:rPr>
              <a:t>이번 스텝에서 고른 PPK·OPER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57800" y="2542032"/>
            <a:ext cx="2011680" cy="390906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ctr"/>
            <a:r>
              <a:rPr sz="1050" b="1">
                <a:solidFill>
                  <a:srgbClr val="2E6FB0"/>
                </a:solidFill>
                <a:latin typeface="맑은 고딕"/>
              </a:rPr>
              <a:t>PPK001·OPER001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69480" y="2542032"/>
            <a:ext cx="2011680" cy="390906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ctr"/>
            <a:r>
              <a:rPr sz="1050" b="1">
                <a:solidFill>
                  <a:srgbClr val="2E6FB0"/>
                </a:solidFill>
                <a:latin typeface="맑은 고딕"/>
              </a:rPr>
              <a:t>PPK002·OPER001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81160" y="2542032"/>
            <a:ext cx="2011680" cy="390906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ctr"/>
            <a:r>
              <a:rPr sz="1050" b="1">
                <a:solidFill>
                  <a:srgbClr val="2E6FB0"/>
                </a:solidFill>
                <a:latin typeface="맑은 고딕"/>
              </a:rPr>
              <a:t>PPK003·OPER001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932938"/>
            <a:ext cx="1828800" cy="390906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50" b="1">
                <a:solidFill>
                  <a:srgbClr val="1B3255"/>
                </a:solidFill>
                <a:latin typeface="맑은 고딕"/>
              </a:rPr>
              <a:t>remaining_lots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31720" y="2932938"/>
            <a:ext cx="2926080" cy="390906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5C6670"/>
                </a:solidFill>
                <a:latin typeface="맑은 고딕"/>
              </a:rPr>
              <a:t>min(|lot_pool| / 초기 LOT수, 1)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57800" y="2932938"/>
            <a:ext cx="2011680" cy="390906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ctr"/>
            <a:r>
              <a:rPr sz="1050" b="1">
                <a:solidFill>
                  <a:srgbClr val="2E6FB0"/>
                </a:solidFill>
                <a:latin typeface="맑은 고딕"/>
              </a:rPr>
              <a:t>0.75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69480" y="2932938"/>
            <a:ext cx="2011680" cy="390906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ctr"/>
            <a:r>
              <a:rPr sz="1050" b="1">
                <a:solidFill>
                  <a:srgbClr val="2E6FB0"/>
                </a:solidFill>
                <a:latin typeface="맑은 고딕"/>
              </a:rPr>
              <a:t>0.833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81160" y="2932938"/>
            <a:ext cx="2011680" cy="390906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ctr"/>
            <a:r>
              <a:rPr sz="1050" b="1">
                <a:solidFill>
                  <a:srgbClr val="2E6FB0"/>
                </a:solidFill>
                <a:latin typeface="맑은 고딕"/>
              </a:rPr>
              <a:t>0.792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323844"/>
            <a:ext cx="1828800" cy="390906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50" b="1">
                <a:solidFill>
                  <a:srgbClr val="1B3255"/>
                </a:solidFill>
                <a:latin typeface="맑은 고딕"/>
              </a:rPr>
              <a:t>plan_progress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31720" y="3323844"/>
            <a:ext cx="2926080" cy="390906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5C6670"/>
                </a:solidFill>
                <a:latin typeface="맑은 고딕"/>
              </a:rPr>
              <a:t>min(produced / total_plan, 1)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57800" y="3323844"/>
            <a:ext cx="2011680" cy="390906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ctr"/>
            <a:r>
              <a:rPr sz="1050" b="1">
                <a:solidFill>
                  <a:srgbClr val="2E6FB0"/>
                </a:solidFill>
                <a:latin typeface="맑은 고딕"/>
              </a:rPr>
              <a:t>0.375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69480" y="3323844"/>
            <a:ext cx="2011680" cy="390906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ctr"/>
            <a:r>
              <a:rPr sz="1050" b="1">
                <a:solidFill>
                  <a:srgbClr val="2E6FB0"/>
                </a:solidFill>
                <a:latin typeface="맑은 고딕"/>
              </a:rPr>
              <a:t>0.292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81160" y="3323844"/>
            <a:ext cx="2011680" cy="390906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ctr"/>
            <a:r>
              <a:rPr sz="1050" b="1">
                <a:solidFill>
                  <a:srgbClr val="2E6FB0"/>
                </a:solidFill>
                <a:latin typeface="맑은 고딕"/>
              </a:rPr>
              <a:t>0.333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714750"/>
            <a:ext cx="1828800" cy="390906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50" b="1">
                <a:solidFill>
                  <a:srgbClr val="1B3255"/>
                </a:solidFill>
                <a:latin typeface="맑은 고딕"/>
              </a:rPr>
              <a:t>needs_conversion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31720" y="3714750"/>
            <a:ext cx="2926080" cy="390906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5C6670"/>
                </a:solidFill>
                <a:latin typeface="맑은 고딕"/>
              </a:rPr>
              <a:t>1[현재 EQP에서 이 버킷 LOT_CD/TEMP로 전환 필요]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57800" y="3714750"/>
            <a:ext cx="2011680" cy="390906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ctr"/>
            <a:r>
              <a:rPr sz="1050" b="1">
                <a:solidFill>
                  <a:srgbClr val="2E6FB0"/>
                </a:solidFill>
                <a:latin typeface="맑은 고딕"/>
              </a:rPr>
              <a:t>0.0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69480" y="3714750"/>
            <a:ext cx="2011680" cy="390906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ctr"/>
            <a:r>
              <a:rPr sz="1050" b="1">
                <a:solidFill>
                  <a:srgbClr val="2E6FB0"/>
                </a:solidFill>
                <a:latin typeface="맑은 고딕"/>
              </a:rPr>
              <a:t>1.0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81160" y="3714750"/>
            <a:ext cx="2011680" cy="390906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ctr"/>
            <a:r>
              <a:rPr sz="1050" b="1">
                <a:solidFill>
                  <a:srgbClr val="2E6FB0"/>
                </a:solidFill>
                <a:latin typeface="맑은 고딕"/>
              </a:rPr>
              <a:t>1.0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105656"/>
            <a:ext cx="1828800" cy="390906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50" b="1">
                <a:solidFill>
                  <a:srgbClr val="1B3255"/>
                </a:solidFill>
                <a:latin typeface="맑은 고딕"/>
              </a:rPr>
              <a:t>avoidable_frac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331720" y="4105656"/>
            <a:ext cx="2926080" cy="390906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5C6670"/>
                </a:solidFill>
                <a:latin typeface="맑은 고딕"/>
              </a:rPr>
              <a:t>conversion_avoidable_fraction(현재 EQP, 이 버킷)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57800" y="4105656"/>
            <a:ext cx="2011680" cy="390906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ctr"/>
            <a:r>
              <a:rPr sz="1050" b="1">
                <a:solidFill>
                  <a:srgbClr val="2E6FB0"/>
                </a:solidFill>
                <a:latin typeface="맑은 고딕"/>
              </a:rPr>
              <a:t>0.0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69480" y="4105656"/>
            <a:ext cx="2011680" cy="390906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ctr"/>
            <a:r>
              <a:rPr sz="1050" b="1">
                <a:solidFill>
                  <a:srgbClr val="2E6FB0"/>
                </a:solidFill>
                <a:latin typeface="맑은 고딕"/>
              </a:rPr>
              <a:t>1.0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81160" y="4105656"/>
            <a:ext cx="2011680" cy="390906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ctr"/>
            <a:r>
              <a:rPr sz="1050" b="1">
                <a:solidFill>
                  <a:srgbClr val="2E6FB0"/>
                </a:solidFill>
                <a:latin typeface="맑은 고딕"/>
              </a:rPr>
              <a:t>1.0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4496562"/>
            <a:ext cx="1828800" cy="390906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1050" b="1">
                <a:solidFill>
                  <a:srgbClr val="1B3255"/>
                </a:solidFill>
                <a:latin typeface="맑은 고딕"/>
              </a:rPr>
              <a:t>reward (이 결정)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331720" y="4496562"/>
            <a:ext cx="2926080" cy="390906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l"/>
            <a:r>
              <a:rPr sz="980" b="0">
                <a:solidFill>
                  <a:srgbClr val="5C6670"/>
                </a:solidFill>
                <a:latin typeface="맑은 고딕"/>
              </a:rPr>
              <a:t>8항목 보상 합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4496562"/>
            <a:ext cx="2011680" cy="390906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ctr"/>
            <a:r>
              <a:rPr sz="1050" b="1">
                <a:solidFill>
                  <a:srgbClr val="2E7D4F"/>
                </a:solidFill>
                <a:latin typeface="맑은 고딕"/>
              </a:rPr>
              <a:t>0.83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269480" y="4496562"/>
            <a:ext cx="2011680" cy="390906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ctr"/>
            <a:r>
              <a:rPr sz="1050" b="1">
                <a:solidFill>
                  <a:srgbClr val="2E7D4F"/>
                </a:solidFill>
                <a:latin typeface="맑은 고딕"/>
              </a:rPr>
              <a:t>0.83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281160" y="4496562"/>
            <a:ext cx="2011680" cy="390906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/>
          <a:lstStyle/>
          <a:p>
            <a:pPr algn="ctr"/>
            <a:r>
              <a:rPr sz="1050" b="1">
                <a:solidFill>
                  <a:srgbClr val="2E7D4F"/>
                </a:solidFill>
                <a:latin typeface="맑은 고딕"/>
              </a:rPr>
              <a:t>0.83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" y="4978908"/>
            <a:ext cx="11201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4A6D8C"/>
                </a:solidFill>
                <a:latin typeface="맑은 고딕"/>
              </a:rPr>
              <a:t>이 시점까지 누적 배정  </a:t>
            </a:r>
            <a:r>
              <a:rPr sz="1100" b="0">
                <a:solidFill>
                  <a:srgbClr val="5C6670"/>
                </a:solidFill>
                <a:latin typeface="맑은 고딕"/>
              </a:rPr>
              <a:t>EQP001: 4건, EQP002: 3건, EQP003: 3건  — 대칭 벤치(SYM_3x3)에서 설비마다 전담 제품을 반복 배정받는 모습.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02  Bulk-Fill MDP 모델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State 산식 완전 해설 — MINI-A 예시 데이터셋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11201400" cy="54864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34440"/>
            <a:ext cx="108813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위 값은 실제 SYM_3x3 트레이스가 아니라 산식 계산 과정을 보여주기 위한 가상 예시 데이터셋(MINI-A)입니다. 이후 슬라이드의 모든 대입 계산은 이 데이터셋을 그대로 사용합니다.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65960"/>
            <a:ext cx="1554480" cy="310896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/>
            <a:r>
              <a:rPr sz="1050" b="1">
                <a:solidFill>
                  <a:srgbClr val="1B3255"/>
                </a:solidFill>
                <a:latin typeface="맑은 고딕"/>
              </a:rPr>
              <a:t>설비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57400" y="1965960"/>
            <a:ext cx="96469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222A33"/>
                </a:solidFill>
                <a:latin typeface="맑은 고딕"/>
              </a:rPr>
              <a:t>EQP001: OPER001·OPER002 가능, 세팅 A, busy (free_at=320)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276856"/>
            <a:ext cx="1554480" cy="310896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57400" y="2276856"/>
            <a:ext cx="96469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222A33"/>
                </a:solidFill>
                <a:latin typeface="맑은 고딕"/>
              </a:rPr>
              <a:t>EQP002: OPER001·OPER002 가능, 세팅 B, idle (free_at=120) — 지금 결정 대상(current_eqp)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587751"/>
            <a:ext cx="1554480" cy="310896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57400" y="2587751"/>
            <a:ext cx="96469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222A33"/>
                </a:solidFill>
                <a:latin typeface="맑은 고딕"/>
              </a:rPr>
              <a:t>EQP003: OPER002만 가능, 세팅 A, busy (free_at=400)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898647"/>
            <a:ext cx="1554480" cy="310896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/>
            <a:r>
              <a:rPr sz="1050" b="1">
                <a:solidFill>
                  <a:srgbClr val="1B3255"/>
                </a:solidFill>
                <a:latin typeface="맑은 고딕"/>
              </a:rPr>
              <a:t>제품·공정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57400" y="2898647"/>
            <a:ext cx="96469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222A33"/>
                </a:solidFill>
                <a:latin typeface="맑은 고딕"/>
              </a:rPr>
              <a:t>PPK001: OPER001→OPER002 (세팅 LOT_CD=A, TEMP=없음), PPK002: OPER001만 사용(계획 없음)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209543"/>
            <a:ext cx="1554480" cy="310896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/>
            <a:r>
              <a:rPr sz="1050" b="1">
                <a:solidFill>
                  <a:srgbClr val="1B3255"/>
                </a:solidFill>
                <a:latin typeface="맑은 고딕"/>
              </a:rPr>
              <a:t>계획/완료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57400" y="3209543"/>
            <a:ext cx="96469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222A33"/>
                </a:solidFill>
                <a:latin typeface="맑은 고딕"/>
              </a:rPr>
              <a:t>(PPK001,OPER002) 목표 60장, 완료 10장  ·  가공시간 OPER001=2분/장, OPER002=5분/장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520439"/>
            <a:ext cx="1554480" cy="310896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/>
            <a:r>
              <a:rPr sz="1050" b="1">
                <a:solidFill>
                  <a:srgbClr val="1B3255"/>
                </a:solidFill>
                <a:latin typeface="맑은 고딕"/>
              </a:rPr>
              <a:t>WIP(대기재공)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57400" y="3520439"/>
            <a:ext cx="96469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222A33"/>
                </a:solidFill>
                <a:latin typeface="맑은 고딕"/>
              </a:rPr>
              <a:t>(PPK001,OPER001)=140장, (PPK001,OPER002)=15장, (PPK002,OPER001)=20장 → 합계 175장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831335"/>
            <a:ext cx="1554480" cy="310896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/>
            <a:r>
              <a:rPr sz="1050" b="1">
                <a:solidFill>
                  <a:srgbClr val="1B3255"/>
                </a:solidFill>
                <a:latin typeface="맑은 고딕"/>
              </a:rPr>
              <a:t>배정 설비수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57400" y="3831335"/>
            <a:ext cx="96469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222A33"/>
                </a:solidFill>
                <a:latin typeface="맑은 고딕"/>
              </a:rPr>
              <a:t>OPER001=2대(EQP001,EQP002), OPER002=3대(EQP001,EQP002,EQP003)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142231"/>
            <a:ext cx="1554480" cy="310896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/>
            <a:r>
              <a:rPr sz="1050" b="1">
                <a:solidFill>
                  <a:srgbClr val="1B3255"/>
                </a:solidFill>
                <a:latin typeface="맑은 고딕"/>
              </a:rPr>
              <a:t>시각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57400" y="4142231"/>
            <a:ext cx="96469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222A33"/>
                </a:solidFill>
                <a:latin typeface="맑은 고딕"/>
              </a:rPr>
              <a:t>t=120분, sim_end=soft_cutoff=480분 → T_avail=max(480-120,1)=360분, wf_unit=1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453127"/>
            <a:ext cx="1554480" cy="310896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/>
            <a:r>
              <a:rPr sz="1050" b="1">
                <a:solidFill>
                  <a:srgbClr val="1B3255"/>
                </a:solidFill>
                <a:latin typeface="맑은 고딕"/>
              </a:rPr>
              <a:t>직전 배정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57400" y="4453127"/>
            <a:ext cx="96469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222A33"/>
                </a:solidFill>
                <a:latin typeface="맑은 고딕"/>
              </a:rPr>
              <a:t>EQP003이 PPK001 · OPER002 · 세팅A를 배정받음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764023"/>
            <a:ext cx="1554480" cy="420624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/>
            <a:r>
              <a:rPr sz="1050" b="1">
                <a:solidFill>
                  <a:srgbClr val="1B3255"/>
                </a:solidFill>
                <a:latin typeface="맑은 고딕"/>
              </a:rPr>
              <a:t>인덱스맵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57400" y="4764023"/>
            <a:ext cx="96469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222A33"/>
                </a:solidFill>
                <a:latin typeface="맑은 고딕"/>
              </a:rPr>
              <a:t>PPK{PPK002:0,PPK001:1}(P=10) · OPER{OPER001:0,OPER002:1}(O=3) · EQP{EQP001:0,EQP002:1,EQP003:2} · LOT_CD{B:0,A:1}(n_lc=2)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184647"/>
            <a:ext cx="1554480" cy="310896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/>
            <a:r>
              <a:rPr sz="1050" b="1">
                <a:solidFill>
                  <a:srgbClr val="1B3255"/>
                </a:solidFill>
                <a:latin typeface="맑은 고딕"/>
              </a:rPr>
              <a:t>기타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57400" y="5184647"/>
            <a:ext cx="96469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222A33"/>
                </a:solidFill>
                <a:latin typeface="맑은 고딕"/>
              </a:rPr>
              <a:t>lot_pool=25/초기40, tool_tracker.utilization()=0.4(가정) — 이 둘은 별도 헬퍼/클래스 내부라 예시값으로 표기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02  Bulk-Fill MDP 모델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State 산식 해설 — obs[0] time_norm  ·  obs[1] takt_margin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88720"/>
            <a:ext cx="11201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6FB0"/>
                </a:solidFill>
                <a:latin typeface="맑은 고딕"/>
              </a:rPr>
              <a:t>전역 (Global) 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(simulation/simulator.py)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508760"/>
            <a:ext cx="5486400" cy="310896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508760"/>
            <a:ext cx="548640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계산 흐름도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819656"/>
            <a:ext cx="5486400" cy="4032504"/>
          </a:xfrm>
          <a:prstGeom prst="rect">
            <a:avLst/>
          </a:prstGeom>
          <a:solidFill>
            <a:srgbClr val="F4F6F8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508760"/>
            <a:ext cx="5440680" cy="310896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508760"/>
            <a:ext cx="544068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MINI-A 대입 계산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072384"/>
            <a:ext cx="5440680" cy="45720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3072384"/>
            <a:ext cx="544068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</a:rPr>
              <a:t>time_norm = 0.25   /   takt_margin = 0.75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602736"/>
            <a:ext cx="5440680" cy="22494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4A6D8C"/>
                </a:solidFill>
                <a:latin typeface="맑은 고딕"/>
              </a:rPr>
              <a:t>해석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sim_end과 soft_cutoff을 같은 값(480)으로 두면 takt_margin ≈ 1-time_norm 처럼 보이지만, 두 값이 실제로 다르면(예: sim_end=600) 이 관계는 깨진다 — 서로 다른 변수임에 유의.</a:t>
            </a:r>
          </a:p>
          <a:p>
            <a:pPr>
              <a:lnSpc>
                <a:spcPct val="112000"/>
              </a:lnSpc>
              <a:spcBef>
                <a:spcPts val="600"/>
              </a:spcBef>
            </a:pPr>
            <a:r>
              <a:rPr sz="969" b="0">
                <a:solidFill>
                  <a:srgbClr val="1B3255"/>
                </a:solidFill>
                <a:latin typeface="맑은 고딕"/>
              </a:rPr>
              <a:t>Case B (clip 발동)  t=500분(&gt; sim_end=480)이면 time_norm=min(500/480,1)=1.0으로 saturate — min()이 왜 필요한지 보여주는 경계 케이스.</a:t>
            </a:r>
          </a:p>
        </p:txBody>
      </p:sp>
      <p:sp>
        <p:nvSpPr>
          <p:cNvPr id="22" name="Oval 21"/>
          <p:cNvSpPr/>
          <p:nvPr/>
        </p:nvSpPr>
        <p:spPr>
          <a:xfrm>
            <a:off x="630936" y="2394204"/>
            <a:ext cx="274320" cy="274320"/>
          </a:xfrm>
          <a:prstGeom prst="ellipse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" y="239420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3271" y="1947672"/>
            <a:ext cx="4828032" cy="1167384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wn Arrow 25"/>
          <p:cNvSpPr/>
          <p:nvPr/>
        </p:nvSpPr>
        <p:spPr>
          <a:xfrm>
            <a:off x="704088" y="3124199"/>
            <a:ext cx="128016" cy="118872"/>
          </a:xfrm>
          <a:prstGeom prst="downArrow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0936" y="3698748"/>
            <a:ext cx="274320" cy="274320"/>
          </a:xfrm>
          <a:prstGeom prst="ellipse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" y="36987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33271" y="3252216"/>
            <a:ext cx="4828032" cy="1167384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own Arrow 30"/>
          <p:cNvSpPr/>
          <p:nvPr/>
        </p:nvSpPr>
        <p:spPr>
          <a:xfrm>
            <a:off x="704088" y="4428744"/>
            <a:ext cx="128016" cy="118872"/>
          </a:xfrm>
          <a:prstGeom prst="downArrow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0936" y="5003292"/>
            <a:ext cx="274320" cy="274320"/>
          </a:xfrm>
          <a:prstGeom prst="ellipse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" y="50032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33271" y="4556760"/>
            <a:ext cx="4828032" cy="1167384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1819656"/>
            <a:ext cx="5440680" cy="1179576"/>
          </a:xfrm>
          <a:prstGeom prst="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1874519"/>
            <a:ext cx="5166360" cy="209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B3255"/>
                </a:solidFill>
                <a:latin typeface="맑은 고딕"/>
              </a:rPr>
              <a:t>time_norm  </a:t>
            </a:r>
            <a:r>
              <a:rPr sz="800" b="0">
                <a:solidFill>
                  <a:srgbClr val="5C6670"/>
                </a:solidFill>
                <a:latin typeface="맑은 고딕"/>
              </a:rPr>
              <a:t>= min(120/480, 1)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2113727"/>
            <a:ext cx="3203143" cy="149504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0" y="2113727"/>
            <a:ext cx="800785" cy="149504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50247" y="2077151"/>
            <a:ext cx="1798624" cy="222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2E6FB0"/>
                </a:solidFill>
                <a:latin typeface="맑은 고딕"/>
              </a:rPr>
              <a:t>0.25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2464308"/>
            <a:ext cx="5166360" cy="209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B3255"/>
                </a:solidFill>
                <a:latin typeface="맑은 고딕"/>
              </a:rPr>
              <a:t>takt_margin  </a:t>
            </a:r>
            <a:r>
              <a:rPr sz="800" b="0">
                <a:solidFill>
                  <a:srgbClr val="5C6670"/>
                </a:solidFill>
                <a:latin typeface="맑은 고딕"/>
              </a:rPr>
              <a:t>= min(max(480-120,0)/480, 1)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2703515"/>
            <a:ext cx="3203143" cy="149504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0" y="2703515"/>
            <a:ext cx="2402357" cy="149504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50247" y="2666939"/>
            <a:ext cx="1798624" cy="222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2E6FB0"/>
                </a:solidFill>
                <a:latin typeface="맑은 고딕"/>
              </a:rPr>
              <a:t>0.75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2999" y="2002536"/>
            <a:ext cx="46085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>
                <a:solidFill>
                  <a:srgbClr val="1B3255"/>
                </a:solidFill>
                <a:latin typeface="맑은 고딕"/>
              </a:rPr>
              <a:t>입력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142999" y="2240280"/>
            <a:ext cx="1324051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79575" y="2240280"/>
            <a:ext cx="125089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B3255"/>
                </a:solidFill>
                <a:latin typeface="Consolas"/>
              </a:rPr>
              <a:t>current_time=120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508198" y="2240280"/>
            <a:ext cx="967435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44774" y="2240280"/>
            <a:ext cx="89428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B3255"/>
                </a:solidFill>
                <a:latin typeface="Consolas"/>
              </a:rPr>
              <a:t>sim_end=480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516781" y="2240280"/>
            <a:ext cx="1252728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53357" y="2240280"/>
            <a:ext cx="117957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B3255"/>
                </a:solidFill>
                <a:latin typeface="Consolas"/>
              </a:rPr>
              <a:t>soft_cutoff=480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2999" y="3307080"/>
            <a:ext cx="46085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>
                <a:solidFill>
                  <a:srgbClr val="1B3255"/>
                </a:solidFill>
                <a:latin typeface="맑은 고딕"/>
              </a:rPr>
              <a:t>time_norm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142999" y="3544824"/>
            <a:ext cx="1609344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79575" y="3544824"/>
            <a:ext cx="15361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4A6D8C"/>
                </a:solidFill>
                <a:latin typeface="Consolas"/>
              </a:rPr>
              <a:t>current_time/sim_end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93491" y="3544824"/>
            <a:ext cx="1353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6670"/>
                </a:solidFill>
                <a:latin typeface="맑은 고딕"/>
              </a:rPr>
              <a:t>=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969970" y="3544824"/>
            <a:ext cx="682142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006546" y="3544824"/>
            <a:ext cx="60899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4A6D8C"/>
                </a:solidFill>
                <a:latin typeface="Consolas"/>
              </a:rPr>
              <a:t>120/480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93260" y="3544824"/>
            <a:ext cx="1353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6670"/>
                </a:solidFill>
                <a:latin typeface="맑은 고딕"/>
              </a:rPr>
              <a:t>=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869739" y="3544824"/>
            <a:ext cx="468172" cy="237744"/>
          </a:xfrm>
          <a:prstGeom prst="round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906315" y="3544824"/>
            <a:ext cx="3950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Consolas"/>
              </a:rPr>
              <a:t>0.25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42999" y="4611624"/>
            <a:ext cx="46085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>
                <a:solidFill>
                  <a:srgbClr val="1B3255"/>
                </a:solidFill>
                <a:latin typeface="맑은 고딕"/>
              </a:rPr>
              <a:t>takt_margin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142999" y="4849367"/>
            <a:ext cx="2108606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79575" y="4849367"/>
            <a:ext cx="203545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4A6D8C"/>
                </a:solidFill>
                <a:latin typeface="Consolas"/>
              </a:rPr>
              <a:t>(soft_cutoff−t)/soft_cutoff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92753" y="4849367"/>
            <a:ext cx="1353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6670"/>
                </a:solidFill>
                <a:latin typeface="맑은 고딕"/>
              </a:rPr>
              <a:t>=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469232" y="4849367"/>
            <a:ext cx="682142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505808" y="4849367"/>
            <a:ext cx="60899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4A6D8C"/>
                </a:solidFill>
                <a:latin typeface="Consolas"/>
              </a:rPr>
              <a:t>360/480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92523" y="4849367"/>
            <a:ext cx="1353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6670"/>
                </a:solidFill>
                <a:latin typeface="맑은 고딕"/>
              </a:rPr>
              <a:t>=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369002" y="4849367"/>
            <a:ext cx="468172" cy="237744"/>
          </a:xfrm>
          <a:prstGeom prst="round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405578" y="4849367"/>
            <a:ext cx="3950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Consolas"/>
              </a:rPr>
              <a:t>0.75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02  Bulk-Fill MDP 모델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State 산식 해설 — obs[2] remaining_lots  ·  obs[3] plan_progress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88720"/>
            <a:ext cx="11201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6FB0"/>
                </a:solidFill>
                <a:latin typeface="맑은 고딕"/>
              </a:rPr>
              <a:t>전역 (Global) 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(simulation/simulator.py)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508760"/>
            <a:ext cx="5486400" cy="310896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508760"/>
            <a:ext cx="548640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계산 흐름도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819656"/>
            <a:ext cx="5486400" cy="4032504"/>
          </a:xfrm>
          <a:prstGeom prst="rect">
            <a:avLst/>
          </a:prstGeom>
          <a:solidFill>
            <a:srgbClr val="F4F6F8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0936" y="2394204"/>
            <a:ext cx="274320" cy="274320"/>
          </a:xfrm>
          <a:prstGeom prst="ellipse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" y="239420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3271" y="1947672"/>
            <a:ext cx="4828032" cy="1167384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wn Arrow 25"/>
          <p:cNvSpPr/>
          <p:nvPr/>
        </p:nvSpPr>
        <p:spPr>
          <a:xfrm>
            <a:off x="704088" y="3124199"/>
            <a:ext cx="128016" cy="118872"/>
          </a:xfrm>
          <a:prstGeom prst="downArrow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0936" y="3698748"/>
            <a:ext cx="274320" cy="274320"/>
          </a:xfrm>
          <a:prstGeom prst="ellipse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" y="36987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33271" y="3252216"/>
            <a:ext cx="4828032" cy="1167384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own Arrow 30"/>
          <p:cNvSpPr/>
          <p:nvPr/>
        </p:nvSpPr>
        <p:spPr>
          <a:xfrm>
            <a:off x="704088" y="4428744"/>
            <a:ext cx="128016" cy="118872"/>
          </a:xfrm>
          <a:prstGeom prst="downArrow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0936" y="5003292"/>
            <a:ext cx="274320" cy="274320"/>
          </a:xfrm>
          <a:prstGeom prst="ellipse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" y="50032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33271" y="4556760"/>
            <a:ext cx="4828032" cy="1167384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2999" y="2002536"/>
            <a:ext cx="46085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>
                <a:solidFill>
                  <a:srgbClr val="1B3255"/>
                </a:solidFill>
                <a:latin typeface="맑은 고딕"/>
              </a:rPr>
              <a:t>입력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142999" y="2240280"/>
            <a:ext cx="967435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79575" y="2240280"/>
            <a:ext cx="89428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B3255"/>
                </a:solidFill>
                <a:latin typeface="Consolas"/>
              </a:rPr>
              <a:t>lot_pool=25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151582" y="2240280"/>
            <a:ext cx="1609344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88158" y="2240280"/>
            <a:ext cx="15361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B3255"/>
                </a:solidFill>
                <a:latin typeface="Consolas"/>
              </a:rPr>
              <a:t>initial_lot_count=40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802074" y="2240280"/>
            <a:ext cx="967435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38650" y="2240280"/>
            <a:ext cx="89428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B3255"/>
                </a:solidFill>
                <a:latin typeface="Consolas"/>
              </a:rPr>
              <a:t>produced=10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142999" y="2519172"/>
            <a:ext cx="1110081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79575" y="2519172"/>
            <a:ext cx="103692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B3255"/>
                </a:solidFill>
                <a:latin typeface="Consolas"/>
              </a:rPr>
              <a:t>total_plan=60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2999" y="3307080"/>
            <a:ext cx="46085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>
                <a:solidFill>
                  <a:srgbClr val="1B3255"/>
                </a:solidFill>
                <a:latin typeface="맑은 고딕"/>
              </a:rPr>
              <a:t>remaining_lots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142999" y="3544824"/>
            <a:ext cx="2037283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79575" y="3544824"/>
            <a:ext cx="19641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4A6D8C"/>
                </a:solidFill>
                <a:latin typeface="Consolas"/>
              </a:rPr>
              <a:t>lot_pool/initial_lot_count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21430" y="3544824"/>
            <a:ext cx="1353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6670"/>
                </a:solidFill>
                <a:latin typeface="맑은 고딕"/>
              </a:rPr>
              <a:t>=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397909" y="3544824"/>
            <a:ext cx="539496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34485" y="3544824"/>
            <a:ext cx="4663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4A6D8C"/>
                </a:solidFill>
                <a:latin typeface="Consolas"/>
              </a:rPr>
              <a:t>25/40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78553" y="3544824"/>
            <a:ext cx="1353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6670"/>
                </a:solidFill>
                <a:latin typeface="맑은 고딕"/>
              </a:rPr>
              <a:t>=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155032" y="3544824"/>
            <a:ext cx="539496" cy="237744"/>
          </a:xfrm>
          <a:prstGeom prst="round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91608" y="3544824"/>
            <a:ext cx="4663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Consolas"/>
              </a:rPr>
              <a:t>0.625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42999" y="4611624"/>
            <a:ext cx="46085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>
                <a:solidFill>
                  <a:srgbClr val="1B3255"/>
                </a:solidFill>
                <a:latin typeface="맑은 고딕"/>
              </a:rPr>
              <a:t>plan_progress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142999" y="4849367"/>
            <a:ext cx="1538020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79575" y="4849367"/>
            <a:ext cx="14648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4A6D8C"/>
                </a:solidFill>
                <a:latin typeface="Consolas"/>
              </a:rPr>
              <a:t>produced/total_plan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722167" y="4849367"/>
            <a:ext cx="1353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6670"/>
                </a:solidFill>
                <a:latin typeface="맑은 고딕"/>
              </a:rPr>
              <a:t>=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898647" y="4849367"/>
            <a:ext cx="539496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935223" y="4849367"/>
            <a:ext cx="4663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4A6D8C"/>
                </a:solidFill>
                <a:latin typeface="Consolas"/>
              </a:rPr>
              <a:t>10/60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79291" y="4849367"/>
            <a:ext cx="1353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6670"/>
                </a:solidFill>
                <a:latin typeface="맑은 고딕"/>
              </a:rPr>
              <a:t>=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655770" y="4849367"/>
            <a:ext cx="610819" cy="237744"/>
          </a:xfrm>
          <a:prstGeom prst="round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92346" y="4849367"/>
            <a:ext cx="53766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Consolas"/>
              </a:rPr>
              <a:t>0.1667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63640" y="1508760"/>
            <a:ext cx="5440680" cy="310896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63640" y="1508760"/>
            <a:ext cx="544068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MINI-A 대입 계산 — 공급/소비 흐름 대조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263640" y="1819656"/>
            <a:ext cx="5440680" cy="3986783"/>
          </a:xfrm>
          <a:prstGeom prst="rect">
            <a:avLst/>
          </a:prstGeom>
          <a:solidFill>
            <a:srgbClr val="F4F6F8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6373368" y="1911095"/>
            <a:ext cx="5221224" cy="219456"/>
          </a:xfrm>
          <a:prstGeom prst="roundRect">
            <a:avLst>
              <a:gd name="adj" fmla="val 14000"/>
            </a:avLst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Case A   지금(t=120분) — 초반, 재공 풀 여유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73368" y="2185415"/>
            <a:ext cx="1551432" cy="512064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19088" y="2221991"/>
            <a:ext cx="1459991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>
                <a:solidFill>
                  <a:srgbClr val="FFFFFF"/>
                </a:solidFill>
                <a:latin typeface="맑은 고딕"/>
              </a:rPr>
              <a:t>초기 LOT 풀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>
                <a:solidFill>
                  <a:srgbClr val="FFFFFF"/>
                </a:solidFill>
                <a:latin typeface="맑은 고딕"/>
              </a:rPr>
              <a:t>40장 투입</a:t>
            </a:r>
          </a:p>
        </p:txBody>
      </p:sp>
      <p:sp>
        <p:nvSpPr>
          <p:cNvPr id="78" name="Right Arrow 77"/>
          <p:cNvSpPr/>
          <p:nvPr/>
        </p:nvSpPr>
        <p:spPr>
          <a:xfrm>
            <a:off x="7943087" y="2359152"/>
            <a:ext cx="256032" cy="164592"/>
          </a:xfrm>
          <a:prstGeom prst="rightArrow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217408" y="2185415"/>
            <a:ext cx="1551432" cy="512064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263128" y="2221991"/>
            <a:ext cx="1459991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>
                <a:solidFill>
                  <a:srgbClr val="FFFFFF"/>
                </a:solidFill>
                <a:latin typeface="맑은 고딕"/>
              </a:rPr>
              <a:t>미배정 LOT 풀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25장 남음</a:t>
            </a:r>
          </a:p>
        </p:txBody>
      </p:sp>
      <p:sp>
        <p:nvSpPr>
          <p:cNvPr id="81" name="Right Arrow 80"/>
          <p:cNvSpPr/>
          <p:nvPr/>
        </p:nvSpPr>
        <p:spPr>
          <a:xfrm>
            <a:off x="9787128" y="2359152"/>
            <a:ext cx="256032" cy="164592"/>
          </a:xfrm>
          <a:prstGeom prst="rightArrow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061448" y="2185415"/>
            <a:ext cx="1551432" cy="512064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107168" y="2221991"/>
            <a:ext cx="1459991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>
                <a:solidFill>
                  <a:srgbClr val="FFFFFF"/>
                </a:solidFill>
                <a:latin typeface="맑은 고딕"/>
              </a:rPr>
              <a:t>설비에 배정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>
                <a:solidFill>
                  <a:srgbClr val="FFFFFF"/>
                </a:solidFill>
                <a:latin typeface="맑은 고딕"/>
              </a:rPr>
              <a:t>누적 15장 배정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373368" y="2752344"/>
            <a:ext cx="5221224" cy="237744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46520" y="2752344"/>
            <a:ext cx="5074920" cy="2377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>
                <a:solidFill>
                  <a:srgbClr val="2E7D4F"/>
                </a:solidFill>
                <a:latin typeface="맑은 고딕"/>
              </a:rPr>
              <a:t>remaining_lots = 25/40 = 0.625  (풀 62.5% 남음)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373368" y="3026663"/>
            <a:ext cx="522122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5C6670"/>
                </a:solidFill>
                <a:latin typeface="맑은 고딕"/>
              </a:rPr>
              <a:t>min(len(lot_pool)/initial_lot_count, 1) = min(25/40,1)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373368" y="3520440"/>
            <a:ext cx="5221224" cy="219456"/>
          </a:xfrm>
          <a:prstGeom prst="roundRect">
            <a:avLst>
              <a:gd name="adj" fmla="val 14000"/>
            </a:avLst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Case B   반대 상황 — 하루 막바지(t=440분), 풀 고갈 임박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373368" y="3794760"/>
            <a:ext cx="1551432" cy="512064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419088" y="3831336"/>
            <a:ext cx="1459991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>
                <a:solidFill>
                  <a:srgbClr val="FFFFFF"/>
                </a:solidFill>
                <a:latin typeface="맑은 고딕"/>
              </a:rPr>
              <a:t>초기 LOT 풀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>
                <a:solidFill>
                  <a:srgbClr val="FFFFFF"/>
                </a:solidFill>
                <a:latin typeface="맑은 고딕"/>
              </a:rPr>
              <a:t>40장 투입</a:t>
            </a:r>
          </a:p>
        </p:txBody>
      </p:sp>
      <p:sp>
        <p:nvSpPr>
          <p:cNvPr id="90" name="Right Arrow 89"/>
          <p:cNvSpPr/>
          <p:nvPr/>
        </p:nvSpPr>
        <p:spPr>
          <a:xfrm>
            <a:off x="7943087" y="3968496"/>
            <a:ext cx="256032" cy="164592"/>
          </a:xfrm>
          <a:prstGeom prst="rightArrow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17408" y="3794760"/>
            <a:ext cx="1551432" cy="512064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263128" y="3831336"/>
            <a:ext cx="1459991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>
                <a:solidFill>
                  <a:srgbClr val="FFFFFF"/>
                </a:solidFill>
                <a:latin typeface="맑은 고딕"/>
              </a:rPr>
              <a:t>미배정 LOT 풀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3장 남음</a:t>
            </a:r>
          </a:p>
        </p:txBody>
      </p:sp>
      <p:sp>
        <p:nvSpPr>
          <p:cNvPr id="93" name="Right Arrow 92"/>
          <p:cNvSpPr/>
          <p:nvPr/>
        </p:nvSpPr>
        <p:spPr>
          <a:xfrm>
            <a:off x="9787128" y="3968496"/>
            <a:ext cx="256032" cy="164592"/>
          </a:xfrm>
          <a:prstGeom prst="rightArrow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061448" y="3794760"/>
            <a:ext cx="1551432" cy="512064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107168" y="3831336"/>
            <a:ext cx="1459991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>
                <a:solidFill>
                  <a:srgbClr val="FFFFFF"/>
                </a:solidFill>
                <a:latin typeface="맑은 고딕"/>
              </a:rPr>
              <a:t>설비에 배정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>
                <a:solidFill>
                  <a:srgbClr val="FFFFFF"/>
                </a:solidFill>
                <a:latin typeface="맑은 고딕"/>
              </a:rPr>
              <a:t>누적 37장 배정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373368" y="4361688"/>
            <a:ext cx="5221224" cy="237744"/>
          </a:xfrm>
          <a:prstGeom prst="rect">
            <a:avLst/>
          </a:prstGeom>
          <a:solidFill>
            <a:srgbClr val="F7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446520" y="4361688"/>
            <a:ext cx="5074920" cy="2377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>
                <a:solidFill>
                  <a:srgbClr val="B33A3A"/>
                </a:solidFill>
                <a:latin typeface="맑은 고딕"/>
              </a:rPr>
              <a:t>remaining_lots = 3/40 = 0.075  (풀 92.5% 소진)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373368" y="4636008"/>
            <a:ext cx="522122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5C6670"/>
                </a:solidFill>
                <a:latin typeface="맑은 고딕"/>
              </a:rPr>
              <a:t>같은 산식이라도 시각(t)에 따라 0.625→0.075로 계속 줄어드는 '소진형' 지표임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02  Bulk-Fill MDP 모델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State 산식 해설 — obs[4] conv_idle_ratio  ·  obs[5] tool_util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88720"/>
            <a:ext cx="11201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6FB0"/>
                </a:solidFill>
                <a:latin typeface="맑은 고딕"/>
              </a:rPr>
              <a:t>전역 (Global) 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(simulation/simulator.py)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508760"/>
            <a:ext cx="5486400" cy="310896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508760"/>
            <a:ext cx="548640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계산 흐름도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819656"/>
            <a:ext cx="5486400" cy="4032504"/>
          </a:xfrm>
          <a:prstGeom prst="rect">
            <a:avLst/>
          </a:prstGeom>
          <a:solidFill>
            <a:srgbClr val="F4F6F8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508760"/>
            <a:ext cx="5440680" cy="310896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508760"/>
            <a:ext cx="544068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MINI-A 대입 계산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374136"/>
            <a:ext cx="5440680" cy="45720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3374136"/>
            <a:ext cx="544068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</a:rPr>
              <a:t>conv_idle_ratio = 0.0   /   tool_util = 0.4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904488"/>
            <a:ext cx="5440680" cy="19476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4A6D8C"/>
                </a:solidFill>
                <a:latin typeface="맑은 고딕"/>
              </a:rPr>
              <a:t>해석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rem&gt;0 조건 때문에 '방금 막 idle된' 설비는 카운트되지 않는다 — 진짜 전환 buffer 중인 설비만 잡음.</a:t>
            </a:r>
          </a:p>
          <a:p>
            <a:pPr>
              <a:lnSpc>
                <a:spcPct val="112000"/>
              </a:lnSpc>
              <a:spcBef>
                <a:spcPts val="600"/>
              </a:spcBef>
            </a:pPr>
            <a:r>
              <a:rPr sz="969" b="0">
                <a:solidFill>
                  <a:srgbClr val="1B3255"/>
                </a:solidFill>
                <a:latin typeface="맑은 고딕"/>
              </a:rPr>
              <a:t>Case B (반대 상황)  EQP002가 idle인데 free_at=150(t=120보다 뒤, 아직 전환 buffer 중)이면 rem=30&gt;0 → conv_eqps=1 → conv_idle_ratio=1/3=0.33 (전환대기 잡힘).</a:t>
            </a:r>
          </a:p>
        </p:txBody>
      </p:sp>
      <p:sp>
        <p:nvSpPr>
          <p:cNvPr id="22" name="Oval 21"/>
          <p:cNvSpPr/>
          <p:nvPr/>
        </p:nvSpPr>
        <p:spPr>
          <a:xfrm>
            <a:off x="630936" y="2231136"/>
            <a:ext cx="274320" cy="274320"/>
          </a:xfrm>
          <a:prstGeom prst="ellipse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" y="22311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3271" y="1947672"/>
            <a:ext cx="4828032" cy="841247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wn Arrow 25"/>
          <p:cNvSpPr/>
          <p:nvPr/>
        </p:nvSpPr>
        <p:spPr>
          <a:xfrm>
            <a:off x="704088" y="2798063"/>
            <a:ext cx="128016" cy="118872"/>
          </a:xfrm>
          <a:prstGeom prst="downArrow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0936" y="3209544"/>
            <a:ext cx="274320" cy="274320"/>
          </a:xfrm>
          <a:prstGeom prst="ellipse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" y="32095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33271" y="2926079"/>
            <a:ext cx="4828032" cy="841247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own Arrow 30"/>
          <p:cNvSpPr/>
          <p:nvPr/>
        </p:nvSpPr>
        <p:spPr>
          <a:xfrm>
            <a:off x="704088" y="3776471"/>
            <a:ext cx="128016" cy="118872"/>
          </a:xfrm>
          <a:prstGeom prst="downArrow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0936" y="4187951"/>
            <a:ext cx="274320" cy="274320"/>
          </a:xfrm>
          <a:prstGeom prst="ellipse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" y="4187951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33271" y="3904487"/>
            <a:ext cx="4828032" cy="841247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own Arrow 35"/>
          <p:cNvSpPr/>
          <p:nvPr/>
        </p:nvSpPr>
        <p:spPr>
          <a:xfrm>
            <a:off x="704088" y="4754879"/>
            <a:ext cx="128016" cy="118872"/>
          </a:xfrm>
          <a:prstGeom prst="downArrow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30936" y="5166359"/>
            <a:ext cx="274320" cy="274320"/>
          </a:xfrm>
          <a:prstGeom prst="ellipse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" y="5166359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33271" y="4882896"/>
            <a:ext cx="4828032" cy="841247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63640" y="1819656"/>
            <a:ext cx="5440680" cy="1481328"/>
          </a:xfrm>
          <a:prstGeom prst="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1874519"/>
            <a:ext cx="5166360" cy="2726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B3255"/>
                </a:solidFill>
                <a:latin typeface="맑은 고딕"/>
              </a:rPr>
              <a:t>conv_idle_ratio  </a:t>
            </a:r>
            <a:r>
              <a:rPr sz="800" b="0">
                <a:solidFill>
                  <a:srgbClr val="5C6670"/>
                </a:solidFill>
                <a:latin typeface="맑은 고딕"/>
              </a:rPr>
              <a:t>= 0/3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2186147"/>
            <a:ext cx="3203143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00800" y="2186147"/>
            <a:ext cx="18288" cy="18288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50247" y="2149571"/>
            <a:ext cx="179862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5C6670"/>
                </a:solidFill>
                <a:latin typeface="맑은 고딕"/>
              </a:rPr>
              <a:t>0.00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2615184"/>
            <a:ext cx="5166360" cy="2726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B3255"/>
                </a:solidFill>
                <a:latin typeface="맑은 고딕"/>
              </a:rPr>
              <a:t>tool_util  </a:t>
            </a:r>
            <a:r>
              <a:rPr sz="800" b="0">
                <a:solidFill>
                  <a:srgbClr val="5C6670"/>
                </a:solidFill>
                <a:latin typeface="맑은 고딕"/>
              </a:rPr>
              <a:t>= min(0.4, 1)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2926811"/>
            <a:ext cx="3203143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00800" y="2926811"/>
            <a:ext cx="1281257" cy="18288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50247" y="2890235"/>
            <a:ext cx="179862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2E6FB0"/>
                </a:solidFill>
                <a:latin typeface="맑은 고딕"/>
              </a:rPr>
              <a:t>0.40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2999" y="2002536"/>
            <a:ext cx="46085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>
                <a:solidFill>
                  <a:srgbClr val="1B3255"/>
                </a:solidFill>
                <a:latin typeface="맑은 고딕"/>
              </a:rPr>
              <a:t>설비 순회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142999" y="2240280"/>
            <a:ext cx="967435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79575" y="2240280"/>
            <a:ext cx="89428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B3255"/>
                </a:solidFill>
                <a:latin typeface="Consolas"/>
              </a:rPr>
              <a:t>EQP001:busy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151582" y="2240280"/>
            <a:ext cx="1680667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188158" y="2240280"/>
            <a:ext cx="160751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B3255"/>
                </a:solidFill>
                <a:latin typeface="Consolas"/>
              </a:rPr>
              <a:t>EQP002:idle,free_at=t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873397" y="2240280"/>
            <a:ext cx="967435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09973" y="2240280"/>
            <a:ext cx="89428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B3255"/>
                </a:solidFill>
                <a:latin typeface="Consolas"/>
              </a:rPr>
              <a:t>EQP003:busy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42999" y="2980943"/>
            <a:ext cx="46085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>
                <a:solidFill>
                  <a:srgbClr val="1B3255"/>
                </a:solidFill>
                <a:latin typeface="맑은 고딕"/>
              </a:rPr>
              <a:t>조건 판정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142999" y="3218687"/>
            <a:ext cx="2179929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79575" y="3218687"/>
            <a:ext cx="210677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4A6D8C"/>
                </a:solidFill>
                <a:latin typeface="Consolas"/>
              </a:rPr>
              <a:t>rem&gt;0 &amp; idle &amp; prev_lot_cd≠∅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64076" y="3218687"/>
            <a:ext cx="1353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6670"/>
                </a:solidFill>
                <a:latin typeface="맑은 고딕"/>
              </a:rPr>
              <a:t>→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540555" y="3218687"/>
            <a:ext cx="967435" cy="237744"/>
          </a:xfrm>
          <a:prstGeom prst="round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577131" y="3218687"/>
            <a:ext cx="89428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Consolas"/>
              </a:rPr>
              <a:t>conv_eqps=0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42999" y="3959351"/>
            <a:ext cx="46085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>
                <a:solidFill>
                  <a:srgbClr val="1B3255"/>
                </a:solidFill>
                <a:latin typeface="맑은 고딕"/>
              </a:rPr>
              <a:t>conv_idle_ratio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142999" y="4197095"/>
            <a:ext cx="1252728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79575" y="4197095"/>
            <a:ext cx="117957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4A6D8C"/>
                </a:solidFill>
                <a:latin typeface="Consolas"/>
              </a:rPr>
              <a:t>conv_eqps/n_eqp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436875" y="4197095"/>
            <a:ext cx="1353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6670"/>
                </a:solidFill>
                <a:latin typeface="맑은 고딕"/>
              </a:rPr>
              <a:t>=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613354" y="4197095"/>
            <a:ext cx="396849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649930" y="4197095"/>
            <a:ext cx="32369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4A6D8C"/>
                </a:solidFill>
                <a:latin typeface="Consolas"/>
              </a:rPr>
              <a:t>0/3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051351" y="4197095"/>
            <a:ext cx="1353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6670"/>
                </a:solidFill>
                <a:latin typeface="맑은 고딕"/>
              </a:rPr>
              <a:t>=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227831" y="4197095"/>
            <a:ext cx="396849" cy="237744"/>
          </a:xfrm>
          <a:prstGeom prst="round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64407" y="4197095"/>
            <a:ext cx="32369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Consolas"/>
              </a:rPr>
              <a:t>0.0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42999" y="4937759"/>
            <a:ext cx="46085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>
                <a:solidFill>
                  <a:srgbClr val="1B3255"/>
                </a:solidFill>
                <a:latin typeface="맑은 고딕"/>
              </a:rPr>
              <a:t>tool_util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142999" y="5175503"/>
            <a:ext cx="2037283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79575" y="5175503"/>
            <a:ext cx="19641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4A6D8C"/>
                </a:solidFill>
                <a:latin typeface="Consolas"/>
              </a:rPr>
              <a:t>tool_tracker.utilization()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221430" y="5175503"/>
            <a:ext cx="1353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6670"/>
                </a:solidFill>
                <a:latin typeface="맑은 고딕"/>
              </a:rPr>
              <a:t>=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397909" y="5175503"/>
            <a:ext cx="396849" cy="237744"/>
          </a:xfrm>
          <a:prstGeom prst="round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434485" y="5175503"/>
            <a:ext cx="32369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Consolas"/>
              </a:rPr>
              <a:t>0.4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02  Bulk-Fill MDP 모델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State 산식 해설 — ch0 wip_ratio_total  ·  ch1 wip_ratio_ppk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88720"/>
            <a:ext cx="11201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6FB0"/>
                </a:solidFill>
                <a:latin typeface="맑은 고딕"/>
              </a:rPr>
              <a:t>버킷 (Bucket) — (PPK001, OPER002) 기준 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(simulation/simulator.py)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508760"/>
            <a:ext cx="5486400" cy="310896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508760"/>
            <a:ext cx="548640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계산 흐름도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819656"/>
            <a:ext cx="5486400" cy="4032504"/>
          </a:xfrm>
          <a:prstGeom prst="rect">
            <a:avLst/>
          </a:prstGeom>
          <a:solidFill>
            <a:srgbClr val="F4F6F8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508760"/>
            <a:ext cx="5440680" cy="310896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508760"/>
            <a:ext cx="544068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MINI-A 대입 계산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223260"/>
            <a:ext cx="5440680" cy="45720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3223260"/>
            <a:ext cx="544068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</a:rPr>
              <a:t>ch0 = 0.0857   /   ch1 = 0.0968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753612"/>
            <a:ext cx="5440680" cy="20985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4A6D8C"/>
                </a:solidFill>
                <a:latin typeface="맑은 고딕"/>
              </a:rPr>
              <a:t>해석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분모가 다르다: ch0은 '팹 전체 WIP', ch1은 '같은 PPK001 안에서의 WIP' — 같은 wip_q라도 두 관점을 동시에 준다.</a:t>
            </a:r>
          </a:p>
          <a:p>
            <a:pPr>
              <a:lnSpc>
                <a:spcPct val="112000"/>
              </a:lnSpc>
              <a:spcBef>
                <a:spcPts val="600"/>
              </a:spcBef>
            </a:pPr>
            <a:r>
              <a:rPr sz="969" b="0">
                <a:solidFill>
                  <a:srgbClr val="1B3255"/>
                </a:solidFill>
                <a:latin typeface="맑은 고딕"/>
              </a:rPr>
              <a:t>Case B (반대 상황)  이 버킷에 재공이 전혀 없다면(wip_q=0) ch0=ch1=0.0 — '분모가 다르다'는 특징이 사라지고 둘 다 0으로 겹치는 케이스.</a:t>
            </a:r>
          </a:p>
        </p:txBody>
      </p:sp>
      <p:sp>
        <p:nvSpPr>
          <p:cNvPr id="22" name="Oval 21"/>
          <p:cNvSpPr/>
          <p:nvPr/>
        </p:nvSpPr>
        <p:spPr>
          <a:xfrm>
            <a:off x="630936" y="2231136"/>
            <a:ext cx="274320" cy="274320"/>
          </a:xfrm>
          <a:prstGeom prst="ellipse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" y="22311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3271" y="1947672"/>
            <a:ext cx="4828032" cy="841247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wn Arrow 25"/>
          <p:cNvSpPr/>
          <p:nvPr/>
        </p:nvSpPr>
        <p:spPr>
          <a:xfrm>
            <a:off x="704088" y="2798063"/>
            <a:ext cx="128016" cy="118872"/>
          </a:xfrm>
          <a:prstGeom prst="downArrow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0936" y="3209544"/>
            <a:ext cx="274320" cy="274320"/>
          </a:xfrm>
          <a:prstGeom prst="ellipse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" y="32095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33271" y="2926079"/>
            <a:ext cx="4828032" cy="841247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own Arrow 30"/>
          <p:cNvSpPr/>
          <p:nvPr/>
        </p:nvSpPr>
        <p:spPr>
          <a:xfrm>
            <a:off x="704088" y="3776471"/>
            <a:ext cx="128016" cy="118872"/>
          </a:xfrm>
          <a:prstGeom prst="downArrow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0936" y="4187951"/>
            <a:ext cx="274320" cy="274320"/>
          </a:xfrm>
          <a:prstGeom prst="ellipse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" y="4187951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33271" y="3904487"/>
            <a:ext cx="4828032" cy="841247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own Arrow 35"/>
          <p:cNvSpPr/>
          <p:nvPr/>
        </p:nvSpPr>
        <p:spPr>
          <a:xfrm>
            <a:off x="704088" y="4754879"/>
            <a:ext cx="128016" cy="118872"/>
          </a:xfrm>
          <a:prstGeom prst="downArrow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30936" y="5166359"/>
            <a:ext cx="274320" cy="274320"/>
          </a:xfrm>
          <a:prstGeom prst="ellipse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" y="5166359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33271" y="4882896"/>
            <a:ext cx="4828032" cy="841247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63640" y="1819656"/>
            <a:ext cx="5440680" cy="1330452"/>
          </a:xfrm>
          <a:prstGeom prst="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1874519"/>
            <a:ext cx="5166360" cy="2409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B3255"/>
                </a:solidFill>
                <a:latin typeface="맑은 고딕"/>
              </a:rPr>
              <a:t>wip_ratio_total  </a:t>
            </a:r>
            <a:r>
              <a:rPr sz="800" b="0">
                <a:solidFill>
                  <a:srgbClr val="5C6670"/>
                </a:solidFill>
                <a:latin typeface="맑은 고딕"/>
              </a:rPr>
              <a:t>= 15/175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2149937"/>
            <a:ext cx="3203143" cy="172135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00800" y="2149937"/>
            <a:ext cx="274509" cy="172135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50247" y="2113361"/>
            <a:ext cx="1798624" cy="2452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2E6FB0"/>
                </a:solidFill>
                <a:latin typeface="맑은 고딕"/>
              </a:rPr>
              <a:t>0.086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2539746"/>
            <a:ext cx="5166360" cy="2409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B3255"/>
                </a:solidFill>
                <a:latin typeface="맑은 고딕"/>
              </a:rPr>
              <a:t>wip_ratio_ppk  </a:t>
            </a:r>
            <a:r>
              <a:rPr sz="800" b="0">
                <a:solidFill>
                  <a:srgbClr val="5C6670"/>
                </a:solidFill>
                <a:latin typeface="맑은 고딕"/>
              </a:rPr>
              <a:t>= 15/155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2815163"/>
            <a:ext cx="3203143" cy="172135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00800" y="2815163"/>
            <a:ext cx="310064" cy="172135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50247" y="2778587"/>
            <a:ext cx="1798624" cy="2452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2E6FB0"/>
                </a:solidFill>
                <a:latin typeface="맑은 고딕"/>
              </a:rPr>
              <a:t>0.097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2999" y="2002536"/>
            <a:ext cx="46085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>
                <a:solidFill>
                  <a:srgbClr val="1B3255"/>
                </a:solidFill>
                <a:latin typeface="맑은 고딕"/>
              </a:rPr>
              <a:t>WIP 집계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142999" y="2240280"/>
            <a:ext cx="1324051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79575" y="2240280"/>
            <a:ext cx="125089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B3255"/>
                </a:solidFill>
                <a:latin typeface="Consolas"/>
              </a:rPr>
              <a:t>wip_po[P1,O2]=15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508198" y="2240280"/>
            <a:ext cx="1252728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44774" y="2240280"/>
            <a:ext cx="117957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B3255"/>
                </a:solidFill>
                <a:latin typeface="Consolas"/>
              </a:rPr>
              <a:t>ppk_wip[P1]=155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802074" y="2240280"/>
            <a:ext cx="1110081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38650" y="2240280"/>
            <a:ext cx="103692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B3255"/>
                </a:solidFill>
                <a:latin typeface="Consolas"/>
              </a:rPr>
              <a:t>total_wip=175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42999" y="2980943"/>
            <a:ext cx="46085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>
                <a:solidFill>
                  <a:srgbClr val="1B3255"/>
                </a:solidFill>
                <a:latin typeface="맑은 고딕"/>
              </a:rPr>
              <a:t>분모 산출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142999" y="3218687"/>
            <a:ext cx="824788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79575" y="3218687"/>
            <a:ext cx="7516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4A6D8C"/>
                </a:solidFill>
                <a:latin typeface="Consolas"/>
              </a:rPr>
              <a:t>total_wip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08935" y="3218687"/>
            <a:ext cx="1353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6670"/>
                </a:solidFill>
                <a:latin typeface="맑은 고딕"/>
              </a:rPr>
              <a:t>=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185415" y="3218687"/>
            <a:ext cx="396849" cy="237744"/>
          </a:xfrm>
          <a:prstGeom prst="round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21991" y="3218687"/>
            <a:ext cx="32369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Consolas"/>
              </a:rPr>
              <a:t>175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623412" y="3218687"/>
            <a:ext cx="824788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659988" y="3218687"/>
            <a:ext cx="7516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4A6D8C"/>
                </a:solidFill>
                <a:latin typeface="Consolas"/>
              </a:rPr>
              <a:t>ppk_total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89349" y="3218687"/>
            <a:ext cx="1353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6670"/>
                </a:solidFill>
                <a:latin typeface="맑은 고딕"/>
              </a:rPr>
              <a:t>=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665828" y="3218687"/>
            <a:ext cx="396849" cy="237744"/>
          </a:xfrm>
          <a:prstGeom prst="round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702404" y="3218687"/>
            <a:ext cx="32369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Consolas"/>
              </a:rPr>
              <a:t>155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42999" y="3959351"/>
            <a:ext cx="46085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>
                <a:solidFill>
                  <a:srgbClr val="1B3255"/>
                </a:solidFill>
                <a:latin typeface="맑은 고딕"/>
              </a:rPr>
              <a:t>wip_ratio_total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142999" y="4197095"/>
            <a:ext cx="1252728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79575" y="4197095"/>
            <a:ext cx="117957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4A6D8C"/>
                </a:solidFill>
                <a:latin typeface="Consolas"/>
              </a:rPr>
              <a:t>wip_q/total_wip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436875" y="4197095"/>
            <a:ext cx="1353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6670"/>
                </a:solidFill>
                <a:latin typeface="맑은 고딕"/>
              </a:rPr>
              <a:t>=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613354" y="4197095"/>
            <a:ext cx="610819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649930" y="4197095"/>
            <a:ext cx="53766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4A6D8C"/>
                </a:solidFill>
                <a:latin typeface="Consolas"/>
              </a:rPr>
              <a:t>15/175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65321" y="4197095"/>
            <a:ext cx="1353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6670"/>
                </a:solidFill>
                <a:latin typeface="맑은 고딕"/>
              </a:rPr>
              <a:t>=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441800" y="4197095"/>
            <a:ext cx="610819" cy="237744"/>
          </a:xfrm>
          <a:prstGeom prst="round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478376" y="4197095"/>
            <a:ext cx="53766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Consolas"/>
              </a:rPr>
              <a:t>0.0857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42999" y="4937759"/>
            <a:ext cx="46085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>
                <a:solidFill>
                  <a:srgbClr val="1B3255"/>
                </a:solidFill>
                <a:latin typeface="맑은 고딕"/>
              </a:rPr>
              <a:t>wip_ratio_ppk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142999" y="5175503"/>
            <a:ext cx="1252728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179575" y="5175503"/>
            <a:ext cx="117957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4A6D8C"/>
                </a:solidFill>
                <a:latin typeface="Consolas"/>
              </a:rPr>
              <a:t>wip_q/ppk_total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436875" y="5175503"/>
            <a:ext cx="1353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6670"/>
                </a:solidFill>
                <a:latin typeface="맑은 고딕"/>
              </a:rPr>
              <a:t>=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2613354" y="5175503"/>
            <a:ext cx="610819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649930" y="5175503"/>
            <a:ext cx="53766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4A6D8C"/>
                </a:solidFill>
                <a:latin typeface="Consolas"/>
              </a:rPr>
              <a:t>15/155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265321" y="5175503"/>
            <a:ext cx="1353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6670"/>
                </a:solidFill>
                <a:latin typeface="맑은 고딕"/>
              </a:rPr>
              <a:t>=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441800" y="5175503"/>
            <a:ext cx="610819" cy="237744"/>
          </a:xfrm>
          <a:prstGeom prst="round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478376" y="5175503"/>
            <a:ext cx="53766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Consolas"/>
              </a:rPr>
              <a:t>0.0968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02  Bulk-Fill MDP 모델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State 산식 해설 — ch2 prev_takt  ·  ch3 post_takt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88720"/>
            <a:ext cx="11201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6FB0"/>
                </a:solidFill>
                <a:latin typeface="맑은 고딕"/>
              </a:rPr>
              <a:t>버킷 (Bucket) — OPER001 vs OPER002 버킷 비교 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(simulation/simulator.py)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508760"/>
            <a:ext cx="5486400" cy="310896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508760"/>
            <a:ext cx="548640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계산 흐름도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819656"/>
            <a:ext cx="5486400" cy="4032504"/>
          </a:xfrm>
          <a:prstGeom prst="rect">
            <a:avLst/>
          </a:prstGeom>
          <a:solidFill>
            <a:srgbClr val="F4F6F8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0936" y="2231136"/>
            <a:ext cx="274320" cy="274320"/>
          </a:xfrm>
          <a:prstGeom prst="ellipse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" y="22311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3271" y="1947672"/>
            <a:ext cx="4828032" cy="841247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wn Arrow 25"/>
          <p:cNvSpPr/>
          <p:nvPr/>
        </p:nvSpPr>
        <p:spPr>
          <a:xfrm>
            <a:off x="704088" y="2798063"/>
            <a:ext cx="128016" cy="118872"/>
          </a:xfrm>
          <a:prstGeom prst="downArrow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0936" y="3209544"/>
            <a:ext cx="274320" cy="274320"/>
          </a:xfrm>
          <a:prstGeom prst="ellipse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" y="32095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33271" y="2926079"/>
            <a:ext cx="4828032" cy="841247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own Arrow 30"/>
          <p:cNvSpPr/>
          <p:nvPr/>
        </p:nvSpPr>
        <p:spPr>
          <a:xfrm>
            <a:off x="704088" y="3776471"/>
            <a:ext cx="128016" cy="118872"/>
          </a:xfrm>
          <a:prstGeom prst="downArrow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0936" y="4187951"/>
            <a:ext cx="274320" cy="274320"/>
          </a:xfrm>
          <a:prstGeom prst="ellipse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" y="4187951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33271" y="3904487"/>
            <a:ext cx="4828032" cy="841247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own Arrow 35"/>
          <p:cNvSpPr/>
          <p:nvPr/>
        </p:nvSpPr>
        <p:spPr>
          <a:xfrm>
            <a:off x="704088" y="4754879"/>
            <a:ext cx="128016" cy="118872"/>
          </a:xfrm>
          <a:prstGeom prst="downArrow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30936" y="5166359"/>
            <a:ext cx="274320" cy="274320"/>
          </a:xfrm>
          <a:prstGeom prst="ellipse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" y="5166359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33271" y="4882896"/>
            <a:ext cx="4828032" cy="841247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42999" y="2002536"/>
            <a:ext cx="46085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>
                <a:solidFill>
                  <a:srgbClr val="1B3255"/>
                </a:solidFill>
                <a:latin typeface="맑은 고딕"/>
              </a:rPr>
              <a:t>eff_takt 정의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142999" y="2240280"/>
            <a:ext cx="1965960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79575" y="2240280"/>
            <a:ext cx="189280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4A6D8C"/>
                </a:solidFill>
                <a:latin typeface="Consolas"/>
              </a:rPr>
              <a:t>max(demand_takt,cap_takt)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150107" y="2240280"/>
            <a:ext cx="1353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6670"/>
                </a:solidFill>
                <a:latin typeface="맑은 고딕"/>
              </a:rPr>
              <a:t>×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326586" y="2240280"/>
            <a:ext cx="682142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363162" y="2240280"/>
            <a:ext cx="60899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4A6D8C"/>
                </a:solidFill>
                <a:latin typeface="Consolas"/>
              </a:rPr>
              <a:t>wf_unit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42999" y="2980943"/>
            <a:ext cx="46085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>
                <a:solidFill>
                  <a:srgbClr val="1B3255"/>
                </a:solidFill>
                <a:latin typeface="맑은 고딕"/>
              </a:rPr>
              <a:t>인접 공정 산출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142999" y="3218687"/>
            <a:ext cx="1538020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79575" y="3218687"/>
            <a:ext cx="14648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B3255"/>
                </a:solidFill>
                <a:latin typeface="Consolas"/>
              </a:rPr>
              <a:t>eff_takt(OPER001)=1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722167" y="3218687"/>
            <a:ext cx="1680667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758743" y="3218687"/>
            <a:ext cx="160751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B3255"/>
                </a:solidFill>
                <a:latin typeface="Consolas"/>
              </a:rPr>
              <a:t>eff_takt(OPER002)=7.2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42999" y="3959351"/>
            <a:ext cx="46085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>
                <a:solidFill>
                  <a:srgbClr val="1B3255"/>
                </a:solidFill>
                <a:latin typeface="맑은 고딕"/>
              </a:rPr>
              <a:t>정규화 기준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142999" y="4197095"/>
            <a:ext cx="1252728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79575" y="4197095"/>
            <a:ext cx="117957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4A6D8C"/>
                </a:solidFill>
                <a:latin typeface="Consolas"/>
              </a:rPr>
              <a:t>T_avail×wf_unit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436875" y="4197095"/>
            <a:ext cx="1353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6670"/>
                </a:solidFill>
                <a:latin typeface="맑은 고딕"/>
              </a:rPr>
              <a:t>=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613354" y="4197095"/>
            <a:ext cx="1038758" cy="237744"/>
          </a:xfrm>
          <a:prstGeom prst="round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649930" y="4197095"/>
            <a:ext cx="96560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Consolas"/>
              </a:rPr>
              <a:t>max_takt=360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42999" y="4937759"/>
            <a:ext cx="46085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>
                <a:solidFill>
                  <a:srgbClr val="1B3255"/>
                </a:solidFill>
                <a:latin typeface="맑은 고딕"/>
              </a:rPr>
              <a:t>prev/post_takt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142999" y="5175503"/>
            <a:ext cx="1680667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179575" y="5175503"/>
            <a:ext cx="160751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4A6D8C"/>
                </a:solidFill>
                <a:latin typeface="Consolas"/>
              </a:rPr>
              <a:t>eff_takt(인접)/max_takt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864814" y="5175503"/>
            <a:ext cx="1353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6670"/>
                </a:solidFill>
                <a:latin typeface="맑은 고딕"/>
              </a:rPr>
              <a:t>→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041293" y="5175503"/>
            <a:ext cx="753465" cy="237744"/>
          </a:xfrm>
          <a:prstGeom prst="round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77869" y="5175503"/>
            <a:ext cx="68031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Consolas"/>
              </a:rPr>
              <a:t>0.0~0.02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63640" y="1508760"/>
            <a:ext cx="5440680" cy="310896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263640" y="1508760"/>
            <a:ext cx="544068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MINI-A 대입 계산 — 공급/소비 흐름 대조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263640" y="1819656"/>
            <a:ext cx="5440680" cy="3986783"/>
          </a:xfrm>
          <a:prstGeom prst="rect">
            <a:avLst/>
          </a:prstGeom>
          <a:solidFill>
            <a:srgbClr val="F4F6F8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6373368" y="1911095"/>
            <a:ext cx="5221224" cy="219456"/>
          </a:xfrm>
          <a:prstGeom prst="roundRect">
            <a:avLst>
              <a:gd name="adj" fmla="val 14000"/>
            </a:avLst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Case A   OPER002 — 수요가 설비능력보다 빠듯함(수요-병목)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373368" y="2185415"/>
            <a:ext cx="1551432" cy="512064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19088" y="2221991"/>
            <a:ext cx="1459991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>
                <a:solidFill>
                  <a:srgbClr val="FFFFFF"/>
                </a:solidFill>
                <a:latin typeface="맑은 고딕"/>
              </a:rPr>
              <a:t>설비능력(cap_takt)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>
                <a:solidFill>
                  <a:srgbClr val="FFFFFF"/>
                </a:solidFill>
                <a:latin typeface="맑은 고딕"/>
              </a:rPr>
              <a:t>1.67분/carrier</a:t>
            </a:r>
          </a:p>
        </p:txBody>
      </p:sp>
      <p:sp>
        <p:nvSpPr>
          <p:cNvPr id="86" name="Right Arrow 85"/>
          <p:cNvSpPr/>
          <p:nvPr/>
        </p:nvSpPr>
        <p:spPr>
          <a:xfrm>
            <a:off x="7943087" y="2359152"/>
            <a:ext cx="256032" cy="164592"/>
          </a:xfrm>
          <a:prstGeom prst="rightArrow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217408" y="2185415"/>
            <a:ext cx="1551432" cy="512064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263128" y="2221991"/>
            <a:ext cx="1459991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>
                <a:solidFill>
                  <a:srgbClr val="FFFFFF"/>
                </a:solidFill>
                <a:latin typeface="맑은 고딕"/>
              </a:rPr>
              <a:t>eff_takt = max(...)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7.2분/carrier</a:t>
            </a:r>
          </a:p>
        </p:txBody>
      </p:sp>
      <p:sp>
        <p:nvSpPr>
          <p:cNvPr id="89" name="Right Arrow 88"/>
          <p:cNvSpPr/>
          <p:nvPr/>
        </p:nvSpPr>
        <p:spPr>
          <a:xfrm>
            <a:off x="9787128" y="2359152"/>
            <a:ext cx="256032" cy="164592"/>
          </a:xfrm>
          <a:prstGeom prst="rightArrow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061448" y="2185415"/>
            <a:ext cx="1551432" cy="512064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107168" y="2221991"/>
            <a:ext cx="1459991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>
                <a:solidFill>
                  <a:srgbClr val="FFFFFF"/>
                </a:solidFill>
                <a:latin typeface="맑은 고딕"/>
              </a:rPr>
              <a:t>계획요구(demand_takt)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>
                <a:solidFill>
                  <a:srgbClr val="FFFFFF"/>
                </a:solidFill>
                <a:latin typeface="맑은 고딕"/>
              </a:rPr>
              <a:t>7.2분/carrier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373368" y="2752344"/>
            <a:ext cx="5221224" cy="237744"/>
          </a:xfrm>
          <a:prstGeom prst="rect">
            <a:avLst/>
          </a:prstGeom>
          <a:solidFill>
            <a:srgbClr val="F7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446520" y="2752344"/>
            <a:ext cx="5074920" cy="2377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>
                <a:solidFill>
                  <a:srgbClr val="B33A3A"/>
                </a:solidFill>
                <a:latin typeface="맑은 고딕"/>
              </a:rPr>
              <a:t>demand_takt(7.2) &gt; cap_takt(1.67) → 수요가 더 빠듯 → eff_takt=7.2 채택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373368" y="3026663"/>
            <a:ext cx="522122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5C6670"/>
                </a:solidFill>
                <a:latin typeface="맑은 고딕"/>
              </a:rPr>
              <a:t>eff_takt=max(demand_takt,cap_takt)·wf_unit ; post_takt=eff_takt/360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373368" y="3520440"/>
            <a:ext cx="5221224" cy="219456"/>
          </a:xfrm>
          <a:prstGeom prst="roundRect">
            <a:avLst>
              <a:gd name="adj" fmla="val 14000"/>
            </a:avLst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Case B   반대 상황 — 계획이 널널해 설비능력이 병목(설비-병목)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373368" y="3794760"/>
            <a:ext cx="1551432" cy="512064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419088" y="3831336"/>
            <a:ext cx="1459991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>
                <a:solidFill>
                  <a:srgbClr val="FFFFFF"/>
                </a:solidFill>
                <a:latin typeface="맑은 고딕"/>
              </a:rPr>
              <a:t>설비능력(cap_takt)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>
                <a:solidFill>
                  <a:srgbClr val="FFFFFF"/>
                </a:solidFill>
                <a:latin typeface="맑은 고딕"/>
              </a:rPr>
              <a:t>1.67분/carrier</a:t>
            </a:r>
          </a:p>
        </p:txBody>
      </p:sp>
      <p:sp>
        <p:nvSpPr>
          <p:cNvPr id="98" name="Right Arrow 97"/>
          <p:cNvSpPr/>
          <p:nvPr/>
        </p:nvSpPr>
        <p:spPr>
          <a:xfrm>
            <a:off x="7943087" y="3968496"/>
            <a:ext cx="256032" cy="164592"/>
          </a:xfrm>
          <a:prstGeom prst="rightArrow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217408" y="3794760"/>
            <a:ext cx="1551432" cy="512064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263128" y="3831336"/>
            <a:ext cx="1459991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>
                <a:solidFill>
                  <a:srgbClr val="FFFFFF"/>
                </a:solidFill>
                <a:latin typeface="맑은 고딕"/>
              </a:rPr>
              <a:t>eff_takt = max(...)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1.67분/carrier</a:t>
            </a:r>
          </a:p>
        </p:txBody>
      </p:sp>
      <p:sp>
        <p:nvSpPr>
          <p:cNvPr id="101" name="Right Arrow 100"/>
          <p:cNvSpPr/>
          <p:nvPr/>
        </p:nvSpPr>
        <p:spPr>
          <a:xfrm>
            <a:off x="9787128" y="3968496"/>
            <a:ext cx="256032" cy="164592"/>
          </a:xfrm>
          <a:prstGeom prst="rightArrow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061448" y="3794760"/>
            <a:ext cx="1551432" cy="512064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107168" y="3831336"/>
            <a:ext cx="1459991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>
                <a:solidFill>
                  <a:srgbClr val="FFFFFF"/>
                </a:solidFill>
                <a:latin typeface="맑은 고딕"/>
              </a:rPr>
              <a:t>계획요구(demand_takt)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>
                <a:solidFill>
                  <a:srgbClr val="FFFFFF"/>
                </a:solidFill>
                <a:latin typeface="맑은 고딕"/>
              </a:rPr>
              <a:t>0.3분/carrier(가정)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73368" y="4361688"/>
            <a:ext cx="5221224" cy="237744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446520" y="4361688"/>
            <a:ext cx="5074920" cy="2377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>
                <a:solidFill>
                  <a:srgbClr val="2E7D4F"/>
                </a:solidFill>
                <a:latin typeface="맑은 고딕"/>
              </a:rPr>
              <a:t>demand_takt(0.3) &lt; cap_takt(1.67) → 설비능력이 병목 → eff_takt=1.67 채택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373368" y="4636008"/>
            <a:ext cx="522122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5C6670"/>
                </a:solidFill>
                <a:latin typeface="맑은 고딕"/>
              </a:rPr>
              <a:t>q_plan이 아주 크면(예:1200장) demand_takt=360/1200=0.3으로 역전됨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02  Bulk-Fill MDP 모델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State 산식 해설 — ch4 self_st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88720"/>
            <a:ext cx="11201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6FB0"/>
                </a:solidFill>
                <a:latin typeface="맑은 고딕"/>
              </a:rPr>
              <a:t>버킷 (Bucket) — (PPK001, OPER002) 기준 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(simulation/simulator.py)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508760"/>
            <a:ext cx="5486400" cy="310896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508760"/>
            <a:ext cx="548640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계산 흐름도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819656"/>
            <a:ext cx="5486400" cy="4032504"/>
          </a:xfrm>
          <a:prstGeom prst="rect">
            <a:avLst/>
          </a:prstGeom>
          <a:solidFill>
            <a:srgbClr val="F4F6F8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508760"/>
            <a:ext cx="5440680" cy="310896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508760"/>
            <a:ext cx="544068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MINI-A 대입 계산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2990088"/>
            <a:ext cx="5440680" cy="45720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2990088"/>
            <a:ext cx="544068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</a:rPr>
              <a:t>self_st (ch4) = 1.0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520440"/>
            <a:ext cx="5440680" cy="2331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4A6D8C"/>
                </a:solidFill>
                <a:latin typeface="맑은 고딕"/>
              </a:rPr>
              <a:t>해석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이 예시에서 OPER002가 가장 느린 공정이라 정규화 최댓값과 같아져 1.0 — 극단값 예시.</a:t>
            </a:r>
          </a:p>
          <a:p>
            <a:pPr>
              <a:lnSpc>
                <a:spcPct val="112000"/>
              </a:lnSpc>
              <a:spcBef>
                <a:spcPts val="600"/>
              </a:spcBef>
            </a:pPr>
            <a:r>
              <a:rPr sz="969" b="0">
                <a:solidFill>
                  <a:srgbClr val="1B3255"/>
                </a:solidFill>
                <a:latin typeface="맑은 고딕"/>
              </a:rPr>
              <a:t>Case B (반대 상황)  가장 빠른 공정(OPER001, st=2분/장) 기준이면 self_st=2/5=0.4 — 1.0(최댓값)이 아니라 여유 있는 공정의 낮은 값도 존재.</a:t>
            </a:r>
          </a:p>
        </p:txBody>
      </p:sp>
      <p:sp>
        <p:nvSpPr>
          <p:cNvPr id="22" name="Oval 21"/>
          <p:cNvSpPr/>
          <p:nvPr/>
        </p:nvSpPr>
        <p:spPr>
          <a:xfrm>
            <a:off x="630936" y="2394204"/>
            <a:ext cx="274320" cy="274320"/>
          </a:xfrm>
          <a:prstGeom prst="ellipse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" y="239420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3271" y="1947672"/>
            <a:ext cx="4828032" cy="1167384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wn Arrow 25"/>
          <p:cNvSpPr/>
          <p:nvPr/>
        </p:nvSpPr>
        <p:spPr>
          <a:xfrm>
            <a:off x="704088" y="3124199"/>
            <a:ext cx="128016" cy="118872"/>
          </a:xfrm>
          <a:prstGeom prst="downArrow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0936" y="3698748"/>
            <a:ext cx="274320" cy="274320"/>
          </a:xfrm>
          <a:prstGeom prst="ellipse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" y="36987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33271" y="3252216"/>
            <a:ext cx="4828032" cy="1167384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own Arrow 30"/>
          <p:cNvSpPr/>
          <p:nvPr/>
        </p:nvSpPr>
        <p:spPr>
          <a:xfrm>
            <a:off x="704088" y="4428744"/>
            <a:ext cx="128016" cy="118872"/>
          </a:xfrm>
          <a:prstGeom prst="downArrow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0936" y="5003292"/>
            <a:ext cx="274320" cy="274320"/>
          </a:xfrm>
          <a:prstGeom prst="ellipse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" y="50032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33271" y="4556760"/>
            <a:ext cx="4828032" cy="1167384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1819656"/>
            <a:ext cx="5440680" cy="1097280"/>
          </a:xfrm>
          <a:prstGeom prst="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1911095"/>
            <a:ext cx="5166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B3255"/>
                </a:solidFill>
                <a:latin typeface="맑은 고딕"/>
              </a:rPr>
              <a:t>self_st (ch4)  </a:t>
            </a:r>
            <a:r>
              <a:rPr sz="800" b="0">
                <a:solidFill>
                  <a:srgbClr val="5C6670"/>
                </a:solidFill>
                <a:latin typeface="맑은 고딕"/>
              </a:rPr>
              <a:t>= 5분/장 ÷ max_arrange_st(5)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2350008"/>
            <a:ext cx="3203143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0" y="2350008"/>
            <a:ext cx="3203143" cy="18288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50247" y="2313432"/>
            <a:ext cx="179862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2E6FB0"/>
                </a:solidFill>
                <a:latin typeface="맑은 고딕"/>
              </a:rPr>
              <a:t>1.00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2999" y="2002536"/>
            <a:ext cx="46085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>
                <a:solidFill>
                  <a:srgbClr val="1B3255"/>
                </a:solidFill>
                <a:latin typeface="맑은 고딕"/>
              </a:rPr>
              <a:t>가공 속도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42999" y="2240280"/>
            <a:ext cx="1395374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79575" y="2240280"/>
            <a:ext cx="132222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B3255"/>
                </a:solidFill>
                <a:latin typeface="Consolas"/>
              </a:rPr>
              <a:t>st_per_wafer=5분/장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2999" y="3307080"/>
            <a:ext cx="46085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>
                <a:solidFill>
                  <a:srgbClr val="1B3255"/>
                </a:solidFill>
                <a:latin typeface="맑은 고딕"/>
              </a:rPr>
              <a:t>정규화 기준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42999" y="3544824"/>
            <a:ext cx="1181404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79575" y="3544824"/>
            <a:ext cx="110825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4A6D8C"/>
                </a:solidFill>
                <a:latin typeface="Consolas"/>
              </a:rPr>
              <a:t>max_arrange_st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65551" y="3544824"/>
            <a:ext cx="1353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6670"/>
                </a:solidFill>
                <a:latin typeface="맑은 고딕"/>
              </a:rPr>
              <a:t>=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542031" y="3544824"/>
            <a:ext cx="254203" cy="237744"/>
          </a:xfrm>
          <a:prstGeom prst="round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78607" y="3544824"/>
            <a:ext cx="18105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2999" y="4611624"/>
            <a:ext cx="46085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>
                <a:solidFill>
                  <a:srgbClr val="1B3255"/>
                </a:solidFill>
                <a:latin typeface="맑은 고딕"/>
              </a:rPr>
              <a:t>self_st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142999" y="4849367"/>
            <a:ext cx="396849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79575" y="4849367"/>
            <a:ext cx="32369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4A6D8C"/>
                </a:solidFill>
                <a:latin typeface="Consolas"/>
              </a:rPr>
              <a:t>5/5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80996" y="4849367"/>
            <a:ext cx="1353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6670"/>
                </a:solidFill>
                <a:latin typeface="맑은 고딕"/>
              </a:rPr>
              <a:t>=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757475" y="4849367"/>
            <a:ext cx="396849" cy="237744"/>
          </a:xfrm>
          <a:prstGeom prst="round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794051" y="4849367"/>
            <a:ext cx="32369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Consolas"/>
              </a:rPr>
              <a:t>1.0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02  Bulk-Fill MDP 모델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State 산식 해설 — ch5 plan_urgency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88720"/>
            <a:ext cx="11201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6FB0"/>
                </a:solidFill>
                <a:latin typeface="맑은 고딕"/>
              </a:rPr>
              <a:t>버킷 (Bucket) — (PPK001, OPER002) 기준 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(simulation/simulator.py)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508760"/>
            <a:ext cx="5486400" cy="310896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508760"/>
            <a:ext cx="548640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계산 흐름도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819656"/>
            <a:ext cx="5486400" cy="4032504"/>
          </a:xfrm>
          <a:prstGeom prst="rect">
            <a:avLst/>
          </a:prstGeom>
          <a:solidFill>
            <a:srgbClr val="F4F6F8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508760"/>
            <a:ext cx="5440680" cy="310896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508760"/>
            <a:ext cx="544068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MINI-A 대입 계산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2990088"/>
            <a:ext cx="5440680" cy="45720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2990088"/>
            <a:ext cx="544068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</a:rPr>
              <a:t>plan_urgency (ch5) = 0.0023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520440"/>
            <a:ext cx="5440680" cy="2331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4A6D8C"/>
                </a:solidFill>
                <a:latin typeface="맑은 고딕"/>
              </a:rPr>
              <a:t>해석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T_avail이 분모라서, 시간이 줄면(예: T_avail=30) 같은 gap=50이어도 urgency=min((50/30)/60,1)=0.0278로 12배 뜀.</a:t>
            </a:r>
          </a:p>
          <a:p>
            <a:pPr>
              <a:lnSpc>
                <a:spcPct val="112000"/>
              </a:lnSpc>
              <a:spcBef>
                <a:spcPts val="600"/>
              </a:spcBef>
            </a:pPr>
            <a:r>
              <a:rPr sz="969" b="0">
                <a:solidFill>
                  <a:srgbClr val="1B3255"/>
                </a:solidFill>
                <a:latin typeface="맑은 고딕"/>
              </a:rPr>
              <a:t>Case B (반대 상황)  마감이 임박해 T_avail=30분이면 같은 gap=50이어도 urgency=min((50/30)/60,1)=0.0278로 12배 뜀 — 시간이 급할수록 값이 커짐.</a:t>
            </a:r>
          </a:p>
        </p:txBody>
      </p:sp>
      <p:sp>
        <p:nvSpPr>
          <p:cNvPr id="22" name="Oval 21"/>
          <p:cNvSpPr/>
          <p:nvPr/>
        </p:nvSpPr>
        <p:spPr>
          <a:xfrm>
            <a:off x="630936" y="2394204"/>
            <a:ext cx="274320" cy="274320"/>
          </a:xfrm>
          <a:prstGeom prst="ellipse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" y="239420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3271" y="1947672"/>
            <a:ext cx="4828032" cy="1167384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wn Arrow 25"/>
          <p:cNvSpPr/>
          <p:nvPr/>
        </p:nvSpPr>
        <p:spPr>
          <a:xfrm>
            <a:off x="704088" y="3124199"/>
            <a:ext cx="128016" cy="118872"/>
          </a:xfrm>
          <a:prstGeom prst="downArrow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0936" y="3698748"/>
            <a:ext cx="274320" cy="274320"/>
          </a:xfrm>
          <a:prstGeom prst="ellipse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" y="36987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33271" y="3252216"/>
            <a:ext cx="4828032" cy="1167384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own Arrow 30"/>
          <p:cNvSpPr/>
          <p:nvPr/>
        </p:nvSpPr>
        <p:spPr>
          <a:xfrm>
            <a:off x="704088" y="4428744"/>
            <a:ext cx="128016" cy="118872"/>
          </a:xfrm>
          <a:prstGeom prst="downArrow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0936" y="5003292"/>
            <a:ext cx="274320" cy="274320"/>
          </a:xfrm>
          <a:prstGeom prst="ellipse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" y="50032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33271" y="4556760"/>
            <a:ext cx="4828032" cy="1167384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1819656"/>
            <a:ext cx="5440680" cy="1097280"/>
          </a:xfrm>
          <a:prstGeom prst="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1911095"/>
            <a:ext cx="5166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B3255"/>
                </a:solidFill>
                <a:latin typeface="맑은 고딕"/>
              </a:rPr>
              <a:t>plan_urgency (ch5)  </a:t>
            </a:r>
            <a:r>
              <a:rPr sz="800" b="0">
                <a:solidFill>
                  <a:srgbClr val="5C6670"/>
                </a:solidFill>
                <a:latin typeface="맑은 고딕"/>
              </a:rPr>
              <a:t>= min((50/360)/60, 1)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2350008"/>
            <a:ext cx="3203143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0" y="2350008"/>
            <a:ext cx="18288" cy="182880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50247" y="2313432"/>
            <a:ext cx="179862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C8861E"/>
                </a:solidFill>
                <a:latin typeface="맑은 고딕"/>
              </a:rPr>
              <a:t>0.0023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2999" y="2002536"/>
            <a:ext cx="46085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>
                <a:solidFill>
                  <a:srgbClr val="1B3255"/>
                </a:solidFill>
                <a:latin typeface="맑은 고딕"/>
              </a:rPr>
              <a:t>잔여량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42999" y="2240280"/>
            <a:ext cx="967435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79575" y="2240280"/>
            <a:ext cx="89428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B3255"/>
                </a:solidFill>
                <a:latin typeface="Consolas"/>
              </a:rPr>
              <a:t>plan_qty=60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151582" y="2240280"/>
            <a:ext cx="1038758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88158" y="2240280"/>
            <a:ext cx="96560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B3255"/>
                </a:solidFill>
                <a:latin typeface="Consolas"/>
              </a:rPr>
              <a:t>completed=10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31488" y="2240280"/>
            <a:ext cx="1353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6670"/>
                </a:solidFill>
                <a:latin typeface="맑은 고딕"/>
              </a:rPr>
              <a:t>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07967" y="2240280"/>
            <a:ext cx="610819" cy="237744"/>
          </a:xfrm>
          <a:prstGeom prst="round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44543" y="2240280"/>
            <a:ext cx="53766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Consolas"/>
              </a:rPr>
              <a:t>gap=50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2999" y="3307080"/>
            <a:ext cx="46085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>
                <a:solidFill>
                  <a:srgbClr val="1B3255"/>
                </a:solidFill>
                <a:latin typeface="맑은 고딕"/>
              </a:rPr>
              <a:t>시간 압박 산출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2999" y="3544824"/>
            <a:ext cx="1751990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79575" y="3544824"/>
            <a:ext cx="167883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4A6D8C"/>
                </a:solidFill>
                <a:latin typeface="Consolas"/>
              </a:rPr>
              <a:t>(gap/T_avail)/plan_qty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2999" y="4611624"/>
            <a:ext cx="46085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>
                <a:solidFill>
                  <a:srgbClr val="1B3255"/>
                </a:solidFill>
                <a:latin typeface="맑은 고딕"/>
              </a:rPr>
              <a:t>plan_urgency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142999" y="4849367"/>
            <a:ext cx="967435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79575" y="4849367"/>
            <a:ext cx="89428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4A6D8C"/>
                </a:solidFill>
                <a:latin typeface="Consolas"/>
              </a:rPr>
              <a:t>(50/360)/60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51582" y="4849367"/>
            <a:ext cx="1353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6670"/>
                </a:solidFill>
                <a:latin typeface="맑은 고딕"/>
              </a:rPr>
              <a:t>=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328061" y="4849367"/>
            <a:ext cx="610819" cy="237744"/>
          </a:xfrm>
          <a:prstGeom prst="round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364637" y="4849367"/>
            <a:ext cx="53766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Consolas"/>
              </a:rPr>
              <a:t>0.0023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02  Bulk-Fill MDP 모델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State 산식 해설 — ch6 wip_lot_cd  ·  ch7 wip_temp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88720"/>
            <a:ext cx="11201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6FB0"/>
                </a:solidFill>
                <a:latin typeface="맑은 고딕"/>
              </a:rPr>
              <a:t>버킷 (Bucket) — (PPK001, OPER002) 기준 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(simulation/simulator.py)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508760"/>
            <a:ext cx="5486400" cy="310896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508760"/>
            <a:ext cx="548640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계산 흐름도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819656"/>
            <a:ext cx="5486400" cy="4032504"/>
          </a:xfrm>
          <a:prstGeom prst="rect">
            <a:avLst/>
          </a:prstGeom>
          <a:solidFill>
            <a:srgbClr val="F4F6F8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508760"/>
            <a:ext cx="5440680" cy="310896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508760"/>
            <a:ext cx="544068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MINI-A 대입 계산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2990088"/>
            <a:ext cx="5440680" cy="45720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2990088"/>
            <a:ext cx="544068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</a:rPr>
              <a:t>wip_lot_cd (ch6) = 1.0   /   wip_temp (ch7) = 0.0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520440"/>
            <a:ext cx="5440680" cy="2331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4A6D8C"/>
                </a:solidFill>
                <a:latin typeface="맑은 고딕"/>
              </a:rPr>
              <a:t>해석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ch7의 0.0은 'TEMP 조건이 아예 없다'는 뜻이지, 오류나 결측이 아니다 — encode_normalized(None,...)의 정상 동작.</a:t>
            </a:r>
          </a:p>
          <a:p>
            <a:pPr>
              <a:lnSpc>
                <a:spcPct val="112000"/>
              </a:lnSpc>
              <a:spcBef>
                <a:spcPts val="600"/>
              </a:spcBef>
            </a:pPr>
            <a:r>
              <a:rPr sz="969" b="0">
                <a:solidFill>
                  <a:srgbClr val="1B3255"/>
                </a:solidFill>
                <a:latin typeface="맑은 고딕"/>
              </a:rPr>
              <a:t>Case B (반대 상황)  TEMP 조건이 있는 공정이라면(temp_idx={T1:0,T2:1}) tp_enc=encode('T2')=1/(2-1)=1.0 — ch7=0.0은 'TEMP 미사용'일 때만 나오는 특수 케이스.</a:t>
            </a:r>
          </a:p>
        </p:txBody>
      </p:sp>
      <p:sp>
        <p:nvSpPr>
          <p:cNvPr id="22" name="Oval 21"/>
          <p:cNvSpPr/>
          <p:nvPr/>
        </p:nvSpPr>
        <p:spPr>
          <a:xfrm>
            <a:off x="630936" y="2394204"/>
            <a:ext cx="274320" cy="274320"/>
          </a:xfrm>
          <a:prstGeom prst="ellipse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" y="239420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3271" y="1947672"/>
            <a:ext cx="4828032" cy="1167384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wn Arrow 25"/>
          <p:cNvSpPr/>
          <p:nvPr/>
        </p:nvSpPr>
        <p:spPr>
          <a:xfrm>
            <a:off x="704088" y="3124199"/>
            <a:ext cx="128016" cy="118872"/>
          </a:xfrm>
          <a:prstGeom prst="downArrow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0936" y="3698748"/>
            <a:ext cx="274320" cy="274320"/>
          </a:xfrm>
          <a:prstGeom prst="ellipse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" y="36987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33271" y="3252216"/>
            <a:ext cx="4828032" cy="1167384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own Arrow 30"/>
          <p:cNvSpPr/>
          <p:nvPr/>
        </p:nvSpPr>
        <p:spPr>
          <a:xfrm>
            <a:off x="704088" y="4428744"/>
            <a:ext cx="128016" cy="118872"/>
          </a:xfrm>
          <a:prstGeom prst="downArrow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0936" y="5003292"/>
            <a:ext cx="274320" cy="274320"/>
          </a:xfrm>
          <a:prstGeom prst="ellipse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" y="50032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33271" y="4556760"/>
            <a:ext cx="4828032" cy="1167384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1819656"/>
            <a:ext cx="5440680" cy="1097280"/>
          </a:xfrm>
          <a:prstGeom prst="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1874519"/>
            <a:ext cx="516636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B3255"/>
                </a:solidFill>
                <a:latin typeface="맑은 고딕"/>
              </a:rPr>
              <a:t>wip_lot_cd (ch6)  </a:t>
            </a:r>
            <a:r>
              <a:rPr sz="800" b="0">
                <a:solidFill>
                  <a:srgbClr val="5C6670"/>
                </a:solidFill>
                <a:latin typeface="맑은 고딕"/>
              </a:rPr>
              <a:t>= 1/(2-1)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2093975"/>
            <a:ext cx="3203143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0" y="2093975"/>
            <a:ext cx="3203143" cy="13716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50247" y="2057399"/>
            <a:ext cx="1798624" cy="2103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2E6FB0"/>
                </a:solidFill>
                <a:latin typeface="맑은 고딕"/>
              </a:rPr>
              <a:t>1.00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2423160"/>
            <a:ext cx="516636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B3255"/>
                </a:solidFill>
                <a:latin typeface="맑은 고딕"/>
              </a:rPr>
              <a:t>wip_temp (ch7)  </a:t>
            </a:r>
            <a:r>
              <a:rPr sz="800" b="0">
                <a:solidFill>
                  <a:srgbClr val="5C6670"/>
                </a:solidFill>
                <a:latin typeface="맑은 고딕"/>
              </a:rPr>
              <a:t>= encode(None) → 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2642615"/>
            <a:ext cx="3203143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0" y="2642615"/>
            <a:ext cx="18288" cy="13716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50247" y="2606039"/>
            <a:ext cx="1798624" cy="2103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5C6670"/>
                </a:solidFill>
                <a:latin typeface="맑은 고딕"/>
              </a:rPr>
              <a:t>0.00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2999" y="2002536"/>
            <a:ext cx="46085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>
                <a:solidFill>
                  <a:srgbClr val="1B3255"/>
                </a:solidFill>
                <a:latin typeface="맑은 고딕"/>
              </a:rPr>
              <a:t>버킷 속성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142999" y="2240280"/>
            <a:ext cx="610819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79575" y="2240280"/>
            <a:ext cx="53766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B3255"/>
                </a:solidFill>
                <a:latin typeface="Consolas"/>
              </a:rPr>
              <a:t>lc="A"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794966" y="2240280"/>
            <a:ext cx="682142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831542" y="2240280"/>
            <a:ext cx="60899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B3255"/>
                </a:solidFill>
                <a:latin typeface="Consolas"/>
              </a:rPr>
              <a:t>tp=None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2999" y="3307080"/>
            <a:ext cx="46085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>
                <a:solidFill>
                  <a:srgbClr val="1B3255"/>
                </a:solidFill>
                <a:latin typeface="맑은 고딕"/>
              </a:rPr>
              <a:t>lot_cd 인코딩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142999" y="3544824"/>
            <a:ext cx="1395374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79575" y="3544824"/>
            <a:ext cx="132222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4A6D8C"/>
                </a:solidFill>
                <a:latin typeface="Consolas"/>
              </a:rPr>
              <a:t>encode(A), n_lc=2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79521" y="3544824"/>
            <a:ext cx="1353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6670"/>
                </a:solidFill>
                <a:latin typeface="맑은 고딕"/>
              </a:rPr>
              <a:t>=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56000" y="3544824"/>
            <a:ext cx="682142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92576" y="3544824"/>
            <a:ext cx="60899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4A6D8C"/>
                </a:solidFill>
                <a:latin typeface="Consolas"/>
              </a:rPr>
              <a:t>1/(2−1)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79291" y="3544824"/>
            <a:ext cx="1353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6670"/>
                </a:solidFill>
                <a:latin typeface="맑은 고딕"/>
              </a:rPr>
              <a:t>=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655770" y="3544824"/>
            <a:ext cx="396849" cy="237744"/>
          </a:xfrm>
          <a:prstGeom prst="round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92346" y="3544824"/>
            <a:ext cx="32369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Consolas"/>
              </a:rPr>
              <a:t>1.0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42999" y="4611624"/>
            <a:ext cx="46085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>
                <a:solidFill>
                  <a:srgbClr val="1B3255"/>
                </a:solidFill>
                <a:latin typeface="맑은 고딕"/>
              </a:rPr>
              <a:t>temp 인코딩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142999" y="4849367"/>
            <a:ext cx="1609344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79575" y="4849367"/>
            <a:ext cx="15361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4A6D8C"/>
                </a:solidFill>
                <a:latin typeface="Consolas"/>
              </a:rPr>
              <a:t>encode(None), n_tp=1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93491" y="4849367"/>
            <a:ext cx="1353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6670"/>
                </a:solidFill>
                <a:latin typeface="맑은 고딕"/>
              </a:rPr>
              <a:t>=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969970" y="4849367"/>
            <a:ext cx="396849" cy="237744"/>
          </a:xfrm>
          <a:prstGeom prst="round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006546" y="4849367"/>
            <a:ext cx="32369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Consolas"/>
              </a:rPr>
              <a:t>0.0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02  Bulk-Fill MDP 모델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State 산식 해설 — ch8 needs_conversion  ·  ch9 tool_can_assign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88720"/>
            <a:ext cx="11201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6FB0"/>
                </a:solidFill>
                <a:latin typeface="맑은 고딕"/>
              </a:rPr>
              <a:t>버킷 (Bucket) — current_eqp=EQP002 기준 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(simulation/simulator.py)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508760"/>
            <a:ext cx="5486400" cy="310896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508760"/>
            <a:ext cx="548640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계산 흐름도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819656"/>
            <a:ext cx="5486400" cy="4032504"/>
          </a:xfrm>
          <a:prstGeom prst="rect">
            <a:avLst/>
          </a:prstGeom>
          <a:solidFill>
            <a:srgbClr val="F4F6F8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508760"/>
            <a:ext cx="5440680" cy="310896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508760"/>
            <a:ext cx="544068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MINI-A 대입 계산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374136"/>
            <a:ext cx="5440680" cy="45720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3374136"/>
            <a:ext cx="544068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</a:rPr>
              <a:t>needs_conversion (ch8) = 1.0   /   tool_can_assign (ch9) = 1.0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904488"/>
            <a:ext cx="5440680" cy="19476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4A6D8C"/>
                </a:solidFill>
                <a:latin typeface="맑은 고딕"/>
              </a:rPr>
              <a:t>해석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이 두 채널은 current_eqp가 속한 (op,model) 한 칸에만 기록되고, 나머지 칸은 0으로 남는다.</a:t>
            </a:r>
          </a:p>
          <a:p>
            <a:pPr>
              <a:lnSpc>
                <a:spcPct val="112000"/>
              </a:lnSpc>
              <a:spcBef>
                <a:spcPts val="600"/>
              </a:spcBef>
            </a:pPr>
            <a:r>
              <a:rPr sz="969" b="0">
                <a:solidFill>
                  <a:srgbClr val="1B3255"/>
                </a:solidFill>
                <a:latin typeface="맑은 고딕"/>
              </a:rPr>
              <a:t>Case B (반대 상황)  current_eqp의 prev_lot_cd가 이 버킷과 이미 같다면(A=A) would_need_conversion=False → needs_conversion=0.0 (전환 없이 바로 배정 가능).</a:t>
            </a:r>
          </a:p>
        </p:txBody>
      </p:sp>
      <p:sp>
        <p:nvSpPr>
          <p:cNvPr id="22" name="Oval 21"/>
          <p:cNvSpPr/>
          <p:nvPr/>
        </p:nvSpPr>
        <p:spPr>
          <a:xfrm>
            <a:off x="630936" y="2231136"/>
            <a:ext cx="274320" cy="274320"/>
          </a:xfrm>
          <a:prstGeom prst="ellipse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" y="22311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3271" y="1947672"/>
            <a:ext cx="4828032" cy="841247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wn Arrow 25"/>
          <p:cNvSpPr/>
          <p:nvPr/>
        </p:nvSpPr>
        <p:spPr>
          <a:xfrm>
            <a:off x="704088" y="2798063"/>
            <a:ext cx="128016" cy="118872"/>
          </a:xfrm>
          <a:prstGeom prst="downArrow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0936" y="3209544"/>
            <a:ext cx="274320" cy="274320"/>
          </a:xfrm>
          <a:prstGeom prst="ellipse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" y="32095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33271" y="2926079"/>
            <a:ext cx="4828032" cy="841247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own Arrow 30"/>
          <p:cNvSpPr/>
          <p:nvPr/>
        </p:nvSpPr>
        <p:spPr>
          <a:xfrm>
            <a:off x="704088" y="3776471"/>
            <a:ext cx="128016" cy="118872"/>
          </a:xfrm>
          <a:prstGeom prst="downArrow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0936" y="4187951"/>
            <a:ext cx="274320" cy="274320"/>
          </a:xfrm>
          <a:prstGeom prst="ellipse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" y="4187951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33271" y="3904487"/>
            <a:ext cx="4828032" cy="841247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own Arrow 35"/>
          <p:cNvSpPr/>
          <p:nvPr/>
        </p:nvSpPr>
        <p:spPr>
          <a:xfrm>
            <a:off x="704088" y="4754879"/>
            <a:ext cx="128016" cy="118872"/>
          </a:xfrm>
          <a:prstGeom prst="downArrow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30936" y="5166359"/>
            <a:ext cx="274320" cy="274320"/>
          </a:xfrm>
          <a:prstGeom prst="ellipse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" y="5166359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33271" y="4882896"/>
            <a:ext cx="4828032" cy="841247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63640" y="1819656"/>
            <a:ext cx="5440680" cy="1481328"/>
          </a:xfrm>
          <a:prstGeom prst="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1874519"/>
            <a:ext cx="5166360" cy="2726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B3255"/>
                </a:solidFill>
                <a:latin typeface="맑은 고딕"/>
              </a:rPr>
              <a:t>needs_conversion (ch8)  </a:t>
            </a:r>
            <a:r>
              <a:rPr sz="800" b="0">
                <a:solidFill>
                  <a:srgbClr val="5C6670"/>
                </a:solidFill>
                <a:latin typeface="맑은 고딕"/>
              </a:rPr>
              <a:t>= would_need_conversion → True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2186147"/>
            <a:ext cx="3203143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00800" y="2186147"/>
            <a:ext cx="3203143" cy="182880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50247" y="2149571"/>
            <a:ext cx="179862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B33A3A"/>
                </a:solidFill>
                <a:latin typeface="맑은 고딕"/>
              </a:rPr>
              <a:t>YES (1.0)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2615184"/>
            <a:ext cx="5166360" cy="2726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B3255"/>
                </a:solidFill>
                <a:latin typeface="맑은 고딕"/>
              </a:rPr>
              <a:t>tool_can_assign (ch9)  </a:t>
            </a:r>
            <a:r>
              <a:rPr sz="800" b="0">
                <a:solidFill>
                  <a:srgbClr val="5C6670"/>
                </a:solidFill>
                <a:latin typeface="맑은 고딕"/>
              </a:rPr>
              <a:t>= not swap 또는 can_assign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2926811"/>
            <a:ext cx="3203143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00800" y="2926811"/>
            <a:ext cx="3203143" cy="18288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50247" y="2890235"/>
            <a:ext cx="179862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2E7D4F"/>
                </a:solidFill>
                <a:latin typeface="맑은 고딕"/>
              </a:rPr>
              <a:t>YES (1.0)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2999" y="2002536"/>
            <a:ext cx="46085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>
                <a:solidFill>
                  <a:srgbClr val="1B3255"/>
                </a:solidFill>
                <a:latin typeface="맑은 고딕"/>
              </a:rPr>
              <a:t>소속 판정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142999" y="2240280"/>
            <a:ext cx="1751990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79575" y="2240280"/>
            <a:ext cx="167883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4A6D8C"/>
                </a:solidFill>
                <a:latin typeface="Consolas"/>
              </a:rPr>
              <a:t>current_eqp∈(op,model)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36137" y="2240280"/>
            <a:ext cx="1353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6670"/>
                </a:solidFill>
                <a:latin typeface="맑은 고딕"/>
              </a:rPr>
              <a:t>→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112616" y="2240280"/>
            <a:ext cx="468172" cy="237744"/>
          </a:xfrm>
          <a:prstGeom prst="round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149192" y="2240280"/>
            <a:ext cx="3950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Consolas"/>
              </a:rPr>
              <a:t>True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2999" y="2980943"/>
            <a:ext cx="46085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>
                <a:solidFill>
                  <a:srgbClr val="1B3255"/>
                </a:solidFill>
                <a:latin typeface="맑은 고딕"/>
              </a:rPr>
              <a:t>전환 필요 판정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142999" y="3218687"/>
            <a:ext cx="2536545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79575" y="3218687"/>
            <a:ext cx="246339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4A6D8C"/>
                </a:solidFill>
                <a:latin typeface="Consolas"/>
              </a:rPr>
              <a:t>would_need_conversion(EQP002,"A")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20692" y="3218687"/>
            <a:ext cx="1353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6670"/>
                </a:solidFill>
                <a:latin typeface="맑은 고딕"/>
              </a:rPr>
              <a:t>=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897171" y="3218687"/>
            <a:ext cx="468172" cy="237744"/>
          </a:xfrm>
          <a:prstGeom prst="round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933747" y="3218687"/>
            <a:ext cx="3950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Consolas"/>
              </a:rPr>
              <a:t>True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2999" y="3959351"/>
            <a:ext cx="46085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>
                <a:solidFill>
                  <a:srgbClr val="1B3255"/>
                </a:solidFill>
                <a:latin typeface="맑은 고딕"/>
              </a:rPr>
              <a:t>needs_conversion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42999" y="4197095"/>
            <a:ext cx="1353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6670"/>
                </a:solidFill>
                <a:latin typeface="맑은 고딕"/>
              </a:rPr>
              <a:t>→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319478" y="4197095"/>
            <a:ext cx="682142" cy="237744"/>
          </a:xfrm>
          <a:prstGeom prst="round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356054" y="4197095"/>
            <a:ext cx="60899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Consolas"/>
              </a:rPr>
              <a:t>ch8=1.0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42999" y="4937759"/>
            <a:ext cx="46085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>
                <a:solidFill>
                  <a:srgbClr val="1B3255"/>
                </a:solidFill>
                <a:latin typeface="맑은 고딕"/>
              </a:rPr>
              <a:t>공구 배정 판정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142999" y="5175503"/>
            <a:ext cx="2251252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79575" y="5175503"/>
            <a:ext cx="21781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4A6D8C"/>
                </a:solidFill>
                <a:latin typeface="Consolas"/>
              </a:rPr>
              <a:t>¬needs_tool_swap ∨ can_assign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35399" y="5175503"/>
            <a:ext cx="1353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6670"/>
                </a:solidFill>
                <a:latin typeface="맑은 고딕"/>
              </a:rPr>
              <a:t>=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611879" y="5175503"/>
            <a:ext cx="682142" cy="237744"/>
          </a:xfrm>
          <a:prstGeom prst="round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48455" y="5175503"/>
            <a:ext cx="60899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Consolas"/>
              </a:rPr>
              <a:t>ch9=1.0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02  Bulk-Fill MDP 모델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State 산식 해설 — ch10 achievable_ratio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88720"/>
            <a:ext cx="11201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6FB0"/>
                </a:solidFill>
                <a:latin typeface="맑은 고딕"/>
              </a:rPr>
              <a:t>버킷 (Bucket) — (PPK001, OPER002) 기준 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(simulation/simulator.py)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508760"/>
            <a:ext cx="5486400" cy="310896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508760"/>
            <a:ext cx="548640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계산 흐름도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819656"/>
            <a:ext cx="5486400" cy="4032504"/>
          </a:xfrm>
          <a:prstGeom prst="rect">
            <a:avLst/>
          </a:prstGeom>
          <a:solidFill>
            <a:srgbClr val="F4F6F8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0936" y="2394204"/>
            <a:ext cx="274320" cy="274320"/>
          </a:xfrm>
          <a:prstGeom prst="ellipse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" y="239420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3271" y="1947672"/>
            <a:ext cx="4828032" cy="1167384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wn Arrow 25"/>
          <p:cNvSpPr/>
          <p:nvPr/>
        </p:nvSpPr>
        <p:spPr>
          <a:xfrm>
            <a:off x="704088" y="3124199"/>
            <a:ext cx="128016" cy="118872"/>
          </a:xfrm>
          <a:prstGeom prst="downArrow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0936" y="3698748"/>
            <a:ext cx="274320" cy="274320"/>
          </a:xfrm>
          <a:prstGeom prst="ellipse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" y="36987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33271" y="3252216"/>
            <a:ext cx="4828032" cy="1167384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own Arrow 30"/>
          <p:cNvSpPr/>
          <p:nvPr/>
        </p:nvSpPr>
        <p:spPr>
          <a:xfrm>
            <a:off x="704088" y="4428744"/>
            <a:ext cx="128016" cy="118872"/>
          </a:xfrm>
          <a:prstGeom prst="downArrow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0936" y="5003292"/>
            <a:ext cx="274320" cy="274320"/>
          </a:xfrm>
          <a:prstGeom prst="ellipse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" y="50032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33271" y="4556760"/>
            <a:ext cx="4828032" cy="1167384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2999" y="2002536"/>
            <a:ext cx="46085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>
                <a:solidFill>
                  <a:srgbClr val="1B3255"/>
                </a:solidFill>
                <a:latin typeface="맑은 고딕"/>
              </a:rPr>
              <a:t>도달 가능량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42999" y="2240280"/>
            <a:ext cx="1894636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79575" y="2240280"/>
            <a:ext cx="182148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B3255"/>
                </a:solidFill>
                <a:latin typeface="Consolas"/>
              </a:rPr>
              <a:t>reachable=자기(15)+상류(140)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78783" y="2240280"/>
            <a:ext cx="1353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6670"/>
                </a:solidFill>
                <a:latin typeface="맑은 고딕"/>
              </a:rPr>
              <a:t>=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55263" y="2240280"/>
            <a:ext cx="396849" cy="237744"/>
          </a:xfrm>
          <a:prstGeom prst="round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91839" y="2240280"/>
            <a:ext cx="32369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Consolas"/>
              </a:rPr>
              <a:t>155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2999" y="3307080"/>
            <a:ext cx="46085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>
                <a:solidFill>
                  <a:srgbClr val="1B3255"/>
                </a:solidFill>
                <a:latin typeface="맑은 고딕"/>
              </a:rPr>
              <a:t>상한 계산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2999" y="3544824"/>
            <a:ext cx="2179929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79575" y="3544824"/>
            <a:ext cx="210677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4A6D8C"/>
                </a:solidFill>
                <a:latin typeface="Consolas"/>
              </a:rPr>
              <a:t>min(plan_qty,done+reachable)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64076" y="3544824"/>
            <a:ext cx="1353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6670"/>
                </a:solidFill>
                <a:latin typeface="맑은 고딕"/>
              </a:rPr>
              <a:t>=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540555" y="3544824"/>
            <a:ext cx="967435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77131" y="3544824"/>
            <a:ext cx="89428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4A6D8C"/>
                </a:solidFill>
                <a:latin typeface="Consolas"/>
              </a:rPr>
              <a:t>min(60,165)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49139" y="3544824"/>
            <a:ext cx="1353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6670"/>
                </a:solidFill>
                <a:latin typeface="맑은 고딕"/>
              </a:rPr>
              <a:t>=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725618" y="3544824"/>
            <a:ext cx="325526" cy="237744"/>
          </a:xfrm>
          <a:prstGeom prst="round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62194" y="3544824"/>
            <a:ext cx="25237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Consolas"/>
              </a:rPr>
              <a:t>60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2999" y="4611624"/>
            <a:ext cx="46085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>
                <a:solidFill>
                  <a:srgbClr val="1B3255"/>
                </a:solidFill>
                <a:latin typeface="맑은 고딕"/>
              </a:rPr>
              <a:t>achievable_ratio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142999" y="4849367"/>
            <a:ext cx="539496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79575" y="4849367"/>
            <a:ext cx="4663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4A6D8C"/>
                </a:solidFill>
                <a:latin typeface="Consolas"/>
              </a:rPr>
              <a:t>60/60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723643" y="4849367"/>
            <a:ext cx="1353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6670"/>
                </a:solidFill>
                <a:latin typeface="맑은 고딕"/>
              </a:rPr>
              <a:t>=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900122" y="4849367"/>
            <a:ext cx="396849" cy="237744"/>
          </a:xfrm>
          <a:prstGeom prst="round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36698" y="4849367"/>
            <a:ext cx="32369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Consolas"/>
              </a:rPr>
              <a:t>1.0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63640" y="1508760"/>
            <a:ext cx="5440680" cy="310896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63640" y="1508760"/>
            <a:ext cx="544068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MINI-A 대입 계산 — 공급/소비 흐름 대조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63640" y="1819656"/>
            <a:ext cx="5440680" cy="3986783"/>
          </a:xfrm>
          <a:prstGeom prst="rect">
            <a:avLst/>
          </a:prstGeom>
          <a:solidFill>
            <a:srgbClr val="F4F6F8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373368" y="1911095"/>
            <a:ext cx="5221224" cy="219456"/>
          </a:xfrm>
          <a:prstGeom prst="roundRect">
            <a:avLst>
              <a:gd name="adj" fmla="val 14000"/>
            </a:avLst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Case A   상류(OPER001) 재공 140장 — 넉넉함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73368" y="2185415"/>
            <a:ext cx="1551432" cy="512064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19088" y="2221991"/>
            <a:ext cx="1459991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>
                <a:solidFill>
                  <a:srgbClr val="FFFFFF"/>
                </a:solidFill>
                <a:latin typeface="맑은 고딕"/>
              </a:rPr>
              <a:t>상류 WIP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>
                <a:solidFill>
                  <a:srgbClr val="FFFFFF"/>
                </a:solidFill>
                <a:latin typeface="맑은 고딕"/>
              </a:rPr>
              <a:t>140장</a:t>
            </a:r>
          </a:p>
        </p:txBody>
      </p:sp>
      <p:sp>
        <p:nvSpPr>
          <p:cNvPr id="68" name="Right Arrow 67"/>
          <p:cNvSpPr/>
          <p:nvPr/>
        </p:nvSpPr>
        <p:spPr>
          <a:xfrm>
            <a:off x="7943087" y="2359152"/>
            <a:ext cx="256032" cy="164592"/>
          </a:xfrm>
          <a:prstGeom prst="rightArrow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217408" y="2185415"/>
            <a:ext cx="1551432" cy="512064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263128" y="2221991"/>
            <a:ext cx="1459991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>
                <a:solidFill>
                  <a:srgbClr val="FFFFFF"/>
                </a:solidFill>
                <a:latin typeface="맑은 고딕"/>
              </a:rPr>
              <a:t>도달가능 재공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done10+reachable155</a:t>
            </a:r>
          </a:p>
        </p:txBody>
      </p:sp>
      <p:sp>
        <p:nvSpPr>
          <p:cNvPr id="71" name="Right Arrow 70"/>
          <p:cNvSpPr/>
          <p:nvPr/>
        </p:nvSpPr>
        <p:spPr>
          <a:xfrm>
            <a:off x="9787128" y="2359152"/>
            <a:ext cx="256032" cy="164592"/>
          </a:xfrm>
          <a:prstGeom prst="rightArrow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061448" y="2185415"/>
            <a:ext cx="1551432" cy="512064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107168" y="2221991"/>
            <a:ext cx="1459991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>
                <a:solidFill>
                  <a:srgbClr val="FFFFFF"/>
                </a:solidFill>
                <a:latin typeface="맑은 고딕"/>
              </a:rPr>
              <a:t>계획 목표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>
                <a:solidFill>
                  <a:srgbClr val="FFFFFF"/>
                </a:solidFill>
                <a:latin typeface="맑은 고딕"/>
              </a:rPr>
              <a:t>60장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373368" y="2752344"/>
            <a:ext cx="5221224" cy="237744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46520" y="2752344"/>
            <a:ext cx="5074920" cy="2377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>
                <a:solidFill>
                  <a:srgbClr val="2E7D4F"/>
                </a:solidFill>
                <a:latin typeface="맑은 고딕"/>
              </a:rPr>
              <a:t>achievable_ratio = min(60,165)/60 = 1.0  (계획 전량 달성 가능)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73368" y="3026663"/>
            <a:ext cx="522122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5C6670"/>
                </a:solidFill>
                <a:latin typeface="맑은 고딕"/>
              </a:rPr>
              <a:t>achievable_ratio = min(plan_qty, done+reachable)/plan_qty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373368" y="3520440"/>
            <a:ext cx="5221224" cy="219456"/>
          </a:xfrm>
          <a:prstGeom prst="roundRect">
            <a:avLst>
              <a:gd name="adj" fmla="val 14000"/>
            </a:avLst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Case B   반대 상황 — 상류 재공이 20장뿐이라면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373368" y="3794760"/>
            <a:ext cx="1551432" cy="512064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19088" y="3831336"/>
            <a:ext cx="1459991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>
                <a:solidFill>
                  <a:srgbClr val="FFFFFF"/>
                </a:solidFill>
                <a:latin typeface="맑은 고딕"/>
              </a:rPr>
              <a:t>상류 WIP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>
                <a:solidFill>
                  <a:srgbClr val="FFFFFF"/>
                </a:solidFill>
                <a:latin typeface="맑은 고딕"/>
              </a:rPr>
              <a:t>20장(가정)</a:t>
            </a:r>
          </a:p>
        </p:txBody>
      </p:sp>
      <p:sp>
        <p:nvSpPr>
          <p:cNvPr id="80" name="Right Arrow 79"/>
          <p:cNvSpPr/>
          <p:nvPr/>
        </p:nvSpPr>
        <p:spPr>
          <a:xfrm>
            <a:off x="7943087" y="3968496"/>
            <a:ext cx="256032" cy="164592"/>
          </a:xfrm>
          <a:prstGeom prst="rightArrow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217408" y="3794760"/>
            <a:ext cx="1551432" cy="512064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263128" y="3831336"/>
            <a:ext cx="1459991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>
                <a:solidFill>
                  <a:srgbClr val="FFFFFF"/>
                </a:solidFill>
                <a:latin typeface="맑은 고딕"/>
              </a:rPr>
              <a:t>도달가능 재공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done10+reachable35</a:t>
            </a:r>
          </a:p>
        </p:txBody>
      </p:sp>
      <p:sp>
        <p:nvSpPr>
          <p:cNvPr id="83" name="Right Arrow 82"/>
          <p:cNvSpPr/>
          <p:nvPr/>
        </p:nvSpPr>
        <p:spPr>
          <a:xfrm>
            <a:off x="9787128" y="3968496"/>
            <a:ext cx="256032" cy="164592"/>
          </a:xfrm>
          <a:prstGeom prst="rightArrow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061448" y="3794760"/>
            <a:ext cx="1551432" cy="512064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107168" y="3831336"/>
            <a:ext cx="1459991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>
                <a:solidFill>
                  <a:srgbClr val="FFFFFF"/>
                </a:solidFill>
                <a:latin typeface="맑은 고딕"/>
              </a:rPr>
              <a:t>계획 목표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>
                <a:solidFill>
                  <a:srgbClr val="FFFFFF"/>
                </a:solidFill>
                <a:latin typeface="맑은 고딕"/>
              </a:rPr>
              <a:t>60장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373368" y="4361688"/>
            <a:ext cx="5221224" cy="237744"/>
          </a:xfrm>
          <a:prstGeom prst="rect">
            <a:avLst/>
          </a:prstGeom>
          <a:solidFill>
            <a:srgbClr val="F7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46520" y="4361688"/>
            <a:ext cx="5074920" cy="2377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>
                <a:solidFill>
                  <a:srgbClr val="B33A3A"/>
                </a:solidFill>
                <a:latin typeface="맑은 고딕"/>
              </a:rPr>
              <a:t>achievable_ratio = min(60,45)/60 = 0.75  (상류 부족으로 75% 상한 캡)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73368" y="4636008"/>
            <a:ext cx="522122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5C6670"/>
                </a:solidFill>
                <a:latin typeface="맑은 고딕"/>
              </a:rPr>
              <a:t>상류가 못 따라오면 achievable_ratio&lt;1 → 이 버킷에 더 배정해도 소용없다는 신호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02  Bulk-Fill MDP 모델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State 산식 해설 — ch11 projected_cover_ratio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88720"/>
            <a:ext cx="11201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6FB0"/>
                </a:solidFill>
                <a:latin typeface="맑은 고딕"/>
              </a:rPr>
              <a:t>버킷 (Bucket) — (PPK001, OPER002) 기준 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(simulation/simulator.py)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508760"/>
            <a:ext cx="5486400" cy="310896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508760"/>
            <a:ext cx="548640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계산 흐름도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819656"/>
            <a:ext cx="5486400" cy="4032504"/>
          </a:xfrm>
          <a:prstGeom prst="rect">
            <a:avLst/>
          </a:prstGeom>
          <a:solidFill>
            <a:srgbClr val="F4F6F8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0936" y="2231136"/>
            <a:ext cx="274320" cy="274320"/>
          </a:xfrm>
          <a:prstGeom prst="ellipse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" y="22311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3271" y="1947672"/>
            <a:ext cx="4828032" cy="841247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wn Arrow 25"/>
          <p:cNvSpPr/>
          <p:nvPr/>
        </p:nvSpPr>
        <p:spPr>
          <a:xfrm>
            <a:off x="704088" y="2798063"/>
            <a:ext cx="128016" cy="118872"/>
          </a:xfrm>
          <a:prstGeom prst="downArrow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0936" y="3209544"/>
            <a:ext cx="274320" cy="274320"/>
          </a:xfrm>
          <a:prstGeom prst="ellipse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" y="32095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33271" y="2926079"/>
            <a:ext cx="4828032" cy="841247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own Arrow 30"/>
          <p:cNvSpPr/>
          <p:nvPr/>
        </p:nvSpPr>
        <p:spPr>
          <a:xfrm>
            <a:off x="704088" y="3776471"/>
            <a:ext cx="128016" cy="118872"/>
          </a:xfrm>
          <a:prstGeom prst="downArrow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0936" y="4187951"/>
            <a:ext cx="274320" cy="274320"/>
          </a:xfrm>
          <a:prstGeom prst="ellipse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" y="4187951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33271" y="3904487"/>
            <a:ext cx="4828032" cy="841247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own Arrow 35"/>
          <p:cNvSpPr/>
          <p:nvPr/>
        </p:nvSpPr>
        <p:spPr>
          <a:xfrm>
            <a:off x="704088" y="4754879"/>
            <a:ext cx="128016" cy="118872"/>
          </a:xfrm>
          <a:prstGeom prst="downArrow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30936" y="5166359"/>
            <a:ext cx="274320" cy="274320"/>
          </a:xfrm>
          <a:prstGeom prst="ellipse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" y="5166359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33271" y="4882896"/>
            <a:ext cx="4828032" cy="841247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42999" y="2002536"/>
            <a:ext cx="46085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>
                <a:solidFill>
                  <a:srgbClr val="1B3255"/>
                </a:solidFill>
                <a:latin typeface="맑은 고딕"/>
              </a:rPr>
              <a:t>필요량 산출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2999" y="2240280"/>
            <a:ext cx="2037283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79575" y="2240280"/>
            <a:ext cx="19641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4A6D8C"/>
                </a:solidFill>
                <a:latin typeface="Consolas"/>
              </a:rPr>
              <a:t>max(achievable_qty−done,1)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21430" y="2240280"/>
            <a:ext cx="1353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6670"/>
                </a:solidFill>
                <a:latin typeface="맑은 고딕"/>
              </a:rPr>
              <a:t>=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397909" y="2240280"/>
            <a:ext cx="682142" cy="237744"/>
          </a:xfrm>
          <a:prstGeom prst="round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434485" y="2240280"/>
            <a:ext cx="60899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Consolas"/>
              </a:rPr>
              <a:t>need=50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42999" y="2980943"/>
            <a:ext cx="46085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>
                <a:solidFill>
                  <a:srgbClr val="1B3255"/>
                </a:solidFill>
                <a:latin typeface="맑은 고딕"/>
              </a:rPr>
              <a:t>타 설비 탐색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142999" y="3218687"/>
            <a:ext cx="2750515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79575" y="3218687"/>
            <a:ext cx="26773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B3255"/>
                </a:solidFill>
                <a:latin typeface="Consolas"/>
              </a:rPr>
              <a:t>EQP003: prev_prod=P1,prev_oper=O2 일치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42999" y="3959351"/>
            <a:ext cx="46085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>
                <a:solidFill>
                  <a:srgbClr val="1B3255"/>
                </a:solidFill>
                <a:latin typeface="맑은 고딕"/>
              </a:rPr>
              <a:t>커버량 산출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142999" y="4197095"/>
            <a:ext cx="1038758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79575" y="4197095"/>
            <a:ext cx="96560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4A6D8C"/>
                </a:solidFill>
                <a:latin typeface="Consolas"/>
              </a:rPr>
              <a:t>remaining/st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222905" y="4197095"/>
            <a:ext cx="1353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6670"/>
                </a:solidFill>
                <a:latin typeface="맑은 고딕"/>
              </a:rPr>
              <a:t>=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399384" y="4197095"/>
            <a:ext cx="539496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435960" y="4197095"/>
            <a:ext cx="4663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4A6D8C"/>
                </a:solidFill>
                <a:latin typeface="Consolas"/>
              </a:rPr>
              <a:t>360/5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980028" y="4197095"/>
            <a:ext cx="1353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6670"/>
                </a:solidFill>
                <a:latin typeface="맑은 고딕"/>
              </a:rPr>
              <a:t>=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156507" y="4197095"/>
            <a:ext cx="610819" cy="237744"/>
          </a:xfrm>
          <a:prstGeom prst="round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193083" y="4197095"/>
            <a:ext cx="53766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Consolas"/>
              </a:rPr>
              <a:t>cov=72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42999" y="4937759"/>
            <a:ext cx="46085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>
                <a:solidFill>
                  <a:srgbClr val="1B3255"/>
                </a:solidFill>
                <a:latin typeface="맑은 고딕"/>
              </a:rPr>
              <a:t>projected_cover_ratio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142999" y="5175503"/>
            <a:ext cx="1181404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179575" y="5175503"/>
            <a:ext cx="110825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4A6D8C"/>
                </a:solidFill>
                <a:latin typeface="Consolas"/>
              </a:rPr>
              <a:t>min(72/50,2)/2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365551" y="5175503"/>
            <a:ext cx="1353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6670"/>
                </a:solidFill>
                <a:latin typeface="맑은 고딕"/>
              </a:rPr>
              <a:t>=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2542031" y="5175503"/>
            <a:ext cx="468172" cy="237744"/>
          </a:xfrm>
          <a:prstGeom prst="round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578607" y="5175503"/>
            <a:ext cx="3950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Consolas"/>
              </a:rPr>
              <a:t>0.72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263640" y="1508760"/>
            <a:ext cx="5440680" cy="310896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263640" y="1508760"/>
            <a:ext cx="544068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MINI-A 대입 계산 — 공급/소비 흐름 대조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263640" y="1819656"/>
            <a:ext cx="5440680" cy="3986783"/>
          </a:xfrm>
          <a:prstGeom prst="rect">
            <a:avLst/>
          </a:prstGeom>
          <a:solidFill>
            <a:srgbClr val="F4F6F8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6373368" y="1911095"/>
            <a:ext cx="5221224" cy="219456"/>
          </a:xfrm>
          <a:prstGeom prst="roundRect">
            <a:avLst>
              <a:gd name="adj" fmla="val 14000"/>
            </a:avLst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Case A   다른 설비(EQP003)가 이미 이 버킷을 덮는 중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73368" y="2185415"/>
            <a:ext cx="1551432" cy="512064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19088" y="2221991"/>
            <a:ext cx="1459991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>
                <a:solidFill>
                  <a:srgbClr val="FFFFFF"/>
                </a:solidFill>
                <a:latin typeface="맑은 고딕"/>
              </a:rPr>
              <a:t>타 설비 투영생산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>
                <a:solidFill>
                  <a:srgbClr val="FFFFFF"/>
                </a:solidFill>
                <a:latin typeface="맑은 고딕"/>
              </a:rPr>
              <a:t>EQP003: 72장</a:t>
            </a:r>
          </a:p>
        </p:txBody>
      </p:sp>
      <p:sp>
        <p:nvSpPr>
          <p:cNvPr id="85" name="Right Arrow 84"/>
          <p:cNvSpPr/>
          <p:nvPr/>
        </p:nvSpPr>
        <p:spPr>
          <a:xfrm>
            <a:off x="7943087" y="2359152"/>
            <a:ext cx="256032" cy="164592"/>
          </a:xfrm>
          <a:prstGeom prst="rightArrow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217408" y="2185415"/>
            <a:ext cx="1551432" cy="512064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263128" y="2221991"/>
            <a:ext cx="1459991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>
                <a:solidFill>
                  <a:srgbClr val="FFFFFF"/>
                </a:solidFill>
                <a:latin typeface="맑은 고딕"/>
              </a:rPr>
              <a:t>남은 필요량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need=50장</a:t>
            </a:r>
          </a:p>
        </p:txBody>
      </p:sp>
      <p:sp>
        <p:nvSpPr>
          <p:cNvPr id="88" name="Right Arrow 87"/>
          <p:cNvSpPr/>
          <p:nvPr/>
        </p:nvSpPr>
        <p:spPr>
          <a:xfrm>
            <a:off x="9787128" y="2359152"/>
            <a:ext cx="256032" cy="164592"/>
          </a:xfrm>
          <a:prstGeom prst="rightArrow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061448" y="2185415"/>
            <a:ext cx="1551432" cy="512064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107168" y="2221991"/>
            <a:ext cx="1459991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>
                <a:solidFill>
                  <a:srgbClr val="FFFFFF"/>
                </a:solidFill>
                <a:latin typeface="맑은 고딕"/>
              </a:rPr>
              <a:t>cover/need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>
                <a:solidFill>
                  <a:srgbClr val="FFFFFF"/>
                </a:solidFill>
                <a:latin typeface="맑은 고딕"/>
              </a:rPr>
              <a:t>min(72/50,2)/2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373368" y="2752344"/>
            <a:ext cx="5221224" cy="237744"/>
          </a:xfrm>
          <a:prstGeom prst="rect">
            <a:avLst/>
          </a:prstGeom>
          <a:solidFill>
            <a:srgbClr val="F7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446520" y="2752344"/>
            <a:ext cx="5074920" cy="2377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>
                <a:solidFill>
                  <a:srgbClr val="B33A3A"/>
                </a:solidFill>
                <a:latin typeface="맑은 고딕"/>
              </a:rPr>
              <a:t>projected_cover_ratio = 0.72  (이미 덮임 → 지금 설비는 회피 권장)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373368" y="3026663"/>
            <a:ext cx="522122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5C6670"/>
                </a:solidFill>
                <a:latin typeface="맑은 고딕"/>
              </a:rPr>
              <a:t>min(cov/need,2)/2 — 1에 가까울수록 '중복 배정' 위험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373368" y="3520440"/>
            <a:ext cx="5221224" cy="219456"/>
          </a:xfrm>
          <a:prstGeom prst="roundRect">
            <a:avLst>
              <a:gd name="adj" fmla="val 14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Case B   반대 상황 — 커버 중인 다른 설비가 전혀 없다면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373368" y="3794760"/>
            <a:ext cx="1551432" cy="512064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419088" y="3831336"/>
            <a:ext cx="1459991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>
                <a:solidFill>
                  <a:srgbClr val="FFFFFF"/>
                </a:solidFill>
                <a:latin typeface="맑은 고딕"/>
              </a:rPr>
              <a:t>타 설비 투영생산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>
                <a:solidFill>
                  <a:srgbClr val="FFFFFF"/>
                </a:solidFill>
                <a:latin typeface="맑은 고딕"/>
              </a:rPr>
              <a:t>0장(가정)</a:t>
            </a:r>
          </a:p>
        </p:txBody>
      </p:sp>
      <p:sp>
        <p:nvSpPr>
          <p:cNvPr id="97" name="Right Arrow 96"/>
          <p:cNvSpPr/>
          <p:nvPr/>
        </p:nvSpPr>
        <p:spPr>
          <a:xfrm>
            <a:off x="7943087" y="3968496"/>
            <a:ext cx="256032" cy="164592"/>
          </a:xfrm>
          <a:prstGeom prst="rightArrow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217408" y="3794760"/>
            <a:ext cx="1551432" cy="512064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263128" y="3831336"/>
            <a:ext cx="1459991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>
                <a:solidFill>
                  <a:srgbClr val="FFFFFF"/>
                </a:solidFill>
                <a:latin typeface="맑은 고딕"/>
              </a:rPr>
              <a:t>남은 필요량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need=50장</a:t>
            </a:r>
          </a:p>
        </p:txBody>
      </p:sp>
      <p:sp>
        <p:nvSpPr>
          <p:cNvPr id="100" name="Right Arrow 99"/>
          <p:cNvSpPr/>
          <p:nvPr/>
        </p:nvSpPr>
        <p:spPr>
          <a:xfrm>
            <a:off x="9787128" y="3968496"/>
            <a:ext cx="256032" cy="164592"/>
          </a:xfrm>
          <a:prstGeom prst="rightArrow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061448" y="3794760"/>
            <a:ext cx="1551432" cy="512064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107168" y="3831336"/>
            <a:ext cx="1459991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>
                <a:solidFill>
                  <a:srgbClr val="FFFFFF"/>
                </a:solidFill>
                <a:latin typeface="맑은 고딕"/>
              </a:rPr>
              <a:t>cover/need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>
                <a:solidFill>
                  <a:srgbClr val="FFFFFF"/>
                </a:solidFill>
                <a:latin typeface="맑은 고딕"/>
              </a:rPr>
              <a:t>min(0/50,2)/2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373368" y="4361688"/>
            <a:ext cx="5221224" cy="237744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446520" y="4361688"/>
            <a:ext cx="5074920" cy="2377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>
                <a:solidFill>
                  <a:srgbClr val="2E7D4F"/>
                </a:solidFill>
                <a:latin typeface="맑은 고딕"/>
              </a:rPr>
              <a:t>projected_cover_ratio = 0.0  (아무도 안 덮음 → 지금 배정이 안전)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373368" y="4636008"/>
            <a:ext cx="522122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5C6670"/>
                </a:solidFill>
                <a:latin typeface="맑은 고딕"/>
              </a:rPr>
              <a:t>cov=0이면 비율도 0 — 회피 신호 없이 바로 배정해도 됨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02  Bulk-Fill MDP 모델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State 산식 해설 — ch12 starve_time_norm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88720"/>
            <a:ext cx="11201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6FB0"/>
                </a:solidFill>
                <a:latin typeface="맑은 고딕"/>
              </a:rPr>
              <a:t>버킷 (Bucket) — (PPK001, OPER002) 기준 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(simulation/simulator.py)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508760"/>
            <a:ext cx="5486400" cy="310896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508760"/>
            <a:ext cx="548640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계산 흐름도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819656"/>
            <a:ext cx="5486400" cy="4032504"/>
          </a:xfrm>
          <a:prstGeom prst="rect">
            <a:avLst/>
          </a:prstGeom>
          <a:solidFill>
            <a:srgbClr val="F4F6F8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0936" y="2394204"/>
            <a:ext cx="274320" cy="274320"/>
          </a:xfrm>
          <a:prstGeom prst="ellipse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" y="239420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3271" y="1947672"/>
            <a:ext cx="4828032" cy="1167384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wn Arrow 25"/>
          <p:cNvSpPr/>
          <p:nvPr/>
        </p:nvSpPr>
        <p:spPr>
          <a:xfrm>
            <a:off x="704088" y="3124199"/>
            <a:ext cx="128016" cy="118872"/>
          </a:xfrm>
          <a:prstGeom prst="downArrow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0936" y="3698748"/>
            <a:ext cx="274320" cy="274320"/>
          </a:xfrm>
          <a:prstGeom prst="ellipse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" y="36987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33271" y="3252216"/>
            <a:ext cx="4828032" cy="1167384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own Arrow 30"/>
          <p:cNvSpPr/>
          <p:nvPr/>
        </p:nvSpPr>
        <p:spPr>
          <a:xfrm>
            <a:off x="704088" y="4428744"/>
            <a:ext cx="128016" cy="118872"/>
          </a:xfrm>
          <a:prstGeom prst="downArrow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0936" y="5003292"/>
            <a:ext cx="274320" cy="274320"/>
          </a:xfrm>
          <a:prstGeom prst="ellipse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" y="50032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33271" y="4556760"/>
            <a:ext cx="4828032" cy="1167384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2999" y="2002536"/>
            <a:ext cx="46085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>
                <a:solidFill>
                  <a:srgbClr val="1B3255"/>
                </a:solidFill>
                <a:latin typeface="맑은 고딕"/>
              </a:rPr>
              <a:t>소비 속도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142999" y="2240280"/>
            <a:ext cx="1038758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79575" y="2240280"/>
            <a:ext cx="96560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4A6D8C"/>
                </a:solidFill>
                <a:latin typeface="Consolas"/>
              </a:rPr>
              <a:t>Σ(1/st) 현재공정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22905" y="2240280"/>
            <a:ext cx="1353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6670"/>
                </a:solidFill>
                <a:latin typeface="맑은 고딕"/>
              </a:rPr>
              <a:t>=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399384" y="2240280"/>
            <a:ext cx="682142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435960" y="2240280"/>
            <a:ext cx="60899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4A6D8C"/>
                </a:solidFill>
                <a:latin typeface="Consolas"/>
              </a:rPr>
              <a:t>3×(1/5)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22675" y="2240280"/>
            <a:ext cx="1353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6670"/>
                </a:solidFill>
                <a:latin typeface="맑은 고딕"/>
              </a:rPr>
              <a:t>=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299154" y="2240280"/>
            <a:ext cx="396849" cy="237744"/>
          </a:xfrm>
          <a:prstGeom prst="round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335730" y="2240280"/>
            <a:ext cx="32369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Consolas"/>
              </a:rPr>
              <a:t>0.6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42999" y="3307080"/>
            <a:ext cx="46085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>
                <a:solidFill>
                  <a:srgbClr val="1B3255"/>
                </a:solidFill>
                <a:latin typeface="맑은 고딕"/>
              </a:rPr>
              <a:t>공급 속도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142999" y="3544824"/>
            <a:ext cx="1038758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79575" y="3544824"/>
            <a:ext cx="96560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4A6D8C"/>
                </a:solidFill>
                <a:latin typeface="Consolas"/>
              </a:rPr>
              <a:t>Σ(1/st) 선행공정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22905" y="3544824"/>
            <a:ext cx="1353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6670"/>
                </a:solidFill>
                <a:latin typeface="맑은 고딕"/>
              </a:rPr>
              <a:t>=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399384" y="3544824"/>
            <a:ext cx="682142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435960" y="3544824"/>
            <a:ext cx="60899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4A6D8C"/>
                </a:solidFill>
                <a:latin typeface="Consolas"/>
              </a:rPr>
              <a:t>2×(1/2)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122675" y="3544824"/>
            <a:ext cx="1353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6670"/>
                </a:solidFill>
                <a:latin typeface="맑은 고딕"/>
              </a:rPr>
              <a:t>=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299154" y="3544824"/>
            <a:ext cx="396849" cy="237744"/>
          </a:xfrm>
          <a:prstGeom prst="round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335730" y="3544824"/>
            <a:ext cx="32369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Consolas"/>
              </a:rPr>
              <a:t>1.0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42999" y="4611624"/>
            <a:ext cx="46085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>
                <a:solidFill>
                  <a:srgbClr val="1B3255"/>
                </a:solidFill>
                <a:latin typeface="맑은 고딕"/>
              </a:rPr>
              <a:t>비교·결과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142999" y="4849367"/>
            <a:ext cx="1181404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79575" y="4849367"/>
            <a:ext cx="110825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4A6D8C"/>
                </a:solidFill>
                <a:latin typeface="Consolas"/>
              </a:rPr>
              <a:t>consume≤supply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365551" y="4849367"/>
            <a:ext cx="1353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6670"/>
                </a:solidFill>
                <a:latin typeface="맑은 고딕"/>
              </a:rPr>
              <a:t>→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542031" y="4849367"/>
            <a:ext cx="396849" cy="237744"/>
          </a:xfrm>
          <a:prstGeom prst="round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578607" y="4849367"/>
            <a:ext cx="32369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Consolas"/>
              </a:rPr>
              <a:t>1.0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263640" y="1508760"/>
            <a:ext cx="5440680" cy="310896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63640" y="1508760"/>
            <a:ext cx="544068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MINI-A 대입 계산 — 공급/소비 흐름 대조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63640" y="1819656"/>
            <a:ext cx="5440680" cy="3986783"/>
          </a:xfrm>
          <a:prstGeom prst="rect">
            <a:avLst/>
          </a:prstGeom>
          <a:solidFill>
            <a:srgbClr val="F4F6F8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6373368" y="1911095"/>
            <a:ext cx="5221224" cy="219456"/>
          </a:xfrm>
          <a:prstGeom prst="roundRect">
            <a:avLst>
              <a:gd name="adj" fmla="val 14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Case A   실제 MINI-A — 공급(1.0)이 소비(0.6)보다 빠름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373368" y="2185415"/>
            <a:ext cx="1551432" cy="512064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19088" y="2221991"/>
            <a:ext cx="1459991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>
                <a:solidFill>
                  <a:srgbClr val="FFFFFF"/>
                </a:solidFill>
                <a:latin typeface="맑은 고딕"/>
              </a:rPr>
              <a:t>상류 공급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>
                <a:solidFill>
                  <a:srgbClr val="FFFFFF"/>
                </a:solidFill>
                <a:latin typeface="맑은 고딕"/>
              </a:rPr>
              <a:t>supply 1.0매/분</a:t>
            </a:r>
          </a:p>
        </p:txBody>
      </p:sp>
      <p:sp>
        <p:nvSpPr>
          <p:cNvPr id="80" name="Right Arrow 79"/>
          <p:cNvSpPr/>
          <p:nvPr/>
        </p:nvSpPr>
        <p:spPr>
          <a:xfrm>
            <a:off x="7943087" y="2359152"/>
            <a:ext cx="256032" cy="164592"/>
          </a:xfrm>
          <a:prstGeom prst="rightArrow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217408" y="2185415"/>
            <a:ext cx="1551432" cy="512064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263128" y="2221991"/>
            <a:ext cx="1459991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>
                <a:solidFill>
                  <a:srgbClr val="FFFFFF"/>
                </a:solidFill>
                <a:latin typeface="맑은 고딕"/>
              </a:rPr>
              <a:t>재공(WIP)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15장 → 안 마름</a:t>
            </a:r>
          </a:p>
        </p:txBody>
      </p:sp>
      <p:sp>
        <p:nvSpPr>
          <p:cNvPr id="83" name="Right Arrow 82"/>
          <p:cNvSpPr/>
          <p:nvPr/>
        </p:nvSpPr>
        <p:spPr>
          <a:xfrm>
            <a:off x="9787128" y="2359152"/>
            <a:ext cx="256032" cy="164592"/>
          </a:xfrm>
          <a:prstGeom prst="rightArrow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061448" y="2185415"/>
            <a:ext cx="1551432" cy="512064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107168" y="2221991"/>
            <a:ext cx="1459991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>
                <a:solidFill>
                  <a:srgbClr val="FFFFFF"/>
                </a:solidFill>
                <a:latin typeface="맑은 고딕"/>
              </a:rPr>
              <a:t>이 공정 소비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>
                <a:solidFill>
                  <a:srgbClr val="FFFFFF"/>
                </a:solidFill>
                <a:latin typeface="맑은 고딕"/>
              </a:rPr>
              <a:t>consume 0.6매/분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373368" y="2752344"/>
            <a:ext cx="5221224" cy="237744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46520" y="2752344"/>
            <a:ext cx="5074920" cy="2377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>
                <a:solidFill>
                  <a:srgbClr val="2E7D4F"/>
                </a:solidFill>
                <a:latin typeface="맑은 고딕"/>
              </a:rPr>
              <a:t>supply≥consume → starve_time_norm = 1.0  (소진 없음, 안전)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73368" y="3026663"/>
            <a:ext cx="522122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5C6670"/>
                </a:solidFill>
                <a:latin typeface="맑은 고딕"/>
              </a:rPr>
              <a:t>consume≤supply 이면 재공이 계속 채워지므로 else 분기(=1.0) 적용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373368" y="3520440"/>
            <a:ext cx="5221224" cy="219456"/>
          </a:xfrm>
          <a:prstGeom prst="roundRect">
            <a:avLst>
              <a:gd name="adj" fmla="val 14000"/>
            </a:avLst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Case B   반대 상황 — 소비(1.0)가 공급(0.6)보다 빠르면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73368" y="3794760"/>
            <a:ext cx="1551432" cy="512064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419088" y="3831336"/>
            <a:ext cx="1459991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>
                <a:solidFill>
                  <a:srgbClr val="FFFFFF"/>
                </a:solidFill>
                <a:latin typeface="맑은 고딕"/>
              </a:rPr>
              <a:t>상류 공급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>
                <a:solidFill>
                  <a:srgbClr val="FFFFFF"/>
                </a:solidFill>
                <a:latin typeface="맑은 고딕"/>
              </a:rPr>
              <a:t>supply 0.6매/분</a:t>
            </a:r>
          </a:p>
        </p:txBody>
      </p:sp>
      <p:sp>
        <p:nvSpPr>
          <p:cNvPr id="92" name="Right Arrow 91"/>
          <p:cNvSpPr/>
          <p:nvPr/>
        </p:nvSpPr>
        <p:spPr>
          <a:xfrm>
            <a:off x="7943087" y="3968496"/>
            <a:ext cx="256032" cy="164592"/>
          </a:xfrm>
          <a:prstGeom prst="rightArrow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217408" y="3794760"/>
            <a:ext cx="1551432" cy="512064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263128" y="3831336"/>
            <a:ext cx="1459991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>
                <a:solidFill>
                  <a:srgbClr val="FFFFFF"/>
                </a:solidFill>
                <a:latin typeface="맑은 고딕"/>
              </a:rPr>
              <a:t>재공(WIP)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15장 → 37.5분 후 0</a:t>
            </a:r>
          </a:p>
        </p:txBody>
      </p:sp>
      <p:sp>
        <p:nvSpPr>
          <p:cNvPr id="95" name="Right Arrow 94"/>
          <p:cNvSpPr/>
          <p:nvPr/>
        </p:nvSpPr>
        <p:spPr>
          <a:xfrm>
            <a:off x="9787128" y="3968496"/>
            <a:ext cx="256032" cy="164592"/>
          </a:xfrm>
          <a:prstGeom prst="rightArrow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061448" y="3794760"/>
            <a:ext cx="1551432" cy="512064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107168" y="3831336"/>
            <a:ext cx="1459991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>
                <a:solidFill>
                  <a:srgbClr val="FFFFFF"/>
                </a:solidFill>
                <a:latin typeface="맑은 고딕"/>
              </a:rPr>
              <a:t>이 공정 소비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>
                <a:solidFill>
                  <a:srgbClr val="FFFFFF"/>
                </a:solidFill>
                <a:latin typeface="맑은 고딕"/>
              </a:rPr>
              <a:t>consume 1.0매/분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373368" y="4361688"/>
            <a:ext cx="5221224" cy="237744"/>
          </a:xfrm>
          <a:prstGeom prst="rect">
            <a:avLst/>
          </a:prstGeom>
          <a:solidFill>
            <a:srgbClr val="F7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446520" y="4361688"/>
            <a:ext cx="5074920" cy="2377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>
                <a:solidFill>
                  <a:srgbClr val="B33A3A"/>
                </a:solidFill>
                <a:latin typeface="맑은 고딕"/>
              </a:rPr>
              <a:t>net=0.4/분 → starve_time=15/0.4=37.5분 → norm=min(37.5/360,1)=0.10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373368" y="4636008"/>
            <a:ext cx="522122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5C6670"/>
                </a:solidFill>
                <a:latin typeface="맑은 고딕"/>
              </a:rPr>
              <a:t>consume&gt;supply 이면 net_rate로 재공이 줄어 T_avail 내 소진 위험(0에 가까움=위험)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02  Bulk-Fill MDP 모델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State 산식 해설 — ch13 avoidable_frac (α)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88720"/>
            <a:ext cx="11201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6FB0"/>
                </a:solidFill>
                <a:latin typeface="맑은 고딕"/>
              </a:rPr>
              <a:t>버킷 (Bucket) — avoidable_frac(ch13) 상세   (simulation/simulator.py)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508760"/>
            <a:ext cx="5486400" cy="310896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508760"/>
            <a:ext cx="548640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계산 흐름도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819656"/>
            <a:ext cx="5486400" cy="4032504"/>
          </a:xfrm>
          <a:prstGeom prst="rect">
            <a:avLst/>
          </a:prstGeom>
          <a:solidFill>
            <a:srgbClr val="F4F6F8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508760"/>
            <a:ext cx="5440680" cy="310896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508760"/>
            <a:ext cx="544068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MINI-A 대입 계산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81144"/>
            <a:ext cx="5440680" cy="45720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4581144"/>
            <a:ext cx="544068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</a:rPr>
              <a:t>needs_conversion (ch8) = 1.0   /   avoidable_frac (ch13) = 0.619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5111496"/>
            <a:ext cx="5440680" cy="7406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4A6D8C"/>
                </a:solidFill>
                <a:latin typeface="맑은 고딕"/>
              </a:rPr>
              <a:t>해석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α=0.619 → 이 전환의 62%는 다른 설비가 대신 커버 가능했다는 뜻 → 실제로 전환을 감행하면 avoidable_conversion = -8.0×0.619 ≈ -4.95 페널티.</a:t>
            </a:r>
          </a:p>
          <a:p>
            <a:pPr>
              <a:lnSpc>
                <a:spcPct val="112000"/>
              </a:lnSpc>
              <a:spcBef>
                <a:spcPts val="600"/>
              </a:spcBef>
            </a:pPr>
            <a:r>
              <a:rPr sz="969" b="0">
                <a:solidFill>
                  <a:srgbClr val="1B3255"/>
                </a:solidFill>
                <a:latin typeface="맑은 고딕"/>
              </a:rPr>
              <a:t>Case B (반대 상황)  대체 가능한 다른 설비가 전혀 없다면(alt_cap=0) coverage_frac=0 — α는 short_run_frac만으로 결정되고, 짧게 돌고 끝나는 상황이면 α가 1.0까지 치솟아 '회피 불가능한 전환'이 됨.</a:t>
            </a:r>
          </a:p>
        </p:txBody>
      </p:sp>
      <p:sp>
        <p:nvSpPr>
          <p:cNvPr id="22" name="Oval 21"/>
          <p:cNvSpPr/>
          <p:nvPr/>
        </p:nvSpPr>
        <p:spPr>
          <a:xfrm>
            <a:off x="630936" y="2133295"/>
            <a:ext cx="274320" cy="274320"/>
          </a:xfrm>
          <a:prstGeom prst="ellipse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" y="2133295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3271" y="1947672"/>
            <a:ext cx="4828032" cy="645566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wn Arrow 25"/>
          <p:cNvSpPr/>
          <p:nvPr/>
        </p:nvSpPr>
        <p:spPr>
          <a:xfrm>
            <a:off x="704088" y="2602382"/>
            <a:ext cx="128016" cy="118872"/>
          </a:xfrm>
          <a:prstGeom prst="downArrow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0936" y="2916021"/>
            <a:ext cx="274320" cy="274320"/>
          </a:xfrm>
          <a:prstGeom prst="ellipse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" y="2916021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33271" y="2730398"/>
            <a:ext cx="4828032" cy="645566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own Arrow 30"/>
          <p:cNvSpPr/>
          <p:nvPr/>
        </p:nvSpPr>
        <p:spPr>
          <a:xfrm>
            <a:off x="704088" y="3385108"/>
            <a:ext cx="128016" cy="118872"/>
          </a:xfrm>
          <a:prstGeom prst="downArrow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0936" y="3698748"/>
            <a:ext cx="274320" cy="274320"/>
          </a:xfrm>
          <a:prstGeom prst="ellipse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" y="36987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33271" y="3513124"/>
            <a:ext cx="4828032" cy="645566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own Arrow 35"/>
          <p:cNvSpPr/>
          <p:nvPr/>
        </p:nvSpPr>
        <p:spPr>
          <a:xfrm>
            <a:off x="704088" y="4167835"/>
            <a:ext cx="128016" cy="118872"/>
          </a:xfrm>
          <a:prstGeom prst="downArrow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30936" y="4481474"/>
            <a:ext cx="274320" cy="274320"/>
          </a:xfrm>
          <a:prstGeom prst="ellipse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" y="448147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33271" y="4295851"/>
            <a:ext cx="4828032" cy="645566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own Arrow 40"/>
          <p:cNvSpPr/>
          <p:nvPr/>
        </p:nvSpPr>
        <p:spPr>
          <a:xfrm>
            <a:off x="704088" y="4950561"/>
            <a:ext cx="128016" cy="118872"/>
          </a:xfrm>
          <a:prstGeom prst="downArrow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0936" y="5264200"/>
            <a:ext cx="274320" cy="274320"/>
          </a:xfrm>
          <a:prstGeom prst="ellipse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" y="52642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33271" y="5078577"/>
            <a:ext cx="4828032" cy="645566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63640" y="1819656"/>
            <a:ext cx="5440680" cy="2688336"/>
          </a:xfrm>
          <a:prstGeom prst="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1892807"/>
            <a:ext cx="5166360" cy="3161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B3255"/>
                </a:solidFill>
                <a:latin typeface="맑은 고딕"/>
              </a:rPr>
              <a:t>수요 vs 대체 capa (매)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2236388"/>
            <a:ext cx="1549908" cy="392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30" b="0">
                <a:solidFill>
                  <a:srgbClr val="5C6670"/>
                </a:solidFill>
                <a:latin typeface="맑은 고딕"/>
              </a:rPr>
              <a:t>demand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50708" y="2350472"/>
            <a:ext cx="2583180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950708" y="2350472"/>
            <a:ext cx="2583180" cy="164592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607040" y="2236388"/>
            <a:ext cx="941831" cy="392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30" b="1">
                <a:solidFill>
                  <a:srgbClr val="4A6D8C"/>
                </a:solidFill>
                <a:latin typeface="맑은 고딕"/>
              </a:rPr>
              <a:t>155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2629148"/>
            <a:ext cx="1549908" cy="392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30" b="0">
                <a:solidFill>
                  <a:srgbClr val="5C6670"/>
                </a:solidFill>
                <a:latin typeface="맑은 고딕"/>
              </a:rPr>
              <a:t>alt_cap (EQP001+EQP003)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50708" y="2743232"/>
            <a:ext cx="2583180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950708" y="2743232"/>
            <a:ext cx="1599905" cy="164592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607040" y="2629148"/>
            <a:ext cx="941831" cy="392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30" b="1">
                <a:solidFill>
                  <a:srgbClr val="2E6FB0"/>
                </a:solidFill>
                <a:latin typeface="맑은 고딕"/>
              </a:rPr>
              <a:t>96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3021909"/>
            <a:ext cx="5166360" cy="3161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1">
                <a:solidFill>
                  <a:srgbClr val="1B3255"/>
                </a:solidFill>
                <a:latin typeface="맑은 고딕"/>
              </a:rPr>
              <a:t>coverage_frac  </a:t>
            </a:r>
            <a:r>
              <a:rPr sz="730" b="0">
                <a:solidFill>
                  <a:srgbClr val="5C6670"/>
                </a:solidFill>
                <a:latin typeface="맑은 고딕"/>
              </a:rPr>
              <a:t>= min(96/155, 1)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00800" y="3383221"/>
            <a:ext cx="3203143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400800" y="3383221"/>
            <a:ext cx="1982745" cy="18288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50247" y="3346645"/>
            <a:ext cx="179862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2E6FB0"/>
                </a:solidFill>
                <a:latin typeface="맑은 고딕"/>
              </a:rPr>
              <a:t>0.619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3811219"/>
            <a:ext cx="5166360" cy="3161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1">
                <a:solidFill>
                  <a:srgbClr val="1B3255"/>
                </a:solidFill>
                <a:latin typeface="맑은 고딕"/>
              </a:rPr>
              <a:t>α = avoidable_frac  </a:t>
            </a:r>
            <a:r>
              <a:rPr sz="730" b="0">
                <a:solidFill>
                  <a:srgbClr val="5C6670"/>
                </a:solidFill>
                <a:latin typeface="맑은 고딕"/>
              </a:rPr>
              <a:t>= max(0.619, short_run_frac=0)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0" y="4172531"/>
            <a:ext cx="3203143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400800" y="4172531"/>
            <a:ext cx="1982745" cy="182880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50247" y="4135955"/>
            <a:ext cx="179862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C8861E"/>
                </a:solidFill>
                <a:latin typeface="맑은 고딕"/>
              </a:rPr>
              <a:t>0.619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42999" y="2002536"/>
            <a:ext cx="46085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>
                <a:solidFill>
                  <a:srgbClr val="1B3255"/>
                </a:solidFill>
                <a:latin typeface="맑은 고딕"/>
              </a:rPr>
              <a:t>수요 산출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142999" y="2240280"/>
            <a:ext cx="1181404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79575" y="2240280"/>
            <a:ext cx="110825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4A6D8C"/>
                </a:solidFill>
                <a:latin typeface="Consolas"/>
              </a:rPr>
              <a:t>140(O1)+15(O2)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365551" y="2240280"/>
            <a:ext cx="1353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6670"/>
                </a:solidFill>
                <a:latin typeface="맑은 고딕"/>
              </a:rPr>
              <a:t>=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542031" y="2240280"/>
            <a:ext cx="896112" cy="237744"/>
          </a:xfrm>
          <a:prstGeom prst="round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578607" y="2240280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Consolas"/>
              </a:rPr>
              <a:t>demand=155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42999" y="2785262"/>
            <a:ext cx="46085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>
                <a:solidFill>
                  <a:srgbClr val="1B3255"/>
                </a:solidFill>
                <a:latin typeface="맑은 고딕"/>
              </a:rPr>
              <a:t>대체 capa 산출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142999" y="3023006"/>
            <a:ext cx="1252728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79575" y="3023006"/>
            <a:ext cx="117957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B3255"/>
                </a:solidFill>
                <a:latin typeface="Consolas"/>
              </a:rPr>
              <a:t>EQP001:160/2=80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436875" y="3023006"/>
            <a:ext cx="1181404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473451" y="3023006"/>
            <a:ext cx="110825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B3255"/>
                </a:solidFill>
                <a:latin typeface="Consolas"/>
              </a:rPr>
              <a:t>EQP003:80/5=16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9427" y="3023006"/>
            <a:ext cx="1353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6670"/>
                </a:solidFill>
                <a:latin typeface="맑은 고딕"/>
              </a:rPr>
              <a:t>→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35906" y="3023006"/>
            <a:ext cx="896112" cy="237744"/>
          </a:xfrm>
          <a:prstGeom prst="round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872482" y="3023006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Consolas"/>
              </a:rPr>
              <a:t>alt_cap=96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42999" y="3567988"/>
            <a:ext cx="46085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>
                <a:solidFill>
                  <a:srgbClr val="1B3255"/>
                </a:solidFill>
                <a:latin typeface="맑은 고딕"/>
              </a:rPr>
              <a:t>coverage_frac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142999" y="3805732"/>
            <a:ext cx="610819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179575" y="3805732"/>
            <a:ext cx="53766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4A6D8C"/>
                </a:solidFill>
                <a:latin typeface="Consolas"/>
              </a:rPr>
              <a:t>96/155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794966" y="3805732"/>
            <a:ext cx="1353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6670"/>
                </a:solidFill>
                <a:latin typeface="맑은 고딕"/>
              </a:rPr>
              <a:t>=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971445" y="3805732"/>
            <a:ext cx="539496" cy="237744"/>
          </a:xfrm>
          <a:prstGeom prst="round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008021" y="3805732"/>
            <a:ext cx="4663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Consolas"/>
              </a:rPr>
              <a:t>0.619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42999" y="4350714"/>
            <a:ext cx="46085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>
                <a:solidFill>
                  <a:srgbClr val="1B3255"/>
                </a:solidFill>
                <a:latin typeface="맑은 고딕"/>
              </a:rPr>
              <a:t>short_run_frac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142999" y="4588458"/>
            <a:ext cx="539496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179575" y="4588458"/>
            <a:ext cx="4663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4A6D8C"/>
                </a:solidFill>
                <a:latin typeface="Consolas"/>
              </a:rPr>
              <a:t>여유 충분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723643" y="4588458"/>
            <a:ext cx="1353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6670"/>
                </a:solidFill>
                <a:latin typeface="맑은 고딕"/>
              </a:rPr>
              <a:t>→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900122" y="4588458"/>
            <a:ext cx="1324051" cy="237744"/>
          </a:xfrm>
          <a:prstGeom prst="round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936698" y="4588458"/>
            <a:ext cx="125089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Consolas"/>
              </a:rPr>
              <a:t>short_run_frac=0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42999" y="5133440"/>
            <a:ext cx="46085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1">
                <a:solidFill>
                  <a:srgbClr val="1B3255"/>
                </a:solidFill>
                <a:latin typeface="맑은 고딕"/>
              </a:rPr>
              <a:t>α (avoidable_frac)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142999" y="5371184"/>
            <a:ext cx="1038758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179575" y="5371184"/>
            <a:ext cx="96560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4A6D8C"/>
                </a:solidFill>
                <a:latin typeface="Consolas"/>
              </a:rPr>
              <a:t>max(0.619,0)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222905" y="5371184"/>
            <a:ext cx="1353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6670"/>
                </a:solidFill>
                <a:latin typeface="맑은 고딕"/>
              </a:rPr>
              <a:t>=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2399384" y="5371184"/>
            <a:ext cx="682142" cy="237744"/>
          </a:xfrm>
          <a:prstGeom prst="round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435960" y="5371184"/>
            <a:ext cx="60899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Consolas"/>
              </a:rPr>
              <a:t>α=0.619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02  Bulk-Fill MDP 모델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Action — 행동 공간과 블록 점유 메커니즘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212848"/>
            <a:ext cx="10515600" cy="45720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212848"/>
            <a:ext cx="105156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</a:rPr>
              <a:t>action = MultiDiscrete( [ O×P 버킷 ,  L 블록크기 레벨 ] 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807208"/>
            <a:ext cx="5212080" cy="96012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898648"/>
            <a:ext cx="484632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B3255"/>
                </a:solidFill>
                <a:latin typeface="맑은 고딕"/>
              </a:rPr>
              <a:t>① 버킷 선택 (O×P)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191256"/>
            <a:ext cx="4892040" cy="5303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22A33"/>
                </a:solidFill>
                <a:latin typeface="맑은 고딕"/>
              </a:rPr>
              <a:t>투입할 </a:t>
            </a:r>
            <a:r>
              <a:rPr sz="1000" b="1">
                <a:solidFill>
                  <a:srgbClr val="1B3255"/>
                </a:solidFill>
                <a:latin typeface="맑은 고딕"/>
              </a:rPr>
              <a:t>(PPK·OPER) 조합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을 선택합니다. LOT과 EQP는 우선순위 규칙으로 자동 배정되어 행동 차원을 줄입니다.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2807208"/>
            <a:ext cx="5212080" cy="96012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898648"/>
            <a:ext cx="484632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B3255"/>
                </a:solidFill>
                <a:latin typeface="맑은 고딕"/>
              </a:rPr>
              <a:t>② 블록 크기 레벨 (L=4)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191256"/>
            <a:ext cx="4892040" cy="5303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22A33"/>
                </a:solidFill>
                <a:latin typeface="맑은 고딕"/>
              </a:rPr>
              <a:t>같은 셋업으로 </a:t>
            </a:r>
            <a:r>
              <a:rPr sz="1000" b="1">
                <a:solidFill>
                  <a:srgbClr val="1B3255"/>
                </a:solidFill>
                <a:latin typeface="맑은 고딕"/>
              </a:rPr>
              <a:t>연속 점유할 캐리어 수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를 takt 예산 분율로 결정합니다. 레벨↑ → 더 큰 블록.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904487"/>
            <a:ext cx="10515600" cy="347472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904487"/>
            <a:ext cx="105156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맑은 고딕"/>
              </a:rPr>
              <a:t>블록 점유(Masked Replay) 동작 순서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389120"/>
            <a:ext cx="2505456" cy="132588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05840" y="4535424"/>
            <a:ext cx="457200" cy="41148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572000"/>
            <a:ext cx="163677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B3255"/>
                </a:solidFill>
                <a:latin typeface="맑은 고딕"/>
              </a:rPr>
              <a:t>블록 시작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5047488"/>
            <a:ext cx="2121408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80" b="0">
                <a:solidFill>
                  <a:srgbClr val="5C6670"/>
                </a:solidFill>
                <a:latin typeface="맑은 고딕"/>
              </a:rPr>
              <a:t>버킷·크기 선택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80" b="0">
                <a:solidFill>
                  <a:srgbClr val="5C6670"/>
                </a:solidFill>
                <a:latin typeface="맑은 고딕"/>
              </a:rPr>
              <a:t>N 산출, 1캐리어 배정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80" b="0">
                <a:solidFill>
                  <a:srgbClr val="5C6670"/>
                </a:solidFill>
                <a:latin typeface="맑은 고딕"/>
              </a:rPr>
              <a:t>remaining = N−1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328416" y="4905756"/>
            <a:ext cx="164592" cy="292608"/>
          </a:xfrm>
          <a:prstGeom prst="rightArrow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93008" y="4389120"/>
            <a:ext cx="2505456" cy="132588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75888" y="4535424"/>
            <a:ext cx="457200" cy="41148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42816" y="4572000"/>
            <a:ext cx="163677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B3255"/>
                </a:solidFill>
                <a:latin typeface="맑은 고딕"/>
              </a:rPr>
              <a:t>블록 진행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94176" y="5047488"/>
            <a:ext cx="2121408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80" b="0">
                <a:solidFill>
                  <a:srgbClr val="5C6670"/>
                </a:solidFill>
                <a:latin typeface="맑은 고딕"/>
              </a:rPr>
              <a:t>같은 설비의 다음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80" b="0">
                <a:solidFill>
                  <a:srgbClr val="5C6670"/>
                </a:solidFill>
                <a:latin typeface="맑은 고딕"/>
              </a:rPr>
              <a:t>결정은 같은 버킷으로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80" b="0">
                <a:solidFill>
                  <a:srgbClr val="5C6670"/>
                </a:solidFill>
                <a:latin typeface="맑은 고딕"/>
              </a:rPr>
              <a:t>강제(마스킹) 재생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998464" y="4905756"/>
            <a:ext cx="164592" cy="292608"/>
          </a:xfrm>
          <a:prstGeom prst="rightArrow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63056" y="4389120"/>
            <a:ext cx="2505456" cy="132588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45936" y="4535424"/>
            <a:ext cx="457200" cy="41148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572000"/>
            <a:ext cx="163677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B3255"/>
                </a:solidFill>
                <a:latin typeface="맑은 고딕"/>
              </a:rPr>
              <a:t>블록 종료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4224" y="5047488"/>
            <a:ext cx="2121408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80" b="0">
                <a:solidFill>
                  <a:srgbClr val="5C6670"/>
                </a:solidFill>
                <a:latin typeface="맑은 고딕"/>
              </a:rPr>
              <a:t>remaining=0 또는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80" b="0">
                <a:solidFill>
                  <a:srgbClr val="5C6670"/>
                </a:solidFill>
                <a:latin typeface="맑은 고딕"/>
              </a:rPr>
              <a:t>재공·계획·공구 소진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80" b="0">
                <a:solidFill>
                  <a:srgbClr val="5C6670"/>
                </a:solidFill>
                <a:latin typeface="맑은 고딕"/>
              </a:rPr>
              <a:t>→ 블록 해제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8668512" y="4905756"/>
            <a:ext cx="164592" cy="292608"/>
          </a:xfrm>
          <a:prstGeom prst="rightArrow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33104" y="4389120"/>
            <a:ext cx="2505456" cy="132588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15984" y="4535424"/>
            <a:ext cx="457200" cy="41148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82912" y="4572000"/>
            <a:ext cx="163677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B3255"/>
                </a:solidFill>
                <a:latin typeface="맑은 고딕"/>
              </a:rPr>
              <a:t>상한 규칙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34272" y="5047488"/>
            <a:ext cx="2121408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80" b="0">
                <a:solidFill>
                  <a:srgbClr val="5C6670"/>
                </a:solidFill>
                <a:latin typeface="맑은 고딕"/>
              </a:rPr>
              <a:t>N ≤ min(takt예산,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80" b="0">
                <a:solidFill>
                  <a:srgbClr val="5C6670"/>
                </a:solidFill>
                <a:latin typeface="맑은 고딕"/>
              </a:rPr>
              <a:t>가용 WIP, 잔여 계획)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80" b="0">
                <a:solidFill>
                  <a:srgbClr val="5C6670"/>
                </a:solidFill>
                <a:latin typeface="맑은 고딕"/>
              </a:rPr>
              <a:t>공구는 매 캐리어 검사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870448"/>
            <a:ext cx="10515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E6FB0"/>
                </a:solidFill>
                <a:latin typeface="맑은 고딕"/>
              </a:rPr>
              <a:t>효과 </a:t>
            </a:r>
            <a:r>
              <a:rPr sz="1230" b="0">
                <a:solidFill>
                  <a:srgbClr val="222A33"/>
                </a:solidFill>
                <a:latin typeface="맑은 고딕"/>
              </a:rPr>
              <a:t>이산사건 무결성을 깨지 않으면서도 한 번의 결정으로 "같은 셋업 N캐리어 연속"을 실현 → 전환 횟수를 근본적으로 감소</a:t>
            </a:r>
          </a:p>
        </p:txBody>
      </p:sp>
      <p:sp>
        <p:nvSpPr>
          <p:cNvPr id="40" name="Rectangle 9"/>
          <p:cNvSpPr/>
          <p:nvPr/>
        </p:nvSpPr>
        <p:spPr>
          <a:xfrm>
            <a:off x="502920" y="1207008"/>
            <a:ext cx="5504688" cy="86868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10"/>
          <p:cNvSpPr/>
          <p:nvPr/>
        </p:nvSpPr>
        <p:spPr>
          <a:xfrm>
            <a:off x="502920" y="1207008"/>
            <a:ext cx="73152" cy="86868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11"/>
          <p:cNvSpPr txBox="1"/>
          <p:nvPr/>
        </p:nvSpPr>
        <p:spPr>
          <a:xfrm>
            <a:off x="713232" y="1298448"/>
            <a:ext cx="5184648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6FB0"/>
                </a:solidFill>
                <a:latin typeface="맑은 고딕"/>
              </a:rPr>
              <a:t>쉬운 설명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22A33"/>
                </a:solidFill>
                <a:latin typeface="맑은 고딕"/>
              </a:rPr>
              <a:t>한 번의 결정으로 버킷(무엇을)과 블록크기(몇 개 연속)를 함께 고릅니다.</a:t>
            </a:r>
          </a:p>
        </p:txBody>
      </p:sp>
      <p:sp>
        <p:nvSpPr>
          <p:cNvPr id="43" name="Rectangle 12"/>
          <p:cNvSpPr/>
          <p:nvPr/>
        </p:nvSpPr>
        <p:spPr>
          <a:xfrm>
            <a:off x="6199632" y="1207008"/>
            <a:ext cx="5504688" cy="868680"/>
          </a:xfrm>
          <a:prstGeom prst="rect">
            <a:avLst/>
          </a:prstGeom>
          <a:solidFill>
            <a:srgbClr val="ECF1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13"/>
          <p:cNvSpPr/>
          <p:nvPr/>
        </p:nvSpPr>
        <p:spPr>
          <a:xfrm>
            <a:off x="6199632" y="1207008"/>
            <a:ext cx="73152" cy="868680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14"/>
          <p:cNvSpPr txBox="1"/>
          <p:nvPr/>
        </p:nvSpPr>
        <p:spPr>
          <a:xfrm>
            <a:off x="6409944" y="1298448"/>
            <a:ext cx="5184648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4A6D8C"/>
                </a:solidFill>
                <a:latin typeface="맑은 고딕"/>
              </a:rPr>
              <a:t>핵심 목적 (필요성)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행동 차원을 줄이면서 같은 셋업을 크게 묶어 전환 횟수를 근본적으로 줄입니다.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02  Bulk-Fill MDP 모델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Reward — 보상 항목과 가중치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07008"/>
            <a:ext cx="5504688" cy="86868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07008"/>
            <a:ext cx="73152" cy="86868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298448"/>
            <a:ext cx="5184648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6FB0"/>
                </a:solidFill>
                <a:latin typeface="맑은 고딕"/>
              </a:rPr>
              <a:t>쉬운 설명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22A33"/>
                </a:solidFill>
                <a:latin typeface="맑은 고딕"/>
              </a:rPr>
              <a:t>스텝마다 8개 보상 항목의 가중합을 계산해 ±10으로 클리핑합니다.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207008"/>
            <a:ext cx="5504688" cy="868680"/>
          </a:xfrm>
          <a:prstGeom prst="rect">
            <a:avLst/>
          </a:prstGeom>
          <a:solidFill>
            <a:srgbClr val="ECF1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207008"/>
            <a:ext cx="73152" cy="868680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1298448"/>
            <a:ext cx="5184648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4A6D8C"/>
                </a:solidFill>
                <a:latin typeface="맑은 고딕"/>
              </a:rPr>
              <a:t>핵심 목적 (필요성)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무엇이 좋고 나쁜 행동인지 정책이 정량적으로 학습하도록 인센티브를 설계합니다.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212848"/>
            <a:ext cx="3977639" cy="36576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2267712"/>
            <a:ext cx="379475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맑은 고딕"/>
              </a:rPr>
              <a:t>보상 항목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59" y="2212848"/>
            <a:ext cx="1051560" cy="36576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59" y="2267712"/>
            <a:ext cx="1051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가중치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578608"/>
            <a:ext cx="3977639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624327"/>
            <a:ext cx="3758183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B3255"/>
                </a:solidFill>
                <a:latin typeface="맑은 고딕"/>
              </a:rPr>
              <a:t>전환 패널티  </a:t>
            </a:r>
            <a:r>
              <a:rPr sz="750" b="0">
                <a:solidFill>
                  <a:srgbClr val="5C6670"/>
                </a:solidFill>
                <a:latin typeface="맑은 고딕"/>
              </a:rPr>
              <a:t>w_conversion</a:t>
            </a:r>
          </a:p>
          <a:p>
            <a:pPr algn="l"/>
            <a:r>
              <a:rPr sz="800" b="0">
                <a:solidFill>
                  <a:srgbClr val="5C6670"/>
                </a:solidFill>
                <a:latin typeface="맑은 고딕"/>
              </a:rPr>
              <a:t>셋업(LOT_CD/TEMP) 변경마다 부과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59" y="2578608"/>
            <a:ext cx="1051560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59" y="2697479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B33A3A"/>
                </a:solidFill>
                <a:latin typeface="맑은 고딕"/>
              </a:rPr>
              <a:t>-10.0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063239"/>
            <a:ext cx="3977639" cy="484632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3108959"/>
            <a:ext cx="3758183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B3255"/>
                </a:solidFill>
                <a:latin typeface="맑은 고딕"/>
              </a:rPr>
              <a:t>회피가능 전환  </a:t>
            </a:r>
            <a:r>
              <a:rPr sz="750" b="0">
                <a:solidFill>
                  <a:srgbClr val="5C6670"/>
                </a:solidFill>
                <a:latin typeface="맑은 고딕"/>
              </a:rPr>
              <a:t>w_avoidable_conversion</a:t>
            </a:r>
          </a:p>
          <a:p>
            <a:pPr algn="l"/>
            <a:r>
              <a:rPr sz="800" b="0">
                <a:solidFill>
                  <a:srgbClr val="5C6670"/>
                </a:solidFill>
                <a:latin typeface="맑은 고딕"/>
              </a:rPr>
              <a:t>다른 무전환 설비가 커버 가능한 전환에 추가 부과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59" y="3063239"/>
            <a:ext cx="1051560" cy="484632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59" y="3182111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B33A3A"/>
                </a:solidFill>
                <a:latin typeface="맑은 고딕"/>
              </a:rPr>
              <a:t>-8.0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547872"/>
            <a:ext cx="3977639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3593591"/>
            <a:ext cx="3758183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B3255"/>
                </a:solidFill>
                <a:latin typeface="맑은 고딕"/>
              </a:rPr>
              <a:t>페이싱  </a:t>
            </a:r>
            <a:r>
              <a:rPr sz="750" b="0">
                <a:solidFill>
                  <a:srgbClr val="5C6670"/>
                </a:solidFill>
                <a:latin typeface="맑은 고딕"/>
              </a:rPr>
              <a:t>w_pacing</a:t>
            </a:r>
          </a:p>
          <a:p>
            <a:pPr algn="l"/>
            <a:r>
              <a:rPr sz="800" b="0">
                <a:solidFill>
                  <a:srgbClr val="5C6670"/>
                </a:solidFill>
                <a:latin typeface="맑은 고딕"/>
              </a:rPr>
              <a:t>달성가능 상한 기준 takt에 가까울수록 +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80559" y="3547872"/>
            <a:ext cx="1051560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59" y="3666744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E7D4F"/>
                </a:solidFill>
                <a:latin typeface="맑은 고딕"/>
              </a:rPr>
              <a:t>+2.5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032504"/>
            <a:ext cx="3977639" cy="484632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" y="4078224"/>
            <a:ext cx="3758183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B3255"/>
                </a:solidFill>
                <a:latin typeface="맑은 고딕"/>
              </a:rPr>
              <a:t>동일 셋업 연속  </a:t>
            </a:r>
            <a:r>
              <a:rPr sz="750" b="0">
                <a:solidFill>
                  <a:srgbClr val="5C6670"/>
                </a:solidFill>
                <a:latin typeface="맑은 고딕"/>
              </a:rPr>
              <a:t>w_same_setup</a:t>
            </a:r>
          </a:p>
          <a:p>
            <a:pPr algn="l"/>
            <a:r>
              <a:rPr sz="800" b="0">
                <a:solidFill>
                  <a:srgbClr val="5C6670"/>
                </a:solidFill>
                <a:latin typeface="맑은 고딕"/>
              </a:rPr>
              <a:t>직전과 제품·공정 동일 + 재공 잔존 시 +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80559" y="4032504"/>
            <a:ext cx="1051560" cy="484632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0559" y="4151376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E7D4F"/>
                </a:solidFill>
                <a:latin typeface="맑은 고딕"/>
              </a:rPr>
              <a:t>+1.0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517136"/>
            <a:ext cx="3977639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" y="4562855"/>
            <a:ext cx="3758183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B3255"/>
                </a:solidFill>
                <a:latin typeface="맑은 고딕"/>
              </a:rPr>
              <a:t>블록 크기 보너스  </a:t>
            </a:r>
            <a:r>
              <a:rPr sz="750" b="0">
                <a:solidFill>
                  <a:srgbClr val="5C6670"/>
                </a:solidFill>
                <a:latin typeface="맑은 고딕"/>
              </a:rPr>
              <a:t>w_bulk_block_bonus</a:t>
            </a:r>
          </a:p>
          <a:p>
            <a:pPr algn="l"/>
            <a:r>
              <a:rPr sz="800" b="0">
                <a:solidFill>
                  <a:srgbClr val="5C6670"/>
                </a:solidFill>
                <a:latin typeface="맑은 고딕"/>
              </a:rPr>
              <a:t>큰 블록으로 커밋할수록 + (takt예산 대비)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80559" y="4517136"/>
            <a:ext cx="1051560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80559" y="4636007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E7D4F"/>
                </a:solidFill>
                <a:latin typeface="맑은 고딕"/>
              </a:rPr>
              <a:t>+3.0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5001768"/>
            <a:ext cx="3977639" cy="484632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" y="5047488"/>
            <a:ext cx="3758183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B3255"/>
                </a:solidFill>
                <a:latin typeface="맑은 고딕"/>
              </a:rPr>
              <a:t>전용 오용 패널티  </a:t>
            </a:r>
            <a:r>
              <a:rPr sz="750" b="0">
                <a:solidFill>
                  <a:srgbClr val="5C6670"/>
                </a:solidFill>
                <a:latin typeface="맑은 고딕"/>
              </a:rPr>
              <a:t>w_dedication_misuse</a:t>
            </a:r>
          </a:p>
          <a:p>
            <a:pPr algn="l"/>
            <a:r>
              <a:rPr sz="800" b="0">
                <a:solidFill>
                  <a:srgbClr val="5C6670"/>
                </a:solidFill>
                <a:latin typeface="맑은 고딕"/>
              </a:rPr>
              <a:t>전용 설비가 유휴인데 범용 설비가 대신 잡으면 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80559" y="5001768"/>
            <a:ext cx="1051560" cy="484632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80559" y="512064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B33A3A"/>
                </a:solidFill>
                <a:latin typeface="맑은 고딕"/>
              </a:rPr>
              <a:t>-4.0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5486400"/>
            <a:ext cx="3977639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2648" y="5532120"/>
            <a:ext cx="3758183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B3255"/>
                </a:solidFill>
                <a:latin typeface="맑은 고딕"/>
              </a:rPr>
              <a:t>중복 커버 패널티  </a:t>
            </a:r>
            <a:r>
              <a:rPr sz="750" b="0">
                <a:solidFill>
                  <a:srgbClr val="5C6670"/>
                </a:solidFill>
                <a:latin typeface="맑은 고딕"/>
              </a:rPr>
              <a:t>w_redundant_cover</a:t>
            </a:r>
          </a:p>
          <a:p>
            <a:pPr algn="l"/>
            <a:r>
              <a:rPr sz="800" b="0">
                <a:solidFill>
                  <a:srgbClr val="5C6670"/>
                </a:solidFill>
                <a:latin typeface="맑은 고딕"/>
              </a:rPr>
              <a:t>이미 충분히 커버된 버킷을 또 잡으면 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80559" y="5486400"/>
            <a:ext cx="1051560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80559" y="560527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B33A3A"/>
                </a:solidFill>
                <a:latin typeface="맑은 고딕"/>
              </a:rPr>
              <a:t>-5.0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897880" y="2212848"/>
            <a:ext cx="5806440" cy="379476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322576"/>
            <a:ext cx="54406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B3255"/>
                </a:solidFill>
                <a:latin typeface="맑은 고딕"/>
              </a:rPr>
              <a:t>보상 가중치 비교 (인포그래픽)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57032" y="2651760"/>
            <a:ext cx="5486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5C6670"/>
                </a:solidFill>
                <a:latin typeface="맑은 고딕"/>
              </a:rPr>
              <a:t>-10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83980" y="2651760"/>
            <a:ext cx="3657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5C6670"/>
                </a:solidFill>
                <a:latin typeface="맑은 고딕"/>
              </a:rP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46920" y="2651760"/>
            <a:ext cx="4572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0">
                <a:solidFill>
                  <a:srgbClr val="5C6670"/>
                </a:solidFill>
                <a:latin typeface="맑은 고딕"/>
              </a:rPr>
              <a:t>+10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80760" y="281635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B3255"/>
                </a:solidFill>
                <a:latin typeface="맑은 고딕"/>
              </a:rPr>
              <a:t>전환 패널티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75320" y="2935224"/>
            <a:ext cx="169164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111996" y="2889504"/>
            <a:ext cx="18288" cy="237744"/>
          </a:xfrm>
          <a:prstGeom prst="rect">
            <a:avLst/>
          </a:prstGeom>
          <a:solidFill>
            <a:srgbClr val="C4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275320" y="2935224"/>
            <a:ext cx="845820" cy="146304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835640" y="284378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B33A3A"/>
                </a:solidFill>
                <a:latin typeface="맑은 고딕"/>
              </a:rPr>
              <a:t>-10.0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80760" y="326898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B3255"/>
                </a:solidFill>
                <a:latin typeface="맑은 고딕"/>
              </a:rPr>
              <a:t>회피가능 전환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75320" y="3387852"/>
            <a:ext cx="169164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111996" y="3342132"/>
            <a:ext cx="18288" cy="237744"/>
          </a:xfrm>
          <a:prstGeom prst="rect">
            <a:avLst/>
          </a:prstGeom>
          <a:solidFill>
            <a:srgbClr val="C4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444484" y="3387852"/>
            <a:ext cx="676656" cy="146304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835640" y="32964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B33A3A"/>
                </a:solidFill>
                <a:latin typeface="맑은 고딕"/>
              </a:rPr>
              <a:t>-8.0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80760" y="372160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B3255"/>
                </a:solidFill>
                <a:latin typeface="맑은 고딕"/>
              </a:rPr>
              <a:t>페이싱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75320" y="3840480"/>
            <a:ext cx="169164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111996" y="3794760"/>
            <a:ext cx="18288" cy="237744"/>
          </a:xfrm>
          <a:prstGeom prst="rect">
            <a:avLst/>
          </a:prstGeom>
          <a:solidFill>
            <a:srgbClr val="C4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121140" y="3840480"/>
            <a:ext cx="211455" cy="146304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835640" y="37490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2E7D4F"/>
                </a:solidFill>
                <a:latin typeface="맑은 고딕"/>
              </a:rPr>
              <a:t>+2.5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80760" y="4174235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B3255"/>
                </a:solidFill>
                <a:latin typeface="맑은 고딕"/>
              </a:rPr>
              <a:t>동일 셋업 연속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75320" y="4293107"/>
            <a:ext cx="169164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111996" y="4247388"/>
            <a:ext cx="18288" cy="237744"/>
          </a:xfrm>
          <a:prstGeom prst="rect">
            <a:avLst/>
          </a:prstGeom>
          <a:solidFill>
            <a:srgbClr val="C4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121140" y="4293107"/>
            <a:ext cx="84582" cy="146304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835640" y="420166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2E7D4F"/>
                </a:solidFill>
                <a:latin typeface="맑은 고딕"/>
              </a:rPr>
              <a:t>+1.0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080760" y="4626864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B3255"/>
                </a:solidFill>
                <a:latin typeface="맑은 고딕"/>
              </a:rPr>
              <a:t>블록 크기 보너스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275320" y="4745736"/>
            <a:ext cx="169164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111996" y="4700016"/>
            <a:ext cx="18288" cy="237744"/>
          </a:xfrm>
          <a:prstGeom prst="rect">
            <a:avLst/>
          </a:prstGeom>
          <a:solidFill>
            <a:srgbClr val="C4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121140" y="4745736"/>
            <a:ext cx="253745" cy="146304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835640" y="465429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2E7D4F"/>
                </a:solidFill>
                <a:latin typeface="맑은 고딕"/>
              </a:rPr>
              <a:t>+3.0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080760" y="507949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B3255"/>
                </a:solidFill>
                <a:latin typeface="맑은 고딕"/>
              </a:rPr>
              <a:t>전용 오용 패널티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275320" y="5198364"/>
            <a:ext cx="169164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111996" y="5152644"/>
            <a:ext cx="18288" cy="237744"/>
          </a:xfrm>
          <a:prstGeom prst="rect">
            <a:avLst/>
          </a:prstGeom>
          <a:solidFill>
            <a:srgbClr val="C4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782812" y="5198364"/>
            <a:ext cx="338328" cy="146304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835640" y="510692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B33A3A"/>
                </a:solidFill>
                <a:latin typeface="맑은 고딕"/>
              </a:rPr>
              <a:t>-4.0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53212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B3255"/>
                </a:solidFill>
                <a:latin typeface="맑은 고딕"/>
              </a:rPr>
              <a:t>중복 커버 패널티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275320" y="5650992"/>
            <a:ext cx="169164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111996" y="5605272"/>
            <a:ext cx="18288" cy="237744"/>
          </a:xfrm>
          <a:prstGeom prst="rect">
            <a:avLst/>
          </a:prstGeom>
          <a:solidFill>
            <a:srgbClr val="C4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698230" y="5650992"/>
            <a:ext cx="422910" cy="146304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835640" y="55595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B33A3A"/>
                </a:solidFill>
                <a:latin typeface="맑은 고딕"/>
              </a:rPr>
              <a:t>-5.0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03  보상 산출 로직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입력 데이터 형태 (JSON)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234440"/>
            <a:ext cx="106070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22A33"/>
                </a:solidFill>
                <a:latin typeface="맑은 고딕"/>
              </a:rPr>
              <a:t>Oracle 또는 샘플 생성기가 </a:t>
            </a:r>
            <a:r>
              <a:rPr sz="1250" b="1">
                <a:solidFill>
                  <a:srgbClr val="1B3255"/>
                </a:solidFill>
                <a:latin typeface="맑은 고딕"/>
              </a:rPr>
              <a:t>data/dataset/{FAC}/{split}/{RULE_TIMEKEY}/input/</a:t>
            </a:r>
            <a:r>
              <a:rPr sz="1250" b="0">
                <a:solidFill>
                  <a:srgbClr val="222A33"/>
                </a:solidFill>
                <a:latin typeface="맑은 고딕"/>
              </a:rPr>
              <a:t> 경로에 아래 JSON을 적재합니다.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1783080"/>
            <a:ext cx="2926080" cy="420624"/>
          </a:xfrm>
          <a:prstGeom prst="rect">
            <a:avLst/>
          </a:prstGeom>
          <a:solidFill>
            <a:srgbClr val="1B3255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파일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40" y="1783080"/>
            <a:ext cx="594360" cy="420624"/>
          </a:xfrm>
          <a:prstGeom prst="rect">
            <a:avLst/>
          </a:prstGeom>
          <a:solidFill>
            <a:srgbClr val="1B3255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필수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783080"/>
            <a:ext cx="6995160" cy="420624"/>
          </a:xfrm>
          <a:prstGeom prst="rect">
            <a:avLst/>
          </a:prstGeom>
          <a:solidFill>
            <a:srgbClr val="1B3255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주요 필드 (행 단위)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203704"/>
            <a:ext cx="2926080" cy="65836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1B3255"/>
                </a:solidFill>
                <a:latin typeface="맑은 고딕"/>
              </a:rPr>
              <a:t>discrete_arrange.json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40" y="2203704"/>
            <a:ext cx="594360" cy="65836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B3255"/>
                </a:solidFill>
                <a:latin typeface="맑은 고딕"/>
              </a:rPr>
              <a:t>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2203704"/>
            <a:ext cx="6995160" cy="65836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5C6670"/>
                </a:solidFill>
                <a:latin typeface="맑은 고딕"/>
              </a:rPr>
              <a:t>EQP_ID, LOT_ID, PLAN_PROD_ATTR_VAL, OPER_ID, ST, EQP_MODEL_CD, WF_QTY, CARRIER_ID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2862072"/>
            <a:ext cx="29260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1B3255"/>
                </a:solidFill>
                <a:latin typeface="맑은 고딕"/>
              </a:rPr>
              <a:t>plan.json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49040" y="2862072"/>
            <a:ext cx="594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B3255"/>
                </a:solidFill>
                <a:latin typeface="맑은 고딕"/>
              </a:rPr>
              <a:t>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3400" y="2862072"/>
            <a:ext cx="69951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5C6670"/>
                </a:solidFill>
                <a:latin typeface="맑은 고딕"/>
              </a:rPr>
              <a:t>PLAN_PROD_ATTR_VAL, OPER_ID, D0_PLAN_QTY, D1_PLAN_QTY, PLAN_PRIORITY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520439"/>
            <a:ext cx="2926080" cy="65836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1B3255"/>
                </a:solidFill>
                <a:latin typeface="맑은 고딕"/>
              </a:rPr>
              <a:t>flow.json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49040" y="3520439"/>
            <a:ext cx="594360" cy="65836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B3255"/>
                </a:solidFill>
                <a:latin typeface="맑은 고딕"/>
              </a:rPr>
              <a:t>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3520439"/>
            <a:ext cx="6995160" cy="65836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5C6670"/>
                </a:solidFill>
                <a:latin typeface="맑은 고딕"/>
              </a:rPr>
              <a:t>PLAN_PROD_ATTR_VAL, OPER_SEQ, OPER_ID  (공정 순서)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4178807"/>
            <a:ext cx="29260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1B3255"/>
                </a:solidFill>
                <a:latin typeface="맑은 고딕"/>
              </a:rPr>
              <a:t>abstract_arrange.json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49040" y="4178807"/>
            <a:ext cx="594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B3255"/>
                </a:solidFill>
                <a:latin typeface="맑은 고딕"/>
              </a:rPr>
              <a:t>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4178807"/>
            <a:ext cx="69951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5C6670"/>
                </a:solidFill>
                <a:latin typeface="맑은 고딕"/>
              </a:rPr>
              <a:t>EQP_MODEL_CD, PLAN_PROD_ATTR_VAL, OPER_ID, ST  (모델-제품 적합성)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4837175"/>
            <a:ext cx="2926080" cy="65836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1B3255"/>
                </a:solidFill>
                <a:latin typeface="맑은 고딕"/>
              </a:rPr>
              <a:t>lot_master.json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49040" y="4837175"/>
            <a:ext cx="594360" cy="65836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B3255"/>
                </a:solidFill>
                <a:latin typeface="맑은 고딕"/>
              </a:rPr>
              <a:t>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4837175"/>
            <a:ext cx="6995160" cy="65836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5C6670"/>
                </a:solidFill>
                <a:latin typeface="맑은 고딕"/>
              </a:rPr>
              <a:t>LOT_ID, LOT_CD, TEMP  (전환 그룹 판별)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5495543"/>
            <a:ext cx="29260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1B3255"/>
                </a:solidFill>
                <a:latin typeface="맑은 고딕"/>
              </a:rPr>
              <a:t>tool_capacity.json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49040" y="5495543"/>
            <a:ext cx="594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B3255"/>
                </a:solidFill>
                <a:latin typeface="맑은 고딕"/>
              </a:rPr>
              <a:t>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5495543"/>
            <a:ext cx="69951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5C6670"/>
                </a:solidFill>
                <a:latin typeface="맑은 고딕"/>
              </a:rPr>
              <a:t>LOT_CD, TEMP, MAX_TOOL  (동시 가공 공구 한도)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6153911"/>
            <a:ext cx="2926080" cy="65836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1B3255"/>
                </a:solidFill>
                <a:latin typeface="맑은 고딕"/>
              </a:rPr>
              <a:t>batch_info.json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49040" y="6153911"/>
            <a:ext cx="594360" cy="65836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B3255"/>
                </a:solidFill>
                <a:latin typeface="맑은 고딕"/>
              </a:rPr>
              <a:t>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6153911"/>
            <a:ext cx="6995160" cy="65836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5C6670"/>
                </a:solidFill>
                <a:latin typeface="맑은 고딕"/>
              </a:rPr>
              <a:t>PLAN_PROD_ATTR_VAL, OPER_ID, LOT_CD, TEMP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4892040"/>
            <a:ext cx="5074920" cy="141732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" y="4892040"/>
            <a:ext cx="5074920" cy="411480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4892040"/>
            <a:ext cx="507492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discrete_arrange 예시 (1행)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394960"/>
            <a:ext cx="480060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22A33"/>
                </a:solidFill>
                <a:latin typeface="맑은 고딕"/>
              </a:rPr>
              <a:t>{"EQP_ID":"EQP001","LOT_ID":"LOT001",</a:t>
            </a:r>
            <a:r>
              <a:rPr sz="950" b="0">
                <a:solidFill>
                  <a:srgbClr val="222A33"/>
                </a:solidFill>
                <a:latin typeface="맑은 고딕"/>
              </a:rPr>
              <a:t>"PLAN_PROD_ATTR_VAL":"PPK001","OPER_ID":"OPER001",</a:t>
            </a:r>
            <a:r>
              <a:rPr sz="950" b="1">
                <a:solidFill>
                  <a:srgbClr val="1B3255"/>
                </a:solidFill>
                <a:latin typeface="맑은 고딕"/>
              </a:rPr>
              <a:t>"ST":60,"EQP_MODEL_CD":"A","WF_QTY":1}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80760" y="4892040"/>
            <a:ext cx="5257800" cy="141732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80760" y="4892040"/>
            <a:ext cx="5257800" cy="41148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80760" y="4892040"/>
            <a:ext cx="525780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preprocess() 이후 env_data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5394960"/>
            <a:ext cx="498348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C6670"/>
                </a:solidFill>
                <a:latin typeface="맑은 고딕"/>
              </a:rPr>
              <a:t>sim_base_time · sim_end_minutes(1440)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C6670"/>
                </a:solidFill>
                <a:latin typeface="맑은 고딕"/>
              </a:rPr>
              <a:t>eqp_ids · prod_keys · oper_ids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C6670"/>
                </a:solidFill>
                <a:latin typeface="맑은 고딕"/>
              </a:rPr>
              <a:t>lots · plan · flow · proc_time_matrix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→ 시뮬레이터·Gym 환경이 공유하는 내부 상태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03  보상 산출 로직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스텝 보상 수식 — 항목별 정의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325880"/>
            <a:ext cx="10515600" cy="658368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325880"/>
            <a:ext cx="1051560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r_t = clip( Σ 보상항 , ±10 )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148840"/>
            <a:ext cx="1051560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221992"/>
            <a:ext cx="329184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B3255"/>
                </a:solidFill>
                <a:latin typeface="맑은 고딕"/>
              </a:rPr>
              <a:t>동일 셋업  +w_same_setup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221992"/>
            <a:ext cx="530352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>
                <a:solidFill>
                  <a:srgbClr val="5C6670"/>
                </a:solidFill>
                <a:latin typeface="맑은 고딕"/>
              </a:rPr>
              <a:t>직전과 제품·공정 동일 &amp; 재공 잔존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21240" y="2221992"/>
            <a:ext cx="12801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7D4F"/>
                </a:solidFill>
                <a:latin typeface="맑은 고딕"/>
              </a:rPr>
              <a:t>+1.0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2624328"/>
            <a:ext cx="105156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697480"/>
            <a:ext cx="329184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B3255"/>
                </a:solidFill>
                <a:latin typeface="맑은 고딕"/>
              </a:rPr>
              <a:t>페이싱  w_pacing·Δ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697480"/>
            <a:ext cx="530352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>
                <a:solidFill>
                  <a:srgbClr val="5C6670"/>
                </a:solidFill>
                <a:latin typeface="맑은 고딕"/>
              </a:rPr>
              <a:t>(|ideal−eff_before| − |ideal−eff_after|) /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2697480"/>
            <a:ext cx="12801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7D4F"/>
                </a:solidFill>
                <a:latin typeface="맑은 고딕"/>
              </a:rPr>
              <a:t>+2.5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099816"/>
            <a:ext cx="1051560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172968"/>
            <a:ext cx="329184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B3255"/>
                </a:solidFill>
                <a:latin typeface="맑은 고딕"/>
              </a:rPr>
              <a:t>계획 달성  w_plan_hit·Δ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172968"/>
            <a:ext cx="530352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>
                <a:solidFill>
                  <a:srgbClr val="5C6670"/>
                </a:solidFill>
                <a:latin typeface="맑은 고딕"/>
              </a:rPr>
              <a:t>(gap_before − gap_after) / target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3172968"/>
            <a:ext cx="12801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7D4F"/>
                </a:solidFill>
                <a:latin typeface="맑은 고딕"/>
              </a:rPr>
              <a:t>+1.0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3575304"/>
            <a:ext cx="1051560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3648456"/>
            <a:ext cx="329184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B3255"/>
                </a:solidFill>
                <a:latin typeface="맑은 고딕"/>
              </a:rPr>
              <a:t>블록 보너스  w_bulk·min(N/예산,1)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3648456"/>
            <a:ext cx="530352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>
                <a:solidFill>
                  <a:srgbClr val="5C6670"/>
                </a:solidFill>
                <a:latin typeface="맑은 고딕"/>
              </a:rPr>
              <a:t>블록 시작 시에만 (Bulk-Fill)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3648456"/>
            <a:ext cx="12801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7D4F"/>
                </a:solidFill>
                <a:latin typeface="맑은 고딕"/>
              </a:rPr>
              <a:t>+3.0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4050791"/>
            <a:ext cx="105156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123944"/>
            <a:ext cx="329184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B3255"/>
                </a:solidFill>
                <a:latin typeface="맑은 고딕"/>
              </a:rPr>
              <a:t>전환  w_conversion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4123944"/>
            <a:ext cx="530352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>
                <a:solidFill>
                  <a:srgbClr val="5C6670"/>
                </a:solidFill>
                <a:latin typeface="맑은 고딕"/>
              </a:rPr>
              <a:t>LOT_CD/TEMP 셋업 변경 1회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21240" y="4123944"/>
            <a:ext cx="12801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33A3A"/>
                </a:solidFill>
                <a:latin typeface="맑은 고딕"/>
              </a:rPr>
              <a:t>−10.0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4526279"/>
            <a:ext cx="1051560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4599431"/>
            <a:ext cx="329184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B3255"/>
                </a:solidFill>
                <a:latin typeface="맑은 고딕"/>
              </a:rPr>
              <a:t>회피가능 전환  w_avoid·α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4599431"/>
            <a:ext cx="530352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>
                <a:solidFill>
                  <a:srgbClr val="5C6670"/>
                </a:solidFill>
                <a:latin typeface="맑은 고딕"/>
              </a:rPr>
              <a:t>다른 무전환 설비가 커버 가능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40" y="4599431"/>
            <a:ext cx="12801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33A3A"/>
                </a:solidFill>
                <a:latin typeface="맑은 고딕"/>
              </a:rPr>
              <a:t>−8.0×α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" y="5001767"/>
            <a:ext cx="105156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074919"/>
            <a:ext cx="329184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B3255"/>
                </a:solidFill>
                <a:latin typeface="맑은 고딕"/>
              </a:rPr>
              <a:t>중복 커버  w_redundant·min(cover/need,2)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5074919"/>
            <a:ext cx="530352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>
                <a:solidFill>
                  <a:srgbClr val="5C6670"/>
                </a:solidFill>
                <a:latin typeface="맑은 고딕"/>
              </a:rPr>
              <a:t>이미 덮이는 버킷 재선택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21240" y="5074919"/>
            <a:ext cx="12801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33A3A"/>
                </a:solidFill>
                <a:latin typeface="맑은 고딕"/>
              </a:rPr>
              <a:t>−5.0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" y="5477255"/>
            <a:ext cx="1051560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5550407"/>
            <a:ext cx="329184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B3255"/>
                </a:solidFill>
                <a:latin typeface="맑은 고딕"/>
              </a:rPr>
              <a:t>전용 오용  w_dedication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5550407"/>
            <a:ext cx="530352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>
                <a:solidFill>
                  <a:srgbClr val="5C6670"/>
                </a:solidFill>
                <a:latin typeface="맑은 고딕"/>
              </a:rPr>
              <a:t>더 전용 idle 설비가 있는데 범용이 선점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21240" y="5550407"/>
            <a:ext cx="12801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33A3A"/>
                </a:solidFill>
                <a:latin typeface="맑은 고딕"/>
              </a:rPr>
              <a:t>−4.0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989320"/>
            <a:ext cx="1051560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2A33"/>
                </a:solidFill>
                <a:latin typeface="맑은 고딕"/>
              </a:rPr>
              <a:t>다음 </a:t>
            </a:r>
            <a:r>
              <a:rPr sz="1200" b="1">
                <a:solidFill>
                  <a:srgbClr val="1B3255"/>
                </a:solidFill>
                <a:latin typeface="맑은 고딕"/>
              </a:rPr>
              <a:t>8개 보상 항목</a:t>
            </a:r>
            <a:r>
              <a:rPr sz="1200" b="0">
                <a:solidFill>
                  <a:srgbClr val="222A33"/>
                </a:solidFill>
                <a:latin typeface="맑은 고딕"/>
              </a:rPr>
              <a:t>을 항목별 상세(쉬운 설명·수식·A/B·실측)로 설명한 뒤, </a:t>
            </a:r>
            <a:r>
              <a:rPr sz="1200" b="1">
                <a:solidFill>
                  <a:srgbClr val="1B3255"/>
                </a:solidFill>
                <a:latin typeface="맑은 고딕"/>
              </a:rPr>
              <a:t>SYM_3x3 실제 추론 트레이스</a:t>
            </a:r>
            <a:r>
              <a:rPr sz="1200" b="0">
                <a:solidFill>
                  <a:srgbClr val="222A33"/>
                </a:solidFill>
                <a:latin typeface="맑은 고딕"/>
              </a:rPr>
              <a:t>를 스텝마다 </a:t>
            </a:r>
            <a:r>
              <a:rPr sz="1200" b="1">
                <a:solidFill>
                  <a:srgbClr val="2E6FB0"/>
                </a:solidFill>
                <a:latin typeface="맑은 고딕"/>
              </a:rPr>
              <a:t>State → Action → Reward(8항 전체)</a:t>
            </a:r>
            <a:r>
              <a:rPr sz="1200" b="0">
                <a:solidFill>
                  <a:srgbClr val="222A33"/>
                </a:solidFill>
                <a:latin typeface="맑은 고딕"/>
              </a:rPr>
              <a:t>와 누적 간트로 보여줍니다.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03  보상 산출 로직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보상 항목 — 동일 셋업  (w=+1.0)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07008"/>
            <a:ext cx="11201400" cy="566928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07008"/>
            <a:ext cx="112014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r = w_same_setup · 1[직전 PPK·OPER 동일 &amp; 재공 잔존]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828800"/>
            <a:ext cx="11201400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883664"/>
            <a:ext cx="108813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6FB0"/>
                </a:solidFill>
                <a:latin typeface="맑은 고딕"/>
              </a:rPr>
              <a:t>쉬운 설명  </a:t>
            </a:r>
            <a:r>
              <a:rPr sz="1050" b="0">
                <a:solidFill>
                  <a:srgbClr val="222A33"/>
                </a:solidFill>
                <a:latin typeface="맑은 고딕"/>
              </a:rPr>
              <a:t>직전과 제품(PPK)·공정(OPER)이 같으면 셋업 변경 없이 +1. 셋업을 이어 붙이라는 신호.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322576"/>
            <a:ext cx="11201400" cy="786384"/>
          </a:xfrm>
          <a:prstGeom prst="rect">
            <a:avLst/>
          </a:prstGeom>
          <a:solidFill>
            <a:srgbClr val="DDE6F0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377440"/>
            <a:ext cx="10881360" cy="72237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w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+1.0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1[동일]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직전 PPK·OPER = 이번 선택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962656"/>
            <a:ext cx="11201400" cy="310896"/>
          </a:xfrm>
          <a:prstGeom prst="rect">
            <a:avLst/>
          </a:prstGeom>
          <a:solidFill>
            <a:srgbClr val="ECF1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008376"/>
            <a:ext cx="1088136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4A6D8C"/>
                </a:solidFill>
                <a:latin typeface="맑은 고딕"/>
              </a:rPr>
              <a:t>왜 필요한가  </a:t>
            </a:r>
            <a:r>
              <a:rPr sz="1000" b="0">
                <a:solidFill>
                  <a:srgbClr val="222A33"/>
                </a:solidFill>
                <a:latin typeface="맑은 고딕"/>
              </a:rPr>
              <a:t>전환 비용을 피하고 같은 셋업으로 연속 가공하도록 유도.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346704"/>
            <a:ext cx="5532120" cy="182880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346704"/>
            <a:ext cx="5532120" cy="347472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346704"/>
            <a:ext cx="5532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예시 A · 블록 연속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" y="3767328"/>
            <a:ext cx="5276088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22A33"/>
                </a:solidFill>
                <a:latin typeface="맑은 고딕"/>
              </a:rPr>
              <a:t>EQP001이 직전과 동일 PPK001·OPER001로 블록 진행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" y="4151376"/>
            <a:ext cx="5276088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4206240"/>
            <a:ext cx="5129783" cy="5120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B3255"/>
                </a:solidFill>
                <a:latin typeface="맑은 고딕"/>
              </a:rPr>
              <a:t>1.0 · 1[PPK001→PPK001, OPER001→OPER001] =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" y="4828032"/>
            <a:ext cx="527608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7D4F"/>
                </a:solidFill>
                <a:latin typeface="맑은 고딕"/>
              </a:rPr>
              <a:t>결과  +1.0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3346704"/>
            <a:ext cx="5532120" cy="182880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346704"/>
            <a:ext cx="5532120" cy="347472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3346704"/>
            <a:ext cx="5532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예시 B · 셋업 변경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216" y="3767328"/>
            <a:ext cx="5276088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22A33"/>
                </a:solidFill>
                <a:latin typeface="맑은 고딕"/>
              </a:rPr>
              <a:t>PPK001→PPK002로 LOT_CD/TEMP 전환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0216" y="4151376"/>
            <a:ext cx="5276088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4206240"/>
            <a:ext cx="5129783" cy="5120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B3255"/>
                </a:solidFill>
                <a:latin typeface="맑은 고딕"/>
              </a:rPr>
              <a:t>셋업 변경 → 1[동일]=0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0216" y="4828032"/>
            <a:ext cx="527608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C6670"/>
                </a:solidFill>
                <a:latin typeface="맑은 고딕"/>
              </a:rPr>
              <a:t>결과  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248656"/>
            <a:ext cx="11201400" cy="1234440"/>
          </a:xfrm>
          <a:prstGeom prst="rect">
            <a:avLst/>
          </a:prstGeom>
          <a:solidFill>
            <a:srgbClr val="ECF1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5248656"/>
            <a:ext cx="11201400" cy="329184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248656"/>
            <a:ext cx="112014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SYM_3x3 실측 — Step 4  ·  EQP001 → PPK001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650992"/>
            <a:ext cx="108813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>
                <a:solidFill>
                  <a:srgbClr val="222A33"/>
                </a:solidFill>
                <a:latin typeface="맑은 고딕"/>
              </a:rPr>
              <a:t>1.0 · 1[None→PPK001, None→OPER001] = 1.0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035040"/>
            <a:ext cx="108813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7D4F"/>
                </a:solidFill>
                <a:latin typeface="맑은 고딕"/>
              </a:rPr>
              <a:t>→  = +1.00  </a:t>
            </a:r>
            <a:r>
              <a:rPr sz="950" b="0">
                <a:solidFill>
                  <a:srgbClr val="5C6670"/>
                </a:solidFill>
                <a:latin typeface="맑은 고딕"/>
              </a:rPr>
              <a:t>(clip 전 항목 기여)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09560" y="530352"/>
            <a:ext cx="6400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1">
                <a:solidFill>
                  <a:srgbClr val="5C6670"/>
                </a:solidFill>
                <a:latin typeface="맑은 고딕"/>
              </a:rPr>
              <a:t>영향도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32520" y="621792"/>
            <a:ext cx="1874519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60636" y="576072"/>
            <a:ext cx="18288" cy="237744"/>
          </a:xfrm>
          <a:prstGeom prst="rect">
            <a:avLst/>
          </a:prstGeom>
          <a:solidFill>
            <a:srgbClr val="C4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69780" y="621792"/>
            <a:ext cx="93726" cy="146304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98480" y="557784"/>
            <a:ext cx="777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>
                <a:solidFill>
                  <a:srgbClr val="2E7D4F"/>
                </a:solidFill>
                <a:latin typeface="맑은 고딕"/>
              </a:rPr>
              <a:t>+1.0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03  보상 산출 로직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보상 항목 — 페이싱  (w=+2.5)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07008"/>
            <a:ext cx="11201400" cy="566928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07008"/>
            <a:ext cx="112014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r = w_pacing · (|ideal − eff_before| − |ideal − eff_after|) / target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828800"/>
            <a:ext cx="11201400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883664"/>
            <a:ext cx="108813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6FB0"/>
                </a:solidFill>
                <a:latin typeface="맑은 고딕"/>
              </a:rPr>
              <a:t>쉬운 설명  </a:t>
            </a:r>
            <a:r>
              <a:rPr sz="1050" b="0">
                <a:solidFill>
                  <a:srgbClr val="222A33"/>
                </a:solidFill>
                <a:latin typeface="맑은 고딕"/>
              </a:rPr>
              <a:t>takt 목표선(ideal)에 실제 진척(eff)이 가까워지면 +, 멀어지면 −.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322576"/>
            <a:ext cx="11201400" cy="987552"/>
          </a:xfrm>
          <a:prstGeom prst="rect">
            <a:avLst/>
          </a:prstGeom>
          <a:solidFill>
            <a:srgbClr val="DDE6F0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377440"/>
            <a:ext cx="10881360" cy="9235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ideal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target·min(t,H)/H — 지금까지 만들어야 할 이상량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eff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done + 다른설비 cover — 실제+커버 진척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target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달성가능 상한(재공 한도)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163824"/>
            <a:ext cx="11201400" cy="310896"/>
          </a:xfrm>
          <a:prstGeom prst="rect">
            <a:avLst/>
          </a:prstGeom>
          <a:solidFill>
            <a:srgbClr val="ECF1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09544"/>
            <a:ext cx="1088136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4A6D8C"/>
                </a:solidFill>
                <a:latin typeface="맑은 고딕"/>
              </a:rPr>
              <a:t>왜 필요한가  </a:t>
            </a:r>
            <a:r>
              <a:rPr sz="1000" b="0">
                <a:solidFill>
                  <a:srgbClr val="222A33"/>
                </a:solidFill>
                <a:latin typeface="맑은 고딕"/>
              </a:rPr>
              <a:t>계획 속도(takt)에 맞추되, 이미 다른 설비가 덮으면 pace 충족으로 봄.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547872"/>
            <a:ext cx="5532120" cy="182880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547872"/>
            <a:ext cx="5532120" cy="347472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547872"/>
            <a:ext cx="5532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예시 A · pace 개선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" y="3968496"/>
            <a:ext cx="5276088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22A33"/>
                </a:solidFill>
                <a:latin typeface="맑은 고딕"/>
              </a:rPr>
              <a:t>ideal=0.5, eff 0.3→0.5 (target=8)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" y="4352544"/>
            <a:ext cx="5276088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4407408"/>
            <a:ext cx="5129783" cy="5120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B3255"/>
                </a:solidFill>
                <a:latin typeface="맑은 고딕"/>
              </a:rPr>
              <a:t>2.5 · (|0.5−0.3| − |0.5−0.5|) / 8 = 2.5 · 0.2/8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" y="5029200"/>
            <a:ext cx="527608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7D4F"/>
                </a:solidFill>
                <a:latin typeface="맑은 고딕"/>
              </a:rPr>
              <a:t>결과  +0.06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3547872"/>
            <a:ext cx="5532120" cy="182880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547872"/>
            <a:ext cx="5532120" cy="347472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3547872"/>
            <a:ext cx="5532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예시 B · 과생산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216" y="3968496"/>
            <a:ext cx="5276088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22A33"/>
                </a:solidFill>
                <a:latin typeface="맑은 고딕"/>
              </a:rPr>
              <a:t>ideal=0.5, eff 0.3→0.8 (takt 초과)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0216" y="4352544"/>
            <a:ext cx="5276088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4407408"/>
            <a:ext cx="5129783" cy="5120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B3255"/>
                </a:solidFill>
                <a:latin typeface="맑은 고딕"/>
              </a:rPr>
              <a:t>2.5 · (0.2 − 0.3) / 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0216" y="5029200"/>
            <a:ext cx="527608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B33A3A"/>
                </a:solidFill>
                <a:latin typeface="맑은 고딕"/>
              </a:rPr>
              <a:t>결과  −Δ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449824"/>
            <a:ext cx="11201400" cy="1234440"/>
          </a:xfrm>
          <a:prstGeom prst="rect">
            <a:avLst/>
          </a:prstGeom>
          <a:solidFill>
            <a:srgbClr val="ECF1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5449824"/>
            <a:ext cx="11201400" cy="329184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449824"/>
            <a:ext cx="112014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SYM_3x3 실측 — Step 1  ·  EQP001 → PPK001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852160"/>
            <a:ext cx="108813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>
                <a:solidFill>
                  <a:srgbClr val="222A33"/>
                </a:solidFill>
                <a:latin typeface="맑은 고딕"/>
              </a:rPr>
              <a:t>ideal: target·min(t,H)/H = 8·0/1320 = 0.0 · eff: 0.0→1.0 (done=0, cover=0.0, wf=1) · 2.5·(0.0−1.0)/8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236208"/>
            <a:ext cx="108813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B33A3A"/>
                </a:solidFill>
                <a:latin typeface="맑은 고딕"/>
              </a:rPr>
              <a:t>→  = -0.31  </a:t>
            </a:r>
            <a:r>
              <a:rPr sz="950" b="0">
                <a:solidFill>
                  <a:srgbClr val="5C6670"/>
                </a:solidFill>
                <a:latin typeface="맑은 고딕"/>
              </a:rPr>
              <a:t>(clip 전 항목 기여)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09560" y="530352"/>
            <a:ext cx="6400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1">
                <a:solidFill>
                  <a:srgbClr val="5C6670"/>
                </a:solidFill>
                <a:latin typeface="맑은 고딕"/>
              </a:rPr>
              <a:t>영향도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32520" y="621792"/>
            <a:ext cx="1874519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60636" y="576072"/>
            <a:ext cx="18288" cy="237744"/>
          </a:xfrm>
          <a:prstGeom prst="rect">
            <a:avLst/>
          </a:prstGeom>
          <a:solidFill>
            <a:srgbClr val="C4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69780" y="621792"/>
            <a:ext cx="234314" cy="146304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98480" y="557784"/>
            <a:ext cx="777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>
                <a:solidFill>
                  <a:srgbClr val="2E7D4F"/>
                </a:solidFill>
                <a:latin typeface="맑은 고딕"/>
              </a:rPr>
              <a:t>+2.5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03  보상 산출 로직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보상 항목 — 계획 달성  (w=+1.0)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07008"/>
            <a:ext cx="11201400" cy="566928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07008"/>
            <a:ext cx="112014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r = w_plan_hit · (gap_before − gap_after) / target   ;  gap = max(target − done, 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828800"/>
            <a:ext cx="11201400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883664"/>
            <a:ext cx="108813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6FB0"/>
                </a:solidFill>
                <a:latin typeface="맑은 고딕"/>
              </a:rPr>
              <a:t>쉬운 설명  </a:t>
            </a:r>
            <a:r>
              <a:rPr sz="1050" b="0">
                <a:solidFill>
                  <a:srgbClr val="222A33"/>
                </a:solidFill>
                <a:latin typeface="맑은 고딕"/>
              </a:rPr>
              <a:t>아직 만들어야 할 양(gap)이 줄면 +. 이미 다 만들었으면 0.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322576"/>
            <a:ext cx="11201400" cy="786384"/>
          </a:xfrm>
          <a:prstGeom prst="rect">
            <a:avLst/>
          </a:prstGeom>
          <a:solidFill>
            <a:srgbClr val="DDE6F0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377440"/>
            <a:ext cx="10881360" cy="72237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gap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max(target−done, 0)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target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달성가능 상한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962656"/>
            <a:ext cx="11201400" cy="310896"/>
          </a:xfrm>
          <a:prstGeom prst="rect">
            <a:avLst/>
          </a:prstGeom>
          <a:solidFill>
            <a:srgbClr val="ECF1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008376"/>
            <a:ext cx="1088136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4A6D8C"/>
                </a:solidFill>
                <a:latin typeface="맑은 고딕"/>
              </a:rPr>
              <a:t>왜 필요한가  </a:t>
            </a:r>
            <a:r>
              <a:rPr sz="1000" b="0">
                <a:solidFill>
                  <a:srgbClr val="222A33"/>
                </a:solidFill>
                <a:latin typeface="맑은 고딕"/>
              </a:rPr>
              <a:t>계획 수량 달성을 직접 장려.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346704"/>
            <a:ext cx="5532120" cy="182880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346704"/>
            <a:ext cx="5532120" cy="347472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346704"/>
            <a:ext cx="5532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예시 A · gap 감소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" y="3767328"/>
            <a:ext cx="5276088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22A33"/>
                </a:solidFill>
                <a:latin typeface="맑은 고딕"/>
              </a:rPr>
              <a:t>target=8, done 0→1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" y="4151376"/>
            <a:ext cx="5276088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4206240"/>
            <a:ext cx="5129783" cy="5120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B3255"/>
                </a:solidFill>
                <a:latin typeface="맑은 고딕"/>
              </a:rPr>
              <a:t>1.0 · (8−7) / 8 = +0.125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" y="4828032"/>
            <a:ext cx="527608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7D4F"/>
                </a:solidFill>
                <a:latin typeface="맑은 고딕"/>
              </a:rPr>
              <a:t>결과  +0.13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3346704"/>
            <a:ext cx="5532120" cy="182880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346704"/>
            <a:ext cx="5532120" cy="347472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3346704"/>
            <a:ext cx="5532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예시 B · gap=0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216" y="3767328"/>
            <a:ext cx="5276088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22A33"/>
                </a:solidFill>
                <a:latin typeface="맑은 고딕"/>
              </a:rPr>
              <a:t>이미 target 달성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0216" y="4151376"/>
            <a:ext cx="5276088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4206240"/>
            <a:ext cx="5129783" cy="5120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B3255"/>
                </a:solidFill>
                <a:latin typeface="맑은 고딕"/>
              </a:rPr>
              <a:t>gap_before=gap_after=0 → 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0216" y="4828032"/>
            <a:ext cx="527608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C6670"/>
                </a:solidFill>
                <a:latin typeface="맑은 고딕"/>
              </a:rPr>
              <a:t>결과  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248656"/>
            <a:ext cx="11201400" cy="1234440"/>
          </a:xfrm>
          <a:prstGeom prst="rect">
            <a:avLst/>
          </a:prstGeom>
          <a:solidFill>
            <a:srgbClr val="ECF1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5248656"/>
            <a:ext cx="11201400" cy="329184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248656"/>
            <a:ext cx="112014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SYM_3x3 실측 — Step 1  ·  EQP001 → PPK001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650992"/>
            <a:ext cx="108813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>
                <a:solidFill>
                  <a:srgbClr val="222A33"/>
                </a:solidFill>
                <a:latin typeface="맑은 고딕"/>
              </a:rPr>
              <a:t>gap: 8→7 (done 0→1, target=8) · 1.0·(8−7)/8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035040"/>
            <a:ext cx="108813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7D4F"/>
                </a:solidFill>
                <a:latin typeface="맑은 고딕"/>
              </a:rPr>
              <a:t>→  = +0.14  </a:t>
            </a:r>
            <a:r>
              <a:rPr sz="950" b="0">
                <a:solidFill>
                  <a:srgbClr val="5C6670"/>
                </a:solidFill>
                <a:latin typeface="맑은 고딕"/>
              </a:rPr>
              <a:t>(clip 전 항목 기여)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09560" y="530352"/>
            <a:ext cx="6400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1">
                <a:solidFill>
                  <a:srgbClr val="5C6670"/>
                </a:solidFill>
                <a:latin typeface="맑은 고딕"/>
              </a:rPr>
              <a:t>영향도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32520" y="621792"/>
            <a:ext cx="1874519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60636" y="576072"/>
            <a:ext cx="18288" cy="237744"/>
          </a:xfrm>
          <a:prstGeom prst="rect">
            <a:avLst/>
          </a:prstGeom>
          <a:solidFill>
            <a:srgbClr val="C4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69780" y="621792"/>
            <a:ext cx="93726" cy="146304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98480" y="557784"/>
            <a:ext cx="777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>
                <a:solidFill>
                  <a:srgbClr val="2E7D4F"/>
                </a:solidFill>
                <a:latin typeface="맑은 고딕"/>
              </a:rPr>
              <a:t>+1.0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03  보상 산출 로직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보상 항목 — 블록 보너스  (w=+3.0)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07008"/>
            <a:ext cx="11201400" cy="566928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07008"/>
            <a:ext cx="112014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r = w_bulk · min(N / takt예산, 1)   [블록 시작 시에만]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828800"/>
            <a:ext cx="11201400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883664"/>
            <a:ext cx="108813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6FB0"/>
                </a:solidFill>
                <a:latin typeface="맑은 고딕"/>
              </a:rPr>
              <a:t>쉬운 설명  </a:t>
            </a:r>
            <a:r>
              <a:rPr sz="1050" b="0">
                <a:solidFill>
                  <a:srgbClr val="222A33"/>
                </a:solidFill>
                <a:latin typeface="맑은 고딕"/>
              </a:rPr>
              <a:t>블록 시작 시 N캐리어 연속 처리를 약속(commit)하면 +. 연속 2번째 LOT에는 없음.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322576"/>
            <a:ext cx="11201400" cy="987552"/>
          </a:xfrm>
          <a:prstGeom prst="rect">
            <a:avLst/>
          </a:prstGeom>
          <a:solidFill>
            <a:srgbClr val="DDE6F0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377440"/>
            <a:ext cx="10881360" cy="9235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N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커밋 블록 크기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takt 예산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horizon 내 허용 캐리어 수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w_bulk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+3.0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163824"/>
            <a:ext cx="11201400" cy="310896"/>
          </a:xfrm>
          <a:prstGeom prst="rect">
            <a:avLst/>
          </a:prstGeom>
          <a:solidFill>
            <a:srgbClr val="ECF1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09544"/>
            <a:ext cx="1088136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4A6D8C"/>
                </a:solidFill>
                <a:latin typeface="맑은 고딕"/>
              </a:rPr>
              <a:t>왜 필요한가  </a:t>
            </a:r>
            <a:r>
              <a:rPr sz="1000" b="0">
                <a:solidFill>
                  <a:srgbClr val="222A33"/>
                </a:solidFill>
                <a:latin typeface="맑은 고딕"/>
              </a:rPr>
              <a:t>한 설비·한 셋업으로 길게 밀어라 — Bulk-Fill 핵심.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547872"/>
            <a:ext cx="5532120" cy="182880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547872"/>
            <a:ext cx="5532120" cy="347472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547872"/>
            <a:ext cx="5532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예시 A · 블록 시작 N=8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" y="3968496"/>
            <a:ext cx="5276088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22A33"/>
                </a:solidFill>
                <a:latin typeface="맑은 고딕"/>
              </a:rPr>
              <a:t>EQP001, PPK001, takt 예산=8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" y="4352544"/>
            <a:ext cx="5276088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4407408"/>
            <a:ext cx="5129783" cy="5120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B3255"/>
                </a:solidFill>
                <a:latin typeface="맑은 고딕"/>
              </a:rPr>
              <a:t>3.0 · min(8/8, 1) = +3.0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" y="5029200"/>
            <a:ext cx="527608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7D4F"/>
                </a:solidFill>
                <a:latin typeface="맑은 고딕"/>
              </a:rPr>
              <a:t>결과  +3.0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3547872"/>
            <a:ext cx="5532120" cy="182880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547872"/>
            <a:ext cx="5532120" cy="347472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3547872"/>
            <a:ext cx="5532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예시 B · N=1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216" y="3968496"/>
            <a:ext cx="5276088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22A33"/>
                </a:solidFill>
                <a:latin typeface="맑은 고딕"/>
              </a:rPr>
              <a:t>블록 없이 1캐리어만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0216" y="4352544"/>
            <a:ext cx="5276088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4407408"/>
            <a:ext cx="5129783" cy="5120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B3255"/>
                </a:solidFill>
                <a:latin typeface="맑은 고딕"/>
              </a:rPr>
              <a:t>블록 시작 아님 또는 N=1 → 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0216" y="5029200"/>
            <a:ext cx="527608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C6670"/>
                </a:solidFill>
                <a:latin typeface="맑은 고딕"/>
              </a:rPr>
              <a:t>결과  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449824"/>
            <a:ext cx="11201400" cy="1234440"/>
          </a:xfrm>
          <a:prstGeom prst="rect">
            <a:avLst/>
          </a:prstGeom>
          <a:solidFill>
            <a:srgbClr val="ECF1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5449824"/>
            <a:ext cx="11201400" cy="329184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449824"/>
            <a:ext cx="112014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SYM_3x3 실측 — Step 1  ·  EQP001 → PPK001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852160"/>
            <a:ext cx="108813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>
                <a:solidFill>
                  <a:srgbClr val="222A33"/>
                </a:solidFill>
                <a:latin typeface="맑은 고딕"/>
              </a:rPr>
              <a:t>3.0 · min(6 / 6, 1) = 3.0 · 1.0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236208"/>
            <a:ext cx="108813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7D4F"/>
                </a:solidFill>
                <a:latin typeface="맑은 고딕"/>
              </a:rPr>
              <a:t>→  = +3.00  </a:t>
            </a:r>
            <a:r>
              <a:rPr sz="950" b="0">
                <a:solidFill>
                  <a:srgbClr val="5C6670"/>
                </a:solidFill>
                <a:latin typeface="맑은 고딕"/>
              </a:rPr>
              <a:t>(clip 전 항목 기여)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09560" y="530352"/>
            <a:ext cx="6400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1">
                <a:solidFill>
                  <a:srgbClr val="5C6670"/>
                </a:solidFill>
                <a:latin typeface="맑은 고딕"/>
              </a:rPr>
              <a:t>영향도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32520" y="621792"/>
            <a:ext cx="1874519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60636" y="576072"/>
            <a:ext cx="18288" cy="237744"/>
          </a:xfrm>
          <a:prstGeom prst="rect">
            <a:avLst/>
          </a:prstGeom>
          <a:solidFill>
            <a:srgbClr val="C4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69780" y="621792"/>
            <a:ext cx="281178" cy="146304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98480" y="557784"/>
            <a:ext cx="777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>
                <a:solidFill>
                  <a:srgbClr val="2E7D4F"/>
                </a:solidFill>
                <a:latin typeface="맑은 고딕"/>
              </a:rPr>
              <a:t>+3.0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03  보상 산출 로직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보상 항목 — 전환  (w=−10.0)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07008"/>
            <a:ext cx="11201400" cy="566928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07008"/>
            <a:ext cx="112014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r = w_conversion · 1[LOT_CD/TEMP 셋업 변경]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828800"/>
            <a:ext cx="11201400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883664"/>
            <a:ext cx="108813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6FB0"/>
                </a:solidFill>
                <a:latin typeface="맑은 고딕"/>
              </a:rPr>
              <a:t>쉬운 설명  </a:t>
            </a:r>
            <a:r>
              <a:rPr sz="1050" b="0">
                <a:solidFill>
                  <a:srgbClr val="222A33"/>
                </a:solidFill>
                <a:latin typeface="맑은 고딕"/>
              </a:rPr>
              <a:t>LOT_CD/TEMP 셋업이 바뀌는 전환 1회마다 −10.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322576"/>
            <a:ext cx="11201400" cy="786384"/>
          </a:xfrm>
          <a:prstGeom prst="rect">
            <a:avLst/>
          </a:prstGeom>
          <a:solidFill>
            <a:srgbClr val="DDE6F0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377440"/>
            <a:ext cx="10881360" cy="72237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w_conv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−10.0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1[전환]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셋업 변경 발생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962656"/>
            <a:ext cx="11201400" cy="310896"/>
          </a:xfrm>
          <a:prstGeom prst="rect">
            <a:avLst/>
          </a:prstGeom>
          <a:solidFill>
            <a:srgbClr val="ECF1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008376"/>
            <a:ext cx="1088136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4A6D8C"/>
                </a:solidFill>
                <a:latin typeface="맑은 고딕"/>
              </a:rPr>
              <a:t>왜 필요한가  </a:t>
            </a:r>
            <a:r>
              <a:rPr sz="1000" b="0">
                <a:solidFill>
                  <a:srgbClr val="222A33"/>
                </a:solidFill>
                <a:latin typeface="맑은 고딕"/>
              </a:rPr>
              <a:t>전환 = 설비 가동 손실. 근본적으로 줄이게 함.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346704"/>
            <a:ext cx="5532120" cy="182880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346704"/>
            <a:ext cx="5532120" cy="347472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346704"/>
            <a:ext cx="5532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예시 A · 전환 없음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" y="3767328"/>
            <a:ext cx="5276088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22A33"/>
                </a:solidFill>
                <a:latin typeface="맑은 고딕"/>
              </a:rPr>
              <a:t>동일 셋업 블록 연속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" y="4151376"/>
            <a:ext cx="5276088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4206240"/>
            <a:ext cx="5129783" cy="5120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B3255"/>
                </a:solidFill>
                <a:latin typeface="맑은 고딕"/>
              </a:rPr>
              <a:t>1[전환]=0 → 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" y="4828032"/>
            <a:ext cx="527608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C6670"/>
                </a:solidFill>
                <a:latin typeface="맑은 고딕"/>
              </a:rPr>
              <a:t>결과  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3346704"/>
            <a:ext cx="5532120" cy="182880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346704"/>
            <a:ext cx="5532120" cy="347472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3346704"/>
            <a:ext cx="5532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예시 B · 전환 발생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216" y="3767328"/>
            <a:ext cx="5276088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22A33"/>
                </a:solidFill>
                <a:latin typeface="맑은 고딕"/>
              </a:rPr>
              <a:t>PPK001→PPK002 셋업 변경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0216" y="4151376"/>
            <a:ext cx="5276088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4206240"/>
            <a:ext cx="5129783" cy="5120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B3255"/>
                </a:solidFill>
                <a:latin typeface="맑은 고딕"/>
              </a:rPr>
              <a:t>−10.0 · 1 = −10.0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0216" y="4828032"/>
            <a:ext cx="527608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B33A3A"/>
                </a:solidFill>
                <a:latin typeface="맑은 고딕"/>
              </a:rPr>
              <a:t>결과  −10.0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248656"/>
            <a:ext cx="11201400" cy="1234440"/>
          </a:xfrm>
          <a:prstGeom prst="rect">
            <a:avLst/>
          </a:prstGeom>
          <a:solidFill>
            <a:srgbClr val="ECF1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5248656"/>
            <a:ext cx="11201400" cy="329184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248656"/>
            <a:ext cx="112014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SYM_3x3 실측 — 해당 항목 비발생 (0)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687568"/>
            <a:ext cx="108813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이 트레이스에서는 해당 항목이 발생하지 않아 0입니다. </a:t>
            </a:r>
            <a:r>
              <a:rPr sz="1000" b="1">
                <a:solidFill>
                  <a:srgbClr val="1B3255"/>
                </a:solidFill>
                <a:latin typeface="맑은 고딕"/>
              </a:rPr>
              <a:t>예시 B 시나리오를 참고하세요.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9560" y="530352"/>
            <a:ext cx="6400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1">
                <a:solidFill>
                  <a:srgbClr val="5C6670"/>
                </a:solidFill>
                <a:latin typeface="맑은 고딕"/>
              </a:rPr>
              <a:t>영향도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32520" y="621792"/>
            <a:ext cx="1874519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660636" y="576072"/>
            <a:ext cx="18288" cy="237744"/>
          </a:xfrm>
          <a:prstGeom prst="rect">
            <a:avLst/>
          </a:prstGeom>
          <a:solidFill>
            <a:srgbClr val="C4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732520" y="621792"/>
            <a:ext cx="937259" cy="146304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98480" y="557784"/>
            <a:ext cx="777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>
                <a:solidFill>
                  <a:srgbClr val="B33A3A"/>
                </a:solidFill>
                <a:latin typeface="맑은 고딕"/>
              </a:rPr>
              <a:t>-10.0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03  보상 산출 로직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보상 항목 — 회피가능 전환  (w=−8.0)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07008"/>
            <a:ext cx="11201400" cy="566928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07008"/>
            <a:ext cx="112014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r = w_avoidable · α   ;  α = 회피가능 비율 (0~1)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828800"/>
            <a:ext cx="11201400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883664"/>
            <a:ext cx="108813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6FB0"/>
                </a:solidFill>
                <a:latin typeface="맑은 고딕"/>
              </a:rPr>
              <a:t>쉬운 설명  </a:t>
            </a:r>
            <a:r>
              <a:rPr sz="1050" b="0">
                <a:solidFill>
                  <a:srgbClr val="222A33"/>
                </a:solidFill>
                <a:latin typeface="맑은 고딕"/>
              </a:rPr>
              <a:t>굳이 이 설비에서 바꿀 필요 없었는데 전환하면 추가 −8×α.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322576"/>
            <a:ext cx="11201400" cy="585216"/>
          </a:xfrm>
          <a:prstGeom prst="rect">
            <a:avLst/>
          </a:prstGeom>
          <a:solidFill>
            <a:srgbClr val="DDE6F0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377440"/>
            <a:ext cx="10881360" cy="52120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α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0~1 회피가능 비율 (다른 설비 커버 등)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61488"/>
            <a:ext cx="11201400" cy="310896"/>
          </a:xfrm>
          <a:prstGeom prst="rect">
            <a:avLst/>
          </a:prstGeom>
          <a:solidFill>
            <a:srgbClr val="ECF1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807208"/>
            <a:ext cx="1088136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4A6D8C"/>
                </a:solidFill>
                <a:latin typeface="맑은 고딕"/>
              </a:rPr>
              <a:t>왜 필요한가  </a:t>
            </a:r>
            <a:r>
              <a:rPr sz="1000" b="0">
                <a:solidFill>
                  <a:srgbClr val="222A33"/>
                </a:solidFill>
                <a:latin typeface="맑은 고딕"/>
              </a:rPr>
              <a:t>다른 idle 설비에 맡기라는 신호.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145536"/>
            <a:ext cx="5532120" cy="182880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145536"/>
            <a:ext cx="5532120" cy="347472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145536"/>
            <a:ext cx="5532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예시 A · 전환 없음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" y="3566160"/>
            <a:ext cx="5276088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22A33"/>
                </a:solidFill>
                <a:latin typeface="맑은 고딕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" y="3950208"/>
            <a:ext cx="5276088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4005072"/>
            <a:ext cx="5129783" cy="5120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B3255"/>
                </a:solidFill>
                <a:latin typeface="맑은 고딕"/>
              </a:rPr>
              <a:t>전환 없음 → 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" y="4626864"/>
            <a:ext cx="527608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C6670"/>
                </a:solidFill>
                <a:latin typeface="맑은 고딕"/>
              </a:rPr>
              <a:t>결과  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3145536"/>
            <a:ext cx="5532120" cy="182880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145536"/>
            <a:ext cx="5532120" cy="347472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3145536"/>
            <a:ext cx="5532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예시 B · 회피가능 전환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216" y="3566160"/>
            <a:ext cx="5276088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22A33"/>
                </a:solidFill>
                <a:latin typeface="맑은 고딕"/>
              </a:rPr>
              <a:t>다른 설비가 PPK002를 70% 커버 가능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0216" y="3950208"/>
            <a:ext cx="5276088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4005072"/>
            <a:ext cx="5129783" cy="5120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B3255"/>
                </a:solidFill>
                <a:latin typeface="맑은 고딕"/>
              </a:rPr>
              <a:t>−8.0 · 0.7 = −5.6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0216" y="4626864"/>
            <a:ext cx="527608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B33A3A"/>
                </a:solidFill>
                <a:latin typeface="맑은 고딕"/>
              </a:rPr>
              <a:t>결과  −5.6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047488"/>
            <a:ext cx="11201400" cy="1234440"/>
          </a:xfrm>
          <a:prstGeom prst="rect">
            <a:avLst/>
          </a:prstGeom>
          <a:solidFill>
            <a:srgbClr val="ECF1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5047488"/>
            <a:ext cx="11201400" cy="329184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047488"/>
            <a:ext cx="112014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SYM_3x3 실측 — 해당 항목 비발생 (0)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486400"/>
            <a:ext cx="108813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이 트레이스에서는 해당 항목이 발생하지 않아 0입니다. </a:t>
            </a:r>
            <a:r>
              <a:rPr sz="1000" b="1">
                <a:solidFill>
                  <a:srgbClr val="1B3255"/>
                </a:solidFill>
                <a:latin typeface="맑은 고딕"/>
              </a:rPr>
              <a:t>예시 B 시나리오를 참고하세요.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9560" y="530352"/>
            <a:ext cx="6400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1">
                <a:solidFill>
                  <a:srgbClr val="5C6670"/>
                </a:solidFill>
                <a:latin typeface="맑은 고딕"/>
              </a:rPr>
              <a:t>영향도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32520" y="621792"/>
            <a:ext cx="1874519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660636" y="576072"/>
            <a:ext cx="18288" cy="237744"/>
          </a:xfrm>
          <a:prstGeom prst="rect">
            <a:avLst/>
          </a:prstGeom>
          <a:solidFill>
            <a:srgbClr val="C4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919972" y="621792"/>
            <a:ext cx="749808" cy="146304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98480" y="557784"/>
            <a:ext cx="777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>
                <a:solidFill>
                  <a:srgbClr val="B33A3A"/>
                </a:solidFill>
                <a:latin typeface="맑은 고딕"/>
              </a:rPr>
              <a:t>-8.0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03  보상 산출 로직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보상 항목 — 중복 커버  (w=−5.0)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07008"/>
            <a:ext cx="11201400" cy="566928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07008"/>
            <a:ext cx="112014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r = w_redundant · min(cover / need, 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828800"/>
            <a:ext cx="11201400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883664"/>
            <a:ext cx="108813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6FB0"/>
                </a:solidFill>
                <a:latin typeface="맑은 고딕"/>
              </a:rPr>
              <a:t>쉬운 설명  </a:t>
            </a:r>
            <a:r>
              <a:rPr sz="1050" b="0">
                <a:solidFill>
                  <a:srgbClr val="222A33"/>
                </a:solidFill>
                <a:latin typeface="맑은 고딕"/>
              </a:rPr>
              <a:t>다른 설비가 이미 충분히 덮는 제품을 또 잡으면 −.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322576"/>
            <a:ext cx="11201400" cy="786384"/>
          </a:xfrm>
          <a:prstGeom prst="rect">
            <a:avLst/>
          </a:prstGeom>
          <a:solidFill>
            <a:srgbClr val="DDE6F0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377440"/>
            <a:ext cx="10881360" cy="72237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cover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다른 EQP horizon 투영 생산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need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잔여 필요량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962656"/>
            <a:ext cx="11201400" cy="310896"/>
          </a:xfrm>
          <a:prstGeom prst="rect">
            <a:avLst/>
          </a:prstGeom>
          <a:solidFill>
            <a:srgbClr val="ECF1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008376"/>
            <a:ext cx="1088136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4A6D8C"/>
                </a:solidFill>
                <a:latin typeface="맑은 고딕"/>
              </a:rPr>
              <a:t>왜 필요한가  </a:t>
            </a:r>
            <a:r>
              <a:rPr sz="1000" b="0">
                <a:solidFill>
                  <a:srgbClr val="222A33"/>
                </a:solidFill>
                <a:latin typeface="맑은 고딕"/>
              </a:rPr>
              <a:t>3대가 같은 제품만 몰리는 lockstep 방지.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346704"/>
            <a:ext cx="5532120" cy="182880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346704"/>
            <a:ext cx="5532120" cy="347472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346704"/>
            <a:ext cx="5532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예시 A · cover=0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" y="3767328"/>
            <a:ext cx="5276088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22A33"/>
                </a:solidFill>
                <a:latin typeface="맑은 고딕"/>
              </a:rPr>
              <a:t>전담 제품, 다른 설비 커버 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" y="4151376"/>
            <a:ext cx="5276088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4206240"/>
            <a:ext cx="5129783" cy="5120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B3255"/>
                </a:solidFill>
                <a:latin typeface="맑은 고딕"/>
              </a:rPr>
              <a:t>cover=0 → 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" y="4828032"/>
            <a:ext cx="527608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C6670"/>
                </a:solidFill>
                <a:latin typeface="맑은 고딕"/>
              </a:rPr>
              <a:t>결과  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3346704"/>
            <a:ext cx="5532120" cy="182880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346704"/>
            <a:ext cx="5532120" cy="347472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3346704"/>
            <a:ext cx="5532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예시 B · 중복 커버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216" y="3767328"/>
            <a:ext cx="5276088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22A33"/>
                </a:solidFill>
                <a:latin typeface="맑은 고딕"/>
              </a:rPr>
              <a:t>cover/need ≈ 0.4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0216" y="4151376"/>
            <a:ext cx="5276088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4206240"/>
            <a:ext cx="5129783" cy="5120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B3255"/>
                </a:solidFill>
                <a:latin typeface="맑은 고딕"/>
              </a:rPr>
              <a:t>−5.0 · min(0.4, 2) ≈ −2.0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0216" y="4828032"/>
            <a:ext cx="527608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B33A3A"/>
                </a:solidFill>
                <a:latin typeface="맑은 고딕"/>
              </a:rPr>
              <a:t>결과  −2.0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248656"/>
            <a:ext cx="11201400" cy="1234440"/>
          </a:xfrm>
          <a:prstGeom prst="rect">
            <a:avLst/>
          </a:prstGeom>
          <a:solidFill>
            <a:srgbClr val="ECF1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5248656"/>
            <a:ext cx="11201400" cy="329184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248656"/>
            <a:ext cx="112014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SYM_3x3 실측 — Step 1  ·  EQP001 → PPK001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650992"/>
            <a:ext cx="108813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>
                <a:solidFill>
                  <a:srgbClr val="222A33"/>
                </a:solidFill>
                <a:latin typeface="맑은 고딕"/>
              </a:rPr>
              <a:t>cover=0.0, need=8 → 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035040"/>
            <a:ext cx="108813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5C6670"/>
                </a:solidFill>
                <a:latin typeface="맑은 고딕"/>
              </a:rPr>
              <a:t>→  = -0.00  </a:t>
            </a:r>
            <a:r>
              <a:rPr sz="950" b="0">
                <a:solidFill>
                  <a:srgbClr val="5C6670"/>
                </a:solidFill>
                <a:latin typeface="맑은 고딕"/>
              </a:rPr>
              <a:t>(clip 전 항목 기여)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09560" y="530352"/>
            <a:ext cx="6400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1">
                <a:solidFill>
                  <a:srgbClr val="5C6670"/>
                </a:solidFill>
                <a:latin typeface="맑은 고딕"/>
              </a:rPr>
              <a:t>영향도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32520" y="621792"/>
            <a:ext cx="1874519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60636" y="576072"/>
            <a:ext cx="18288" cy="237744"/>
          </a:xfrm>
          <a:prstGeom prst="rect">
            <a:avLst/>
          </a:prstGeom>
          <a:solidFill>
            <a:srgbClr val="C4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201150" y="621792"/>
            <a:ext cx="468629" cy="146304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98480" y="557784"/>
            <a:ext cx="777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>
                <a:solidFill>
                  <a:srgbClr val="B33A3A"/>
                </a:solidFill>
                <a:latin typeface="맑은 고딕"/>
              </a:rPr>
              <a:t>-5.0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03  보상 산출 로직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보상 항목 — 전용 오용  (w=−4.0)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07008"/>
            <a:ext cx="11201400" cy="566928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07008"/>
            <a:ext cx="112014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r = w_dedication_misuse · 1[더 전용 idle 설비 존재]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828800"/>
            <a:ext cx="11201400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883664"/>
            <a:ext cx="108813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6FB0"/>
                </a:solidFill>
                <a:latin typeface="맑은 고딕"/>
              </a:rPr>
              <a:t>쉬운 설명  </a:t>
            </a:r>
            <a:r>
              <a:rPr sz="1050" b="0">
                <a:solidFill>
                  <a:srgbClr val="222A33"/>
                </a:solidFill>
                <a:latin typeface="맑은 고딕"/>
              </a:rPr>
              <a:t>범용 설비가 전용 idle 설비도 할 수 있는 일을 가져가면 −4.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322576"/>
            <a:ext cx="11201400" cy="585216"/>
          </a:xfrm>
          <a:prstGeom prst="rect">
            <a:avLst/>
          </a:prstGeom>
          <a:solidFill>
            <a:srgbClr val="DDE6F0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377440"/>
            <a:ext cx="10881360" cy="52120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breadth  </a:t>
            </a:r>
            <a:r>
              <a:rPr sz="1000" b="0">
                <a:solidFill>
                  <a:srgbClr val="5C6670"/>
                </a:solidFill>
                <a:latin typeface="맑은 고딕"/>
              </a:rPr>
              <a:t>장비가 할 수 있는 제품 종류 수 — 작을수록 전용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61488"/>
            <a:ext cx="11201400" cy="310896"/>
          </a:xfrm>
          <a:prstGeom prst="rect">
            <a:avLst/>
          </a:prstGeom>
          <a:solidFill>
            <a:srgbClr val="ECF1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807208"/>
            <a:ext cx="1088136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4A6D8C"/>
                </a:solidFill>
                <a:latin typeface="맑은 고딕"/>
              </a:rPr>
              <a:t>왜 필요한가  </a:t>
            </a:r>
            <a:r>
              <a:rPr sz="1000" b="0">
                <a:solidFill>
                  <a:srgbClr val="222A33"/>
                </a:solidFill>
                <a:latin typeface="맑은 고딕"/>
              </a:rPr>
              <a:t>전용 설비는 전용 제품에, 범용은 범용에.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145536"/>
            <a:ext cx="5532120" cy="182880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145536"/>
            <a:ext cx="5532120" cy="347472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145536"/>
            <a:ext cx="5532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예시 A · 전담 적합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" y="3566160"/>
            <a:ext cx="5276088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22A33"/>
                </a:solidFill>
                <a:latin typeface="맑은 고딕"/>
              </a:rPr>
              <a:t>EQP001 전담 PPK001, 더 전용 idle 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" y="3950208"/>
            <a:ext cx="5276088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4005072"/>
            <a:ext cx="5129783" cy="5120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B3255"/>
                </a:solidFill>
                <a:latin typeface="맑은 고딕"/>
              </a:rPr>
              <a:t>1[전용 오용]=0 → 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" y="4626864"/>
            <a:ext cx="527608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C6670"/>
                </a:solidFill>
                <a:latin typeface="맑은 고딕"/>
              </a:rPr>
              <a:t>결과  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3145536"/>
            <a:ext cx="5532120" cy="182880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145536"/>
            <a:ext cx="5532120" cy="347472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3145536"/>
            <a:ext cx="55321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예시 B · 범용 오용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216" y="3566160"/>
            <a:ext cx="5276088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22A33"/>
                </a:solidFill>
                <a:latin typeface="맑은 고딕"/>
              </a:rPr>
              <a:t>범용 EQP가 전용 EQP 가능 버킷 선점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0216" y="3950208"/>
            <a:ext cx="5276088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4005072"/>
            <a:ext cx="5129783" cy="5120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B3255"/>
                </a:solidFill>
                <a:latin typeface="맑은 고딕"/>
              </a:rPr>
              <a:t>−4.0 · 1 = −4.0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0216" y="4626864"/>
            <a:ext cx="527608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B33A3A"/>
                </a:solidFill>
                <a:latin typeface="맑은 고딕"/>
              </a:rPr>
              <a:t>결과  −4.0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047488"/>
            <a:ext cx="11201400" cy="1234440"/>
          </a:xfrm>
          <a:prstGeom prst="rect">
            <a:avLst/>
          </a:prstGeom>
          <a:solidFill>
            <a:srgbClr val="ECF1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5047488"/>
            <a:ext cx="11201400" cy="329184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047488"/>
            <a:ext cx="112014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SYM_3x3 실측 — 해당 항목 비발생 (0)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486400"/>
            <a:ext cx="108813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이 트레이스에서는 해당 항목이 발생하지 않아 0입니다. </a:t>
            </a:r>
            <a:r>
              <a:rPr sz="1000" b="1">
                <a:solidFill>
                  <a:srgbClr val="1B3255"/>
                </a:solidFill>
                <a:latin typeface="맑은 고딕"/>
              </a:rPr>
              <a:t>예시 B 시나리오를 참고하세요.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9560" y="530352"/>
            <a:ext cx="6400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1">
                <a:solidFill>
                  <a:srgbClr val="5C6670"/>
                </a:solidFill>
                <a:latin typeface="맑은 고딕"/>
              </a:rPr>
              <a:t>영향도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32520" y="621792"/>
            <a:ext cx="1874519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660636" y="576072"/>
            <a:ext cx="18288" cy="237744"/>
          </a:xfrm>
          <a:prstGeom prst="rect">
            <a:avLst/>
          </a:prstGeom>
          <a:solidFill>
            <a:srgbClr val="C4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294876" y="621792"/>
            <a:ext cx="374904" cy="146304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98480" y="557784"/>
            <a:ext cx="777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>
                <a:solidFill>
                  <a:srgbClr val="B33A3A"/>
                </a:solidFill>
                <a:latin typeface="맑은 고딕"/>
              </a:rPr>
              <a:t>-4.0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03  보상 산출 로직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Step 1 — 블록 시작 (N=6 커밋 · 이번 1LOT)  (EQP001 → PPK001)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98448"/>
            <a:ext cx="2697480" cy="384048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98448"/>
            <a:ext cx="26974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State  (관측 요약)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682496"/>
            <a:ext cx="2697480" cy="233172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810512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시뮬 시각 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1810512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0 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112264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계획 달성률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112264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414016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완료 수량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2414016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0 / 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715768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전환 누적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2715768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0 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017520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유휴 설비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3017520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3 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319272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obs[0] 시간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319272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0.000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621024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obs[3] 진척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3621024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0.000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1298448"/>
            <a:ext cx="2697480" cy="38404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6840" y="1298448"/>
            <a:ext cx="26974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Action  (행동)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06840" y="1682496"/>
            <a:ext cx="2697480" cy="233172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62288" y="1810512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결정 설비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5560" y="1810512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EQP001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2121408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버킷 PPK/OPER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5560" y="2121408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PPK001 / OPER001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62288" y="2432303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블록 레벨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95560" y="2432303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L=3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62288" y="2743199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블록 커밋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95560" y="2743199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N=6 연속 처리 약속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62288" y="3054095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remaining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95560" y="3054095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5 (다음 idle마다)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62288" y="3364991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배정 LOT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95560" y="3364991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LOT001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62288" y="3675887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유형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95560" y="3675887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블록 시작 (N=6 커밋 · 이번 1LOT)</a:t>
            </a:r>
          </a:p>
        </p:txBody>
      </p:sp>
      <p:pic>
        <p:nvPicPr>
          <p:cNvPr id="44" name="Picture 43" descr="step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298448"/>
            <a:ext cx="5532120" cy="217627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3337560" y="3511296"/>
            <a:ext cx="55321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연한 해칭 = N캐리어 커밋 구간  ·  실선 = 스케줄 등록 LOT (스텝마다 1개씩)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3703320"/>
            <a:ext cx="11201400" cy="347472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3703320"/>
            <a:ext cx="112014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Reward  r = +2.83   ·   누적 Σr = +2.83   ·   clip(Σ항, ±10)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4105656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" y="4105656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" y="4151376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동일 셋업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57800" y="4142232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6" y="4343400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w_same_setup · 1[동일 제품·공정 &amp; 재공 잔존]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936" y="4453128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1.0 · 1[None→PPK001, None→OPER001] = 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4617720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02920" y="4617720"/>
            <a:ext cx="64008" cy="457200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0936" y="4663440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페이싱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57800" y="4654296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33A3A"/>
                </a:solidFill>
                <a:latin typeface="맑은 고딕"/>
              </a:rPr>
              <a:t>-0.31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936" y="4855464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w_pacing · (|ideal − eff_before| − |ideal − eff_after|)…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0936" y="4965192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ideal: target·min(t,H)/H = 8·0/1320 = 0.0 · eff: 0.0→1.0 (done=0, cov…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" y="5129784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02920" y="5129784"/>
            <a:ext cx="64008" cy="4572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0936" y="5175504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계획 달성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57800" y="5166360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7D4F"/>
                </a:solidFill>
                <a:latin typeface="맑은 고딕"/>
              </a:rPr>
              <a:t>+0.14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0936" y="5367528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w_plan_hit · (gap_before − gap_after) / target   ;  gap…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0936" y="5477256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gap: 8→7 (done 0→1, target=8) · 1.0·(8−7)/8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5641848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02920" y="5641848"/>
            <a:ext cx="64008" cy="4572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0936" y="5687568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블록 보너스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257800" y="5678424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7D4F"/>
                </a:solidFill>
                <a:latin typeface="맑은 고딕"/>
              </a:rPr>
              <a:t>+3.00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" y="5879592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w_bulk · min(N / takt예산, 1)   [블록 시작]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0936" y="5989320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3.0 · min(6 / 6, 1) = 3.0 · 1.0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72200" y="4105656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72200" y="4105656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00216" y="4151376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전환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927080" y="4142232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00216" y="4343400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w_conversion · 1[LOT_CD/TEMP 전환]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00216" y="4453128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-10.0 · 1[전환 없음] = 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72200" y="4617720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172200" y="4617720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300216" y="4663440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회피가능 전환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927080" y="4654296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300216" y="4855464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w_avoidable · α   (α=회피가능 비율)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300216" y="4965192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전환 없음 또는 회피 불가 → 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72200" y="5129784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172200" y="5129784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300216" y="5175504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중복 커버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927080" y="5166360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-0.00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00216" y="5367528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w_redundant · min(cover / need, 2)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300216" y="5477256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cover=0.0, need=8 → 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72200" y="5641848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172200" y="5641848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300216" y="5687568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전용 오용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927080" y="5678424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300216" y="5879592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w_dedication_misuse · 1[더 전용 idle 설비 존재]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300216" y="5989320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더 전용 idle 설비 없음 → 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02920" y="6190488"/>
            <a:ext cx="11201400" cy="310896"/>
          </a:xfrm>
          <a:prstGeom prst="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58368" y="6190488"/>
            <a:ext cx="1088136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2E6FB0"/>
                </a:solidFill>
                <a:latin typeface="맑은 고딕"/>
              </a:rPr>
              <a:t>합산  </a:t>
            </a:r>
            <a:r>
              <a:rPr sz="950" b="0">
                <a:solidFill>
                  <a:srgbClr val="222A33"/>
                </a:solidFill>
                <a:latin typeface="맑은 고딕"/>
              </a:rPr>
              <a:t>동일 셋업 +0.00 + 페이싱 -0.31 + 계획 달성 +0.14 + 블록 보너스 +3.00 + 전환 +0.00 + 회피가능 전환 +0.00 + 중복 커버 -0.00 + 전용 오용 +0.00  →  r = +2.83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03  보상 산출 로직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Step 2 — 블록 시작 (N=6 커밋 · 이번 1LOT)  (EQP002 → PPK002)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38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98448"/>
            <a:ext cx="2697480" cy="384048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98448"/>
            <a:ext cx="26974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State  (관측 요약)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682496"/>
            <a:ext cx="2697480" cy="233172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810512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시뮬 시각 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1810512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0 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112264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계획 달성률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112264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4.2%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414016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완료 수량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2414016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1 / 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715768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전환 누적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2715768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0 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017520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유휴 설비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3017520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2 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319272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obs[0] 시간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319272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0.000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621024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obs[3] 진척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3621024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0.042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1298448"/>
            <a:ext cx="2697480" cy="38404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6840" y="1298448"/>
            <a:ext cx="26974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Action  (행동)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06840" y="1682496"/>
            <a:ext cx="2697480" cy="233172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62288" y="1810512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결정 설비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5560" y="1810512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EQP002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2121408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버킷 PPK/OPER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5560" y="2121408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PPK002 / OPER001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62288" y="2432303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블록 레벨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95560" y="2432303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L=3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62288" y="2743199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블록 커밋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95560" y="2743199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N=6 연속 처리 약속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62288" y="3054095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remaining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95560" y="3054095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5 (다음 idle마다)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62288" y="3364991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배정 LOT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95560" y="3364991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LOT009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62288" y="3675887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유형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95560" y="3675887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블록 시작 (N=6 커밋 · 이번 1LOT)</a:t>
            </a:r>
          </a:p>
        </p:txBody>
      </p:sp>
      <p:pic>
        <p:nvPicPr>
          <p:cNvPr id="44" name="Picture 43" descr="step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298448"/>
            <a:ext cx="5532120" cy="217627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3337560" y="3511296"/>
            <a:ext cx="55321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연한 해칭 = N캐리어 커밋 구간  ·  실선 = 스케줄 등록 LOT (스텝마다 1개씩)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3703320"/>
            <a:ext cx="11201400" cy="347472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3703320"/>
            <a:ext cx="112014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Reward  r = +2.83   ·   누적 Σr = +5.66   ·   clip(Σ항, ±10)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4105656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" y="4105656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" y="4151376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동일 셋업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57800" y="4142232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6" y="4343400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w_same_setup · 1[동일 제품·공정 &amp; 재공 잔존]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936" y="4453128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1.0 · 1[None→PPK002, None→OPER001] = 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4617720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02920" y="4617720"/>
            <a:ext cx="64008" cy="457200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0936" y="4663440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페이싱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57800" y="4654296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33A3A"/>
                </a:solidFill>
                <a:latin typeface="맑은 고딕"/>
              </a:rPr>
              <a:t>-0.31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936" y="4855464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w_pacing · (|ideal − eff_before| − |ideal − eff_after|)…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0936" y="4965192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ideal: target·min(t,H)/H = 8·0/1320 = 0.0 · eff: 0.0→1.0 (done=0, cov…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" y="5129784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02920" y="5129784"/>
            <a:ext cx="64008" cy="4572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0936" y="5175504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계획 달성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57800" y="5166360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7D4F"/>
                </a:solidFill>
                <a:latin typeface="맑은 고딕"/>
              </a:rPr>
              <a:t>+0.14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0936" y="5367528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w_plan_hit · (gap_before − gap_after) / target   ;  gap…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0936" y="5477256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gap: 8→7 (done 0→1, target=8) · 1.0·(8−7)/8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5641848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02920" y="5641848"/>
            <a:ext cx="64008" cy="4572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0936" y="5687568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블록 보너스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257800" y="5678424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7D4F"/>
                </a:solidFill>
                <a:latin typeface="맑은 고딕"/>
              </a:rPr>
              <a:t>+3.00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" y="5879592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w_bulk · min(N / takt예산, 1)   [블록 시작]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0936" y="5989320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3.0 · min(6 / 6, 1) = 3.0 · 1.0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72200" y="4105656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72200" y="4105656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00216" y="4151376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전환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927080" y="4142232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00216" y="4343400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w_conversion · 1[LOT_CD/TEMP 전환]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00216" y="4453128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-10.0 · 1[전환 없음] = 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72200" y="4617720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172200" y="4617720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300216" y="4663440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회피가능 전환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927080" y="4654296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300216" y="4855464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w_avoidable · α   (α=회피가능 비율)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300216" y="4965192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전환 없음 또는 회피 불가 → 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72200" y="5129784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172200" y="5129784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300216" y="5175504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중복 커버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927080" y="5166360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-0.00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00216" y="5367528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w_redundant · min(cover / need, 2)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300216" y="5477256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cover=0.0, need=8 → 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72200" y="5641848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172200" y="5641848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300216" y="5687568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전용 오용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927080" y="5678424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300216" y="5879592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w_dedication_misuse · 1[더 전용 idle 설비 존재]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300216" y="5989320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더 전용 idle 설비 없음 → 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02920" y="6190488"/>
            <a:ext cx="11201400" cy="310896"/>
          </a:xfrm>
          <a:prstGeom prst="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58368" y="6190488"/>
            <a:ext cx="1088136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2E6FB0"/>
                </a:solidFill>
                <a:latin typeface="맑은 고딕"/>
              </a:rPr>
              <a:t>합산  </a:t>
            </a:r>
            <a:r>
              <a:rPr sz="950" b="0">
                <a:solidFill>
                  <a:srgbClr val="222A33"/>
                </a:solidFill>
                <a:latin typeface="맑은 고딕"/>
              </a:rPr>
              <a:t>동일 셋업 +0.00 + 페이싱 -0.31 + 계획 달성 +0.14 + 블록 보너스 +3.00 + 전환 +0.00 + 회피가능 전환 +0.00 + 중복 커버 -0.00 + 전용 오용 +0.00  →  r = +2.83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03  보상 산출 로직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Step 3 — 블록 시작 (N=6 커밋 · 이번 1LOT)  (EQP003 → PPK003)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39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98448"/>
            <a:ext cx="2697480" cy="384048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98448"/>
            <a:ext cx="26974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State  (관측 요약)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682496"/>
            <a:ext cx="2697480" cy="233172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810512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시뮬 시각 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1810512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0 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112264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계획 달성률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112264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8.3%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414016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완료 수량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2414016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2 / 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715768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전환 누적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2715768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0 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017520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유휴 설비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3017520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1 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319272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obs[0] 시간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319272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0.000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621024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obs[3] 진척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3621024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0.083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1298448"/>
            <a:ext cx="2697480" cy="38404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6840" y="1298448"/>
            <a:ext cx="26974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Action  (행동)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06840" y="1682496"/>
            <a:ext cx="2697480" cy="233172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62288" y="1810512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결정 설비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5560" y="1810512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EQP003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2121408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버킷 PPK/OPER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5560" y="2121408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PPK003 / OPER001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62288" y="2432303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블록 레벨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95560" y="2432303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L=3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62288" y="2743199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블록 커밋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95560" y="2743199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N=6 연속 처리 약속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62288" y="3054095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remaining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95560" y="3054095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5 (다음 idle마다)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62288" y="3364991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배정 LOT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95560" y="3364991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LOT017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62288" y="3675887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유형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95560" y="3675887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블록 시작 (N=6 커밋 · 이번 1LOT)</a:t>
            </a:r>
          </a:p>
        </p:txBody>
      </p:sp>
      <p:pic>
        <p:nvPicPr>
          <p:cNvPr id="44" name="Picture 43" descr="step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298448"/>
            <a:ext cx="5532120" cy="217627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3337560" y="3511296"/>
            <a:ext cx="55321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연한 해칭 = N캐리어 커밋 구간  ·  실선 = 스케줄 등록 LOT (스텝마다 1개씩)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3703320"/>
            <a:ext cx="11201400" cy="347472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3703320"/>
            <a:ext cx="112014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Reward  r = +2.83   ·   누적 Σr = +8.49   ·   clip(Σ항, ±10)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4105656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" y="4105656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" y="4151376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동일 셋업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57800" y="4142232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6" y="4343400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w_same_setup · 1[동일 제품·공정 &amp; 재공 잔존]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936" y="4453128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1.0 · 1[None→PPK003, None→OPER001] = 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4617720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02920" y="4617720"/>
            <a:ext cx="64008" cy="457200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0936" y="4663440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페이싱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57800" y="4654296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33A3A"/>
                </a:solidFill>
                <a:latin typeface="맑은 고딕"/>
              </a:rPr>
              <a:t>-0.31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936" y="4855464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w_pacing · (|ideal − eff_before| − |ideal − eff_after|)…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0936" y="4965192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ideal: target·min(t,H)/H = 8·0/1320 = 0.0 · eff: 0.0→1.0 (done=0, cov…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" y="5129784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02920" y="5129784"/>
            <a:ext cx="64008" cy="4572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0936" y="5175504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계획 달성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57800" y="5166360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7D4F"/>
                </a:solidFill>
                <a:latin typeface="맑은 고딕"/>
              </a:rPr>
              <a:t>+0.14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0936" y="5367528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w_plan_hit · (gap_before − gap_after) / target   ;  gap…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0936" y="5477256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gap: 8→7 (done 0→1, target=8) · 1.0·(8−7)/8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5641848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02920" y="5641848"/>
            <a:ext cx="64008" cy="4572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0936" y="5687568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블록 보너스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257800" y="5678424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7D4F"/>
                </a:solidFill>
                <a:latin typeface="맑은 고딕"/>
              </a:rPr>
              <a:t>+3.00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" y="5879592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w_bulk · min(N / takt예산, 1)   [블록 시작]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0936" y="5989320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3.0 · min(6 / 6, 1) = 3.0 · 1.0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72200" y="4105656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72200" y="4105656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00216" y="4151376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전환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927080" y="4142232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00216" y="4343400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w_conversion · 1[LOT_CD/TEMP 전환]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00216" y="4453128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-10.0 · 1[전환 없음] = 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72200" y="4617720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172200" y="4617720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300216" y="4663440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회피가능 전환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927080" y="4654296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300216" y="4855464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w_avoidable · α   (α=회피가능 비율)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300216" y="4965192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전환 없음 또는 회피 불가 → 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72200" y="5129784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172200" y="5129784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300216" y="5175504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중복 커버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927080" y="5166360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-0.00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00216" y="5367528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w_redundant · min(cover / need, 2)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300216" y="5477256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cover=0.0, need=8 → 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72200" y="5641848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172200" y="5641848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300216" y="5687568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전용 오용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927080" y="5678424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300216" y="5879592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w_dedication_misuse · 1[더 전용 idle 설비 존재]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300216" y="5989320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더 전용 idle 설비 없음 → 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02920" y="6190488"/>
            <a:ext cx="11201400" cy="310896"/>
          </a:xfrm>
          <a:prstGeom prst="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58368" y="6190488"/>
            <a:ext cx="1088136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2E6FB0"/>
                </a:solidFill>
                <a:latin typeface="맑은 고딕"/>
              </a:rPr>
              <a:t>합산  </a:t>
            </a:r>
            <a:r>
              <a:rPr sz="950" b="0">
                <a:solidFill>
                  <a:srgbClr val="222A33"/>
                </a:solidFill>
                <a:latin typeface="맑은 고딕"/>
              </a:rPr>
              <a:t>동일 셋업 +0.00 + 페이싱 -0.31 + 계획 달성 +0.14 + 블록 보너스 +3.00 + 전환 +0.00 + 회피가능 전환 +0.00 + 중복 커버 -0.00 + 전용 오용 +0.00  →  r = +2.83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03  보상 산출 로직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Step 4 — 블록 연속 (LOT 2/6 · masked replay)  (EQP001 → PPK001)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98448"/>
            <a:ext cx="2697480" cy="384048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98448"/>
            <a:ext cx="26974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State  (관측 요약)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682496"/>
            <a:ext cx="2697480" cy="233172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810512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시뮬 시각 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1810512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0 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112264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계획 달성률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112264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12.5%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414016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완료 수량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2414016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3 / 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715768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전환 누적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2715768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0 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017520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유휴 설비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3017520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0 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319272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obs[0] 시간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319272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0.000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621024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obs[3] 진척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3621024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0.125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1298448"/>
            <a:ext cx="2697480" cy="38404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6840" y="1298448"/>
            <a:ext cx="26974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Action  (행동)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06840" y="1682496"/>
            <a:ext cx="2697480" cy="233172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62288" y="1810512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결정 설비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5560" y="1810512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EQP001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2157984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버킷 PPK/OPER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5560" y="2157984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PPK001 / OPER001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62288" y="2505456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블록 레벨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95560" y="2505456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L=3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62288" y="2852927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블록 진행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95560" y="2852927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LOT 2/6 추가 배정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62288" y="3200399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배정 LOT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95560" y="3200399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LOT004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62288" y="3547871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유형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95560" y="3547871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블록 연속 (LOT 2/6 · masked replay)</a:t>
            </a:r>
          </a:p>
        </p:txBody>
      </p:sp>
      <p:pic>
        <p:nvPicPr>
          <p:cNvPr id="42" name="Picture 41" descr="step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298448"/>
            <a:ext cx="5532120" cy="217627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3337560" y="3511296"/>
            <a:ext cx="55321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연한 해칭 = N캐리어 커밋 구간  ·  실선 = 스케줄 등록 LOT (스텝마다 1개씩)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3703320"/>
            <a:ext cx="11201400" cy="347472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3703320"/>
            <a:ext cx="112014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Reward  r = +0.83   ·   누적 Σr = +9.32   ·   clip(Σ항, ±10)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4105656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02920" y="4105656"/>
            <a:ext cx="64008" cy="4572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" y="4151376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동일 셋업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57800" y="4142232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7D4F"/>
                </a:solidFill>
                <a:latin typeface="맑은 고딕"/>
              </a:rPr>
              <a:t>+1.00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" y="4343400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w_same_setup · 1[동일 제품·공정 &amp; 재공 잔존]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6" y="4453128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1.0 · 1[None→PPK001, None→OPER001] = 1.0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4617720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02920" y="4617720"/>
            <a:ext cx="64008" cy="457200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" y="4663440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페이싱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57800" y="4654296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33A3A"/>
                </a:solidFill>
                <a:latin typeface="맑은 고딕"/>
              </a:rPr>
              <a:t>-0.31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936" y="4855464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w_pacing · (|ideal − eff_before| − |ideal − eff_after|)…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0936" y="4965192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ideal: target·min(t,H)/H = 8·0/1320 = 0.0 · eff: 22.0→23.0 (done=1, c…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5129784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2920" y="5129784"/>
            <a:ext cx="64008" cy="4572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0936" y="5175504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계획 달성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57800" y="5166360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7D4F"/>
                </a:solidFill>
                <a:latin typeface="맑은 고딕"/>
              </a:rPr>
              <a:t>+0.14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0936" y="5367528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w_plan_hit · (gap_before − gap_after) / target   ;  gap…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0936" y="5477256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gap: 7→6 (done 1→2, target=8) · 1.0·(7−6)/8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920" y="5641848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02920" y="5641848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0936" y="5687568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블록 보너스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57800" y="5678424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0936" y="5879592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w_bulk · min(N / takt예산, 1)   [블록 시작]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0936" y="5989320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블록 시작 아님 → 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72200" y="4105656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72200" y="4105656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00216" y="4151376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전환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927080" y="4142232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00216" y="4343400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w_conversion · 1[LOT_CD/TEMP 전환]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00216" y="4453128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-10.0 · 1[전환 없음] = 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172200" y="4617720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172200" y="4617720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00216" y="4663440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회피가능 전환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927080" y="4654296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300216" y="4855464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w_avoidable · α   (α=회피가능 비율)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00216" y="4965192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전환 없음 또는 회피 불가 → 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172200" y="5129784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172200" y="5129784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0216" y="5175504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중복 커버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927080" y="5166360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300216" y="5367528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w_redundant · min(cover / need, 2)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300216" y="5477256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cover=21.0, need=7 → 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172200" y="5641848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172200" y="5641848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300216" y="5687568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전용 오용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927080" y="5678424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00216" y="5879592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w_dedication_misuse · 1[더 전용 idle 설비 존재]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300216" y="5989320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더 전용 idle 설비 없음 → 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02920" y="6190488"/>
            <a:ext cx="11201400" cy="310896"/>
          </a:xfrm>
          <a:prstGeom prst="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58368" y="6190488"/>
            <a:ext cx="1088136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2E6FB0"/>
                </a:solidFill>
                <a:latin typeface="맑은 고딕"/>
              </a:rPr>
              <a:t>합산  </a:t>
            </a:r>
            <a:r>
              <a:rPr sz="950" b="0">
                <a:solidFill>
                  <a:srgbClr val="222A33"/>
                </a:solidFill>
                <a:latin typeface="맑은 고딕"/>
              </a:rPr>
              <a:t>동일 셋업 +1.00 + 페이싱 -0.31 + 계획 달성 +0.14 + 블록 보너스 +0.00 + 전환 +0.00 + 회피가능 전환 +0.00 + 중복 커버 +0.00 + 전용 오용 +0.00  →  r = +0.83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03  보상 산출 로직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Step 6 — 블록 연속 (LOT 2/6 · masked replay)  (EQP003 → PPK003)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41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98448"/>
            <a:ext cx="2697480" cy="384048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98448"/>
            <a:ext cx="26974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State  (관측 요약)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682496"/>
            <a:ext cx="2697480" cy="233172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810512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시뮬 시각 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1810512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60 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112264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계획 달성률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112264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20.8%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414016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완료 수량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2414016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5 / 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715768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전환 누적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2715768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0 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017520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유휴 설비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3017520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1 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319272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obs[0] 시간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319272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0.125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621024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obs[3] 진척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3621024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0.208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1298448"/>
            <a:ext cx="2697480" cy="38404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6840" y="1298448"/>
            <a:ext cx="26974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Action  (행동)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06840" y="1682496"/>
            <a:ext cx="2697480" cy="233172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62288" y="1810512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결정 설비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5560" y="1810512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EQP003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2157984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버킷 PPK/OPER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5560" y="2157984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PPK003 / OPER001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62288" y="2505456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블록 레벨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95560" y="2505456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L=3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62288" y="2852927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블록 진행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95560" y="2852927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LOT 2/6 추가 배정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62288" y="3200399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배정 LOT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95560" y="3200399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LOT018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62288" y="3547871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유형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95560" y="3547871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블록 연속 (LOT 2/6 · masked replay)</a:t>
            </a:r>
          </a:p>
        </p:txBody>
      </p:sp>
      <p:pic>
        <p:nvPicPr>
          <p:cNvPr id="42" name="Picture 41" descr="step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298448"/>
            <a:ext cx="5532120" cy="217627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3337560" y="3511296"/>
            <a:ext cx="55321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연한 해칭 = N캐리어 커밋 구간  ·  실선 = 스케줄 등록 LOT (스텝마다 1개씩)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3703320"/>
            <a:ext cx="11201400" cy="347472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3703320"/>
            <a:ext cx="112014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Reward  r = +0.83   ·   누적 Σr = +10.98   ·   clip(Σ항, ±10)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4105656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02920" y="4105656"/>
            <a:ext cx="64008" cy="4572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" y="4151376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동일 셋업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57800" y="4142232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7D4F"/>
                </a:solidFill>
                <a:latin typeface="맑은 고딕"/>
              </a:rPr>
              <a:t>+1.00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" y="4343400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w_same_setup · 1[동일 제품·공정 &amp; 재공 잔존]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6" y="4453128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1.0 · 1[PPK003→PPK003, OPER001→OPER001] = 1.0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4617720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02920" y="4617720"/>
            <a:ext cx="64008" cy="457200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" y="4663440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페이싱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57800" y="4654296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33A3A"/>
                </a:solidFill>
                <a:latin typeface="맑은 고딕"/>
              </a:rPr>
              <a:t>-0.31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936" y="4855464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w_pacing · (|ideal − eff_before| − |ideal − eff_after|)…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0936" y="4965192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ideal: target·min(t,H)/H = 8·60/1320 = 0.36 · eff: 1.0→2.0 (done=1, c…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5129784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2920" y="5129784"/>
            <a:ext cx="64008" cy="4572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0936" y="5175504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계획 달성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57800" y="5166360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7D4F"/>
                </a:solidFill>
                <a:latin typeface="맑은 고딕"/>
              </a:rPr>
              <a:t>+0.14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0936" y="5367528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w_plan_hit · (gap_before − gap_after) / target   ;  gap…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0936" y="5477256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gap: 7→6 (done 1→2, target=8) · 1.0·(7−6)/8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920" y="5641848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02920" y="5641848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0936" y="5687568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블록 보너스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57800" y="5678424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0936" y="5879592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w_bulk · min(N / takt예산, 1)   [블록 시작]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0936" y="5989320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블록 시작 아님 → 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72200" y="4105656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72200" y="4105656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00216" y="4151376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전환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927080" y="4142232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00216" y="4343400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w_conversion · 1[LOT_CD/TEMP 전환]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00216" y="4453128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-10.0 · 1[전환 없음] = 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172200" y="4617720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172200" y="4617720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00216" y="4663440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회피가능 전환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927080" y="4654296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300216" y="4855464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w_avoidable · α   (α=회피가능 비율)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00216" y="4965192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전환 없음 또는 회피 불가 → 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172200" y="5129784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172200" y="5129784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0216" y="5175504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중복 커버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927080" y="5166360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300216" y="5367528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w_redundant · min(cover / need, 2)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300216" y="5477256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cover=0.0, need=7 → 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172200" y="5641848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172200" y="5641848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300216" y="5687568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전용 오용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927080" y="5678424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00216" y="5879592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w_dedication_misuse · 1[더 전용 idle 설비 존재]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300216" y="5989320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더 전용 idle 설비 없음 → 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02920" y="6190488"/>
            <a:ext cx="11201400" cy="310896"/>
          </a:xfrm>
          <a:prstGeom prst="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58368" y="6190488"/>
            <a:ext cx="1088136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2E6FB0"/>
                </a:solidFill>
                <a:latin typeface="맑은 고딕"/>
              </a:rPr>
              <a:t>합산  </a:t>
            </a:r>
            <a:r>
              <a:rPr sz="950" b="0">
                <a:solidFill>
                  <a:srgbClr val="222A33"/>
                </a:solidFill>
                <a:latin typeface="맑은 고딕"/>
              </a:rPr>
              <a:t>동일 셋업 +1.00 + 페이싱 -0.31 + 계획 달성 +0.14 + 블록 보너스 +0.00 + 전환 +0.00 + 회피가능 전환 +0.00 + 중복 커버 +0.00 + 전용 오용 +0.00  →  r = +0.83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03  보상 산출 로직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Step 8 — 블록 연속 (LOT 3/6 · masked replay)  (EQP002 → PPK002)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98448"/>
            <a:ext cx="2697480" cy="384048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98448"/>
            <a:ext cx="26974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State  (관측 요약)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682496"/>
            <a:ext cx="2697480" cy="233172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810512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시뮬 시각 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1810512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120 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112264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계획 달성률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112264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29.2%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414016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완료 수량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2414016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7 / 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715768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전환 누적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2715768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0 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017520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유휴 설비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3017520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2 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319272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obs[0] 시간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319272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0.250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621024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obs[3] 진척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3621024"/>
            <a:ext cx="1234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B3255"/>
                </a:solidFill>
                <a:latin typeface="맑은 고딕"/>
              </a:rPr>
              <a:t>0.292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1298448"/>
            <a:ext cx="2697480" cy="38404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6840" y="1298448"/>
            <a:ext cx="26974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Action  (행동)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06840" y="1682496"/>
            <a:ext cx="2697480" cy="233172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62288" y="1810512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결정 설비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5560" y="1810512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EQP002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2157984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버킷 PPK/OPER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5560" y="2157984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PPK002 / OPER001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62288" y="2505456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블록 레벨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95560" y="2505456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L=3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62288" y="2852927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블록 진행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95560" y="2852927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LOT 3/6 추가 배정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62288" y="3200399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배정 LOT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95560" y="3200399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LOT015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62288" y="3547871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C6670"/>
                </a:solidFill>
                <a:latin typeface="맑은 고딕"/>
              </a:rPr>
              <a:t>유형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95560" y="3547871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블록 연속 (LOT 3/6 · masked replay)</a:t>
            </a:r>
          </a:p>
        </p:txBody>
      </p:sp>
      <p:pic>
        <p:nvPicPr>
          <p:cNvPr id="42" name="Picture 41" descr="step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298448"/>
            <a:ext cx="5532120" cy="217627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3337560" y="3511296"/>
            <a:ext cx="55321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연한 해칭 = N캐리어 커밋 구간  ·  실선 = 스케줄 등록 LOT (스텝마다 1개씩)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3703320"/>
            <a:ext cx="11201400" cy="347472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3703320"/>
            <a:ext cx="112014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Reward  r = +0.83   ·   누적 Σr = +12.64   ·   clip(Σ항, ±10)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4105656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02920" y="4105656"/>
            <a:ext cx="64008" cy="4572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" y="4151376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동일 셋업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57800" y="4142232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7D4F"/>
                </a:solidFill>
                <a:latin typeface="맑은 고딕"/>
              </a:rPr>
              <a:t>+1.00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" y="4343400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w_same_setup · 1[동일 제품·공정 &amp; 재공 잔존]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6" y="4453128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1.0 · 1[PPK002→PPK002, OPER001→OPER001] = 1.0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4617720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02920" y="4617720"/>
            <a:ext cx="64008" cy="457200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" y="4663440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페이싱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57800" y="4654296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33A3A"/>
                </a:solidFill>
                <a:latin typeface="맑은 고딕"/>
              </a:rPr>
              <a:t>-0.31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936" y="4855464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w_pacing · (|ideal − eff_before| − |ideal − eff_after|)…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0936" y="4965192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ideal: target·min(t,H)/H = 8·120/1320 = 0.73 · eff: 2.0→3.0 (done=2, …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5129784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2920" y="5129784"/>
            <a:ext cx="64008" cy="4572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0936" y="5175504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계획 달성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57800" y="5166360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7D4F"/>
                </a:solidFill>
                <a:latin typeface="맑은 고딕"/>
              </a:rPr>
              <a:t>+0.14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0936" y="5367528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w_plan_hit · (gap_before − gap_after) / target   ;  gap…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0936" y="5477256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gap: 6→5 (done 2→3, target=8) · 1.0·(6−5)/8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920" y="5641848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02920" y="5641848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0936" y="5687568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블록 보너스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57800" y="5678424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0936" y="5879592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w_bulk · min(N / takt예산, 1)   [블록 시작]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0936" y="5989320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블록 시작 아님 → 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72200" y="4105656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72200" y="4105656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00216" y="4151376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전환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927080" y="4142232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00216" y="4343400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w_conversion · 1[LOT_CD/TEMP 전환]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00216" y="4453128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-10.0 · 1[전환 없음] = 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172200" y="4617720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172200" y="4617720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00216" y="4663440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회피가능 전환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927080" y="4654296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300216" y="4855464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w_avoidable · α   (α=회피가능 비율)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00216" y="4965192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전환 없음 또는 회피 불가 → 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172200" y="5129784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172200" y="5129784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0216" y="5175504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중복 커버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927080" y="5166360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300216" y="5367528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w_redundant · min(cover / need, 2)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300216" y="5477256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cover=0.0, need=6 → 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172200" y="5641848"/>
            <a:ext cx="5532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172200" y="5641848"/>
            <a:ext cx="64008" cy="457200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300216" y="5687568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3255"/>
                </a:solidFill>
                <a:latin typeface="맑은 고딕"/>
              </a:rPr>
              <a:t>전용 오용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927080" y="5678424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C6670"/>
                </a:solidFill>
                <a:latin typeface="맑은 고딕"/>
              </a:rPr>
              <a:t>+0.00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00216" y="5879592"/>
            <a:ext cx="527608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w_dedication_misuse · 1[더 전용 idle 설비 존재]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300216" y="5989320"/>
            <a:ext cx="5276088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222A33"/>
                </a:solidFill>
                <a:latin typeface="맑은 고딕"/>
              </a:rPr>
              <a:t>더 전용 idle 설비 없음 → 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02920" y="6190488"/>
            <a:ext cx="11201400" cy="310896"/>
          </a:xfrm>
          <a:prstGeom prst="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58368" y="6190488"/>
            <a:ext cx="1088136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2E6FB0"/>
                </a:solidFill>
                <a:latin typeface="맑은 고딕"/>
              </a:rPr>
              <a:t>합산  </a:t>
            </a:r>
            <a:r>
              <a:rPr sz="950" b="0">
                <a:solidFill>
                  <a:srgbClr val="222A33"/>
                </a:solidFill>
                <a:latin typeface="맑은 고딕"/>
              </a:rPr>
              <a:t>동일 셋업 +1.00 + 페이싱 -0.31 + 계획 달성 +0.14 + 블록 보너스 +0.00 + 전환 +0.00 + 회피가능 전환 +0.00 + 중복 커버 +0.00 + 전용 오용 +0.00  →  r = +0.83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03  보상 산출 로직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대표 시나리오 — 바람직 vs 지양 결정 (전체 항목)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234440"/>
            <a:ext cx="1060704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80" b="0">
                <a:solidFill>
                  <a:srgbClr val="5C6670"/>
                </a:solidFill>
                <a:latin typeface="맑은 고딕"/>
              </a:rPr>
              <a:t>검증 데이터(3설비·3제품·각 8캐리어, takt 예산 8) 기준, 대표 결정 두 가지의 보상 계산입니다.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1783080"/>
            <a:ext cx="5212080" cy="370332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1783080"/>
            <a:ext cx="5212080" cy="4572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783080"/>
            <a:ext cx="521208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예시 A · 전담 블록 시작 (바람직)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377440"/>
            <a:ext cx="48463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B3255"/>
                </a:solidFill>
                <a:latin typeface="맑은 고딕"/>
              </a:rPr>
              <a:t>상황 </a:t>
            </a:r>
            <a:r>
              <a:rPr sz="1100" b="0">
                <a:solidFill>
                  <a:srgbClr val="5C6670"/>
                </a:solidFill>
                <a:latin typeface="맑은 고딕"/>
              </a:rPr>
              <a:t>EQP001이 직전과 같은 PPK001을 블록 크기 8(=takt 예산 전량)로 커밋, 다른 설비가 덮지 않는 제품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2487168"/>
            <a:ext cx="1325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B3255"/>
                </a:solidFill>
                <a:latin typeface="맑은 고딕"/>
              </a:rPr>
              <a:t>동일 셋업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2487168"/>
            <a:ext cx="2331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w_same_setup · 1[직전 PPK·OPER 동일 &amp; 재공 잔존]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2688336"/>
            <a:ext cx="3977639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222A33"/>
                </a:solidFill>
                <a:latin typeface="맑은 고딕"/>
              </a:rPr>
              <a:t>1.0 · 1[PPK001→PPK001, OPER001→OPER001] =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2560320"/>
            <a:ext cx="685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7D4F"/>
                </a:solidFill>
                <a:latin typeface="맑은 고딕"/>
              </a:rPr>
              <a:t>+1.0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2870073"/>
            <a:ext cx="1325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B3255"/>
                </a:solidFill>
                <a:latin typeface="맑은 고딕"/>
              </a:rPr>
              <a:t>페이싱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2870073"/>
            <a:ext cx="2331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w_pacing · (|ideal − eff_before| − |ideal − eff_after|) / target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3071241"/>
            <a:ext cx="3977639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222A33"/>
                </a:solidFill>
                <a:latin typeface="맑은 고딕"/>
              </a:rPr>
              <a:t>2.5 · (|0.5−0.3| − |0.5−0.5|) / 8 = 2.5 · 0.2/8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2943225"/>
            <a:ext cx="685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7D4F"/>
                </a:solidFill>
                <a:latin typeface="맑은 고딕"/>
              </a:rPr>
              <a:t>+0.06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3252978"/>
            <a:ext cx="1325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B3255"/>
                </a:solidFill>
                <a:latin typeface="맑은 고딕"/>
              </a:rPr>
              <a:t>계획 달성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3252978"/>
            <a:ext cx="2331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w_plan_hit · (gap_before − gap_after) / target   ;  gap = max(target − done, 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3454146"/>
            <a:ext cx="3977639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222A33"/>
                </a:solidFill>
                <a:latin typeface="맑은 고딕"/>
              </a:rPr>
              <a:t>1.0 · (8−7) / 8 = +0.125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3326130"/>
            <a:ext cx="685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7D4F"/>
                </a:solidFill>
                <a:latin typeface="맑은 고딕"/>
              </a:rPr>
              <a:t>+0.13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3635883"/>
            <a:ext cx="1325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B3255"/>
                </a:solidFill>
                <a:latin typeface="맑은 고딕"/>
              </a:rPr>
              <a:t>블록 보너스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3635883"/>
            <a:ext cx="2331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w_bulk · min(N / takt예산, 1)   [블록 시작 시에만]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" y="3837051"/>
            <a:ext cx="3977639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222A33"/>
                </a:solidFill>
                <a:latin typeface="맑은 고딕"/>
              </a:rPr>
              <a:t>3.0 · min(8/8, 1) = +3.0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3709035"/>
            <a:ext cx="685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7D4F"/>
                </a:solidFill>
                <a:latin typeface="맑은 고딕"/>
              </a:rPr>
              <a:t>+3.0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" y="4018788"/>
            <a:ext cx="1325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B3255"/>
                </a:solidFill>
                <a:latin typeface="맑은 고딕"/>
              </a:rPr>
              <a:t>전환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4018788"/>
            <a:ext cx="2331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w_conversion · 1[LOT_CD/TEMP 셋업 변경]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" y="4219956"/>
            <a:ext cx="3977639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222A33"/>
                </a:solidFill>
                <a:latin typeface="맑은 고딕"/>
              </a:rPr>
              <a:t>1[전환]=0 → 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74920" y="4091940"/>
            <a:ext cx="685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5C6670"/>
                </a:solidFill>
                <a:latin typeface="맑은 고딕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" y="4401693"/>
            <a:ext cx="1325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B3255"/>
                </a:solidFill>
                <a:latin typeface="맑은 고딕"/>
              </a:rPr>
              <a:t>회피가능 전환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31720" y="4401693"/>
            <a:ext cx="2331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w_avoidable · α   ;  α = 회피가능 비율 (0~1)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" y="4602861"/>
            <a:ext cx="3977639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222A33"/>
                </a:solidFill>
                <a:latin typeface="맑은 고딕"/>
              </a:rPr>
              <a:t>전환 없음 → 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4920" y="4474845"/>
            <a:ext cx="685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5C6670"/>
                </a:solidFill>
                <a:latin typeface="맑은 고딕"/>
              </a:rP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" y="4784598"/>
            <a:ext cx="1325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B3255"/>
                </a:solidFill>
                <a:latin typeface="맑은 고딕"/>
              </a:rPr>
              <a:t>중복 커버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4784598"/>
            <a:ext cx="2331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w_redundant · min(cover / need, 2)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" y="4985766"/>
            <a:ext cx="3977639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222A33"/>
                </a:solidFill>
                <a:latin typeface="맑은 고딕"/>
              </a:rPr>
              <a:t>cover=0 → 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74920" y="4857750"/>
            <a:ext cx="685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5C6670"/>
                </a:solidFill>
                <a:latin typeface="맑은 고딕"/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" y="5167503"/>
            <a:ext cx="1325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B3255"/>
                </a:solidFill>
                <a:latin typeface="맑은 고딕"/>
              </a:rPr>
              <a:t>전용 오용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31720" y="5167503"/>
            <a:ext cx="2331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w_dedication_misuse · 1[더 전용 idle 설비 존재]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" y="5368671"/>
            <a:ext cx="3977639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222A33"/>
                </a:solidFill>
                <a:latin typeface="맑은 고딕"/>
              </a:rPr>
              <a:t>1[전용 오용]=0 → 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74920" y="5240655"/>
            <a:ext cx="685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5C6670"/>
                </a:solidFill>
                <a:latin typeface="맑은 고딕"/>
              </a:rPr>
              <a:t>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24128" y="4956048"/>
            <a:ext cx="4809744" cy="18288"/>
          </a:xfrm>
          <a:prstGeom prst="rect">
            <a:avLst/>
          </a:prstGeom>
          <a:solidFill>
            <a:srgbClr val="C4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24128" y="5029200"/>
            <a:ext cx="4809744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3255"/>
                </a:solidFill>
                <a:latin typeface="맑은 고딕"/>
              </a:rPr>
              <a:t>합계  </a:t>
            </a:r>
            <a:r>
              <a:rPr sz="1300" b="1">
                <a:solidFill>
                  <a:srgbClr val="2E7D4F"/>
                </a:solidFill>
                <a:latin typeface="맑은 고딕"/>
              </a:rPr>
              <a:t>≈ +4~+6 수준의 강한 양(+) 보상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" y="5440680"/>
            <a:ext cx="484632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5C6670"/>
                </a:solidFill>
                <a:latin typeface="맑은 고딕"/>
              </a:rPr>
              <a:t>→ 같은 셋업으로 길게 점유하는 행동을 강화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26480" y="1783080"/>
            <a:ext cx="5212080" cy="370332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26480" y="1783080"/>
            <a:ext cx="5212080" cy="457200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26480" y="1783080"/>
            <a:ext cx="521208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예시 B · 회피가능 전환 (지양)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27648" y="2377440"/>
            <a:ext cx="48463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B3255"/>
                </a:solidFill>
                <a:latin typeface="맑은 고딕"/>
              </a:rPr>
              <a:t>상황 </a:t>
            </a:r>
            <a:r>
              <a:rPr sz="1100" b="0">
                <a:solidFill>
                  <a:srgbClr val="5C6670"/>
                </a:solidFill>
                <a:latin typeface="맑은 고딕"/>
              </a:rPr>
              <a:t>EQP가 PPK001→PPK002로 셋업을 바꿔 1캐리어만 처리. 다른 무전환 설비가 PPK002를 70% 커버 가능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27648" y="2487168"/>
            <a:ext cx="1325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B3255"/>
                </a:solidFill>
                <a:latin typeface="맑은 고딕"/>
              </a:rPr>
              <a:t>동일 셋업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2487168"/>
            <a:ext cx="2331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w_same_setup · 1[직전 PPK·OPER 동일 &amp; 재공 잔존]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27648" y="2688336"/>
            <a:ext cx="3977639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222A33"/>
                </a:solidFill>
                <a:latin typeface="맑은 고딕"/>
              </a:rPr>
              <a:t>셋업 변경 → 1[동일]=0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78440" y="2560320"/>
            <a:ext cx="685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5C6670"/>
                </a:solidFill>
                <a:latin typeface="맑은 고딕"/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27648" y="2870073"/>
            <a:ext cx="1325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B3255"/>
                </a:solidFill>
                <a:latin typeface="맑은 고딕"/>
              </a:rPr>
              <a:t>페이싱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5240" y="2870073"/>
            <a:ext cx="2331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w_pacing · (|ideal − eff_before| − |ideal − eff_after|) / target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27648" y="3071241"/>
            <a:ext cx="3977639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222A33"/>
                </a:solidFill>
                <a:latin typeface="맑은 고딕"/>
              </a:rPr>
              <a:t>2.5 · (0.2 − 0.3) / 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378440" y="2943225"/>
            <a:ext cx="685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B33A3A"/>
                </a:solidFill>
                <a:latin typeface="맑은 고딕"/>
              </a:rPr>
              <a:t>−Δ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27648" y="3252978"/>
            <a:ext cx="1325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B3255"/>
                </a:solidFill>
                <a:latin typeface="맑은 고딕"/>
              </a:rPr>
              <a:t>계획 달성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35240" y="3252978"/>
            <a:ext cx="2331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w_plan_hit · (gap_before − gap_after) / target   ;  gap = max(target − done, 0)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27648" y="3454146"/>
            <a:ext cx="3977639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222A33"/>
                </a:solidFill>
                <a:latin typeface="맑은 고딕"/>
              </a:rPr>
              <a:t>gap_before=gap_after=0 → 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378440" y="3326130"/>
            <a:ext cx="685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5C6670"/>
                </a:solidFill>
                <a:latin typeface="맑은 고딕"/>
              </a:rPr>
              <a:t>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27648" y="3635883"/>
            <a:ext cx="1325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B3255"/>
                </a:solidFill>
                <a:latin typeface="맑은 고딕"/>
              </a:rPr>
              <a:t>블록 보너스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35240" y="3635883"/>
            <a:ext cx="2331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w_bulk · min(N / takt예산, 1)   [블록 시작 시에만]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27648" y="3837051"/>
            <a:ext cx="3977639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222A33"/>
                </a:solidFill>
                <a:latin typeface="맑은 고딕"/>
              </a:rPr>
              <a:t>블록 시작 아님 또는 N=1 → 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378440" y="3709035"/>
            <a:ext cx="685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5C6670"/>
                </a:solidFill>
                <a:latin typeface="맑은 고딕"/>
              </a:rPr>
              <a:t>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27648" y="4018788"/>
            <a:ext cx="1325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B3255"/>
                </a:solidFill>
                <a:latin typeface="맑은 고딕"/>
              </a:rPr>
              <a:t>전환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35240" y="4018788"/>
            <a:ext cx="2331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w_conversion · 1[LOT_CD/TEMP 셋업 변경]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27648" y="4219956"/>
            <a:ext cx="3977639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222A33"/>
                </a:solidFill>
                <a:latin typeface="맑은 고딕"/>
              </a:rPr>
              <a:t>−10.0 · 1 = −10.0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378440" y="4091940"/>
            <a:ext cx="685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B33A3A"/>
                </a:solidFill>
                <a:latin typeface="맑은 고딕"/>
              </a:rPr>
              <a:t>−10.0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27648" y="4401693"/>
            <a:ext cx="1325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B3255"/>
                </a:solidFill>
                <a:latin typeface="맑은 고딕"/>
              </a:rPr>
              <a:t>회피가능 전환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635240" y="4401693"/>
            <a:ext cx="2331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w_avoidable · α   ;  α = 회피가능 비율 (0~1)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27648" y="4602861"/>
            <a:ext cx="3977639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222A33"/>
                </a:solidFill>
                <a:latin typeface="맑은 고딕"/>
              </a:rPr>
              <a:t>−8.0 · 0.7 = −5.6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378440" y="4474845"/>
            <a:ext cx="685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B33A3A"/>
                </a:solidFill>
                <a:latin typeface="맑은 고딕"/>
              </a:rPr>
              <a:t>−5.6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27648" y="4784598"/>
            <a:ext cx="1325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B3255"/>
                </a:solidFill>
                <a:latin typeface="맑은 고딕"/>
              </a:rPr>
              <a:t>중복 커버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35240" y="4784598"/>
            <a:ext cx="2331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w_redundant · min(cover / need, 2)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327648" y="4985766"/>
            <a:ext cx="3977639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222A33"/>
                </a:solidFill>
                <a:latin typeface="맑은 고딕"/>
              </a:rPr>
              <a:t>−5.0 · min(0.4, 2) ≈ −2.0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378440" y="4857750"/>
            <a:ext cx="685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B33A3A"/>
                </a:solidFill>
                <a:latin typeface="맑은 고딕"/>
              </a:rPr>
              <a:t>−2.0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327648" y="5167503"/>
            <a:ext cx="1325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B3255"/>
                </a:solidFill>
                <a:latin typeface="맑은 고딕"/>
              </a:rPr>
              <a:t>전용 오용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635240" y="5167503"/>
            <a:ext cx="2331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0">
                <a:solidFill>
                  <a:srgbClr val="5C6670"/>
                </a:solidFill>
                <a:latin typeface="맑은 고딕"/>
              </a:rPr>
              <a:t>w_dedication_misuse · 1[더 전용 idle 설비 존재]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27648" y="5368671"/>
            <a:ext cx="3977639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222A33"/>
                </a:solidFill>
                <a:latin typeface="맑은 고딕"/>
              </a:rPr>
              <a:t>−4.0 · 1 = −4.0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378440" y="5240655"/>
            <a:ext cx="685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B33A3A"/>
                </a:solidFill>
                <a:latin typeface="맑은 고딕"/>
              </a:rPr>
              <a:t>−4.0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327648" y="4956048"/>
            <a:ext cx="4809744" cy="18288"/>
          </a:xfrm>
          <a:prstGeom prst="rect">
            <a:avLst/>
          </a:prstGeom>
          <a:solidFill>
            <a:srgbClr val="C4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327648" y="5029200"/>
            <a:ext cx="4809744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3255"/>
                </a:solidFill>
                <a:latin typeface="맑은 고딕"/>
              </a:rPr>
              <a:t>합계  </a:t>
            </a:r>
            <a:r>
              <a:rPr sz="1300" b="1">
                <a:solidFill>
                  <a:srgbClr val="B33A3A"/>
                </a:solidFill>
                <a:latin typeface="맑은 고딕"/>
              </a:rPr>
              <a:t>≈ −20 수준의 강한 음(−) 보상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27648" y="5440680"/>
            <a:ext cx="484632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5C6670"/>
                </a:solidFill>
                <a:latin typeface="맑은 고딕"/>
              </a:rPr>
              <a:t>→ 불필요한 셋업 변경을 강하게 억제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22960" y="5715000"/>
            <a:ext cx="10515600" cy="64008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51560" y="5715000"/>
            <a:ext cx="1014984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DBEE0"/>
                </a:solidFill>
                <a:latin typeface="맑은 고딕"/>
              </a:rPr>
              <a:t>학습 결과  </a:t>
            </a:r>
            <a:r>
              <a:rPr sz="1300" b="0">
                <a:solidFill>
                  <a:srgbClr val="FFFFFF"/>
                </a:solidFill>
                <a:latin typeface="맑은 고딕"/>
              </a:rPr>
              <a:t>정책은 "전담 블록은 키우고, 회피가능한 전환은 피한다"는 행동을 자연스럽게 획득합니다.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03  보상 산출 로직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스텝별 요약 — SYM_3x3 트레이스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170432"/>
            <a:ext cx="1106424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22A33"/>
                </a:solidFill>
                <a:latin typeface="맑은 고딕"/>
              </a:rPr>
              <a:t>학습 모델을 </a:t>
            </a:r>
            <a:r>
              <a:rPr sz="1150" b="1">
                <a:solidFill>
                  <a:srgbClr val="1B3255"/>
                </a:solidFill>
                <a:latin typeface="맑은 고딕"/>
              </a:rPr>
              <a:t>SYM_3x3</a:t>
            </a:r>
            <a:r>
              <a:rPr sz="1150" b="0">
                <a:solidFill>
                  <a:srgbClr val="222A33"/>
                </a:solidFill>
                <a:latin typeface="맑은 고딕"/>
              </a:rPr>
              <a:t>(3설비·각 8캐리어, takt 예산 8)에 결정론적 추론한 </a:t>
            </a:r>
            <a:r>
              <a:rPr sz="1150" b="1">
                <a:solidFill>
                  <a:srgbClr val="1B3255"/>
                </a:solidFill>
                <a:latin typeface="맑은 고딕"/>
              </a:rPr>
              <a:t>실제 첫 8스텝</a:t>
            </a:r>
            <a:r>
              <a:rPr sz="1150" b="0">
                <a:solidFill>
                  <a:srgbClr val="222A33"/>
                </a:solidFill>
                <a:latin typeface="맑은 고딕"/>
              </a:rPr>
              <a:t>의 상태·보상 변화입니다.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27632"/>
            <a:ext cx="777240" cy="420624"/>
          </a:xfrm>
          <a:prstGeom prst="rect">
            <a:avLst/>
          </a:prstGeom>
          <a:solidFill>
            <a:srgbClr val="1B32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스텝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44168" y="1627632"/>
            <a:ext cx="914400" cy="420624"/>
          </a:xfrm>
          <a:prstGeom prst="rect">
            <a:avLst/>
          </a:prstGeom>
          <a:solidFill>
            <a:srgbClr val="1B32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t(분)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58568" y="1627632"/>
            <a:ext cx="2697480" cy="420624"/>
          </a:xfrm>
          <a:prstGeom prst="rect">
            <a:avLst/>
          </a:prstGeom>
          <a:solidFill>
            <a:srgbClr val="1B32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결정 (EQP → PPK)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56048" y="1627632"/>
            <a:ext cx="1691640" cy="420624"/>
          </a:xfrm>
          <a:prstGeom prst="rect">
            <a:avLst/>
          </a:prstGeom>
          <a:solidFill>
            <a:srgbClr val="1B32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행동 유형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47688" y="1627632"/>
            <a:ext cx="1417320" cy="420624"/>
          </a:xfrm>
          <a:prstGeom prst="rect">
            <a:avLst/>
          </a:prstGeom>
          <a:solidFill>
            <a:srgbClr val="1B32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달성률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65008" y="1627632"/>
            <a:ext cx="1737360" cy="420624"/>
          </a:xfrm>
          <a:prstGeom prst="rect">
            <a:avLst/>
          </a:prstGeom>
          <a:solidFill>
            <a:srgbClr val="1B32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보상 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02368" y="1627632"/>
            <a:ext cx="1737360" cy="420624"/>
          </a:xfrm>
          <a:prstGeom prst="rect">
            <a:avLst/>
          </a:prstGeom>
          <a:solidFill>
            <a:srgbClr val="1B32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누적 Σr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048256"/>
            <a:ext cx="777240" cy="356616"/>
          </a:xfrm>
          <a:prstGeom prst="rect">
            <a:avLst/>
          </a:prstGeom>
          <a:solidFill>
            <a:srgbClr val="ECF1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0">
                <a:solidFill>
                  <a:srgbClr val="5C6670"/>
                </a:solidFill>
                <a:latin typeface="맑은 고딕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44168" y="2048256"/>
            <a:ext cx="914400" cy="356616"/>
          </a:xfrm>
          <a:prstGeom prst="rect">
            <a:avLst/>
          </a:prstGeom>
          <a:solidFill>
            <a:srgbClr val="ECF1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0">
                <a:solidFill>
                  <a:srgbClr val="5C6670"/>
                </a:solidFill>
                <a:latin typeface="맑은 고딕"/>
              </a:rPr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58568" y="2048256"/>
            <a:ext cx="2697480" cy="356616"/>
          </a:xfrm>
          <a:prstGeom prst="rect">
            <a:avLst/>
          </a:prstGeom>
          <a:solidFill>
            <a:srgbClr val="ECF1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l"/>
            <a:r>
              <a:rPr sz="1050" b="1">
                <a:solidFill>
                  <a:srgbClr val="1B3255"/>
                </a:solidFill>
                <a:latin typeface="맑은 고딕"/>
              </a:rPr>
              <a:t>EQP001 → PPK001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56048" y="2048256"/>
            <a:ext cx="1691640" cy="356616"/>
          </a:xfrm>
          <a:prstGeom prst="rect">
            <a:avLst/>
          </a:prstGeom>
          <a:solidFill>
            <a:srgbClr val="ECF1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1">
                <a:solidFill>
                  <a:srgbClr val="2E6FB0"/>
                </a:solidFill>
                <a:latin typeface="맑은 고딕"/>
              </a:rPr>
              <a:t>블록 시작 (N=8)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47688" y="2048256"/>
            <a:ext cx="1417320" cy="356616"/>
          </a:xfrm>
          <a:prstGeom prst="rect">
            <a:avLst/>
          </a:prstGeom>
          <a:solidFill>
            <a:srgbClr val="ECF1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0">
                <a:solidFill>
                  <a:srgbClr val="5C6670"/>
                </a:solidFill>
                <a:latin typeface="맑은 고딕"/>
              </a:rPr>
              <a:t>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65008" y="2048256"/>
            <a:ext cx="1737360" cy="356616"/>
          </a:xfrm>
          <a:prstGeom prst="rect">
            <a:avLst/>
          </a:prstGeom>
          <a:solidFill>
            <a:srgbClr val="ECF1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1">
                <a:solidFill>
                  <a:srgbClr val="2E7D4F"/>
                </a:solidFill>
                <a:latin typeface="맑은 고딕"/>
              </a:rPr>
              <a:t>+2.83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02368" y="2048256"/>
            <a:ext cx="1737360" cy="356616"/>
          </a:xfrm>
          <a:prstGeom prst="rect">
            <a:avLst/>
          </a:prstGeom>
          <a:solidFill>
            <a:srgbClr val="ECF1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1">
                <a:solidFill>
                  <a:srgbClr val="1B3255"/>
                </a:solidFill>
                <a:latin typeface="맑은 고딕"/>
              </a:rPr>
              <a:t>2.83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2404872"/>
            <a:ext cx="777240" cy="356616"/>
          </a:xfrm>
          <a:prstGeom prst="rect">
            <a:avLst/>
          </a:prstGeom>
          <a:solidFill>
            <a:srgbClr val="ECF1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0">
                <a:solidFill>
                  <a:srgbClr val="5C6670"/>
                </a:solidFill>
                <a:latin typeface="맑은 고딕"/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44168" y="2404872"/>
            <a:ext cx="914400" cy="356616"/>
          </a:xfrm>
          <a:prstGeom prst="rect">
            <a:avLst/>
          </a:prstGeom>
          <a:solidFill>
            <a:srgbClr val="ECF1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0">
                <a:solidFill>
                  <a:srgbClr val="5C6670"/>
                </a:solidFill>
                <a:latin typeface="맑은 고딕"/>
              </a:rP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58568" y="2404872"/>
            <a:ext cx="2697480" cy="356616"/>
          </a:xfrm>
          <a:prstGeom prst="rect">
            <a:avLst/>
          </a:prstGeom>
          <a:solidFill>
            <a:srgbClr val="ECF1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l"/>
            <a:r>
              <a:rPr sz="1050" b="1">
                <a:solidFill>
                  <a:srgbClr val="1B3255"/>
                </a:solidFill>
                <a:latin typeface="맑은 고딕"/>
              </a:rPr>
              <a:t>EQP002 → PPK002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56048" y="2404872"/>
            <a:ext cx="1691640" cy="356616"/>
          </a:xfrm>
          <a:prstGeom prst="rect">
            <a:avLst/>
          </a:prstGeom>
          <a:solidFill>
            <a:srgbClr val="ECF1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1">
                <a:solidFill>
                  <a:srgbClr val="2E6FB0"/>
                </a:solidFill>
                <a:latin typeface="맑은 고딕"/>
              </a:rPr>
              <a:t>블록 시작 (N=8)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47688" y="2404872"/>
            <a:ext cx="1417320" cy="356616"/>
          </a:xfrm>
          <a:prstGeom prst="rect">
            <a:avLst/>
          </a:prstGeom>
          <a:solidFill>
            <a:srgbClr val="ECF1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0">
                <a:solidFill>
                  <a:srgbClr val="5C6670"/>
                </a:solidFill>
                <a:latin typeface="맑은 고딕"/>
              </a:rPr>
              <a:t>4%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65008" y="2404872"/>
            <a:ext cx="1737360" cy="356616"/>
          </a:xfrm>
          <a:prstGeom prst="rect">
            <a:avLst/>
          </a:prstGeom>
          <a:solidFill>
            <a:srgbClr val="ECF1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1">
                <a:solidFill>
                  <a:srgbClr val="2E7D4F"/>
                </a:solidFill>
                <a:latin typeface="맑은 고딕"/>
              </a:rPr>
              <a:t>+2.83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02368" y="2404872"/>
            <a:ext cx="1737360" cy="356616"/>
          </a:xfrm>
          <a:prstGeom prst="rect">
            <a:avLst/>
          </a:prstGeom>
          <a:solidFill>
            <a:srgbClr val="ECF1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1">
                <a:solidFill>
                  <a:srgbClr val="1B3255"/>
                </a:solidFill>
                <a:latin typeface="맑은 고딕"/>
              </a:rPr>
              <a:t>5.66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2761488"/>
            <a:ext cx="777240" cy="356616"/>
          </a:xfrm>
          <a:prstGeom prst="rect">
            <a:avLst/>
          </a:prstGeom>
          <a:solidFill>
            <a:srgbClr val="ECF1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0">
                <a:solidFill>
                  <a:srgbClr val="5C6670"/>
                </a:solidFill>
                <a:latin typeface="맑은 고딕"/>
              </a:rPr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44168" y="2761488"/>
            <a:ext cx="914400" cy="356616"/>
          </a:xfrm>
          <a:prstGeom prst="rect">
            <a:avLst/>
          </a:prstGeom>
          <a:solidFill>
            <a:srgbClr val="ECF1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0">
                <a:solidFill>
                  <a:srgbClr val="5C6670"/>
                </a:solidFill>
                <a:latin typeface="맑은 고딕"/>
              </a:rPr>
              <a:t>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58568" y="2761488"/>
            <a:ext cx="2697480" cy="356616"/>
          </a:xfrm>
          <a:prstGeom prst="rect">
            <a:avLst/>
          </a:prstGeom>
          <a:solidFill>
            <a:srgbClr val="ECF1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l"/>
            <a:r>
              <a:rPr sz="1050" b="1">
                <a:solidFill>
                  <a:srgbClr val="1B3255"/>
                </a:solidFill>
                <a:latin typeface="맑은 고딕"/>
              </a:rPr>
              <a:t>EQP003 → PPK003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56048" y="2761488"/>
            <a:ext cx="1691640" cy="356616"/>
          </a:xfrm>
          <a:prstGeom prst="rect">
            <a:avLst/>
          </a:prstGeom>
          <a:solidFill>
            <a:srgbClr val="ECF1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1">
                <a:solidFill>
                  <a:srgbClr val="2E6FB0"/>
                </a:solidFill>
                <a:latin typeface="맑은 고딕"/>
              </a:rPr>
              <a:t>블록 시작 (N=8)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47688" y="2761488"/>
            <a:ext cx="1417320" cy="356616"/>
          </a:xfrm>
          <a:prstGeom prst="rect">
            <a:avLst/>
          </a:prstGeom>
          <a:solidFill>
            <a:srgbClr val="ECF1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0">
                <a:solidFill>
                  <a:srgbClr val="5C6670"/>
                </a:solidFill>
                <a:latin typeface="맑은 고딕"/>
              </a:rPr>
              <a:t>8%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65008" y="2761488"/>
            <a:ext cx="1737360" cy="356616"/>
          </a:xfrm>
          <a:prstGeom prst="rect">
            <a:avLst/>
          </a:prstGeom>
          <a:solidFill>
            <a:srgbClr val="ECF1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1">
                <a:solidFill>
                  <a:srgbClr val="2E7D4F"/>
                </a:solidFill>
                <a:latin typeface="맑은 고딕"/>
              </a:rPr>
              <a:t>+2.83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02368" y="2761488"/>
            <a:ext cx="1737360" cy="356616"/>
          </a:xfrm>
          <a:prstGeom prst="rect">
            <a:avLst/>
          </a:prstGeom>
          <a:solidFill>
            <a:srgbClr val="ECF1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1">
                <a:solidFill>
                  <a:srgbClr val="1B3255"/>
                </a:solidFill>
                <a:latin typeface="맑은 고딕"/>
              </a:rPr>
              <a:t>8.49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3118104"/>
            <a:ext cx="777240" cy="356616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0">
                <a:solidFill>
                  <a:srgbClr val="5C6670"/>
                </a:solidFill>
                <a:latin typeface="맑은 고딕"/>
              </a:rPr>
              <a:t>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44168" y="3118104"/>
            <a:ext cx="914400" cy="356616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0">
                <a:solidFill>
                  <a:srgbClr val="5C6670"/>
                </a:solidFill>
                <a:latin typeface="맑은 고딕"/>
              </a:rPr>
              <a:t>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58568" y="3118104"/>
            <a:ext cx="2697480" cy="356616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l"/>
            <a:r>
              <a:rPr sz="1050" b="1">
                <a:solidFill>
                  <a:srgbClr val="1B3255"/>
                </a:solidFill>
                <a:latin typeface="맑은 고딕"/>
              </a:rPr>
              <a:t>EQP001 → PPK001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56048" y="3118104"/>
            <a:ext cx="1691640" cy="356616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1">
                <a:solidFill>
                  <a:srgbClr val="4A6D8C"/>
                </a:solidFill>
                <a:latin typeface="맑은 고딕"/>
              </a:rPr>
              <a:t>블록 연속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47688" y="3118104"/>
            <a:ext cx="1417320" cy="356616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0">
                <a:solidFill>
                  <a:srgbClr val="5C6670"/>
                </a:solidFill>
                <a:latin typeface="맑은 고딕"/>
              </a:rPr>
              <a:t>12%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65008" y="3118104"/>
            <a:ext cx="1737360" cy="356616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1">
                <a:solidFill>
                  <a:srgbClr val="2E7D4F"/>
                </a:solidFill>
                <a:latin typeface="맑은 고딕"/>
              </a:rPr>
              <a:t>+0.83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802368" y="3118104"/>
            <a:ext cx="1737360" cy="356616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1">
                <a:solidFill>
                  <a:srgbClr val="1B3255"/>
                </a:solidFill>
                <a:latin typeface="맑은 고딕"/>
              </a:rPr>
              <a:t>9.32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3474720"/>
            <a:ext cx="777240" cy="356616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0">
                <a:solidFill>
                  <a:srgbClr val="5C6670"/>
                </a:solidFill>
                <a:latin typeface="맑은 고딕"/>
              </a:rPr>
              <a:t>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344168" y="3474720"/>
            <a:ext cx="914400" cy="356616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0">
                <a:solidFill>
                  <a:srgbClr val="5C6670"/>
                </a:solidFill>
                <a:latin typeface="맑은 고딕"/>
              </a:rPr>
              <a:t>60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58568" y="3474720"/>
            <a:ext cx="2697480" cy="356616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l"/>
            <a:r>
              <a:rPr sz="1050" b="1">
                <a:solidFill>
                  <a:srgbClr val="1B3255"/>
                </a:solidFill>
                <a:latin typeface="맑은 고딕"/>
              </a:rPr>
              <a:t>EQP002 → PPK002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56048" y="3474720"/>
            <a:ext cx="1691640" cy="356616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1">
                <a:solidFill>
                  <a:srgbClr val="4A6D8C"/>
                </a:solidFill>
                <a:latin typeface="맑은 고딕"/>
              </a:rPr>
              <a:t>블록 연속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47688" y="3474720"/>
            <a:ext cx="1417320" cy="356616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0">
                <a:solidFill>
                  <a:srgbClr val="5C6670"/>
                </a:solidFill>
                <a:latin typeface="맑은 고딕"/>
              </a:rPr>
              <a:t>17%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65008" y="3474720"/>
            <a:ext cx="1737360" cy="356616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1">
                <a:solidFill>
                  <a:srgbClr val="2E7D4F"/>
                </a:solidFill>
                <a:latin typeface="맑은 고딕"/>
              </a:rPr>
              <a:t>+0.83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802368" y="3474720"/>
            <a:ext cx="1737360" cy="356616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1">
                <a:solidFill>
                  <a:srgbClr val="1B3255"/>
                </a:solidFill>
                <a:latin typeface="맑은 고딕"/>
              </a:rPr>
              <a:t>10.15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3831336"/>
            <a:ext cx="777240" cy="356616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0">
                <a:solidFill>
                  <a:srgbClr val="5C6670"/>
                </a:solidFill>
                <a:latin typeface="맑은 고딕"/>
              </a:rPr>
              <a:t>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344168" y="3831336"/>
            <a:ext cx="914400" cy="356616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0">
                <a:solidFill>
                  <a:srgbClr val="5C6670"/>
                </a:solidFill>
                <a:latin typeface="맑은 고딕"/>
              </a:rPr>
              <a:t>60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58568" y="3831336"/>
            <a:ext cx="2697480" cy="356616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l"/>
            <a:r>
              <a:rPr sz="1050" b="1">
                <a:solidFill>
                  <a:srgbClr val="1B3255"/>
                </a:solidFill>
                <a:latin typeface="맑은 고딕"/>
              </a:rPr>
              <a:t>EQP003 → PPK003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956048" y="3831336"/>
            <a:ext cx="1691640" cy="356616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1">
                <a:solidFill>
                  <a:srgbClr val="4A6D8C"/>
                </a:solidFill>
                <a:latin typeface="맑은 고딕"/>
              </a:rPr>
              <a:t>블록 연속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647688" y="3831336"/>
            <a:ext cx="1417320" cy="356616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0">
                <a:solidFill>
                  <a:srgbClr val="5C6670"/>
                </a:solidFill>
                <a:latin typeface="맑은 고딕"/>
              </a:rPr>
              <a:t>21%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065008" y="3831336"/>
            <a:ext cx="1737360" cy="356616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1">
                <a:solidFill>
                  <a:srgbClr val="2E7D4F"/>
                </a:solidFill>
                <a:latin typeface="맑은 고딕"/>
              </a:rPr>
              <a:t>+0.83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802368" y="3831336"/>
            <a:ext cx="1737360" cy="356616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1">
                <a:solidFill>
                  <a:srgbClr val="1B3255"/>
                </a:solidFill>
                <a:latin typeface="맑은 고딕"/>
              </a:rPr>
              <a:t>10.98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6928" y="4187952"/>
            <a:ext cx="777240" cy="356616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0">
                <a:solidFill>
                  <a:srgbClr val="5C6670"/>
                </a:solidFill>
                <a:latin typeface="맑은 고딕"/>
              </a:rPr>
              <a:t>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44168" y="4187952"/>
            <a:ext cx="914400" cy="356616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0">
                <a:solidFill>
                  <a:srgbClr val="5C6670"/>
                </a:solidFill>
                <a:latin typeface="맑은 고딕"/>
              </a:rPr>
              <a:t>60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58568" y="4187952"/>
            <a:ext cx="2697480" cy="356616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l"/>
            <a:r>
              <a:rPr sz="1050" b="1">
                <a:solidFill>
                  <a:srgbClr val="1B3255"/>
                </a:solidFill>
                <a:latin typeface="맑은 고딕"/>
              </a:rPr>
              <a:t>EQP001 → PPK001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956048" y="4187952"/>
            <a:ext cx="1691640" cy="356616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1">
                <a:solidFill>
                  <a:srgbClr val="4A6D8C"/>
                </a:solidFill>
                <a:latin typeface="맑은 고딕"/>
              </a:rPr>
              <a:t>블록 연속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47688" y="4187952"/>
            <a:ext cx="1417320" cy="356616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0">
                <a:solidFill>
                  <a:srgbClr val="5C6670"/>
                </a:solidFill>
                <a:latin typeface="맑은 고딕"/>
              </a:rPr>
              <a:t>25%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065008" y="4187952"/>
            <a:ext cx="1737360" cy="356616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1">
                <a:solidFill>
                  <a:srgbClr val="2E7D4F"/>
                </a:solidFill>
                <a:latin typeface="맑은 고딕"/>
              </a:rPr>
              <a:t>+0.83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802368" y="4187952"/>
            <a:ext cx="1737360" cy="356616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1">
                <a:solidFill>
                  <a:srgbClr val="1B3255"/>
                </a:solidFill>
                <a:latin typeface="맑은 고딕"/>
              </a:rPr>
              <a:t>11.81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6928" y="4544568"/>
            <a:ext cx="777240" cy="356616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0">
                <a:solidFill>
                  <a:srgbClr val="5C6670"/>
                </a:solidFill>
                <a:latin typeface="맑은 고딕"/>
              </a:rPr>
              <a:t>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344168" y="4544568"/>
            <a:ext cx="914400" cy="356616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0">
                <a:solidFill>
                  <a:srgbClr val="5C6670"/>
                </a:solidFill>
                <a:latin typeface="맑은 고딕"/>
              </a:rPr>
              <a:t>120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258568" y="4544568"/>
            <a:ext cx="2697480" cy="356616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l"/>
            <a:r>
              <a:rPr sz="1050" b="1">
                <a:solidFill>
                  <a:srgbClr val="1B3255"/>
                </a:solidFill>
                <a:latin typeface="맑은 고딕"/>
              </a:rPr>
              <a:t>EQP002 → PPK002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956048" y="4544568"/>
            <a:ext cx="1691640" cy="356616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1">
                <a:solidFill>
                  <a:srgbClr val="4A6D8C"/>
                </a:solidFill>
                <a:latin typeface="맑은 고딕"/>
              </a:rPr>
              <a:t>블록 연속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647688" y="4544568"/>
            <a:ext cx="1417320" cy="356616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0">
                <a:solidFill>
                  <a:srgbClr val="5C6670"/>
                </a:solidFill>
                <a:latin typeface="맑은 고딕"/>
              </a:rPr>
              <a:t>29%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065008" y="4544568"/>
            <a:ext cx="1737360" cy="356616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1">
                <a:solidFill>
                  <a:srgbClr val="2E7D4F"/>
                </a:solidFill>
                <a:latin typeface="맑은 고딕"/>
              </a:rPr>
              <a:t>+0.83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802368" y="4544568"/>
            <a:ext cx="1737360" cy="356616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1050" b="1">
                <a:solidFill>
                  <a:srgbClr val="1B3255"/>
                </a:solidFill>
                <a:latin typeface="맑은 고딕"/>
              </a:rPr>
              <a:t>12.64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6928" y="4937759"/>
            <a:ext cx="110642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6FB0"/>
                </a:solidFill>
                <a:latin typeface="맑은 고딕"/>
              </a:rPr>
              <a:t>관찰  </a:t>
            </a:r>
            <a:r>
              <a:rPr sz="1050" b="0">
                <a:solidFill>
                  <a:srgbClr val="5C6670"/>
                </a:solidFill>
                <a:latin typeface="맑은 고딕"/>
              </a:rPr>
              <a:t>스텝 1~3은 각 설비 전담 블록 시작(보상 큼), 4~8은 같은 셋업 연속. 상세 State/Action/Reward·간트는 슬라이드 12~17 참고.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66928" y="4736592"/>
            <a:ext cx="11064240" cy="420624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66928" y="4736592"/>
            <a:ext cx="1106424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스텝 보상 식    r_t  =  w_same_setup·1[동일셋업]  +  w_pacing·(|ideal−eff_before| − |ideal−eff_after|)/target  +  w_plan_hit·(gap_before − gap_after)/target  +  [블록 시작 시] Δblock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6928" y="5193792"/>
            <a:ext cx="11064240" cy="36576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85800" y="5193792"/>
            <a:ext cx="1097280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>
                <a:solidFill>
                  <a:srgbClr val="222A33"/>
                </a:solidFill>
                <a:latin typeface="맑은 고딕"/>
              </a:rPr>
              <a:t>Δblock = w_bulk_block_bonus·min(N/예산,1)  +  w_dedication_misuse·1[전용오용]  +  w_redundant_cover·min(cover/need, 2)        |        전환 발생 시  + w_conversion  + w_avoidable_conversion·avoidable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66928" y="5669279"/>
            <a:ext cx="5440680" cy="1078992"/>
          </a:xfrm>
          <a:prstGeom prst="rect">
            <a:avLst/>
          </a:prstGeom>
          <a:solidFill>
            <a:srgbClr val="ECF1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66928" y="5669279"/>
            <a:ext cx="82296" cy="1078992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49808" y="5742431"/>
            <a:ext cx="521208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B3255"/>
                </a:solidFill>
                <a:latin typeface="맑은 고딕"/>
              </a:rPr>
              <a:t>스텝 1 · 블록 시작 (EQP001→PPK001, N=8)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49808" y="6035040"/>
            <a:ext cx="521208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1">
                <a:solidFill>
                  <a:srgbClr val="2E7D4F"/>
                </a:solidFill>
                <a:latin typeface="맑은 고딕"/>
              </a:rPr>
              <a:t>블록보너스 3.0·(8/8)=+3.00 </a:t>
            </a:r>
            <a:r>
              <a:rPr sz="1030" b="0">
                <a:solidFill>
                  <a:srgbClr val="5C6670"/>
                </a:solidFill>
                <a:latin typeface="맑은 고딕"/>
              </a:rPr>
              <a:t>· 페이싱 −0.31 · 계획 +0.13</a:t>
            </a:r>
            <a:r>
              <a:rPr sz="1100" b="1">
                <a:solidFill>
                  <a:srgbClr val="1B3255"/>
                </a:solidFill>
                <a:latin typeface="맑은 고딕"/>
              </a:rPr>
              <a:t>  →  r = +2.83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190488" y="5669279"/>
            <a:ext cx="5440680" cy="1078992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190488" y="5669279"/>
            <a:ext cx="82296" cy="1078992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373368" y="5742431"/>
            <a:ext cx="521208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B3255"/>
                </a:solidFill>
                <a:latin typeface="맑은 고딕"/>
              </a:rPr>
              <a:t>스텝 4 · 블록 연속 (EQP001→PPK001)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373368" y="6035040"/>
            <a:ext cx="521208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1">
                <a:solidFill>
                  <a:srgbClr val="2E7D4F"/>
                </a:solidFill>
                <a:latin typeface="맑은 고딕"/>
              </a:rPr>
              <a:t>동일셋업 +1.00 </a:t>
            </a:r>
            <a:r>
              <a:rPr sz="1030" b="0">
                <a:solidFill>
                  <a:srgbClr val="5C6670"/>
                </a:solidFill>
                <a:latin typeface="맑은 고딕"/>
              </a:rPr>
              <a:t>· 페이싱 −0.30 · 계획 +0.13 (블록보너스 없음)</a:t>
            </a:r>
            <a:r>
              <a:rPr sz="1100" b="1">
                <a:solidFill>
                  <a:srgbClr val="1B3255"/>
                </a:solidFill>
                <a:latin typeface="맑은 고딕"/>
              </a:rPr>
              <a:t>  →  r = +0.83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04  알고리즘 KPI 비교 및 효과성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검증 설계 — CONV_BENCH 데이터셋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280160"/>
            <a:ext cx="106070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222A33"/>
                </a:solidFill>
                <a:latin typeface="맑은 고딕"/>
              </a:rPr>
              <a:t>전환 비용이 </a:t>
            </a:r>
            <a:r>
              <a:rPr sz="1350" b="1">
                <a:solidFill>
                  <a:srgbClr val="1B3255"/>
                </a:solidFill>
                <a:latin typeface="맑은 고딕"/>
              </a:rPr>
              <a:t>생산 수량 손실로 1:1 환산</a:t>
            </a:r>
            <a:r>
              <a:rPr sz="1350" b="0">
                <a:solidFill>
                  <a:srgbClr val="222A33"/>
                </a:solidFill>
                <a:latin typeface="맑은 고딕"/>
              </a:rPr>
              <a:t>되도록 설계한 직관형 검증 데이터셋입니다.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1920240"/>
            <a:ext cx="2587752" cy="155448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1920240"/>
            <a:ext cx="2587752" cy="82296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084831"/>
            <a:ext cx="2313432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설비 / 제품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432304"/>
            <a:ext cx="231343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B3255"/>
                </a:solidFill>
                <a:latin typeface="맑은 고딕"/>
              </a:rPr>
              <a:t>3 설비 × 3 제품(PPK)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907792"/>
            <a:ext cx="23317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C6670"/>
                </a:solidFill>
                <a:latin typeface="맑은 고딕"/>
              </a:rPr>
              <a:t>동일 성능 A모델 3대, 제품별 LOT_CD 상이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20440" y="1920240"/>
            <a:ext cx="2587752" cy="155448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20440" y="1920240"/>
            <a:ext cx="2587752" cy="82296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2084831"/>
            <a:ext cx="2313432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재공 / 계획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432304"/>
            <a:ext cx="231343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B3255"/>
                </a:solidFill>
                <a:latin typeface="맑은 고딕"/>
              </a:rPr>
              <a:t>제품당 8캐리어 = 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907792"/>
            <a:ext cx="23317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C6670"/>
                </a:solidFill>
                <a:latin typeface="맑은 고딕"/>
              </a:rPr>
              <a:t>계획도 제품당 8 (총 24캐리어)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920240"/>
            <a:ext cx="2587752" cy="155448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920240"/>
            <a:ext cx="2587752" cy="82296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084831"/>
            <a:ext cx="2313432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시간 파라미터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432304"/>
            <a:ext cx="231343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B3255"/>
                </a:solidFill>
                <a:latin typeface="맑은 고딕"/>
              </a:rPr>
              <a:t>ST=60 · 전환=60 · 8h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907792"/>
            <a:ext cx="23317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C6670"/>
                </a:solidFill>
                <a:latin typeface="맑은 고딕"/>
              </a:rPr>
              <a:t>설비당 480/60 = 8캐리어 처리 가능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15400" y="1920240"/>
            <a:ext cx="2587752" cy="155448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15400" y="1920240"/>
            <a:ext cx="2587752" cy="82296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0" y="2084831"/>
            <a:ext cx="2313432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배정 난이도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2432304"/>
            <a:ext cx="231343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B3255"/>
                </a:solidFill>
                <a:latin typeface="맑은 고딕"/>
              </a:rPr>
              <a:t>홈 LOT 혼합 배치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2907792"/>
            <a:ext cx="23317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C6670"/>
                </a:solidFill>
                <a:latin typeface="맑은 고딕"/>
              </a:rPr>
              <a:t>단순 규칙은 전환 불가피, 전략적 선택만 전담 달성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3749039"/>
            <a:ext cx="5212080" cy="45720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3749039"/>
            <a:ext cx="521208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이론적 최적해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4206240"/>
            <a:ext cx="5212080" cy="178308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4343400"/>
            <a:ext cx="4846320" cy="1645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3255"/>
                </a:solidFill>
                <a:latin typeface="맑은 고딕"/>
              </a:rPr>
              <a:t>설비별 1제품 전담 → 전환 0회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C6670"/>
                </a:solidFill>
                <a:latin typeface="맑은 고딕"/>
              </a:rPr>
              <a:t>EQP001 → PPK001  (8캐리어)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C6670"/>
                </a:solidFill>
                <a:latin typeface="맑은 고딕"/>
              </a:rPr>
              <a:t>EQP002 → PPK002  (8캐리어)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C6670"/>
                </a:solidFill>
                <a:latin typeface="맑은 고딕"/>
              </a:rPr>
              <a:t>EQP003 → PPK003  (8캐리어)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E7D4F"/>
                </a:solidFill>
                <a:latin typeface="맑은 고딕"/>
              </a:rPr>
              <a:t>생산 24 · 전환 0 · 가동률 100%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3749039"/>
            <a:ext cx="4983480" cy="45720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3749039"/>
            <a:ext cx="498348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전환 → 손실 환산표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5080" y="4206240"/>
            <a:ext cx="4983480" cy="178308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37960" y="4315968"/>
            <a:ext cx="1828800" cy="402336"/>
          </a:xfrm>
          <a:prstGeom prst="rect">
            <a:avLst/>
          </a:prstGeom>
          <a:solidFill>
            <a:srgbClr val="1B3255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전환 횟수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66760" y="4315968"/>
            <a:ext cx="1737360" cy="402336"/>
          </a:xfrm>
          <a:prstGeom prst="rect">
            <a:avLst/>
          </a:prstGeom>
          <a:solidFill>
            <a:srgbClr val="1B3255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생산 수량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104120" y="4315968"/>
            <a:ext cx="1097280" cy="402336"/>
          </a:xfrm>
          <a:prstGeom prst="rect">
            <a:avLst/>
          </a:prstGeom>
          <a:solidFill>
            <a:srgbClr val="1B3255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손실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37960" y="4718304"/>
            <a:ext cx="182880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B3255"/>
                </a:solidFill>
                <a:latin typeface="맑은 고딕"/>
              </a:rPr>
              <a:t>0 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66760" y="4718304"/>
            <a:ext cx="173736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70"/>
                </a:solidFill>
                <a:latin typeface="맑은 고딕"/>
              </a:rPr>
              <a:t>24 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104120" y="4718304"/>
            <a:ext cx="109728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B33A3A"/>
                </a:solidFill>
                <a:latin typeface="맑은 고딕"/>
              </a:rPr>
              <a:t>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37960" y="5120640"/>
            <a:ext cx="1828800" cy="402336"/>
          </a:xfrm>
          <a:prstGeom prst="rect">
            <a:avLst/>
          </a:prstGeom>
          <a:solidFill>
            <a:srgbClr val="DDE6F0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B3255"/>
                </a:solidFill>
                <a:latin typeface="맑은 고딕"/>
              </a:rPr>
              <a:t>2 회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66760" y="5120640"/>
            <a:ext cx="1737360" cy="402336"/>
          </a:xfrm>
          <a:prstGeom prst="rect">
            <a:avLst/>
          </a:prstGeom>
          <a:solidFill>
            <a:srgbClr val="DDE6F0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70"/>
                </a:solidFill>
                <a:latin typeface="맑은 고딕"/>
              </a:rPr>
              <a:t>22 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104120" y="5120640"/>
            <a:ext cx="1097280" cy="402336"/>
          </a:xfrm>
          <a:prstGeom prst="rect">
            <a:avLst/>
          </a:prstGeom>
          <a:solidFill>
            <a:srgbClr val="DDE6F0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B33A3A"/>
                </a:solidFill>
                <a:latin typeface="맑은 고딕"/>
              </a:rPr>
              <a:t>−2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37960" y="5522976"/>
            <a:ext cx="182880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B3255"/>
                </a:solidFill>
                <a:latin typeface="맑은 고딕"/>
              </a:rPr>
              <a:t>6 회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66760" y="5522976"/>
            <a:ext cx="173736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70"/>
                </a:solidFill>
                <a:latin typeface="맑은 고딕"/>
              </a:rPr>
              <a:t>18 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104120" y="5522976"/>
            <a:ext cx="109728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B33A3A"/>
                </a:solidFill>
                <a:latin typeface="맑은 고딕"/>
              </a:rPr>
              <a:t>−6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2A33"/>
                </a:solidFill>
                <a:latin typeface="맑은 고딕"/>
              </a:rPr>
              <a:t>동일 시뮬레이터·동일 데이터에서 세 알고리즘을 실행해 KPI를 직접 비교합니다.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04  알고리즘 KPI 비교 및 효과성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KPI 비교 결과 (CONV_BENCH)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46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417320"/>
            <a:ext cx="3200400" cy="749808"/>
          </a:xfrm>
          <a:prstGeom prst="rect">
            <a:avLst/>
          </a:prstGeom>
          <a:solidFill>
            <a:srgbClr val="1B32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KPI 지표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417320"/>
            <a:ext cx="2606040" cy="749808"/>
          </a:xfrm>
          <a:prstGeom prst="rect">
            <a:avLst/>
          </a:prstGeom>
          <a:solidFill>
            <a:srgbClr val="1B32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Earliest-ST</a:t>
            </a:r>
          </a:p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(단순 규칙)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9400" y="1417320"/>
            <a:ext cx="2606040" cy="749808"/>
          </a:xfrm>
          <a:prstGeom prst="rect">
            <a:avLst/>
          </a:prstGeom>
          <a:solidFill>
            <a:srgbClr val="1B32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Min-Progress</a:t>
            </a:r>
          </a:p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(휴리스틱)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417320"/>
            <a:ext cx="2606040" cy="749808"/>
          </a:xfrm>
          <a:prstGeom prst="rect">
            <a:avLst/>
          </a:prstGeom>
          <a:solidFill>
            <a:srgbClr val="2E6FB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Bulk-Fill PPO</a:t>
            </a:r>
          </a:p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(학습 모델)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167128"/>
            <a:ext cx="3200400" cy="630936"/>
          </a:xfrm>
          <a:prstGeom prst="rect">
            <a:avLst/>
          </a:prstGeom>
          <a:solidFill>
            <a:srgbClr val="DDE6F0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200" b="1">
                <a:solidFill>
                  <a:srgbClr val="1B3255"/>
                </a:solidFill>
                <a:latin typeface="맑은 고딕"/>
              </a:rPr>
              <a:t>생산 수량 (최대 24)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2167128"/>
            <a:ext cx="2606040" cy="630936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300" b="0">
                <a:solidFill>
                  <a:srgbClr val="5C6670"/>
                </a:solidFill>
                <a:latin typeface="맑은 고딕"/>
              </a:rPr>
              <a:t>18 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9400" y="2167128"/>
            <a:ext cx="2606040" cy="630936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300" b="0">
                <a:solidFill>
                  <a:srgbClr val="5C6670"/>
                </a:solidFill>
                <a:latin typeface="맑은 고딕"/>
              </a:rPr>
              <a:t>24 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2167128"/>
            <a:ext cx="2606040" cy="630936"/>
          </a:xfrm>
          <a:prstGeom prst="rect">
            <a:avLst/>
          </a:prstGeom>
          <a:solidFill>
            <a:srgbClr val="E2EEE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300" b="1">
                <a:solidFill>
                  <a:srgbClr val="2E7D4F"/>
                </a:solidFill>
                <a:latin typeface="맑은 고딕"/>
              </a:rPr>
              <a:t>24 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2798064"/>
            <a:ext cx="3200400" cy="630936"/>
          </a:xfrm>
          <a:prstGeom prst="rect">
            <a:avLst/>
          </a:prstGeom>
          <a:solidFill>
            <a:srgbClr val="DDE6F0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200" b="1">
                <a:solidFill>
                  <a:srgbClr val="1B3255"/>
                </a:solidFill>
                <a:latin typeface="맑은 고딕"/>
              </a:rPr>
              <a:t>전환 횟수 (낮을수록 우수)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0" y="2798064"/>
            <a:ext cx="2606040" cy="630936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300" b="0">
                <a:solidFill>
                  <a:srgbClr val="B33A3A"/>
                </a:solidFill>
                <a:latin typeface="맑은 고딕"/>
              </a:rPr>
              <a:t>6 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9400" y="2798064"/>
            <a:ext cx="2606040" cy="630936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300" b="0">
                <a:solidFill>
                  <a:srgbClr val="5C6670"/>
                </a:solidFill>
                <a:latin typeface="맑은 고딕"/>
              </a:rPr>
              <a:t>0 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2798064"/>
            <a:ext cx="2606040" cy="630936"/>
          </a:xfrm>
          <a:prstGeom prst="rect">
            <a:avLst/>
          </a:prstGeom>
          <a:solidFill>
            <a:srgbClr val="E2EEE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300" b="1">
                <a:solidFill>
                  <a:srgbClr val="2E7D4F"/>
                </a:solidFill>
                <a:latin typeface="맑은 고딕"/>
              </a:rPr>
              <a:t>0 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429000"/>
            <a:ext cx="3200400" cy="630936"/>
          </a:xfrm>
          <a:prstGeom prst="rect">
            <a:avLst/>
          </a:prstGeom>
          <a:solidFill>
            <a:srgbClr val="DDE6F0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200" b="1">
                <a:solidFill>
                  <a:srgbClr val="1B3255"/>
                </a:solidFill>
                <a:latin typeface="맑은 고딕"/>
              </a:rPr>
              <a:t>전환 손실 캐리어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3429000"/>
            <a:ext cx="2606040" cy="630936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300" b="0">
                <a:solidFill>
                  <a:srgbClr val="B33A3A"/>
                </a:solidFill>
                <a:latin typeface="맑은 고딕"/>
              </a:rPr>
              <a:t>−6 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29400" y="3429000"/>
            <a:ext cx="2606040" cy="630936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300" b="0">
                <a:solidFill>
                  <a:srgbClr val="5C6670"/>
                </a:solidFill>
                <a:latin typeface="맑은 고딕"/>
              </a:rPr>
              <a:t>−0 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3429000"/>
            <a:ext cx="2606040" cy="630936"/>
          </a:xfrm>
          <a:prstGeom prst="rect">
            <a:avLst/>
          </a:prstGeom>
          <a:solidFill>
            <a:srgbClr val="E2EEE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300" b="1">
                <a:solidFill>
                  <a:srgbClr val="2E7D4F"/>
                </a:solidFill>
                <a:latin typeface="맑은 고딕"/>
              </a:rPr>
              <a:t>−0 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4059935"/>
            <a:ext cx="3200400" cy="630936"/>
          </a:xfrm>
          <a:prstGeom prst="rect">
            <a:avLst/>
          </a:prstGeom>
          <a:solidFill>
            <a:srgbClr val="DDE6F0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200" b="1">
                <a:solidFill>
                  <a:srgbClr val="1B3255"/>
                </a:solidFill>
                <a:latin typeface="맑은 고딕"/>
              </a:rPr>
              <a:t>설비 가동률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23360" y="4059935"/>
            <a:ext cx="2606040" cy="630936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300" b="0">
                <a:solidFill>
                  <a:srgbClr val="5C6670"/>
                </a:solidFill>
                <a:latin typeface="맑은 고딕"/>
              </a:rPr>
              <a:t>75 %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29400" y="4059935"/>
            <a:ext cx="2606040" cy="630936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300" b="0">
                <a:solidFill>
                  <a:srgbClr val="5C6670"/>
                </a:solidFill>
                <a:latin typeface="맑은 고딕"/>
              </a:rPr>
              <a:t>100 %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35440" y="4059935"/>
            <a:ext cx="2606040" cy="630936"/>
          </a:xfrm>
          <a:prstGeom prst="rect">
            <a:avLst/>
          </a:prstGeom>
          <a:solidFill>
            <a:srgbClr val="E2EEE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300" b="1">
                <a:solidFill>
                  <a:srgbClr val="2E7D4F"/>
                </a:solidFill>
                <a:latin typeface="맑은 고딕"/>
              </a:rPr>
              <a:t>100 %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4690871"/>
            <a:ext cx="3200400" cy="630936"/>
          </a:xfrm>
          <a:prstGeom prst="rect">
            <a:avLst/>
          </a:prstGeom>
          <a:solidFill>
            <a:srgbClr val="DDE6F0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200" b="1">
                <a:solidFill>
                  <a:srgbClr val="1B3255"/>
                </a:solidFill>
                <a:latin typeface="맑은 고딕"/>
              </a:rPr>
              <a:t>제품 전담 설비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23360" y="4690871"/>
            <a:ext cx="2606040" cy="630936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300" b="0">
                <a:solidFill>
                  <a:srgbClr val="5C6670"/>
                </a:solidFill>
                <a:latin typeface="맑은 고딕"/>
              </a:rPr>
              <a:t>0 / 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29400" y="4690871"/>
            <a:ext cx="2606040" cy="630936"/>
          </a:xfrm>
          <a:prstGeom prst="rect">
            <a:avLst/>
          </a:prstGeom>
          <a:solidFill>
            <a:srgbClr val="FFFFFF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300" b="0">
                <a:solidFill>
                  <a:srgbClr val="5C6670"/>
                </a:solidFill>
                <a:latin typeface="맑은 고딕"/>
              </a:rPr>
              <a:t>3 / 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35440" y="4690871"/>
            <a:ext cx="2606040" cy="630936"/>
          </a:xfrm>
          <a:prstGeom prst="rect">
            <a:avLst/>
          </a:prstGeom>
          <a:solidFill>
            <a:srgbClr val="E2EEE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300" b="1">
                <a:solidFill>
                  <a:srgbClr val="2E7D4F"/>
                </a:solidFill>
                <a:latin typeface="맑은 고딕"/>
              </a:rPr>
              <a:t>3 / 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5321807"/>
            <a:ext cx="3200400" cy="630936"/>
          </a:xfrm>
          <a:prstGeom prst="rect">
            <a:avLst/>
          </a:prstGeom>
          <a:solidFill>
            <a:srgbClr val="DDE6F0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200" b="1">
                <a:solidFill>
                  <a:srgbClr val="1B3255"/>
                </a:solidFill>
                <a:latin typeface="맑은 고딕"/>
              </a:rPr>
              <a:t>최적해 도달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23360" y="5321807"/>
            <a:ext cx="2606040" cy="630936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300" b="1">
                <a:solidFill>
                  <a:srgbClr val="B33A3A"/>
                </a:solidFill>
                <a:latin typeface="맑은 고딕"/>
              </a:rPr>
              <a:t>미달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29400" y="5321807"/>
            <a:ext cx="2606040" cy="630936"/>
          </a:xfrm>
          <a:prstGeom prst="rect">
            <a:avLst/>
          </a:prstGeom>
          <a:solidFill>
            <a:srgbClr val="EEF2F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300" b="1">
                <a:solidFill>
                  <a:srgbClr val="2E7D4F"/>
                </a:solidFill>
                <a:latin typeface="맑은 고딕"/>
              </a:rPr>
              <a:t>달성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35440" y="5321807"/>
            <a:ext cx="2606040" cy="630936"/>
          </a:xfrm>
          <a:prstGeom prst="rect">
            <a:avLst/>
          </a:prstGeom>
          <a:solidFill>
            <a:srgbClr val="E2EEE7"/>
          </a:solidFill>
          <a:ln w="9525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300" b="1">
                <a:solidFill>
                  <a:srgbClr val="2E7D4F"/>
                </a:solidFill>
                <a:latin typeface="맑은 고딕"/>
              </a:rPr>
              <a:t>달성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6126480"/>
            <a:ext cx="106070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3255"/>
                </a:solidFill>
                <a:latin typeface="맑은 고딕"/>
              </a:rPr>
              <a:t>Bulk-Fill PPO는 학습만으로 최고 휴리스틱과 동일한 이론적 최적해(생산 24·전환 0)에 도달</a:t>
            </a:r>
            <a:r>
              <a:rPr sz="1250" b="0">
                <a:solidFill>
                  <a:srgbClr val="222A33"/>
                </a:solidFill>
                <a:latin typeface="맑은 고딕"/>
              </a:rPr>
              <a:t>했으며, 단순 규칙 대비 모든 지표에서 우위입니다.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04  알고리즘 KPI 비교 및 효과성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효과성 검증 — 정량 비교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47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40080" y="1417320"/>
          <a:ext cx="36576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343400" y="1417320"/>
          <a:ext cx="3657600" cy="3383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Rectangle 11"/>
          <p:cNvSpPr/>
          <p:nvPr/>
        </p:nvSpPr>
        <p:spPr>
          <a:xfrm>
            <a:off x="8229600" y="1417320"/>
            <a:ext cx="3246120" cy="338328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417320"/>
            <a:ext cx="3246120" cy="45720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417320"/>
            <a:ext cx="32461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학습 모델 효과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011680"/>
            <a:ext cx="28346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2E6FB0"/>
                </a:solidFill>
                <a:latin typeface="맑은 고딕"/>
              </a:rPr>
              <a:t>+6 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395728"/>
            <a:ext cx="28803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5C6670"/>
                </a:solidFill>
                <a:latin typeface="맑은 고딕"/>
              </a:rPr>
              <a:t>단순 규칙 대비 생산량 (+33%)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724912"/>
            <a:ext cx="28346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2E6FB0"/>
                </a:solidFill>
                <a:latin typeface="맑은 고딕"/>
              </a:rPr>
              <a:t>−6 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108960"/>
            <a:ext cx="28803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5C6670"/>
                </a:solidFill>
                <a:latin typeface="맑은 고딕"/>
              </a:rPr>
              <a:t>전환을 전량 제거 (6→0)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438144"/>
            <a:ext cx="28346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2E6FB0"/>
                </a:solidFill>
                <a:latin typeface="맑은 고딕"/>
              </a:rPr>
              <a:t>+25%p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822192"/>
            <a:ext cx="28803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5C6670"/>
                </a:solidFill>
                <a:latin typeface="맑은 고딕"/>
              </a:rPr>
              <a:t>가동률 75%→100%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4151376"/>
            <a:ext cx="28346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2E6FB0"/>
                </a:solidFill>
                <a:latin typeface="맑은 고딕"/>
              </a:rPr>
              <a:t>3 /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4535424"/>
            <a:ext cx="28803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5C6670"/>
                </a:solidFill>
                <a:latin typeface="맑은 고딕"/>
              </a:rPr>
              <a:t>제품 전담 설비 달성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029200"/>
            <a:ext cx="10835640" cy="118872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138928"/>
            <a:ext cx="10424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DBEE0"/>
                </a:solidFill>
                <a:latin typeface="맑은 고딕"/>
              </a:rPr>
              <a:t>효과성 결론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468112"/>
            <a:ext cx="1051560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D7E2EE"/>
                </a:solidFill>
                <a:latin typeface="맑은 고딕"/>
              </a:rPr>
              <a:t>Bulk-Fill PPO는 별도 규칙 주입 없이 </a:t>
            </a:r>
            <a:r>
              <a:rPr sz="1350" b="1">
                <a:solidFill>
                  <a:srgbClr val="FFFFFF"/>
                </a:solidFill>
                <a:latin typeface="맑은 고딕"/>
              </a:rPr>
              <a:t>학습만으로 이론적 최적해에 도달</a:t>
            </a:r>
            <a:r>
              <a:rPr sz="1300" b="0">
                <a:solidFill>
                  <a:srgbClr val="D7E2EE"/>
                </a:solidFill>
                <a:latin typeface="맑은 고딕"/>
              </a:rPr>
              <a:t>했으며, 단순 규칙 대비 </a:t>
            </a:r>
            <a:r>
              <a:rPr sz="1350" b="1">
                <a:solidFill>
                  <a:srgbClr val="FFFFFF"/>
                </a:solidFill>
                <a:latin typeface="맑은 고딕"/>
              </a:rPr>
              <a:t>생산량 +33% · 전환 100% 제거 · 가동률 +25%p</a:t>
            </a:r>
            <a:r>
              <a:rPr sz="1300" b="0">
                <a:solidFill>
                  <a:srgbClr val="D7E2EE"/>
                </a:solidFill>
                <a:latin typeface="맑은 고딕"/>
              </a:rPr>
              <a:t> 의 개선을 입증했습니다.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04  알고리즘 KPI 비교 및 효과성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대표 벤치마크 8종 — 무엇을 검증하는가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188720"/>
            <a:ext cx="106070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2A33"/>
                </a:solidFill>
                <a:latin typeface="맑은 고딕"/>
              </a:rPr>
              <a:t>단순 휴리스틱이 </a:t>
            </a:r>
            <a:r>
              <a:rPr sz="1200" b="1">
                <a:solidFill>
                  <a:srgbClr val="1B3255"/>
                </a:solidFill>
                <a:latin typeface="맑은 고딕"/>
              </a:rPr>
              <a:t>쉽게 풀 수 없는 비대칭·제약 시나리오</a:t>
            </a:r>
            <a:r>
              <a:rPr sz="1200" b="0">
                <a:solidFill>
                  <a:srgbClr val="222A33"/>
                </a:solidFill>
                <a:latin typeface="맑은 고딕"/>
              </a:rPr>
              <a:t>를 4개 카테고리로 구성해, 알고리즘의 실제 변별력을 측정합니다.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91640"/>
            <a:ext cx="5413248" cy="1078992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691640"/>
            <a:ext cx="91440" cy="1078992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1810512"/>
            <a:ext cx="2377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B3255"/>
                </a:solidFill>
                <a:latin typeface="맑은 고딕"/>
              </a:rPr>
              <a:t>SYM_3x3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7408" y="1810512"/>
            <a:ext cx="1463040" cy="301752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대칭 기준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194560"/>
            <a:ext cx="500176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>
                <a:solidFill>
                  <a:srgbClr val="5C6670"/>
                </a:solidFill>
                <a:latin typeface="맑은 고딕"/>
              </a:rPr>
              <a:t>3설비 × 3제품 · 24캐리어 · ST 60분 · 전환 60분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2450592"/>
            <a:ext cx="500176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4A6D8C"/>
                </a:solidFill>
                <a:latin typeface="맑은 고딕"/>
              </a:rPr>
              <a:t>검증  </a:t>
            </a:r>
            <a:r>
              <a:rPr sz="1050" b="0">
                <a:solidFill>
                  <a:srgbClr val="222A33"/>
                </a:solidFill>
                <a:latin typeface="맑은 고딕"/>
              </a:rPr>
              <a:t>기본 전담 최적해 도달 (대조군)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691640"/>
            <a:ext cx="5413248" cy="1078992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91640"/>
            <a:ext cx="91440" cy="1078992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810512"/>
            <a:ext cx="2377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B3255"/>
                </a:solidFill>
                <a:latin typeface="맑은 고딕"/>
              </a:rPr>
              <a:t>SYM_5x5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60" y="1810512"/>
            <a:ext cx="1463040" cy="301752"/>
          </a:xfrm>
          <a:prstGeom prst="rect">
            <a:avLst/>
          </a:prstGeom>
          <a:solidFill>
            <a:srgbClr val="4A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대칭 기준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2194560"/>
            <a:ext cx="500176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>
                <a:solidFill>
                  <a:srgbClr val="5C6670"/>
                </a:solidFill>
                <a:latin typeface="맑은 고딕"/>
              </a:rPr>
              <a:t>5설비 × 5제품 · 30캐리어 · ST 48분 · 전환 48분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2450592"/>
            <a:ext cx="500176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4A6D8C"/>
                </a:solidFill>
                <a:latin typeface="맑은 고딕"/>
              </a:rPr>
              <a:t>검증  </a:t>
            </a:r>
            <a:r>
              <a:rPr sz="1050" b="0">
                <a:solidFill>
                  <a:srgbClr val="222A33"/>
                </a:solidFill>
                <a:latin typeface="맑은 고딕"/>
              </a:rPr>
              <a:t>규모 확장 시 전담 유지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916936"/>
            <a:ext cx="5413248" cy="1078992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2916936"/>
            <a:ext cx="91440" cy="1078992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3035808"/>
            <a:ext cx="2377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B3255"/>
                </a:solidFill>
                <a:latin typeface="맑은 고딕"/>
              </a:rPr>
              <a:t>OVER_5p3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07408" y="3035808"/>
            <a:ext cx="1463040" cy="301752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제품 과잉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" y="3419856"/>
            <a:ext cx="500176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>
                <a:solidFill>
                  <a:srgbClr val="5C6670"/>
                </a:solidFill>
                <a:latin typeface="맑은 고딕"/>
              </a:rPr>
              <a:t>3설비 × 5제품 · 20캐리어 · ST 60분 · 전환 60분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" y="3675887"/>
            <a:ext cx="500176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6FB0"/>
                </a:solidFill>
                <a:latin typeface="맑은 고딕"/>
              </a:rPr>
              <a:t>검증  </a:t>
            </a:r>
            <a:r>
              <a:rPr sz="1050" b="0">
                <a:solidFill>
                  <a:srgbClr val="222A33"/>
                </a:solidFill>
                <a:latin typeface="맑은 고딕"/>
              </a:rPr>
              <a:t>불가피한 전환을 최소 횟수로 묶기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2916936"/>
            <a:ext cx="5413248" cy="1078992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26480" y="2916936"/>
            <a:ext cx="91440" cy="1078992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7648" y="3035808"/>
            <a:ext cx="2377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B3255"/>
                </a:solidFill>
                <a:latin typeface="맑은 고딕"/>
              </a:rPr>
              <a:t>OVER_7p4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66960" y="3035808"/>
            <a:ext cx="1463040" cy="301752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제품 과잉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45936" y="3419856"/>
            <a:ext cx="500176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>
                <a:solidFill>
                  <a:srgbClr val="5C6670"/>
                </a:solidFill>
                <a:latin typeface="맑은 고딕"/>
              </a:rPr>
              <a:t>4설비 × 7제품 · 28캐리어 · ST 45분 · 전환 45분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5936" y="3675887"/>
            <a:ext cx="500176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6FB0"/>
                </a:solidFill>
                <a:latin typeface="맑은 고딕"/>
              </a:rPr>
              <a:t>검증  </a:t>
            </a:r>
            <a:r>
              <a:rPr sz="1050" b="0">
                <a:solidFill>
                  <a:srgbClr val="222A33"/>
                </a:solidFill>
                <a:latin typeface="맑은 고딕"/>
              </a:rPr>
              <a:t>다수 제품 분배 + 전환 최소화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4142231"/>
            <a:ext cx="5413248" cy="1078992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6928" y="4142231"/>
            <a:ext cx="91440" cy="1078992"/>
          </a:xfrm>
          <a:prstGeom prst="rect">
            <a:avLst/>
          </a:prstGeom>
          <a:solidFill>
            <a:srgbClr val="6B4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" y="4261103"/>
            <a:ext cx="2377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B3255"/>
                </a:solidFill>
                <a:latin typeface="맑은 고딕"/>
              </a:rPr>
              <a:t>LOAD_skew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07408" y="4261103"/>
            <a:ext cx="1463040" cy="301752"/>
          </a:xfrm>
          <a:prstGeom prst="rect">
            <a:avLst/>
          </a:prstGeom>
          <a:solidFill>
            <a:srgbClr val="6B4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부하 불균등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" y="4645151"/>
            <a:ext cx="500176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>
                <a:solidFill>
                  <a:srgbClr val="5C6670"/>
                </a:solidFill>
                <a:latin typeface="맑은 고딕"/>
              </a:rPr>
              <a:t>4설비 × 4제품 · 30캐리어 · ST 60분 · 전환 60분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" y="4901183"/>
            <a:ext cx="500176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6B4E8E"/>
                </a:solidFill>
                <a:latin typeface="맑은 고딕"/>
              </a:rPr>
              <a:t>검증  </a:t>
            </a:r>
            <a:r>
              <a:rPr sz="1050" b="0">
                <a:solidFill>
                  <a:srgbClr val="222A33"/>
                </a:solidFill>
                <a:latin typeface="맑은 고딕"/>
              </a:rPr>
              <a:t>물량 편중에서의 균형 배분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4142231"/>
            <a:ext cx="5413248" cy="1078992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6480" y="4142231"/>
            <a:ext cx="91440" cy="1078992"/>
          </a:xfrm>
          <a:prstGeom prst="rect">
            <a:avLst/>
          </a:prstGeom>
          <a:solidFill>
            <a:srgbClr val="6B4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27648" y="4261103"/>
            <a:ext cx="2377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B3255"/>
                </a:solidFill>
                <a:latin typeface="맑은 고딕"/>
              </a:rPr>
              <a:t>LOAD_stmix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966960" y="4261103"/>
            <a:ext cx="1463040" cy="301752"/>
          </a:xfrm>
          <a:prstGeom prst="rect">
            <a:avLst/>
          </a:prstGeom>
          <a:solidFill>
            <a:srgbClr val="6B4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부하 불균등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45936" y="4645151"/>
            <a:ext cx="500176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>
                <a:solidFill>
                  <a:srgbClr val="5C6670"/>
                </a:solidFill>
                <a:latin typeface="맑은 고딕"/>
              </a:rPr>
              <a:t>4설비 × 4제품 · 32캐리어 · ST 30~90분 · 전환 60분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45936" y="4901183"/>
            <a:ext cx="500176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6B4E8E"/>
                </a:solidFill>
                <a:latin typeface="맑은 고딕"/>
              </a:rPr>
              <a:t>검증  </a:t>
            </a:r>
            <a:r>
              <a:rPr sz="1050" b="0">
                <a:solidFill>
                  <a:srgbClr val="222A33"/>
                </a:solidFill>
                <a:latin typeface="맑은 고딕"/>
              </a:rPr>
              <a:t>처리시간 이질성 하의 효율 배분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5367527"/>
            <a:ext cx="5413248" cy="1078992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66928" y="5367527"/>
            <a:ext cx="91440" cy="1078992"/>
          </a:xfrm>
          <a:prstGeom prst="rect">
            <a:avLst/>
          </a:prstGeom>
          <a:solidFill>
            <a:srgbClr val="B5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8096" y="5486399"/>
            <a:ext cx="2377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B3255"/>
                </a:solidFill>
                <a:latin typeface="맑은 고딕"/>
              </a:rPr>
              <a:t>CONV_x2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407408" y="5486399"/>
            <a:ext cx="1463040" cy="301752"/>
          </a:xfrm>
          <a:prstGeom prst="rect">
            <a:avLst/>
          </a:prstGeom>
          <a:solidFill>
            <a:srgbClr val="B5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전환 과중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" y="5870447"/>
            <a:ext cx="500176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>
                <a:solidFill>
                  <a:srgbClr val="5C6670"/>
                </a:solidFill>
                <a:latin typeface="맑은 고딕"/>
              </a:rPr>
              <a:t>4설비 × 4제품 · 24캐리어 · ST 45분 · 전환 90분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" y="6126479"/>
            <a:ext cx="500176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B56A2A"/>
                </a:solidFill>
                <a:latin typeface="맑은 고딕"/>
              </a:rPr>
              <a:t>검증  </a:t>
            </a:r>
            <a:r>
              <a:rPr sz="1050" b="0">
                <a:solidFill>
                  <a:srgbClr val="222A33"/>
                </a:solidFill>
                <a:latin typeface="맑은 고딕"/>
              </a:rPr>
              <a:t>큰 전환비용 하의 전담 가치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26480" y="5367527"/>
            <a:ext cx="5413248" cy="1078992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126480" y="5367527"/>
            <a:ext cx="91440" cy="1078992"/>
          </a:xfrm>
          <a:prstGeom prst="rect">
            <a:avLst/>
          </a:prstGeom>
          <a:solidFill>
            <a:srgbClr val="B5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27648" y="5486399"/>
            <a:ext cx="2377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B3255"/>
                </a:solidFill>
                <a:latin typeface="맑은 고딕"/>
              </a:rPr>
              <a:t>CONV_x3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966960" y="5486399"/>
            <a:ext cx="1463040" cy="301752"/>
          </a:xfrm>
          <a:prstGeom prst="rect">
            <a:avLst/>
          </a:prstGeom>
          <a:solidFill>
            <a:srgbClr val="B5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전환 과중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45936" y="5870447"/>
            <a:ext cx="500176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>
                <a:solidFill>
                  <a:srgbClr val="5C6670"/>
                </a:solidFill>
                <a:latin typeface="맑은 고딕"/>
              </a:rPr>
              <a:t>3설비 × 5제품 · 20캐리어 · ST 40분 · 전환 120분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45936" y="6126479"/>
            <a:ext cx="500176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B56A2A"/>
                </a:solidFill>
                <a:latin typeface="맑은 고딕"/>
              </a:rPr>
              <a:t>검증  </a:t>
            </a:r>
            <a:r>
              <a:rPr sz="1050" b="0">
                <a:solidFill>
                  <a:srgbClr val="222A33"/>
                </a:solidFill>
                <a:latin typeface="맑은 고딕"/>
              </a:rPr>
              <a:t>전환 과중 + 제품 과잉 복합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6199632"/>
            <a:ext cx="110642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C6670"/>
                </a:solidFill>
                <a:latin typeface="맑은 고딕"/>
              </a:rPr>
              <a:t>대칭 기준은 전담만으로 최적이라 대조군이며, 나머지 6종은 전환이 불가피하거나 부하가 불균등해 </a:t>
            </a:r>
            <a:r>
              <a:rPr sz="1050" b="1">
                <a:solidFill>
                  <a:srgbClr val="1B3255"/>
                </a:solidFill>
                <a:latin typeface="맑은 고딕"/>
              </a:rPr>
              <a:t>배정 전략에 따라 결과가 갈립니다.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04  알고리즘 KPI 비교 및 효과성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벤치마크 8종 KPI 비교 — 난이도별 결과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188720"/>
            <a:ext cx="1060704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2A33"/>
                </a:solidFill>
                <a:latin typeface="맑은 고딕"/>
              </a:rPr>
              <a:t>8종 데이터셋에 </a:t>
            </a:r>
            <a:r>
              <a:rPr sz="1200" b="1">
                <a:solidFill>
                  <a:srgbClr val="1B3255"/>
                </a:solidFill>
                <a:latin typeface="맑은 고딕"/>
              </a:rPr>
              <a:t>단일 Bulk-Fill 모델을 공동 학습</a:t>
            </a:r>
            <a:r>
              <a:rPr sz="1200" b="0">
                <a:solidFill>
                  <a:srgbClr val="5C6670"/>
                </a:solidFill>
                <a:latin typeface="맑은 고딕"/>
              </a:rPr>
              <a:t> 후 평가. 표기 = 생산 / 전환 (생산 많고 전환 적을수록 우수).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91640"/>
            <a:ext cx="2103120" cy="548640"/>
          </a:xfrm>
          <a:prstGeom prst="rect">
            <a:avLst/>
          </a:prstGeom>
          <a:solidFill>
            <a:srgbClr val="1B32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벤치마크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0048" y="1691640"/>
            <a:ext cx="1828800" cy="548640"/>
          </a:xfrm>
          <a:prstGeom prst="rect">
            <a:avLst/>
          </a:prstGeom>
          <a:solidFill>
            <a:srgbClr val="1B32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카테고리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98848" y="1691640"/>
            <a:ext cx="2331720" cy="548640"/>
          </a:xfrm>
          <a:prstGeom prst="rect">
            <a:avLst/>
          </a:prstGeom>
          <a:solidFill>
            <a:srgbClr val="1B32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Earliest-ST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생산 / 전환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30568" y="1691640"/>
            <a:ext cx="2331720" cy="548640"/>
          </a:xfrm>
          <a:prstGeom prst="rect">
            <a:avLst/>
          </a:prstGeom>
          <a:solidFill>
            <a:srgbClr val="1B32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Min-Progress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생산 / 전환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62288" y="1691640"/>
            <a:ext cx="2468880" cy="548640"/>
          </a:xfrm>
          <a:prstGeom prst="rect">
            <a:avLst/>
          </a:prstGeom>
          <a:solidFill>
            <a:srgbClr val="2E6FB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Bulk-Fill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생산 / 전환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240280"/>
            <a:ext cx="210312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1B3255"/>
                </a:solidFill>
                <a:latin typeface="맑은 고딕"/>
              </a:rPr>
              <a:t>SYM_3x3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70048" y="2240280"/>
            <a:ext cx="18288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70"/>
                </a:solidFill>
                <a:latin typeface="맑은 고딕"/>
              </a:rPr>
              <a:t>대칭 기준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98848" y="2240280"/>
            <a:ext cx="233172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B33A3A"/>
                </a:solidFill>
                <a:latin typeface="맑은 고딕"/>
              </a:rPr>
              <a:t>18/24 · 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30568" y="2240280"/>
            <a:ext cx="233172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70"/>
                </a:solidFill>
                <a:latin typeface="맑은 고딕"/>
              </a:rPr>
              <a:t>24/24 · 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62288" y="2240280"/>
            <a:ext cx="2468880" cy="457200"/>
          </a:xfrm>
          <a:prstGeom prst="rect">
            <a:avLst/>
          </a:prstGeom>
          <a:solidFill>
            <a:srgbClr val="ECF3EE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E7D4F"/>
                </a:solidFill>
                <a:latin typeface="맑은 고딕"/>
              </a:rPr>
              <a:t>24/24 · 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697480"/>
            <a:ext cx="2103120" cy="457200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1B3255"/>
                </a:solidFill>
                <a:latin typeface="맑은 고딕"/>
              </a:rPr>
              <a:t>SYM_5x5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70048" y="2697480"/>
            <a:ext cx="1828800" cy="457200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70"/>
                </a:solidFill>
                <a:latin typeface="맑은 고딕"/>
              </a:rPr>
              <a:t>대칭 기준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98848" y="2697480"/>
            <a:ext cx="2331720" cy="457200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B33A3A"/>
                </a:solidFill>
                <a:latin typeface="맑은 고딕"/>
              </a:rPr>
              <a:t>18/30 · 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30568" y="2697480"/>
            <a:ext cx="2331720" cy="457200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70"/>
                </a:solidFill>
                <a:latin typeface="맑은 고딕"/>
              </a:rPr>
              <a:t>30/30 · 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62288" y="2697480"/>
            <a:ext cx="2468880" cy="457200"/>
          </a:xfrm>
          <a:prstGeom prst="rect">
            <a:avLst/>
          </a:prstGeom>
          <a:solidFill>
            <a:srgbClr val="ECF3EE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E7D4F"/>
                </a:solidFill>
                <a:latin typeface="맑은 고딕"/>
              </a:rPr>
              <a:t>30/30 · 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154680"/>
            <a:ext cx="210312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1B3255"/>
                </a:solidFill>
                <a:latin typeface="맑은 고딕"/>
              </a:rPr>
              <a:t>OVER_5p3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70048" y="3154680"/>
            <a:ext cx="18288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70"/>
                </a:solidFill>
                <a:latin typeface="맑은 고딕"/>
              </a:rPr>
              <a:t>제품 과잉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98848" y="3154680"/>
            <a:ext cx="233172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B33A3A"/>
                </a:solidFill>
                <a:latin typeface="맑은 고딕"/>
              </a:rPr>
              <a:t>15/20 · 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30568" y="3154680"/>
            <a:ext cx="233172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70"/>
                </a:solidFill>
                <a:latin typeface="맑은 고딕"/>
              </a:rPr>
              <a:t>14/20 · 14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62288" y="3154680"/>
            <a:ext cx="2468880" cy="457200"/>
          </a:xfrm>
          <a:prstGeom prst="rect">
            <a:avLst/>
          </a:prstGeom>
          <a:solidFill>
            <a:srgbClr val="E2EEE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E7D4F"/>
                </a:solidFill>
                <a:latin typeface="맑은 고딕"/>
              </a:rPr>
              <a:t>18/20 · 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3611880"/>
            <a:ext cx="2103120" cy="457200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1B3255"/>
                </a:solidFill>
                <a:latin typeface="맑은 고딕"/>
              </a:rPr>
              <a:t>OVER_7p4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70048" y="3611880"/>
            <a:ext cx="1828800" cy="457200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70"/>
                </a:solidFill>
                <a:latin typeface="맑은 고딕"/>
              </a:rPr>
              <a:t>제품 과잉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98848" y="3611880"/>
            <a:ext cx="2331720" cy="457200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B33A3A"/>
                </a:solidFill>
                <a:latin typeface="맑은 고딕"/>
              </a:rPr>
              <a:t>20/28 · 24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30568" y="3611880"/>
            <a:ext cx="2331720" cy="457200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70"/>
                </a:solidFill>
                <a:latin typeface="맑은 고딕"/>
              </a:rPr>
              <a:t>21/28 · 23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62288" y="3611880"/>
            <a:ext cx="2468880" cy="457200"/>
          </a:xfrm>
          <a:prstGeom prst="rect">
            <a:avLst/>
          </a:prstGeom>
          <a:solidFill>
            <a:srgbClr val="E2EEE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E7D4F"/>
                </a:solidFill>
                <a:latin typeface="맑은 고딕"/>
              </a:rPr>
              <a:t>28/28 · 12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069080"/>
            <a:ext cx="210312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1B3255"/>
                </a:solidFill>
                <a:latin typeface="맑은 고딕"/>
              </a:rPr>
              <a:t>LOAD_skew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70048" y="4069080"/>
            <a:ext cx="18288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70"/>
                </a:solidFill>
                <a:latin typeface="맑은 고딕"/>
              </a:rPr>
              <a:t>부하 불균등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98848" y="4069080"/>
            <a:ext cx="233172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B33A3A"/>
                </a:solidFill>
                <a:latin typeface="맑은 고딕"/>
              </a:rPr>
              <a:t>22/30 · 12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30568" y="4069080"/>
            <a:ext cx="233172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70"/>
                </a:solidFill>
                <a:latin typeface="맑은 고딕"/>
              </a:rPr>
              <a:t>21/30 · 12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62288" y="4069080"/>
            <a:ext cx="2468880" cy="457200"/>
          </a:xfrm>
          <a:prstGeom prst="rect">
            <a:avLst/>
          </a:prstGeom>
          <a:solidFill>
            <a:srgbClr val="E2EEE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E7D4F"/>
                </a:solidFill>
                <a:latin typeface="맑은 고딕"/>
              </a:rPr>
              <a:t>26/30 · 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4526280"/>
            <a:ext cx="2103120" cy="457200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1B3255"/>
                </a:solidFill>
                <a:latin typeface="맑은 고딕"/>
              </a:rPr>
              <a:t>LOAD_stmix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70048" y="4526280"/>
            <a:ext cx="1828800" cy="457200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70"/>
                </a:solidFill>
                <a:latin typeface="맑은 고딕"/>
              </a:rPr>
              <a:t>부하 불균등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98848" y="4526280"/>
            <a:ext cx="2331720" cy="457200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B33A3A"/>
                </a:solidFill>
                <a:latin typeface="맑은 고딕"/>
              </a:rPr>
              <a:t>24/32 · 12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30568" y="4526280"/>
            <a:ext cx="2331720" cy="457200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70"/>
                </a:solidFill>
                <a:latin typeface="맑은 고딕"/>
              </a:rPr>
              <a:t>22/32 · 13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62288" y="4526280"/>
            <a:ext cx="2468880" cy="457200"/>
          </a:xfrm>
          <a:prstGeom prst="rect">
            <a:avLst/>
          </a:prstGeom>
          <a:solidFill>
            <a:srgbClr val="E2EEE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E7D4F"/>
                </a:solidFill>
                <a:latin typeface="맑은 고딕"/>
              </a:rPr>
              <a:t>27/32 · 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4983480"/>
            <a:ext cx="210312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1B3255"/>
                </a:solidFill>
                <a:latin typeface="맑은 고딕"/>
              </a:rPr>
              <a:t>CONV_x2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70048" y="4983480"/>
            <a:ext cx="18288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70"/>
                </a:solidFill>
                <a:latin typeface="맑은 고딕"/>
              </a:rPr>
              <a:t>전환 과중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498848" y="4983480"/>
            <a:ext cx="233172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B33A3A"/>
                </a:solidFill>
                <a:latin typeface="맑은 고딕"/>
              </a:rPr>
              <a:t>12/24 · 12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30568" y="4983480"/>
            <a:ext cx="233172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70"/>
                </a:solidFill>
                <a:latin typeface="맑은 고딕"/>
              </a:rPr>
              <a:t>24/24 · 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62288" y="4983480"/>
            <a:ext cx="2468880" cy="457200"/>
          </a:xfrm>
          <a:prstGeom prst="rect">
            <a:avLst/>
          </a:prstGeom>
          <a:solidFill>
            <a:srgbClr val="ECF3EE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E7D4F"/>
                </a:solidFill>
                <a:latin typeface="맑은 고딕"/>
              </a:rPr>
              <a:t>24/24 · 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" y="5440680"/>
            <a:ext cx="2103120" cy="457200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1B3255"/>
                </a:solidFill>
                <a:latin typeface="맑은 고딕"/>
              </a:rPr>
              <a:t>CONV_x3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70048" y="5440680"/>
            <a:ext cx="1828800" cy="457200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70"/>
                </a:solidFill>
                <a:latin typeface="맑은 고딕"/>
              </a:rPr>
              <a:t>전환 과중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98848" y="5440680"/>
            <a:ext cx="2331720" cy="457200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B33A3A"/>
                </a:solidFill>
                <a:latin typeface="맑은 고딕"/>
              </a:rPr>
              <a:t>12/20 · 12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30568" y="5440680"/>
            <a:ext cx="2331720" cy="457200"/>
          </a:xfrm>
          <a:prstGeom prst="rect">
            <a:avLst/>
          </a:prstGeom>
          <a:solidFill>
            <a:srgbClr val="EEF2F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70"/>
                </a:solidFill>
                <a:latin typeface="맑은 고딕"/>
              </a:rPr>
              <a:t>12/20 · 14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62288" y="5440680"/>
            <a:ext cx="2468880" cy="457200"/>
          </a:xfrm>
          <a:prstGeom prst="rect">
            <a:avLst/>
          </a:prstGeom>
          <a:solidFill>
            <a:srgbClr val="E2EEE7"/>
          </a:solidFill>
          <a:ln w="762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E7D4F"/>
                </a:solidFill>
                <a:latin typeface="맑은 고딕"/>
              </a:rPr>
              <a:t>18/20 · 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928" y="5897880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0">
                <a:solidFill>
                  <a:srgbClr val="222A33"/>
                </a:solidFill>
                <a:latin typeface="맑은 고딕"/>
              </a:rPr>
              <a:t>대칭(SYM·CONV_x2)에선 Bulk-Fill = Min-Progress(둘 다 최적), </a:t>
            </a:r>
            <a:r>
              <a:rPr sz="1130" b="1">
                <a:solidFill>
                  <a:srgbClr val="2E7D4F"/>
                </a:solidFill>
                <a:latin typeface="맑은 고딕"/>
              </a:rPr>
              <a:t>제품 과잉·부하 불균등·전환 과중에선 Bulk-Fill가 Min-Progress를 크게 앞섭니다</a:t>
            </a:r>
            <a:r>
              <a:rPr sz="1130" b="0">
                <a:solidFill>
                  <a:srgbClr val="5C6670"/>
                </a:solidFill>
                <a:latin typeface="맑은 고딕"/>
              </a:rPr>
              <a:t> (녹색=BF 우위/동률, 주황=열위).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04  알고리즘 KPI 비교 및 효과성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종합 집계 — 어려운 케이스일수록 학습 모델이 우위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50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40080" y="1371600"/>
          <a:ext cx="59436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6858000" y="1371600"/>
            <a:ext cx="4617720" cy="338328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0" y="1371600"/>
            <a:ext cx="4617720" cy="45720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1371600"/>
            <a:ext cx="46177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종합 집계 (8종 합산)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938528"/>
            <a:ext cx="17373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2E6FB0"/>
                </a:solidFill>
                <a:latin typeface="맑은 고딕"/>
              </a:rPr>
              <a:t>지표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1938528"/>
            <a:ext cx="9601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2E6FB0"/>
                </a:solidFill>
                <a:latin typeface="맑은 고딕"/>
              </a:rPr>
              <a:t>Earliest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1938528"/>
            <a:ext cx="10058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2E6FB0"/>
                </a:solidFill>
                <a:latin typeface="맑은 고딕"/>
              </a:rPr>
              <a:t>Bulk-Fill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52760" y="1938528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2E6FB0"/>
                </a:solidFill>
                <a:latin typeface="맑은 고딕"/>
              </a:rPr>
              <a:t>Min-Prog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249424"/>
            <a:ext cx="173736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B3255"/>
                </a:solidFill>
                <a:latin typeface="맑은 고딕"/>
              </a:rPr>
              <a:t>총 생산률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249424"/>
            <a:ext cx="9601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B33A3A"/>
                </a:solidFill>
                <a:latin typeface="맑은 고딕"/>
              </a:rPr>
              <a:t>68%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2249424"/>
            <a:ext cx="105156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E7D4F"/>
                </a:solidFill>
                <a:latin typeface="맑은 고딕"/>
              </a:rPr>
              <a:t>94%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2249424"/>
            <a:ext cx="77724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C6670"/>
                </a:solidFill>
                <a:latin typeface="맑은 고딕"/>
              </a:rPr>
              <a:t>81%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734056"/>
            <a:ext cx="173736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B3255"/>
                </a:solidFill>
                <a:latin typeface="맑은 고딕"/>
              </a:rPr>
              <a:t>총 전환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2734056"/>
            <a:ext cx="9601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B33A3A"/>
                </a:solidFill>
                <a:latin typeface="맑은 고딕"/>
              </a:rPr>
              <a:t>110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2734056"/>
            <a:ext cx="105156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E7D4F"/>
                </a:solidFill>
                <a:latin typeface="맑은 고딕"/>
              </a:rPr>
              <a:t>34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2734056"/>
            <a:ext cx="77724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C6670"/>
                </a:solidFill>
                <a:latin typeface="맑은 고딕"/>
              </a:rPr>
              <a:t>76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3218688"/>
            <a:ext cx="173736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B3255"/>
                </a:solidFill>
                <a:latin typeface="맑은 고딕"/>
              </a:rPr>
              <a:t>평균 가동률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3218688"/>
            <a:ext cx="9601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B33A3A"/>
                </a:solidFill>
                <a:latin typeface="맑은 고딕"/>
              </a:rPr>
              <a:t>57%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3218688"/>
            <a:ext cx="105156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E7D4F"/>
                </a:solidFill>
                <a:latin typeface="맑은 고딕"/>
              </a:rPr>
              <a:t>81%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3218688"/>
            <a:ext cx="77724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C6670"/>
                </a:solidFill>
                <a:latin typeface="맑은 고딕"/>
              </a:rPr>
              <a:t>71%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3703320"/>
            <a:ext cx="173736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B3255"/>
                </a:solidFill>
                <a:latin typeface="맑은 고딕"/>
              </a:rPr>
              <a:t>전량 생산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3703320"/>
            <a:ext cx="9601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B33A3A"/>
                </a:solidFill>
                <a:latin typeface="맑은 고딕"/>
              </a:rPr>
              <a:t>0/8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5480" y="3703320"/>
            <a:ext cx="105156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E7D4F"/>
                </a:solidFill>
                <a:latin typeface="맑은 고딕"/>
              </a:rPr>
              <a:t>4/8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3703320"/>
            <a:ext cx="77724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C6670"/>
                </a:solidFill>
                <a:latin typeface="맑은 고딕"/>
              </a:rPr>
              <a:t>3/8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4187952"/>
            <a:ext cx="173736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B3255"/>
                </a:solidFill>
                <a:latin typeface="맑은 고딕"/>
              </a:rPr>
              <a:t>전담 달성률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4187952"/>
            <a:ext cx="9601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B33A3A"/>
                </a:solidFill>
                <a:latin typeface="맑은 고딕"/>
              </a:rPr>
              <a:t>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5480" y="4187952"/>
            <a:ext cx="105156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E7D4F"/>
                </a:solidFill>
                <a:latin typeface="맑은 고딕"/>
              </a:rPr>
              <a:t>60%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4187952"/>
            <a:ext cx="77724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C6670"/>
                </a:solidFill>
                <a:latin typeface="맑은 고딕"/>
              </a:rPr>
              <a:t>47%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4983480"/>
            <a:ext cx="10835640" cy="123444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084064"/>
            <a:ext cx="10424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DBEE0"/>
                </a:solidFill>
                <a:latin typeface="맑은 고딕"/>
              </a:rPr>
              <a:t>핵심 발견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413248"/>
            <a:ext cx="1051560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D7E2EE"/>
                </a:solidFill>
                <a:latin typeface="맑은 고딕"/>
              </a:rPr>
              <a:t>쉬운 대칭 케이스에선 휴리스틱과 동등하지만, </a:t>
            </a:r>
            <a:r>
              <a:rPr sz="1250" b="0">
                <a:solidFill>
                  <a:srgbClr val="D7E2EE"/>
                </a:solidFill>
                <a:latin typeface="맑은 고딕"/>
              </a:rPr>
              <a:t>전환이 불가피한 현실적 케이스에서 Bulk-Fill가 생산률 </a:t>
            </a:r>
            <a:r>
              <a:rPr sz="1300" b="1">
                <a:solidFill>
                  <a:srgbClr val="FFFFFF"/>
                </a:solidFill>
                <a:latin typeface="맑은 고딕"/>
              </a:rPr>
              <a:t>94% vs 81%(Min-Progress) · 전환 34 vs 76</a:t>
            </a:r>
            <a:r>
              <a:rPr sz="1250" b="0">
                <a:solidFill>
                  <a:srgbClr val="D7E2EE"/>
                </a:solidFill>
                <a:latin typeface="맑은 고딕"/>
              </a:rPr>
              <a:t> 으로 명확히 앞섭니다. 단순 휴리스틱은 전환을 남발해 캐리어를 잃습니다.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04  알고리즘 KPI 비교 및 효과성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간트 비교 ① 제품 과잉 (3설비·5제품)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51</a:t>
            </a:r>
          </a:p>
        </p:txBody>
      </p:sp>
      <p:pic>
        <p:nvPicPr>
          <p:cNvPr id="10" name="Picture 9" descr="gantt_OVER_5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092440" cy="42535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732520" y="1325880"/>
            <a:ext cx="3017520" cy="402336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32520" y="1325880"/>
            <a:ext cx="3017520" cy="45720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1325880"/>
            <a:ext cx="30175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</a:rPr>
              <a:t>결과 요약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1920240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B33A3A"/>
                </a:solidFill>
                <a:latin typeface="맑은 고딕"/>
              </a:rPr>
              <a:t>Earliest-ST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2194560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</a:rPr>
              <a:t>생산 15/20 · 전환 12회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2633472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5C6670"/>
                </a:solidFill>
                <a:latin typeface="맑은 고딕"/>
              </a:rPr>
              <a:t>Min-Progress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2907791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</a:rPr>
              <a:t>생산 14/20 · 전환 14회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3346704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7D4F"/>
                </a:solidFill>
                <a:latin typeface="맑은 고딕"/>
              </a:rPr>
              <a:t>Bulk-Fill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621024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</a:rPr>
              <a:t>생산 18/20 · 전환 7회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5400" y="4014216"/>
            <a:ext cx="2651760" cy="18288"/>
          </a:xfrm>
          <a:prstGeom prst="rect">
            <a:avLst/>
          </a:prstGeom>
          <a:solidFill>
            <a:srgbClr val="C4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4133088"/>
            <a:ext cx="2743200" cy="1828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</a:rPr>
              <a:t>3설비가 5제품을 처리해 전환이 불가피한 케이스.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33A3A"/>
                </a:solidFill>
                <a:latin typeface="맑은 고딕"/>
              </a:rPr>
              <a:t>Earliest·Min-Progress</a:t>
            </a:r>
            <a:r>
              <a:rPr sz="1100" b="0">
                <a:solidFill>
                  <a:srgbClr val="5C6670"/>
                </a:solidFill>
                <a:latin typeface="맑은 고딕"/>
              </a:rPr>
              <a:t>는 제품을 자주 바꿔 </a:t>
            </a:r>
            <a:r>
              <a:rPr sz="1100" b="1">
                <a:solidFill>
                  <a:srgbClr val="B33A3A"/>
                </a:solidFill>
                <a:latin typeface="맑은 고딕"/>
              </a:rPr>
              <a:t>전환(빗금)이 빈발</a:t>
            </a:r>
            <a:r>
              <a:rPr sz="1100" b="0">
                <a:solidFill>
                  <a:srgbClr val="5C6670"/>
                </a:solidFill>
                <a:latin typeface="맑은 고딕"/>
              </a:rPr>
              <a:t>, 시간 내 캐리어를 잃습니다.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7D4F"/>
                </a:solidFill>
                <a:latin typeface="맑은 고딕"/>
              </a:rPr>
              <a:t>Bulk-Fill</a:t>
            </a:r>
            <a:r>
              <a:rPr sz="1100" b="0">
                <a:solidFill>
                  <a:srgbClr val="5C6670"/>
                </a:solidFill>
                <a:latin typeface="맑은 고딕"/>
              </a:rPr>
              <a:t>는 같은 제품을 길게 묶어 </a:t>
            </a:r>
            <a:r>
              <a:rPr sz="1100" b="1">
                <a:solidFill>
                  <a:srgbClr val="2E7D4F"/>
                </a:solidFill>
                <a:latin typeface="맑은 고딕"/>
              </a:rPr>
              <a:t>전환을 최소화</a:t>
            </a:r>
            <a:r>
              <a:rPr sz="1100" b="0">
                <a:solidFill>
                  <a:srgbClr val="5C6670"/>
                </a:solidFill>
                <a:latin typeface="맑은 고딕"/>
              </a:rPr>
              <a:t>하고 전량을 생산합니다.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04  알고리즘 KPI 비교 및 효과성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간트 비교 ② 부하 불균등 (계획 14·8·4·4)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52</a:t>
            </a:r>
          </a:p>
        </p:txBody>
      </p:sp>
      <p:pic>
        <p:nvPicPr>
          <p:cNvPr id="10" name="Picture 9" descr="gantt_LOAD_sk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092440" cy="42535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732520" y="1325880"/>
            <a:ext cx="3017520" cy="4023360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32520" y="1325880"/>
            <a:ext cx="3017520" cy="45720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1325880"/>
            <a:ext cx="30175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</a:rPr>
              <a:t>결과 요약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1920240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B33A3A"/>
                </a:solidFill>
                <a:latin typeface="맑은 고딕"/>
              </a:rPr>
              <a:t>Earliest-ST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2194560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</a:rPr>
              <a:t>생산 22/30 · 전환 12회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2633472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5C6670"/>
                </a:solidFill>
                <a:latin typeface="맑은 고딕"/>
              </a:rPr>
              <a:t>Min-Progress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2907791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</a:rPr>
              <a:t>생산 21/30 · 전환 12회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3346704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7D4F"/>
                </a:solidFill>
                <a:latin typeface="맑은 고딕"/>
              </a:rPr>
              <a:t>Bulk-Fill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621024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</a:rPr>
              <a:t>생산 26/30 · 전환 2회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5400" y="4014216"/>
            <a:ext cx="2651760" cy="18288"/>
          </a:xfrm>
          <a:prstGeom prst="rect">
            <a:avLst/>
          </a:prstGeom>
          <a:solidFill>
            <a:srgbClr val="C4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4133088"/>
            <a:ext cx="2743200" cy="1828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</a:rPr>
              <a:t>제품별 물량이 14·8·4·4로 편중된 케이스.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33A3A"/>
                </a:solidFill>
                <a:latin typeface="맑은 고딕"/>
              </a:rPr>
              <a:t>휴리스틱</a:t>
            </a:r>
            <a:r>
              <a:rPr sz="1100" b="0">
                <a:solidFill>
                  <a:srgbClr val="5C6670"/>
                </a:solidFill>
                <a:latin typeface="맑은 고딕"/>
              </a:rPr>
              <a:t>은 진행률만 보고 분배해 </a:t>
            </a:r>
            <a:r>
              <a:rPr sz="1100" b="1">
                <a:solidFill>
                  <a:srgbClr val="B33A3A"/>
                </a:solidFill>
                <a:latin typeface="맑은 고딕"/>
              </a:rPr>
              <a:t>전환이 누적</a:t>
            </a:r>
            <a:r>
              <a:rPr sz="1100" b="0">
                <a:solidFill>
                  <a:srgbClr val="5C6670"/>
                </a:solidFill>
                <a:latin typeface="맑은 고딕"/>
              </a:rPr>
              <a:t>됩니다.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7D4F"/>
                </a:solidFill>
                <a:latin typeface="맑은 고딕"/>
              </a:rPr>
              <a:t>Bulk-Fill</a:t>
            </a:r>
            <a:r>
              <a:rPr sz="1100" b="0">
                <a:solidFill>
                  <a:srgbClr val="5C6670"/>
                </a:solidFill>
                <a:latin typeface="맑은 고딕"/>
              </a:rPr>
              <a:t>는 물량 많은 제품에 설비를 </a:t>
            </a:r>
            <a:r>
              <a:rPr sz="1100" b="1">
                <a:solidFill>
                  <a:srgbClr val="2E7D4F"/>
                </a:solidFill>
                <a:latin typeface="맑은 고딕"/>
              </a:rPr>
              <a:t>전담 배치</a:t>
            </a:r>
            <a:r>
              <a:rPr sz="1100" b="0">
                <a:solidFill>
                  <a:srgbClr val="5C6670"/>
                </a:solidFill>
                <a:latin typeface="맑은 고딕"/>
              </a:rPr>
              <a:t>해 전환 2회로 최소화합니다.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82296" cy="475488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74320"/>
            <a:ext cx="10058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6FB0"/>
                </a:solidFill>
                <a:latin typeface="맑은 고딕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75488"/>
            <a:ext cx="106070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B3255"/>
                </a:solidFill>
                <a:latin typeface="맑은 고딕"/>
              </a:rPr>
              <a:t>결론 및 기대 효과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69848"/>
            <a:ext cx="12191695" cy="20116"/>
          </a:xfrm>
          <a:prstGeom prst="rect">
            <a:avLst/>
          </a:prstGeom>
          <a:solidFill>
            <a:srgbClr val="D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670"/>
                </a:solidFill>
                <a:latin typeface="맑은 고딕"/>
              </a:rPr>
              <a:t>Bulk-Fill 강화학습 기반 설비 스케줄링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1704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670"/>
                </a:solidFill>
                <a:latin typeface="맑은 고딕"/>
              </a:rPr>
              <a:t>53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417320"/>
            <a:ext cx="5166360" cy="457200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417320"/>
            <a:ext cx="516636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맑은 고딕"/>
              </a:rPr>
              <a:t>핵심 성과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417320"/>
            <a:ext cx="5166360" cy="45720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417320"/>
            <a:ext cx="516636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맑은 고딕"/>
              </a:rPr>
              <a:t>기대 효과 및 향후 과제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057400"/>
            <a:ext cx="5166360" cy="1078992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2057400"/>
            <a:ext cx="73152" cy="1078992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203704"/>
            <a:ext cx="4846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B3255"/>
                </a:solidFill>
                <a:latin typeface="맑은 고딕"/>
              </a:rPr>
              <a:t>검증된 성과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569464"/>
            <a:ext cx="48463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0">
                <a:solidFill>
                  <a:srgbClr val="5C6670"/>
                </a:solidFill>
                <a:latin typeface="맑은 고딕"/>
              </a:rPr>
              <a:t>8종 벤치마크 종합 생산률 94%로 휴리스틱(81%)을 능가, 전환 76→34회 감소.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2057400"/>
            <a:ext cx="5166360" cy="1078992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2057400"/>
            <a:ext cx="73152" cy="1078992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203704"/>
            <a:ext cx="4846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B3255"/>
                </a:solidFill>
                <a:latin typeface="맑은 고딕"/>
              </a:rPr>
              <a:t>확장성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569464"/>
            <a:ext cx="48463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0">
                <a:solidFill>
                  <a:srgbClr val="5C6670"/>
                </a:solidFill>
                <a:latin typeface="맑은 고딕"/>
              </a:rPr>
              <a:t>더 많은 설비·제품·다단 공정으로 데이터 교체만으로 확장 적용 가능.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273552"/>
            <a:ext cx="5166360" cy="1078992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3273552"/>
            <a:ext cx="73152" cy="1078992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3419856"/>
            <a:ext cx="4846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B3255"/>
                </a:solidFill>
                <a:latin typeface="맑은 고딕"/>
              </a:rPr>
              <a:t>변별력 있는 검증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785616"/>
            <a:ext cx="48463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0">
                <a:solidFill>
                  <a:srgbClr val="5C6670"/>
                </a:solidFill>
                <a:latin typeface="맑은 고딕"/>
              </a:rPr>
              <a:t>전환이 불가피한 제품 과잉·부하 불균등 케이스에서 학습 모델의 우위를 입증.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3273552"/>
            <a:ext cx="5166360" cy="1078992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3273552"/>
            <a:ext cx="73152" cy="1078992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419856"/>
            <a:ext cx="4846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B3255"/>
                </a:solidFill>
                <a:latin typeface="맑은 고딕"/>
              </a:rPr>
              <a:t>운영 적용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785616"/>
            <a:ext cx="48463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0">
                <a:solidFill>
                  <a:srgbClr val="5C6670"/>
                </a:solidFill>
                <a:latin typeface="맑은 고딕"/>
              </a:rPr>
              <a:t>전환 비용·계획·재공 제약을 함께 고려한 일배치 의사결정 지원.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4489704"/>
            <a:ext cx="5166360" cy="1078992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4489704"/>
            <a:ext cx="73152" cy="1078992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636008"/>
            <a:ext cx="4846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B3255"/>
                </a:solidFill>
                <a:latin typeface="맑은 고딕"/>
              </a:rPr>
              <a:t>구조적 강점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01768"/>
            <a:ext cx="48463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0">
                <a:solidFill>
                  <a:srgbClr val="5C6670"/>
                </a:solidFill>
                <a:latin typeface="맑은 고딕"/>
              </a:rPr>
              <a:t>벌크 점유 + 행동 마스킹으로 전환을 근본적으로 억제하고 학습을 안정화.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4489704"/>
            <a:ext cx="5166360" cy="1078992"/>
          </a:xfrm>
          <a:prstGeom prst="rect">
            <a:avLst/>
          </a:prstGeom>
          <a:solidFill>
            <a:srgbClr val="EEF2F7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72200" y="4489704"/>
            <a:ext cx="73152" cy="1078992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636008"/>
            <a:ext cx="4846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B3255"/>
                </a:solidFill>
                <a:latin typeface="맑은 고딕"/>
              </a:rPr>
              <a:t>향후 과제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001768"/>
            <a:ext cx="48463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0">
                <a:solidFill>
                  <a:srgbClr val="5C6670"/>
                </a:solidFill>
                <a:latin typeface="맑은 고딕"/>
              </a:rPr>
              <a:t>실데이터 적용·보상 가중치 튜닝·다공정 흐름 균형의 추가 검증.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" y="5806440"/>
            <a:ext cx="10515600" cy="566928"/>
          </a:xfrm>
          <a:prstGeom prst="rect">
            <a:avLst/>
          </a:prstGeom>
          <a:solidFill>
            <a:srgbClr val="1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5806440"/>
            <a:ext cx="105156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강화학습 기반 Bulk-Fill 스케줄링 — 전환 최소화와 계획 추종을 동시에 달성하는 검증된 의사결정 모델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