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1B3255"/>
                </a:solidFill>
                <a:latin typeface="맑은 고딕"/>
              </a:defRPr>
            </a:pPr>
            <a:r>
              <a:t>생산 수량 (개, 최대 24)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생산 수량</c:v>
                </c:pt>
              </c:strCache>
            </c:strRef>
          </c:tx>
          <c:dPt>
            <c:idx val="0"/>
            <c:spPr>
              <a:solidFill>
                <a:srgbClr val="C28A8A"/>
              </a:solidFill>
            </c:spPr>
          </c:dPt>
          <c:dPt>
            <c:idx val="1"/>
            <c:spPr>
              <a:solidFill>
                <a:srgbClr val="4A6D8C"/>
              </a:solidFill>
            </c:spPr>
          </c:dPt>
          <c:dPt>
            <c:idx val="2"/>
            <c:spPr>
              <a:solidFill>
                <a:srgbClr val="2E6FB0"/>
              </a:solidFill>
            </c:spPr>
          </c:dPt>
          <c:cat>
            <c:strRef>
              <c:f>Sheet1!$A$2:$A$4</c:f>
              <c:strCache>
                <c:ptCount val="3"/>
                <c:pt idx="0">
                  <c:v>Earliest-ST</c:v>
                </c:pt>
                <c:pt idx="1">
                  <c:v>Min-Progress</c:v>
                </c:pt>
                <c:pt idx="2">
                  <c:v>Bulk-Fill PPO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24</c:v>
                </c:pt>
                <c:pt idx="2">
                  <c:v>24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B3255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1B3255"/>
                </a:solidFill>
                <a:latin typeface="맑은 고딕"/>
              </a:defRPr>
            </a:pPr>
            <a:r>
              <a:t>전환 횟수 (회, 낮을수록 우수)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전환 횟수</c:v>
                </c:pt>
              </c:strCache>
            </c:strRef>
          </c:tx>
          <c:dPt>
            <c:idx val="0"/>
            <c:spPr>
              <a:solidFill>
                <a:srgbClr val="B33A3A"/>
              </a:solidFill>
            </c:spPr>
          </c:dPt>
          <c:dPt>
            <c:idx val="1"/>
            <c:spPr>
              <a:solidFill>
                <a:srgbClr val="4A6D8C"/>
              </a:solidFill>
            </c:spPr>
          </c:dPt>
          <c:dPt>
            <c:idx val="2"/>
            <c:spPr>
              <a:solidFill>
                <a:srgbClr val="2E6FB0"/>
              </a:solidFill>
            </c:spPr>
          </c:dPt>
          <c:cat>
            <c:strRef>
              <c:f>Sheet1!$A$2:$A$4</c:f>
              <c:strCache>
                <c:ptCount val="3"/>
                <c:pt idx="0">
                  <c:v>Earliest-ST</c:v>
                </c:pt>
                <c:pt idx="1">
                  <c:v>Min-Progress</c:v>
                </c:pt>
                <c:pt idx="2">
                  <c:v>Bulk-Fill PPO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B3255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1B3255"/>
                </a:solidFill>
                <a:latin typeface="맑은 고딕"/>
              </a:defRPr>
            </a:pPr>
            <a:r>
              <a:t>8종 종합 — 생산률 · 평균 가동률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생산률(%)</c:v>
                </c:pt>
              </c:strCache>
            </c:strRef>
          </c:tx>
          <c:spPr>
            <a:solidFill>
              <a:srgbClr val="2E6FB0"/>
            </a:solidFill>
          </c:spPr>
          <c:cat>
            <c:strRef>
              <c:f>Sheet1!$A$2:$A$4</c:f>
              <c:strCache>
                <c:ptCount val="3"/>
                <c:pt idx="0">
                  <c:v>Earliest-ST</c:v>
                </c:pt>
                <c:pt idx="1">
                  <c:v>Min-Progress</c:v>
                </c:pt>
                <c:pt idx="2">
                  <c:v>Bulk-Fill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67.8</c:v>
                </c:pt>
                <c:pt idx="1">
                  <c:v>80.8</c:v>
                </c:pt>
                <c:pt idx="2">
                  <c:v>93.8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평균 가동률(%)</c:v>
                </c:pt>
              </c:strCache>
            </c:strRef>
          </c:tx>
          <c:spPr>
            <a:solidFill>
              <a:srgbClr val="4A6D8C"/>
            </a:solidFill>
          </c:spPr>
          <c:cat>
            <c:strRef>
              <c:f>Sheet1!$A$2:$A$4</c:f>
              <c:strCache>
                <c:ptCount val="3"/>
                <c:pt idx="0">
                  <c:v>Earliest-ST</c:v>
                </c:pt>
                <c:pt idx="1">
                  <c:v>Min-Progress</c:v>
                </c:pt>
                <c:pt idx="2">
                  <c:v>Bulk-Fill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57.1</c:v>
                </c:pt>
                <c:pt idx="1">
                  <c:v>71.1</c:v>
                </c:pt>
                <c:pt idx="2">
                  <c:v>81.3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50" b="1">
                  <a:solidFill>
                    <a:srgbClr val="1B3255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62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14400"/>
            <a:ext cx="109728" cy="1554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914400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설비 스케줄링 · 강화학습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1417320"/>
            <a:ext cx="841248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맑은 고딕"/>
              </a:rPr>
              <a:t>Bulk-Fill 강화학습 기반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맑은 고딕"/>
              </a:rPr>
              <a:t>반도체 설비 스케줄링 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3611880"/>
            <a:ext cx="4754880" cy="18288"/>
          </a:xfrm>
          <a:prstGeom prst="rect">
            <a:avLst/>
          </a:prstGeom>
          <a:solidFill>
            <a:srgbClr val="3A5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767328"/>
            <a:ext cx="86868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C9D8E8"/>
                </a:solidFill>
                <a:latin typeface="맑은 고딕"/>
              </a:rPr>
              <a:t>MDP 모델 정의(State · Action · Reward)와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C9D8E8"/>
                </a:solidFill>
                <a:latin typeface="맑은 고딕"/>
              </a:rPr>
              <a:t>테스트 데이터 기반 알고리즘 KPI 비교 · 효과성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943600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FA6C0"/>
                </a:solidFill>
                <a:latin typeface="맑은 고딕"/>
              </a:rPr>
              <a:t>Project  pjt_scheduling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594360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FA6C0"/>
                </a:solidFill>
                <a:latin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508760"/>
            <a:ext cx="786384" cy="786384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08760"/>
            <a:ext cx="786384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572768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3255"/>
                </a:solidFill>
                <a:latin typeface="맑은 고딕"/>
              </a:rPr>
              <a:t>문제 정의 및 시스템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965960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스케줄링 과제 · 전환 비용 · 모듈 아키텍처와 구조적 강점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87752"/>
            <a:ext cx="786384" cy="786384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87752"/>
            <a:ext cx="786384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6517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3255"/>
                </a:solidFill>
                <a:latin typeface="맑은 고딕"/>
              </a:rPr>
              <a:t>Bulk-Fill MDP 모델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304495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State · Action · Reward 상세(항목별 예시) · 마스킹 · 블록 점유 메커니즘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666744"/>
            <a:ext cx="786384" cy="786384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66744"/>
            <a:ext cx="786384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730752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3255"/>
                </a:solidFill>
                <a:latin typeface="맑은 고딕"/>
              </a:rPr>
              <a:t>보상 산출 로직 예시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4123944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입력 JSON · 보상 항목별 상세(8p) · 스텝별 SAR · 누적 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745736"/>
            <a:ext cx="786384" cy="786384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45736"/>
            <a:ext cx="786384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809744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3255"/>
                </a:solidFill>
                <a:latin typeface="맑은 고딕"/>
              </a:rPr>
              <a:t>알고리즘 KPI 비교 및 효과성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1368" y="5202936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테스트 데이터 기반 정량 비교 · 학습 모델 효과 입증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01  문제 정의 및 시스템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스케줄링 과제와 전환(Conversion) 비용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106070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22A33"/>
                </a:solidFill>
                <a:latin typeface="맑은 고딕"/>
              </a:rPr>
              <a:t>설비가 유휴 상태가 될 때마다 </a:t>
            </a:r>
            <a:r>
              <a:rPr sz="1400" b="1">
                <a:solidFill>
                  <a:srgbClr val="1B3255"/>
                </a:solidFill>
                <a:latin typeface="맑은 고딕"/>
              </a:rPr>
              <a:t>어떤 제품·공정(PPK·OPER)을 투입할지</a:t>
            </a:r>
            <a:r>
              <a:rPr sz="1400" b="0">
                <a:solidFill>
                  <a:srgbClr val="222A33"/>
                </a:solidFill>
                <a:latin typeface="맑은 고딕"/>
              </a:rPr>
              <a:t> 결정하는 순차적 의사결정 문제입니다.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525780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52578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핵심 난점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514600"/>
            <a:ext cx="5257800" cy="26974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697480"/>
            <a:ext cx="484632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FB0"/>
                </a:solidFill>
                <a:latin typeface="맑은 고딕"/>
              </a:rPr>
              <a:t>▪  </a:t>
            </a:r>
            <a:r>
              <a:rPr sz="1280" b="1">
                <a:solidFill>
                  <a:srgbClr val="1B3255"/>
                </a:solidFill>
                <a:latin typeface="맑은 고딕"/>
              </a:rPr>
              <a:t>제품 전환마다 셋업 손실</a:t>
            </a:r>
            <a:r>
              <a:rPr sz="1230" b="0">
                <a:solidFill>
                  <a:srgbClr val="5C6670"/>
                </a:solidFill>
                <a:latin typeface="맑은 고딕"/>
              </a:rPr>
              <a:t>   LOT_CD/TEMP가 바뀌면 전환(conversion) 시간이 발생해 그만큼 가동 시간이 사라집니다.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FB0"/>
                </a:solidFill>
                <a:latin typeface="맑은 고딕"/>
              </a:rPr>
              <a:t>▪  </a:t>
            </a:r>
            <a:r>
              <a:rPr sz="1280" b="1">
                <a:solidFill>
                  <a:srgbClr val="1B3255"/>
                </a:solidFill>
                <a:latin typeface="맑은 고딕"/>
              </a:rPr>
              <a:t>계획·재공·설비 제약 동시 고려</a:t>
            </a:r>
            <a:r>
              <a:rPr sz="1230" b="0">
                <a:solidFill>
                  <a:srgbClr val="5C6670"/>
                </a:solidFill>
                <a:latin typeface="맑은 고딕"/>
              </a:rPr>
              <a:t>   계획량, 가용 재공(WIP), 설비-제품 적합성, 동시 가공 공구(tool) 한도를 함께 만족해야 합니다.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FB0"/>
                </a:solidFill>
                <a:latin typeface="맑은 고딕"/>
              </a:rPr>
              <a:t>▪  </a:t>
            </a:r>
            <a:r>
              <a:rPr sz="1280" b="1">
                <a:solidFill>
                  <a:srgbClr val="1B3255"/>
                </a:solidFill>
                <a:latin typeface="맑은 고딕"/>
              </a:rPr>
              <a:t>근시안적 1매 배정의 한계</a:t>
            </a:r>
            <a:r>
              <a:rPr sz="1230" b="0">
                <a:solidFill>
                  <a:srgbClr val="5C6670"/>
                </a:solidFill>
                <a:latin typeface="맑은 고딕"/>
              </a:rPr>
              <a:t>   유휴 설비에 1캐리어씩만 배정하면 같은 셋업을 길게 이어가지 못해 전환이 잦아집니다.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057400"/>
            <a:ext cx="498348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57400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전환 비용의 정량적 의미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514600"/>
            <a:ext cx="4983480" cy="26974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C6670"/>
                </a:solidFill>
                <a:latin typeface="맑은 고딕"/>
              </a:rPr>
              <a:t>처리시간 = 전환시간 = 60분, 가동 8시간 기준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200400"/>
            <a:ext cx="4526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200400"/>
            <a:ext cx="452628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B3255"/>
                </a:solidFill>
                <a:latin typeface="맑은 고딕"/>
              </a:rPr>
              <a:t>전환 1회  =  캐리어 1개 손실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C6670"/>
                </a:solidFill>
                <a:latin typeface="맑은 고딕"/>
              </a:rPr>
              <a:t>설비당 8캐리어 처리 가능 → 전환 n회 시 (8 − n)개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4572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맑은 고딕"/>
              </a:rPr>
              <a:t>전환 비용이 </a:t>
            </a:r>
            <a:r>
              <a:rPr sz="1250" b="1">
                <a:solidFill>
                  <a:srgbClr val="B33A3A"/>
                </a:solidFill>
                <a:latin typeface="맑은 고딕"/>
              </a:rPr>
              <a:t>생산 수량 손실로 직접 환산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되므로, 전환 최소화가 곧 처리량 극대화로 이어집니다.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440680"/>
            <a:ext cx="1005840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설계 목표  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재공이 충분하면 takt에 맞춰 균등 생산하고, 편중되면 몰린 공정에 집중하되 </a:t>
            </a:r>
            <a:r>
              <a:rPr sz="1350" b="1">
                <a:solidFill>
                  <a:srgbClr val="FFFFFF"/>
                </a:solidFill>
                <a:latin typeface="맑은 고딕"/>
              </a:rPr>
              <a:t>불필요한 전환은 회피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01  문제 정의 및 시스템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모듈 아키텍처 — 데이터에서 추론·시각화까지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2084831" cy="45720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data/loader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011680"/>
            <a:ext cx="2084831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193852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데이터 적재·전처리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1938527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Oracle·JSON → env_data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(arrange·plan·flow·tool)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56332" y="2267712"/>
            <a:ext cx="182879" cy="38404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16352" y="1554480"/>
            <a:ext cx="2084831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simulation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2011680"/>
            <a:ext cx="2084831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9504" y="2121408"/>
            <a:ext cx="193852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이산사건 시뮬레이터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2542032"/>
            <a:ext cx="1938527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DES 엔진·상태/보상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LOT·EQP 규칙 배정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05755" y="2267712"/>
            <a:ext cx="182879" cy="38404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554480"/>
            <a:ext cx="2084831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env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2011680"/>
            <a:ext cx="2084831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2121408"/>
            <a:ext cx="193852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Gym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542032"/>
            <a:ext cx="1938527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SchedulingEnv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BulkFillEnv(마스킹)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55180" y="2267712"/>
            <a:ext cx="182879" cy="38404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1554480"/>
            <a:ext cx="2084831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011680"/>
            <a:ext cx="2084831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8352" y="2121408"/>
            <a:ext cx="193852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정책·휴리스틱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542032"/>
            <a:ext cx="1938527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PPO(학습)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Min-Progress·Earliest-ST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04604" y="2267712"/>
            <a:ext cx="182879" cy="38404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4624" y="1554480"/>
            <a:ext cx="2084831" cy="45720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inference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64624" y="2011680"/>
            <a:ext cx="2084831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7776" y="2121408"/>
            <a:ext cx="193852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추론·결과 출력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2542032"/>
            <a:ext cx="1938527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스케줄·KPI·전환계획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output.json /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657600"/>
            <a:ext cx="11064240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886200"/>
            <a:ext cx="27066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3886200"/>
            <a:ext cx="73152" cy="9144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986784"/>
            <a:ext cx="243230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config.py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334256"/>
            <a:ext cx="24140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환경 축(O·P·K)·보상 가중치·경로 설정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55848" y="3886200"/>
            <a:ext cx="27066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55848" y="3886200"/>
            <a:ext cx="73152" cy="9144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8728" y="3986784"/>
            <a:ext cx="243230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api · frontend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8728" y="4334256"/>
            <a:ext cx="24140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FastAPI + React 대시보드 · 간트/KPI 시각화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4768" y="3886200"/>
            <a:ext cx="27066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44768" y="3886200"/>
            <a:ext cx="73152" cy="9144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986784"/>
            <a:ext cx="243230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benchmark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4334256"/>
            <a:ext cx="24140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직관형 검증 데이터셋(CONV_BENCH) 생성·평가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3688" y="3886200"/>
            <a:ext cx="27066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33688" y="3886200"/>
            <a:ext cx="73152" cy="9144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16567" y="3986784"/>
            <a:ext cx="243230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models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6567" y="4334256"/>
            <a:ext cx="24140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PPO 체크포인트(rl · bulkfill 분리 저장)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074920"/>
            <a:ext cx="11064240" cy="1143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175504"/>
            <a:ext cx="10698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B0"/>
                </a:solidFill>
                <a:latin typeface="맑은 고딕"/>
              </a:rPr>
              <a:t>설계 포인트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522976"/>
            <a:ext cx="1078992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맑은 고딕"/>
              </a:rPr>
              <a:t>정책(RL)은 </a:t>
            </a:r>
            <a:r>
              <a:rPr sz="1250" b="1">
                <a:solidFill>
                  <a:srgbClr val="1B3255"/>
                </a:solidFill>
                <a:latin typeface="맑은 고딕"/>
              </a:rPr>
              <a:t>(PPK, OPER) 버킷 선택에만 집중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하고, LOT·EQP 세부 배정과 이산사건 무결성은 시뮬레이터 규칙이 보장합니다. </a:t>
            </a:r>
            <a:r>
              <a:rPr sz="1250" b="1">
                <a:solidFill>
                  <a:srgbClr val="1B3255"/>
                </a:solidFill>
                <a:latin typeface="맑은 고딕"/>
              </a:rPr>
              <a:t>행동 공간을 작게 유지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해 학습이 안정적이며, 시뮬레이터·환경·정책이 느슨하게 결합되어 휴리스틱과 동일 조건에서 비교할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01  문제 정의 및 시스템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구조적 특징과 강점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417320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18488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이산사건 시뮬레이션 기반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93976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설비 배정 즉시 busy 전환·종료 이벤트로 진행하는 DES로 실제 라인 동작에 부합하는 일정·전환을 재현합니다.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17320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18488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벌크 점유(Bulk-Fill) 행동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93976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정책이 (버킷 + 블록 크기)를 함께 선택해 같은 셋업으로 N캐리어를 연속 점유 → 전환 빈도를 구조적으로 억제합니다.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417320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417320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618488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행동 마스킹(MaskablePPO)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093976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유효하지 않은 (PPK·OPER)·블록 크기는 마스크로 차단해 무효 행동 탐색을 제거하고 학습 효율을 높입니다.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081528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081528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282696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계획·재공 적응형 보상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758184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고정 계획이 아닌 달성가능 상한(achievable) 기준 takt를 추종해 재공 한계 내에서만 페이싱합니다.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081528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081528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282696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전환 비용의 정량 모델링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758184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전환 1회=설비 가동 손실로 환산해 회피가능 전환에 추가 패널티를 부여, 불필요한 셋업 변경을 억제합니다.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081528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80" y="3081528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282696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동일 조건 알고리즘 비교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758184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PPO·휴리스틱이 같은 시뮬레이터·KPI로 평가되어 효과를 객관적으로 검증할 수 있습니다.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754880"/>
            <a:ext cx="10515600" cy="14173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882896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BEE0"/>
                </a:solidFill>
                <a:latin typeface="맑은 고딕"/>
              </a:rPr>
              <a:t>요약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212080"/>
            <a:ext cx="100584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작은 행동 공간 · 마스킹 · 벌크 점유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를 결합해 전환을 줄이면서 계획을 추종하도록 설계했으며, 이산사건 시뮬레이터 위에서 </a:t>
            </a:r>
            <a:r>
              <a:rPr sz="1350" b="1">
                <a:solidFill>
                  <a:srgbClr val="FFFFFF"/>
                </a:solidFill>
                <a:latin typeface="맑은 고딕"/>
              </a:rPr>
              <a:t>휴리스틱과 1:1로 비교 가능한 검증 체계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를 갖췄습니다.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강화학습 의사결정 구조 (MDP)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22A33"/>
                </a:solidFill>
                <a:latin typeface="맑은 고딕"/>
              </a:rPr>
              <a:t>매 유휴 설비 결정 시점을 1 스텝으로 보고, </a:t>
            </a:r>
            <a:r>
              <a:rPr sz="1350" b="1">
                <a:solidFill>
                  <a:srgbClr val="1B3255"/>
                </a:solidFill>
                <a:latin typeface="맑은 고딕"/>
              </a:rPr>
              <a:t>상태(State) → 행동(Action) → 보상(Reward)</a:t>
            </a:r>
            <a:r>
              <a:rPr sz="1350" b="0">
                <a:solidFill>
                  <a:srgbClr val="222A33"/>
                </a:solidFill>
                <a:latin typeface="맑은 고딕"/>
              </a:rPr>
              <a:t> 순환으로 정책을 학습합니다.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057400"/>
            <a:ext cx="3017520" cy="105156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정책 (Agent)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MaskablePPO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057400"/>
            <a:ext cx="3017520" cy="105156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환경 (Environment)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이산사건 시뮬레이터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2240280"/>
            <a:ext cx="3931920" cy="365760"/>
          </a:xfrm>
          <a:prstGeom prst="right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883664"/>
            <a:ext cx="3931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3255"/>
                </a:solidFill>
                <a:latin typeface="맑은 고딕"/>
              </a:rPr>
              <a:t>행동 a : (버킷, 블록크기)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4114800" y="2743200"/>
            <a:ext cx="3931920" cy="365760"/>
          </a:xfrm>
          <a:prstGeom prst="left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3127248"/>
            <a:ext cx="3931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3255"/>
                </a:solidFill>
                <a:latin typeface="맑은 고딕"/>
              </a:rPr>
              <a:t>상태 s′ · 보상 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49039"/>
            <a:ext cx="3456432" cy="214884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49039"/>
            <a:ext cx="3456432" cy="50292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345643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State  (관측)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434840"/>
            <a:ext cx="3127248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3255"/>
                </a:solidFill>
                <a:latin typeface="맑은 고딕"/>
              </a:rPr>
              <a:t>2,412차원 벡터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5029200"/>
            <a:ext cx="2542032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38928"/>
            <a:ext cx="309067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5C6670"/>
                </a:solidFill>
                <a:latin typeface="맑은 고딕"/>
              </a:rPr>
              <a:t>전역 6 + 버킷 O×P×K×16 + 설비 2 + 맥락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53128" y="3749039"/>
            <a:ext cx="3456432" cy="214884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3128" y="3749039"/>
            <a:ext cx="3456432" cy="5029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3749039"/>
            <a:ext cx="345643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434840"/>
            <a:ext cx="3127248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3255"/>
                </a:solidFill>
                <a:latin typeface="맑은 고딕"/>
              </a:rPr>
              <a:t>MultiDiscrete([O·P, L])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0328" y="5029200"/>
            <a:ext cx="2542032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8" y="5138928"/>
            <a:ext cx="309067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5C6670"/>
                </a:solidFill>
                <a:latin typeface="맑은 고딕"/>
              </a:rPr>
              <a:t>투입할 (PPK·OPER) 버킷 + 블록 크기 레벨 4단계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3749039"/>
            <a:ext cx="3456432" cy="214884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3296" y="3749039"/>
            <a:ext cx="3456432" cy="5029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749039"/>
            <a:ext cx="345643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Reward  (보상)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434840"/>
            <a:ext cx="3127248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3255"/>
                </a:solidFill>
                <a:latin typeface="맑은 고딕"/>
              </a:rPr>
              <a:t>전환·페이싱·벌크 합산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0496" y="5029200"/>
            <a:ext cx="2542032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5" y="5138928"/>
            <a:ext cx="309067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5C6670"/>
                </a:solidFill>
                <a:latin typeface="맑은 고딕"/>
              </a:rPr>
              <a:t>전환 회피 + takt 추종 + 큰 블록 점유 유도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— 관측 공간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22A33"/>
                </a:solidFill>
                <a:latin typeface="맑은 고딕"/>
              </a:rPr>
              <a:t>관측은 [0,1]로 정규화된 </a:t>
            </a:r>
            <a:r>
              <a:rPr sz="1350" b="1">
                <a:solidFill>
                  <a:srgbClr val="1B3255"/>
                </a:solidFill>
                <a:latin typeface="맑은 고딕"/>
              </a:rPr>
              <a:t>2,412차원 Box 벡터</a:t>
            </a:r>
            <a:r>
              <a:rPr sz="1300" b="0">
                <a:solidFill>
                  <a:srgbClr val="5C6670"/>
                </a:solidFill>
                <a:latin typeface="맑은 고딕"/>
              </a:rPr>
              <a:t> 입니다.  (O=3, P=10, K=5, 버킷 채널 F=16 기준)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874519"/>
            <a:ext cx="10515600" cy="603504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10515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obs_dim = 6 (전역)  +  O×P×K×16 (버킷)  +  2 (현재 설비)  +  4 (직전 맥락)  =  2,412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97480"/>
            <a:ext cx="2743200" cy="45720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구성 블록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697480"/>
            <a:ext cx="914400" cy="45720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차원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697480"/>
            <a:ext cx="6858000" cy="45720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주요 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154680"/>
            <a:ext cx="2743200" cy="7132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전역 상태 (Global)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154680"/>
            <a:ext cx="914400" cy="7132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200" b="0">
                <a:solidFill>
                  <a:srgbClr val="1B3255"/>
                </a:solidFill>
                <a:latin typeface="맑은 고딕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154680"/>
            <a:ext cx="6858000" cy="7132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경과시간 · 잔여 takt여유 · 재공 소진율 · 계획 달성률 · 전환대기 설비 비율 · 공구 가동률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867912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버킷 특징 (Bucket)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867912"/>
            <a:ext cx="914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200" b="0">
                <a:solidFill>
                  <a:srgbClr val="1B3255"/>
                </a:solidFill>
                <a:latin typeface="맑은 고딕"/>
              </a:rPr>
              <a:t>2,400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867912"/>
            <a:ext cx="6858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(OPER×PPK×MODEL) 격자의 16개 채널: 유효성·WIP비중·종료시각·처리율·takt·전환필요·공구여유·달성가능비·투영커버 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736592"/>
            <a:ext cx="2743200" cy="7132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현재 설비 (EQP local)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4736592"/>
            <a:ext cx="914400" cy="7132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200" b="0">
                <a:solidFill>
                  <a:srgbClr val="1B3255"/>
                </a:solidFill>
                <a:latin typeface="맑은 고딕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736592"/>
            <a:ext cx="6858000" cy="7132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현재 결정 설비의 전환 필요 여부 · 전환 회피가능 정도(0~1)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449824"/>
            <a:ext cx="2743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직전 맥락 (Context)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5449824"/>
            <a:ext cx="914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200" b="0">
                <a:solidFill>
                  <a:srgbClr val="1B3255"/>
                </a:solidFill>
                <a:latin typeface="맑은 고딕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449824"/>
            <a:ext cx="6858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00" b="0">
                <a:solidFill>
                  <a:srgbClr val="5C6670"/>
                </a:solidFill>
                <a:latin typeface="맑은 고딕"/>
              </a:rPr>
              <a:t>직전 배정의 PPK · OPER · EQP · LOT_CD (정규화 인덱스)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6FB0"/>
                </a:solidFill>
                <a:latin typeface="맑은 고딕"/>
              </a:rPr>
              <a:t>다음 </a:t>
            </a:r>
            <a:r>
              <a:rPr sz="1250" b="1">
                <a:solidFill>
                  <a:srgbClr val="1B3255"/>
                </a:solidFill>
                <a:latin typeface="맑은 고딕"/>
              </a:rPr>
              <a:t>4개 State 블록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을 항목별 상세(채널 정의·실측 산출식 값)로 설명합니다. </a:t>
            </a:r>
            <a:r>
              <a:rPr sz="1250" b="1">
                <a:solidFill>
                  <a:srgbClr val="1B3255"/>
                </a:solidFill>
                <a:latin typeface="맑은 고딕"/>
              </a:rPr>
              <a:t>버킷 채널</a:t>
            </a:r>
            <a:r>
              <a:rPr sz="1250" b="0">
                <a:solidFill>
                  <a:srgbClr val="5C6670"/>
                </a:solidFill>
                <a:latin typeface="맑은 고딕"/>
              </a:rPr>
              <a:t>이 전환 회피·페이싱 판단의 근거가 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항목 — 전역 상태 (Global)  (obs[0:6])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12014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라인 전체 상황 — 시간·재공·계획·전환·공구를 6개 숫자로 요약합니다.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55648"/>
            <a:ext cx="11201400" cy="347472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0881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정책이 "지금 몇 시쯤인지, 얼마나 급한지"를 전역적으로 파악하게 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76272"/>
            <a:ext cx="10515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인덱스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2176272"/>
            <a:ext cx="141732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이름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176272"/>
            <a:ext cx="24231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산식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59" y="2176272"/>
            <a:ext cx="30632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2176272"/>
            <a:ext cx="28346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실측 산출식 값 (Step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42032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obs[0]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542032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time_norm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2542032"/>
            <a:ext cx="2423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min(t / sim_end,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59" y="2542032"/>
            <a:ext cx="3063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시뮬 경과 비율 (0=시작, 1=종료)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542032"/>
            <a:ext cx="2834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min(0/480, 1) = 0.0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17520"/>
            <a:ext cx="10515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obs[1]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017520"/>
            <a:ext cx="141732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takt_margin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017520"/>
            <a:ext cx="24231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(soft_cutoff − t) / soft_cutoff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59" y="3017520"/>
            <a:ext cx="30632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남은 horizon 여유 (1→여유 많음)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3017520"/>
            <a:ext cx="28346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93008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obs[2]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3493008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remaining_lots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3493008"/>
            <a:ext cx="2423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|lot_pool| / 초기 LOT 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59" y="3493008"/>
            <a:ext cx="3063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미배정 재공 비율 (↓=소진)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493008"/>
            <a:ext cx="2834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1.0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968496"/>
            <a:ext cx="10515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obs[3]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3968496"/>
            <a:ext cx="141732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plan_progress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71800" y="3968496"/>
            <a:ext cx="24231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Σ완료 / Σ계획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59" y="3968496"/>
            <a:ext cx="30632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전체 계획 달성률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3968496"/>
            <a:ext cx="28346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min(0/24, 1) = 0.0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43983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obs[4]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4443983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conv_idle_ratio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4443983"/>
            <a:ext cx="2423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전환대기 idle 설비 / 전체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59" y="4443983"/>
            <a:ext cx="3063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셋업 바꾸느라 대기 중인 설비 비율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4443983"/>
            <a:ext cx="2834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0.0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919472"/>
            <a:ext cx="10515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obs[5]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54480" y="4919472"/>
            <a:ext cx="141732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tool_util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4919472"/>
            <a:ext cx="24231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공구 동시가공 사용률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59" y="4919472"/>
            <a:ext cx="30632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tool cap 포화 정도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4919472"/>
            <a:ext cx="28346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0.0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항목 — 버킷 특징 (Bucket)  (obs[6 : 6+O×P×K×16])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12014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(OPER×PPK×모델) 격자마다 16채널 — "이 버킷을 지금 잡으면 유효·시급·중복인가"를 알려줍니다.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55648"/>
            <a:ext cx="11201400" cy="347472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0881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보상(페이싱·중복커버) 판단의 근거가 되는 핵심 특징입니다.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76272"/>
            <a:ext cx="10515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인덱스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2176272"/>
            <a:ext cx="141732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이름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176272"/>
            <a:ext cx="24231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산식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59" y="2176272"/>
            <a:ext cx="30632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2176272"/>
            <a:ext cx="28346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실측 산출식 값 (Step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42032"/>
            <a:ext cx="105156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ch0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542032"/>
            <a:ext cx="141732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valid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2542032"/>
            <a:ext cx="242316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1[해당 oper·model 조합에 배정 가능한 설비 존재]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59" y="2542032"/>
            <a:ext cx="306324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현재 EQP·재공·공구 제약과 무관하게 이 (공정×모델)이 유효한가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542032"/>
            <a:ext cx="283464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25064"/>
            <a:ext cx="105156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ch1-2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2925064"/>
            <a:ext cx="141732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wip_비중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2925064"/>
            <a:ext cx="242316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wip_q/ΣWIP_전체 ,  wip_q/ΣWIP_동일PPK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59" y="2925064"/>
            <a:ext cx="306324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재공이 이 버킷에 얼마나 몰려있나 (전체 대비 / 같은 제품 대비)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925064"/>
            <a:ext cx="283464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08096"/>
            <a:ext cx="105156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ch3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3308096"/>
            <a:ext cx="141732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min_end_time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3308096"/>
            <a:ext cx="242316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min(free_at, 해당 oper·model 설비군) / sim_end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59" y="3308096"/>
            <a:ext cx="306324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이 모델 설비가 가장 빨리 비는 시각(정규화)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308096"/>
            <a:ext cx="283464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691127"/>
            <a:ext cx="105156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ch4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3691127"/>
            <a:ext cx="141732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throughput_ratio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71800" y="3691127"/>
            <a:ext cx="242316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wip_q / max(간트 최대종료시각, min_end_time + st_per_wafer·wf_unit)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59" y="3691127"/>
            <a:ext cx="306324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대기 재공 대비 이 모델의 처리완료 예상 밀도 — 높을수록 적체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3691127"/>
            <a:ext cx="283464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074160"/>
            <a:ext cx="105156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ch6-7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4074160"/>
            <a:ext cx="141732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prev/post_takt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4074160"/>
            <a:ext cx="242316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eff_takt(ppk, 이전/다음공정) / max_takt  ;  eff_takt = max(수요takt, capa takt)·wf_unit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59" y="4074160"/>
            <a:ext cx="306324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상류(이전공정)·하류(다음공정) 기준 요구 속도 — 수요 vs 설비capa 중 더 빠듯한 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4074160"/>
            <a:ext cx="283464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457192"/>
            <a:ext cx="105156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ch12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54480" y="4457192"/>
            <a:ext cx="141732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needs_conversion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4457192"/>
            <a:ext cx="242316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1[현재 EQP에서 이 LOT_CD/TEMP로 전환 필요]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59" y="4457192"/>
            <a:ext cx="306324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이 버킷 잡으면 셋업 변경?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4457192"/>
            <a:ext cx="283464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840224"/>
            <a:ext cx="105156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ch13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54480" y="4840224"/>
            <a:ext cx="141732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tool_can_assign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71800" y="4840224"/>
            <a:ext cx="242316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1[공구 교체 불필요 또는 공구 슬롯 여유]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59" y="4840224"/>
            <a:ext cx="306324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tool cap 통과 여부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4840224"/>
            <a:ext cx="283464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223255"/>
            <a:ext cx="105156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ch14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54480" y="5223255"/>
            <a:ext cx="141732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achievable_ratio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71800" y="5223255"/>
            <a:ext cx="242316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min(min(계획량, 완료+상류WIP) / 계획량, 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94959" y="5223255"/>
            <a:ext cx="306324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재공 한도 내 달성 가능한 상한 비율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58200" y="5223255"/>
            <a:ext cx="2834640" cy="38303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5606287"/>
            <a:ext cx="105156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ch15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54480" y="5606287"/>
            <a:ext cx="141732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projected_cover_ratio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71800" y="5606287"/>
            <a:ext cx="242316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min(cover / need, 2) / 2  ;  need=달성상한−완료, cover=타EQP 하루 투영생산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94959" y="5606287"/>
            <a:ext cx="306324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중복 커버 신호 — 클수록 다른 설비가 이미 커버 중(회피 유도)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58200" y="5606287"/>
            <a:ext cx="2834640" cy="38303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항목 — 현재 설비 (EQP local)  (obs[…+0:…+2])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12014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지금 결정하는 그 설비에만 해당하는 전환 정보 2개.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55648"/>
            <a:ext cx="11201400" cy="347472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0881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회피가능 전환 패널티 학습에 직접 쓰입니다.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76272"/>
            <a:ext cx="10515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인덱스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2176272"/>
            <a:ext cx="141732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이름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176272"/>
            <a:ext cx="24231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산식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59" y="2176272"/>
            <a:ext cx="30632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2176272"/>
            <a:ext cx="28346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실측 산출식 값 (Step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42032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eqp[0]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542032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needs_conversion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2542032"/>
            <a:ext cx="2423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1[feasible 중 전환 필요 버킷 존재]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59" y="2542032"/>
            <a:ext cx="3063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이 설비가 feasible한 선택 중 셋업 변경이 필요한 게 있나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542032"/>
            <a:ext cx="2834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0.0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17520"/>
            <a:ext cx="10515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eqp[1]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017520"/>
            <a:ext cx="141732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avoidable_frac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017520"/>
            <a:ext cx="24231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max α over feasible 전환 버킷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59" y="3017520"/>
            <a:ext cx="30632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전환 시 회피가능 정도 (0~1, 보상 α와 동일 개념)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3017520"/>
            <a:ext cx="28346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0.0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항목 — 직전 맥락 (Context)  (obs[…+2:…+6])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12014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직전 스텝에서 누가·무엇을·어느 설비에 배정했는지 정규화 인덱스 4개.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55648"/>
            <a:ext cx="11201400" cy="347472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0881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동일 셋업 연속·전환 여부 판단의 단서.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76272"/>
            <a:ext cx="10515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인덱스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2176272"/>
            <a:ext cx="141732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이름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176272"/>
            <a:ext cx="24231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산식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59" y="2176272"/>
            <a:ext cx="30632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2176272"/>
            <a:ext cx="28346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실측 산출식 값 (Step 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42032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ctx[0]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542032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last_ppk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2542032"/>
            <a:ext cx="2423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encode(PPK)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59" y="2542032"/>
            <a:ext cx="3063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직전 배정 제품 인덱스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542032"/>
            <a:ext cx="2834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직전 배정 PPK003 → 정규화 0.0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17520"/>
            <a:ext cx="10515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ctx[1]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017520"/>
            <a:ext cx="141732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last_oper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017520"/>
            <a:ext cx="24231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encode(OPER)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59" y="3017520"/>
            <a:ext cx="30632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직전 배정 공정 인덱스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3017520"/>
            <a:ext cx="28346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직전 배정 OPER001 → 정규화 0.0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93008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ctx[2]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3493008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last_eqp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3493008"/>
            <a:ext cx="2423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encode(EQP)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59" y="3493008"/>
            <a:ext cx="3063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직전 배정 설비 인덱스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493008"/>
            <a:ext cx="2834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직전 배정 EQP003 → 정규화 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968496"/>
            <a:ext cx="10515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ctx[3]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3968496"/>
            <a:ext cx="141732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last_lot_cd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71800" y="3968496"/>
            <a:ext cx="24231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5C6670"/>
                </a:solidFill>
                <a:latin typeface="맑은 고딕"/>
              </a:rPr>
              <a:t>encode(LOT_CD)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59" y="3968496"/>
            <a:ext cx="30632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직전 LOT_CD (셋업 그룹)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3968496"/>
            <a:ext cx="28346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0.0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Action — 행동 공간과 블록 점유 메커니즘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80160"/>
            <a:ext cx="10515600" cy="603504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280160"/>
            <a:ext cx="10515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action = MultiDiscrete( [ O×P 버킷 ,  L 블록크기 레벨 ]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03120"/>
            <a:ext cx="5212080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12848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① 버킷 선택 (O×P)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78608"/>
            <a:ext cx="48920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</a:rPr>
              <a:t>투입할 </a:t>
            </a:r>
            <a:r>
              <a:rPr sz="1200" b="1">
                <a:solidFill>
                  <a:srgbClr val="1B3255"/>
                </a:solidFill>
                <a:latin typeface="맑은 고딕"/>
              </a:rPr>
              <a:t>(PPK·OPER) 조합</a:t>
            </a:r>
            <a:r>
              <a:rPr sz="1200" b="0">
                <a:solidFill>
                  <a:srgbClr val="5C6670"/>
                </a:solidFill>
                <a:latin typeface="맑은 고딕"/>
              </a:rPr>
              <a:t>을 선택합니다. LOT과 EQP는 우선순위 규칙으로 자동 배정되어 행동 차원을 줄입니다.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103120"/>
            <a:ext cx="5212080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212848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② 블록 크기 레벨 (L=4)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78608"/>
            <a:ext cx="48920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</a:rPr>
              <a:t>같은 셋업으로 </a:t>
            </a:r>
            <a:r>
              <a:rPr sz="1200" b="1">
                <a:solidFill>
                  <a:srgbClr val="1B3255"/>
                </a:solidFill>
                <a:latin typeface="맑은 고딕"/>
              </a:rPr>
              <a:t>연속 점유할 캐리어 수</a:t>
            </a:r>
            <a:r>
              <a:rPr sz="1200" b="0">
                <a:solidFill>
                  <a:srgbClr val="5C6670"/>
                </a:solidFill>
                <a:latin typeface="맑은 고딕"/>
              </a:rPr>
              <a:t>를 takt 예산 분율로 결정합니다. 레벨↑ → 더 큰 블록.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블록 점유(Masked Replay) 동작 순서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206240"/>
            <a:ext cx="2505456" cy="16002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4370832"/>
            <a:ext cx="45720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407408"/>
            <a:ext cx="163677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블록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956048"/>
            <a:ext cx="2121408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버킷·크기 선택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N 산출, 1캐리어 배정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remaining = N−1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328416" y="4892040"/>
            <a:ext cx="164592" cy="29260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93008" y="4206240"/>
            <a:ext cx="2505456" cy="16002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75888" y="4370832"/>
            <a:ext cx="45720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2816" y="4407408"/>
            <a:ext cx="163677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블록 진행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4956048"/>
            <a:ext cx="2121408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같은 설비의 다음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결정은 같은 버킷으로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강제(마스킹) 재생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8464" y="4892040"/>
            <a:ext cx="164592" cy="29260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63056" y="4206240"/>
            <a:ext cx="2505456" cy="16002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45936" y="4370832"/>
            <a:ext cx="45720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407408"/>
            <a:ext cx="163677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블록 종료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4956048"/>
            <a:ext cx="2121408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remaining=0 또는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재공·계획·공구 소진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→ 블록 해제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668512" y="4892040"/>
            <a:ext cx="164592" cy="29260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33104" y="4206240"/>
            <a:ext cx="2505456" cy="16002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15984" y="4370832"/>
            <a:ext cx="45720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2912" y="4407408"/>
            <a:ext cx="163677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상한 규칙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4956048"/>
            <a:ext cx="2121408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N ≤ min(takt예산,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가용 WIP, 잔여 계획)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공구는 매 캐리어 검사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6FB0"/>
                </a:solidFill>
                <a:latin typeface="맑은 고딕"/>
              </a:rPr>
              <a:t>효과 </a:t>
            </a:r>
            <a:r>
              <a:rPr sz="1230" b="0">
                <a:solidFill>
                  <a:srgbClr val="222A33"/>
                </a:solidFill>
                <a:latin typeface="맑은 고딕"/>
              </a:rPr>
              <a:t>이산사건 무결성을 깨지 않으면서도 한 번의 결정으로 "같은 셋업 N캐리어 연속"을 실현 → 전환 횟수를 근본적으로 감소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Reward — 보상 항목과 가중치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61872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22A33"/>
                </a:solidFill>
                <a:latin typeface="맑은 고딕"/>
              </a:rPr>
              <a:t>스텝 보상은 아래 항의 합이며 </a:t>
            </a:r>
            <a:r>
              <a:rPr sz="1350" b="1">
                <a:solidFill>
                  <a:srgbClr val="1B3255"/>
                </a:solidFill>
                <a:latin typeface="맑은 고딕"/>
              </a:rPr>
              <a:t>±10 범위로 클리핑</a:t>
            </a:r>
            <a:r>
              <a:rPr sz="1300" b="0">
                <a:solidFill>
                  <a:srgbClr val="5C6670"/>
                </a:solidFill>
                <a:latin typeface="맑은 고딕"/>
              </a:rPr>
              <a:t> 됩니다. (Bulk-Fill 학습 기준 가중치)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3977639" cy="420624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</a:rPr>
              <a:t>보상 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783080"/>
            <a:ext cx="1234440" cy="420624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가중치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783080"/>
            <a:ext cx="5303520" cy="420624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</a:rPr>
              <a:t>의미 / 발생 조건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203704"/>
            <a:ext cx="3977639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전환 패널티  w_conversion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203704"/>
            <a:ext cx="1234440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150" b="1">
                <a:solidFill>
                  <a:srgbClr val="B33A3A"/>
                </a:solidFill>
                <a:latin typeface="맑은 고딕"/>
              </a:rPr>
              <a:t>−10.0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203704"/>
            <a:ext cx="5303520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060" b="0">
                <a:solidFill>
                  <a:srgbClr val="5C6670"/>
                </a:solidFill>
                <a:latin typeface="맑은 고딕"/>
              </a:rPr>
              <a:t>LOT_CD·TEMP 전환(셋업 변경) 1회마다 부과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756916"/>
            <a:ext cx="3977639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회피가능 전환  w_avoidable_conversion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756916"/>
            <a:ext cx="123444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150" b="1">
                <a:solidFill>
                  <a:srgbClr val="B33A3A"/>
                </a:solidFill>
                <a:latin typeface="맑은 고딕"/>
              </a:rPr>
              <a:t>−8.0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756916"/>
            <a:ext cx="530352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060" b="0">
                <a:solidFill>
                  <a:srgbClr val="5C6670"/>
                </a:solidFill>
                <a:latin typeface="맑은 고딕"/>
              </a:rPr>
              <a:t>다른 무전환 설비가 커버 가능한데도 전환 시 추가 부과(×회피가능비율)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310128"/>
            <a:ext cx="3977639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페이싱  w_pacing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3310128"/>
            <a:ext cx="1234440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150" b="1">
                <a:solidFill>
                  <a:srgbClr val="2E7D4F"/>
                </a:solidFill>
                <a:latin typeface="맑은 고딕"/>
              </a:rPr>
              <a:t>+2.5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310128"/>
            <a:ext cx="5303520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060" b="0">
                <a:solidFill>
                  <a:srgbClr val="5C6670"/>
                </a:solidFill>
                <a:latin typeface="맑은 고딕"/>
              </a:rPr>
              <a:t>달성가능 상한 기준 선형 takt에 가까워지면 +, 과생산이면 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863339"/>
            <a:ext cx="3977639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동일 셋업 연속  w_same_setup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3863339"/>
            <a:ext cx="123444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15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863339"/>
            <a:ext cx="530352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060" b="0">
                <a:solidFill>
                  <a:srgbClr val="5C6670"/>
                </a:solidFill>
                <a:latin typeface="맑은 고딕"/>
              </a:rPr>
              <a:t>직전과 제품·공정이 모두 같고 재공이 남아있을 때 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416552"/>
            <a:ext cx="3977639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블록 크기 보너스  w_bulk_block_bonus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4416552"/>
            <a:ext cx="1234440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150" b="1">
                <a:solidFill>
                  <a:srgbClr val="2E7D4F"/>
                </a:solidFill>
                <a:latin typeface="맑은 고딕"/>
              </a:rPr>
              <a:t>+3.0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416552"/>
            <a:ext cx="5303520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060" b="0">
                <a:solidFill>
                  <a:srgbClr val="5C6670"/>
                </a:solidFill>
                <a:latin typeface="맑은 고딕"/>
              </a:rPr>
              <a:t>큰 블록으로 커밋할수록 + (takt예산 대비 블록 비율)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969764"/>
            <a:ext cx="3977639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전용 오용 패널티  w_dedication_misuse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4969764"/>
            <a:ext cx="123444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150" b="1">
                <a:solidFill>
                  <a:srgbClr val="B33A3A"/>
                </a:solidFill>
                <a:latin typeface="맑은 고딕"/>
              </a:rPr>
              <a:t>−4.0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969764"/>
            <a:ext cx="530352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060" b="0">
                <a:solidFill>
                  <a:srgbClr val="5C6670"/>
                </a:solidFill>
                <a:latin typeface="맑은 고딕"/>
              </a:rPr>
              <a:t>더 전용적인 유휴 설비가 있는데 범용 설비가 그 버킷을 잡으면 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522976"/>
            <a:ext cx="3977639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중복 커버 패널티  w_redundant_cover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5522976"/>
            <a:ext cx="1234440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/>
            <a:r>
              <a:rPr sz="1150" b="1">
                <a:solidFill>
                  <a:srgbClr val="B33A3A"/>
                </a:solidFill>
                <a:latin typeface="맑은 고딕"/>
              </a:rPr>
              <a:t>−5.0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5522976"/>
            <a:ext cx="5303520" cy="553212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/>
            <a:r>
              <a:rPr sz="1060" b="0">
                <a:solidFill>
                  <a:srgbClr val="5C6670"/>
                </a:solidFill>
                <a:latin typeface="맑은 고딕"/>
              </a:rPr>
              <a:t>이미 다른 설비가 충분히 덮는 버킷을 또 잡으면 − (전환 유도)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053328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222A33"/>
                </a:solidFill>
                <a:latin typeface="맑은 고딕"/>
              </a:rPr>
              <a:t>위 3개 벌크 전용 항(블록·전용오용·중복커버)은 Bulk-Fill 환경에서만 활성화되어 </a:t>
            </a:r>
            <a:r>
              <a:rPr sz="1180" b="1">
                <a:solidFill>
                  <a:srgbClr val="1B3255"/>
                </a:solidFill>
                <a:latin typeface="맑은 고딕"/>
              </a:rPr>
              <a:t>"큰 블록으로 전담"</a:t>
            </a:r>
            <a:r>
              <a:rPr sz="1180" b="0">
                <a:solidFill>
                  <a:srgbClr val="5C6670"/>
                </a:solidFill>
                <a:latin typeface="맑은 고딕"/>
              </a:rPr>
              <a:t> 행동을 유도합니다.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입력 데이터 형태 (JSON)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맑은 고딕"/>
              </a:rPr>
              <a:t>Oracle 또는 샘플 생성기가 </a:t>
            </a:r>
            <a:r>
              <a:rPr sz="1250" b="1">
                <a:solidFill>
                  <a:srgbClr val="1B3255"/>
                </a:solidFill>
                <a:latin typeface="맑은 고딕"/>
              </a:rPr>
              <a:t>data/dataset/{FAC}/{split}/{RULE_TIMEKEY}/input/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 경로에 아래 JSON을 적재합니다.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2926080" cy="420624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파일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1783080"/>
            <a:ext cx="594360" cy="420624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필수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6995160" cy="420624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주요 필드 (행 단위)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203704"/>
            <a:ext cx="292608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discrete_arrange.json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2203704"/>
            <a:ext cx="5943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203704"/>
            <a:ext cx="69951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EQP_ID, LOT_ID, PLAN_PROD_KEY, OPER_ID, ST, EQP_MODEL_CD, WF_QTY, CARRIER_ID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862072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plan.json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2862072"/>
            <a:ext cx="594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862072"/>
            <a:ext cx="6995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PLAN_PROD_KEY, OPER_ID, D0_PLAN_QTY, D1_PLAN_QTY, PLAN_PRIORITY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520439"/>
            <a:ext cx="292608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flow.json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3520439"/>
            <a:ext cx="5943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520439"/>
            <a:ext cx="69951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PLAN_PROD_KEY, OPER_SEQ, OPER_ID  (공정 순서)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78807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abstract_arrange.json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4178807"/>
            <a:ext cx="594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178807"/>
            <a:ext cx="6995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EQP_MODEL_CD, PLAN_PROD_KEY, OPER_ID, ST  (모델-제품 적합성)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837175"/>
            <a:ext cx="292608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lot_master.json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4837175"/>
            <a:ext cx="5943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837175"/>
            <a:ext cx="69951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LOT_ID, LOT_CD, TEMP  (전환 그룹 판별)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495543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tool_capacity.json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40" y="5495543"/>
            <a:ext cx="594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495543"/>
            <a:ext cx="6995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LOT_CD, TEMP, MAX_TOOL  (동시 가공 공구 한도)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153911"/>
            <a:ext cx="292608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batch_info.json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6153911"/>
            <a:ext cx="5943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6153911"/>
            <a:ext cx="69951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PLAN_PROD_KEY, OPER_ID, LOT_CD, TEMP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892040"/>
            <a:ext cx="5074920" cy="1417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4892040"/>
            <a:ext cx="5074920" cy="41148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892040"/>
            <a:ext cx="5074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discrete_arrange 예시 (1행)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94960"/>
            <a:ext cx="48006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{"EQP_ID":"EQP001","LOT_ID":"LOT001",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"PLAN_PROD_KEY":"PPK001","OPER_ID":"OPER001",</a:t>
            </a:r>
            <a:r>
              <a:rPr sz="950" b="1">
                <a:solidFill>
                  <a:srgbClr val="1B3255"/>
                </a:solidFill>
                <a:latin typeface="맑은 고딕"/>
              </a:rPr>
              <a:t>"ST":60,"EQP_MODEL_CD":"A","WF_QTY":1}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4892040"/>
            <a:ext cx="5257800" cy="1417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80760" y="4892040"/>
            <a:ext cx="5257800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4892040"/>
            <a:ext cx="52578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preprocess() 이후 env_data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394960"/>
            <a:ext cx="49834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sim_base_time · sim_end_minutes(1440)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eqp_ids · prod_keys · oper_ids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lots · plan · flow · proc_time_matrix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→ 시뮬레이터·Gym 환경이 공유하는 내부 상태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스텝 보상 수식 — 항목별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325880"/>
            <a:ext cx="10515600" cy="65836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25880"/>
            <a:ext cx="1051560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r_t = clip( Σ 보상항 , ±10 )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48840"/>
            <a:ext cx="1051560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21992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동일 셋업  +w_same_setup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21992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직전과 제품·공정 동일 &amp; 재공 잔존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2221992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624328"/>
            <a:ext cx="10515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페이싱  w_pacing·Δ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97480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(|ideal−eff_before| − |ideal−eff_after|) /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697480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+2.5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099816"/>
            <a:ext cx="1051560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172968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계획 달성  w_plan_hit·Δ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72968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(gap_before − gap_after) /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172968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575304"/>
            <a:ext cx="1051560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648456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블록 보너스  w_bulk·min(N/예산,1)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648456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블록 시작 시에만 (Bulk-Fill)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648456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050791"/>
            <a:ext cx="10515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123944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전환  w_conversion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123944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LOT_CD/TEMP 셋업 변경 1회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4123944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−10.0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526279"/>
            <a:ext cx="1051560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599431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회피가능 전환  w_avoid·α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599431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다른 무전환 설비가 커버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4599431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−8.0×α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001767"/>
            <a:ext cx="10515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074919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중복 커버  w_redundant·min(cover/need,2)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074919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이미 덮이는 버킷 재선택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5074919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−5.0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477255"/>
            <a:ext cx="1051560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550407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전용 오용  w_dedication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550407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더 전용 idle 설비가 있는데 범용이 선점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5550407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−4.0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</a:rPr>
              <a:t>다음 </a:t>
            </a:r>
            <a:r>
              <a:rPr sz="1200" b="1">
                <a:solidFill>
                  <a:srgbClr val="1B3255"/>
                </a:solidFill>
                <a:latin typeface="맑은 고딕"/>
              </a:rPr>
              <a:t>8개 보상 항목</a:t>
            </a:r>
            <a:r>
              <a:rPr sz="1200" b="0">
                <a:solidFill>
                  <a:srgbClr val="222A33"/>
                </a:solidFill>
                <a:latin typeface="맑은 고딕"/>
              </a:rPr>
              <a:t>을 항목별 상세(쉬운 설명·수식·A/B·실측)로 설명한 뒤, </a:t>
            </a:r>
            <a:r>
              <a:rPr sz="1200" b="1">
                <a:solidFill>
                  <a:srgbClr val="1B3255"/>
                </a:solidFill>
                <a:latin typeface="맑은 고딕"/>
              </a:rPr>
              <a:t>SYM_3x3 실제 추론 트레이스</a:t>
            </a:r>
            <a:r>
              <a:rPr sz="1200" b="0">
                <a:solidFill>
                  <a:srgbClr val="222A33"/>
                </a:solidFill>
                <a:latin typeface="맑은 고딕"/>
              </a:rPr>
              <a:t>를 스텝마다 </a:t>
            </a:r>
            <a:r>
              <a:rPr sz="1200" b="1">
                <a:solidFill>
                  <a:srgbClr val="2E6FB0"/>
                </a:solidFill>
                <a:latin typeface="맑은 고딕"/>
              </a:rPr>
              <a:t>State → Action → Reward(8항 전체)</a:t>
            </a:r>
            <a:r>
              <a:rPr sz="1200" b="0">
                <a:solidFill>
                  <a:srgbClr val="222A33"/>
                </a:solidFill>
                <a:latin typeface="맑은 고딕"/>
              </a:rPr>
              <a:t>와 누적 간트로 보여줍니다.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동일 셋업  (w=+1.0)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w_same_setup · 1[직전 PPK·OPER 동일 &amp; 재공 잔존]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직전과 제품(PPK)·공정(OPER)이 같으면 셋업 변경 없이 +1. 셋업을 이어 붙이라는 신호.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786384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7223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w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+1.0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1[동일]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직전 PPK·OPER = 이번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62656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08376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전환 비용을 피하고 같은 셋업으로 연속 가공하도록 유도.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블록 연속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EQP001이 직전과 동일 PPK001·OPER001로 블록 진행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1.0 · 1[PPK001→PPK001, OPER001→OPER001]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</a:rPr>
              <a:t>결과  +1.0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셋업 변경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PPK001→PPK002로 LOT_CD/TEMP 전환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셋업 변경 → 1[동일]=0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48656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Step 4  ·  EQP001 → PPK001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50992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222A33"/>
                </a:solidFill>
                <a:latin typeface="맑은 고딕"/>
              </a:rPr>
              <a:t>1.0 · 1[None→PPK001, None→OPER001] = 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035040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4F"/>
                </a:solidFill>
                <a:latin typeface="맑은 고딕"/>
              </a:rPr>
              <a:t>→  = +1.00  </a:t>
            </a:r>
            <a:r>
              <a:rPr sz="950" b="0">
                <a:solidFill>
                  <a:srgbClr val="5C6670"/>
                </a:solidFill>
                <a:latin typeface="맑은 고딕"/>
              </a:rPr>
              <a:t>(clip 전 항목 기여)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페이싱  (w=+2.5)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w_pacing · (|ideal − eff_before| − |ideal − eff_after|) /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takt 목표선(ideal)에 실제 진척(eff)이 가까워지면 +, 멀어지면 −.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987552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9235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ideal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target·min(t,H)/H — 지금까지 만들어야 할 이상량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eff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done + 다른설비 cover — 실제+커버 진척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target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달성가능 상한(재공 한도)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63824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09544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계획 속도(takt)에 맞추되, 이미 다른 설비가 덮으면 pace 충족으로 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47872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47872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47872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pace 개선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968496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ideal=0.5, eff 0.3→0.5 (target=8)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352544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407408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2.5 · (|0.5−0.3| − |0.5−0.5|) / 8 = 2.5 · 0.2/8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5029200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</a:rPr>
              <a:t>결과  +0.06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547872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547872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547872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과생산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968496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ideal=0.5, eff 0.3→0.8 (takt 초과)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352544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407408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2.5 · (0.2 − 0.3) /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5029200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33A3A"/>
                </a:solidFill>
                <a:latin typeface="맑은 고딕"/>
              </a:rPr>
              <a:t>결과  −Δ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49824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449824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449824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Step 1  ·  EQP001 → PPK001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52160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222A33"/>
                </a:solidFill>
                <a:latin typeface="맑은 고딕"/>
              </a:rPr>
              <a:t>ideal: target·min(t,H)/H = 8·0/1320 = 0.0 · eff: 0.0→1.0 (done=0, cover=0.0, wf=1) · 2.5·(0.0−1.0)/8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236208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33A3A"/>
                </a:solidFill>
                <a:latin typeface="맑은 고딕"/>
              </a:rPr>
              <a:t>→  = -0.31  </a:t>
            </a:r>
            <a:r>
              <a:rPr sz="950" b="0">
                <a:solidFill>
                  <a:srgbClr val="5C6670"/>
                </a:solidFill>
                <a:latin typeface="맑은 고딕"/>
              </a:rPr>
              <a:t>(clip 전 항목 기여)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계획 달성  (w=+1.0)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w_plan_hit · (gap_before − gap_after) / target   ;  gap = max(target − done, 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아직 만들어야 할 양(gap)이 줄면 +. 이미 다 만들었으면 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786384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7223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gap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max(target−done, 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target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달성가능 상한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62656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08376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계획 수량 달성을 직접 장려.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gap 감소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target=8, done 0→1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1.0 · (8−7) / 8 = +0.125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</a:rPr>
              <a:t>결과  +0.13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gap=0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이미 target 달성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gap_before=gap_after=0 →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48656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Step 1  ·  EQP001 → PPK001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50992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222A33"/>
                </a:solidFill>
                <a:latin typeface="맑은 고딕"/>
              </a:rPr>
              <a:t>gap: 8→7 (done 0→1, target=8) · 1.0·(8−7)/8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035040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4F"/>
                </a:solidFill>
                <a:latin typeface="맑은 고딕"/>
              </a:rPr>
              <a:t>→  = +0.14  </a:t>
            </a:r>
            <a:r>
              <a:rPr sz="950" b="0">
                <a:solidFill>
                  <a:srgbClr val="5C6670"/>
                </a:solidFill>
                <a:latin typeface="맑은 고딕"/>
              </a:rPr>
              <a:t>(clip 전 항목 기여)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블록 보너스  (w=+3.0)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w_bulk · min(N / takt예산, 1)   [블록 시작 시에만]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블록 시작 시 N캐리어 연속 처리를 약속(commit)하면 +. 연속 2번째 LOT에는 없음.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987552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9235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N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커밋 블록 크기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takt 예산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horizon 내 허용 캐리어 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w_bulk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+3.0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63824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09544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한 설비·한 셋업으로 길게 밀어라 — Bulk-Fill 핵심.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47872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47872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47872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블록 시작 N=8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968496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EQP001, PPK001, takt 예산=8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352544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407408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3.0 · min(8/8, 1) = +3.0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5029200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</a:rPr>
              <a:t>결과  +3.0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547872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547872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547872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N=1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968496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블록 없이 1캐리어만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352544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407408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블록 시작 아님 또는 N=1 →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5029200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49824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449824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449824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Step 1  ·  EQP001 → PPK001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52160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222A33"/>
                </a:solidFill>
                <a:latin typeface="맑은 고딕"/>
              </a:rPr>
              <a:t>3.0 · min(6 / 6, 1) = 3.0 · 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236208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4F"/>
                </a:solidFill>
                <a:latin typeface="맑은 고딕"/>
              </a:rPr>
              <a:t>→  = +3.00  </a:t>
            </a:r>
            <a:r>
              <a:rPr sz="950" b="0">
                <a:solidFill>
                  <a:srgbClr val="5C6670"/>
                </a:solidFill>
                <a:latin typeface="맑은 고딕"/>
              </a:rPr>
              <a:t>(clip 전 항목 기여)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전환  (w=−10.0)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w_conversion · 1[LOT_CD/TEMP 셋업 변경]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LOT_CD/TEMP 셋업이 바뀌는 전환 1회마다 −10.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786384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7223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w_conv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−10.0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1[전환]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셋업 변경 발생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62656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08376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전환 = 설비 가동 손실. 근본적으로 줄이게 함.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전환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동일 셋업 블록 연속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1[전환]=0 →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전환 발생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PPK001→PPK002 셋업 변경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−10.0 · 1 = −10.0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33A3A"/>
                </a:solidFill>
                <a:latin typeface="맑은 고딕"/>
              </a:rPr>
              <a:t>결과  −10.0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48656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해당 항목 비발생 (0)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87568"/>
            <a:ext cx="10881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이 트레이스에서는 해당 항목이 발생하지 않아 0입니다. </a:t>
            </a:r>
            <a:r>
              <a:rPr sz="1000" b="1">
                <a:solidFill>
                  <a:srgbClr val="1B3255"/>
                </a:solidFill>
                <a:latin typeface="맑은 고딕"/>
              </a:rPr>
              <a:t>예시 B 시나리오를 참고하세요.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회피가능 전환  (w=−8.0)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w_avoidable · α   ;  α = 회피가능 비율 (0~1)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굳이 이 설비에서 바꿀 필요 없었는데 전환하면 추가 −8×α.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58521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α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0~1 회피가능 비율 (다른 설비 커버 등)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61488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07208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다른 idle 설비에 맡기라는 신호.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45536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145536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45536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전환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566160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3950208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005072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전환 없음 →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626864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145536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145536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145536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회피가능 전환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566160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다른 설비가 PPK002를 70% 커버 가능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3950208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005072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−8.0 · 0.7 = −5.6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626864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33A3A"/>
                </a:solidFill>
                <a:latin typeface="맑은 고딕"/>
              </a:rPr>
              <a:t>결과  −5.6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47488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47488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047488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해당 항목 비발생 (0)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486400"/>
            <a:ext cx="10881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이 트레이스에서는 해당 항목이 발생하지 않아 0입니다. </a:t>
            </a:r>
            <a:r>
              <a:rPr sz="1000" b="1">
                <a:solidFill>
                  <a:srgbClr val="1B3255"/>
                </a:solidFill>
                <a:latin typeface="맑은 고딕"/>
              </a:rPr>
              <a:t>예시 B 시나리오를 참고하세요.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중복 커버  (w=−5.0)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w_redundant · min(cover / need,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다른 설비가 이미 충분히 덮는 제품을 또 잡으면 −.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786384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7223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cover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다른 EQP horizon 투영 생산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need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잔여 필요량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62656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08376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3대가 같은 제품만 몰리는 lockstep 방지.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cover=0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전담 제품, 다른 설비 커버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cover=0 →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중복 커버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cover/need ≈ 0.4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−5.0 · min(0.4, 2) ≈ −2.0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33A3A"/>
                </a:solidFill>
                <a:latin typeface="맑은 고딕"/>
              </a:rPr>
              <a:t>결과  −2.0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48656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Step 1  ·  EQP001 → PPK001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50992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222A33"/>
                </a:solidFill>
                <a:latin typeface="맑은 고딕"/>
              </a:rPr>
              <a:t>cover=0.0, need=8 →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035040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C6670"/>
                </a:solidFill>
                <a:latin typeface="맑은 고딕"/>
              </a:rPr>
              <a:t>→  = -0.00  </a:t>
            </a:r>
            <a:r>
              <a:rPr sz="950" b="0">
                <a:solidFill>
                  <a:srgbClr val="5C6670"/>
                </a:solidFill>
                <a:latin typeface="맑은 고딕"/>
              </a:rPr>
              <a:t>(clip 전 항목 기여)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전용 오용  (w=−4.0)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w_dedication_misuse · 1[더 전용 idle 설비 존재]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범용 설비가 전용 idle 설비도 할 수 있는 일을 가져가면 −4.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58521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breadth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장비가 할 수 있는 제품 종류 수 — 작을수록 전용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61488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07208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전용 설비는 전용 제품에, 범용은 범용에.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45536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145536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45536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전담 적합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566160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EQP001 전담 PPK001, 더 전용 idle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3950208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005072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1[전용 오용]=0 →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626864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145536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145536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145536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범용 오용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566160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범용 EQP가 전용 EQP 가능 버킷 선점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3950208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005072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−4.0 · 1 = −4.0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626864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33A3A"/>
                </a:solidFill>
                <a:latin typeface="맑은 고딕"/>
              </a:rPr>
              <a:t>결과  −4.0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47488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47488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047488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해당 항목 비발생 (0)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486400"/>
            <a:ext cx="10881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이 트레이스에서는 해당 항목이 발생하지 않아 0입니다. </a:t>
            </a:r>
            <a:r>
              <a:rPr sz="1000" b="1">
                <a:solidFill>
                  <a:srgbClr val="1B3255"/>
                </a:solidFill>
                <a:latin typeface="맑은 고딕"/>
              </a:rPr>
              <a:t>예시 B 시나리오를 참고하세요.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1 — 블록 시작 (N=6 커밋 · 이번 1LOT)  (EQP001 → PPK001)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3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2140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2140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PPK001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432303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432303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7431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커밋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7431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N=6 연속 처리 약속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054095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remaining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054095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5 (다음 idle마다)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36499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36499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67588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367588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시작 (N=6 커밋 · 이번 1LOT)</a:t>
            </a:r>
          </a:p>
        </p:txBody>
      </p:sp>
      <p:pic>
        <p:nvPicPr>
          <p:cNvPr id="44" name="Picture 43" descr="step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+2.83   ·   누적 Σr = +2.83   ·   clip(Σ항, ±10)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1[None→PPK001, None→OPER001] = 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8·0/1320 = 0.0 · eff: 0.0→1.0 (done=0, cov…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8→7 (done 0→1, target=8) · 1.0·(8−7)/8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+3.00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3.0 · min(6 / 6, 1) = 3.0 · 1.0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-0.00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cover=0.0, need=8 → 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+0.00 + 페이싱 -0.31 + 계획 달성 +0.14 + 블록 보너스 +3.00 + 전환 +0.00 + 회피가능 전환 +0.00 + 중복 커버 -0.00 + 전용 오용 +0.00  →  r = +2.83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2 — 블록 시작 (N=6 커밋 · 이번 1LOT)  (EQP002 → PPK002)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2140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2140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PPK002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432303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432303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7431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커밋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7431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N=6 연속 처리 약속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054095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remaining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054095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5 (다음 idle마다)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36499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36499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67588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367588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시작 (N=6 커밋 · 이번 1LOT)</a:t>
            </a:r>
          </a:p>
        </p:txBody>
      </p:sp>
      <p:pic>
        <p:nvPicPr>
          <p:cNvPr id="44" name="Picture 43" descr="step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+2.83   ·   누적 Σr = +5.66   ·   clip(Σ항, ±10)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1[None→PPK002, None→OPER001] = 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8·0/1320 = 0.0 · eff: 0.0→1.0 (done=0, cov…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8→7 (done 0→1, target=8) · 1.0·(8−7)/8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+3.00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3.0 · min(6 / 6, 1) = 3.0 · 1.0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-0.00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cover=0.0, need=8 → 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+0.00 + 페이싱 -0.31 + 계획 달성 +0.14 + 블록 보너스 +3.00 + 전환 +0.00 + 회피가능 전환 +0.00 + 중복 커버 -0.00 + 전용 오용 +0.00  →  r = +2.83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3 — 블록 시작 (N=6 커밋 · 이번 1LOT)  (EQP003 → PPK003)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8.3%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0.083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2140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2140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PPK003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432303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432303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7431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커밋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7431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N=6 연속 처리 약속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054095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remaining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054095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5 (다음 idle마다)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36499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36499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67588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367588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시작 (N=6 커밋 · 이번 1LOT)</a:t>
            </a:r>
          </a:p>
        </p:txBody>
      </p:sp>
      <p:pic>
        <p:nvPicPr>
          <p:cNvPr id="44" name="Picture 43" descr="step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+2.83   ·   누적 Σr = +8.49   ·   clip(Σ항, ±10)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1[None→PPK003, None→OPER001] = 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8·0/1320 = 0.0 · eff: 0.0→1.0 (done=0, cov…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8→7 (done 0→1, target=8) · 1.0·(8−7)/8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+3.00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3.0 · min(6 / 6, 1) = 3.0 · 1.0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-0.00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cover=0.0, need=8 → 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+0.00 + 페이싱 -0.31 + 계획 달성 +0.14 + 블록 보너스 +3.00 + 전환 +0.00 + 회피가능 전환 +0.00 + 중복 커버 -0.00 + 전용 오용 +0.00  →  r = +2.83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4 — 블록 연속 (LOT 2/6 · masked replay)  (EQP001 → PPK001)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3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0.125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57984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57984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PPK001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50545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50545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85292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진행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85292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 2/6 추가 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2003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2003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54787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54787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연속 (LOT 2/6 · masked replay)</a:t>
            </a:r>
          </a:p>
        </p:txBody>
      </p:sp>
      <p:pic>
        <p:nvPicPr>
          <p:cNvPr id="42" name="Picture 41" descr="ste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+0.83   ·   누적 Σr = +9.32   ·   clip(Σ항, ±10)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+1.00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1[None→PPK001, None→OPER001] = 1.0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8·0/1320 = 0.0 · eff: 22.0→23.0 (done=1, c…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7→6 (done 1→2, target=8) · 1.0·(7−6)/8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블록 시작 아님 → 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cover=21.0, need=7 → 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+1.00 + 페이싱 -0.31 + 계획 달성 +0.14 + 블록 보너스 +0.00 + 전환 +0.00 + 회피가능 전환 +0.00 + 중복 커버 +0.00 + 전용 오용 +0.00  →  r = +0.83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6 — 블록 연속 (LOT 2/6 · masked replay)  (EQP003 → PPK003)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60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20.8%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5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0.125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0.208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57984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57984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PPK003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50545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50545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85292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진행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85292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 2/6 추가 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2003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2003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54787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54787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연속 (LOT 2/6 · masked replay)</a:t>
            </a:r>
          </a:p>
        </p:txBody>
      </p:sp>
      <p:pic>
        <p:nvPicPr>
          <p:cNvPr id="42" name="Picture 41" descr="step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+0.83   ·   누적 Σr = +10.98   ·   clip(Σ항, ±10)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+1.00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1[PPK003→PPK003, OPER001→OPER001] = 1.0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8·60/1320 = 0.36 · eff: 1.0→2.0 (done=1, c…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7→6 (done 1→2, target=8) · 1.0·(7−6)/8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블록 시작 아님 → 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cover=0.0, need=7 → 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+1.00 + 페이싱 -0.31 + 계획 달성 +0.14 + 블록 보너스 +0.00 + 전환 +0.00 + 회피가능 전환 +0.00 + 중복 커버 +0.00 + 전용 오용 +0.00  →  r = +0.83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8 — 블록 연속 (LOT 3/6 · masked replay)  (EQP002 → PPK002)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120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29.2%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7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0.292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57984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57984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PPK002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50545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50545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85292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진행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85292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 3/6 추가 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2003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2003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54787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54787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연속 (LOT 3/6 · masked replay)</a:t>
            </a:r>
          </a:p>
        </p:txBody>
      </p:sp>
      <p:pic>
        <p:nvPicPr>
          <p:cNvPr id="42" name="Picture 41" descr="step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+0.83   ·   누적 Σr = +12.64   ·   clip(Σ항, ±10)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+1.00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1[PPK002→PPK002, OPER001→OPER001] = 1.0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8·120/1320 = 0.73 · eff: 2.0→3.0 (done=2, 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6→5 (done 2→3, target=8) · 1.0·(6−5)/8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블록 시작 아님 → 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cover=0.0, need=6 → 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+1.00 + 페이싱 -0.31 + 계획 달성 +0.14 + 블록 보너스 +0.00 + 전환 +0.00 + 회피가능 전환 +0.00 + 중복 커버 +0.00 + 전용 오용 +0.00  →  r = +0.83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대표 시나리오 — 바람직 vs 지양 결정 (전체 항목)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>
                <a:solidFill>
                  <a:srgbClr val="5C6670"/>
                </a:solidFill>
                <a:latin typeface="맑은 고딕"/>
              </a:rPr>
              <a:t>검증 데이터(3설비·3제품·각 8캐리어, takt 예산 8) 기준, 대표 결정 두 가지의 보상 계산입니다.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5212080" cy="3703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783080"/>
            <a:ext cx="5212080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83080"/>
            <a:ext cx="52120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예시 A · 전담 블록 시작 (바람직)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377440"/>
            <a:ext cx="48463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3255"/>
                </a:solidFill>
                <a:latin typeface="맑은 고딕"/>
              </a:rPr>
              <a:t>상황 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EQP001이 직전과 같은 PPK001을 블록 크기 8(=takt 예산 전량)로 커밋, 다른 설비가 덮지 않는 제품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48716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48716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1[직전 PPK·OPER 동일 &amp; 재공 잔존]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68833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1.0 · 1[PPK001→PPK001, OPER001→OPER001]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56032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87007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87007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 /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07124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2.5 · (|0.5−0.3| − |0.5−0.5|) / 8 = 2.5 · 0.2/8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94322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F"/>
                </a:solidFill>
                <a:latin typeface="맑은 고딕"/>
              </a:rPr>
              <a:t>+0.06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25297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25297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 = max(target − done, 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45414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1.0 · (8−7) / 8 = +0.125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32613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F"/>
                </a:solidFill>
                <a:latin typeface="맑은 고딕"/>
              </a:rPr>
              <a:t>+0.13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63588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63588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 시에만]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83705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3.0 · min(8/8, 1) = +3.0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70903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F"/>
                </a:solidFill>
                <a:latin typeface="맑은 고딕"/>
              </a:rPr>
              <a:t>+3.0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01878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01878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셋업 변경]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21995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1[전환]=0 →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09194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440169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40169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;  α = 회피가능 비율 (0~1)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460286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전환 없음 →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47484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78459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478459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498576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cover=0 →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85775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16750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16750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" y="536867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1[전용 오용]=0 → 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524065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4128" y="4956048"/>
            <a:ext cx="4809744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5029200"/>
            <a:ext cx="480974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합계  </a:t>
            </a:r>
            <a:r>
              <a:rPr sz="1300" b="1">
                <a:solidFill>
                  <a:srgbClr val="2E7D4F"/>
                </a:solidFill>
                <a:latin typeface="맑은 고딕"/>
              </a:rPr>
              <a:t>≈ +4~+6 수준의 강한 양(+) 보상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" y="5440680"/>
            <a:ext cx="48463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→ 같은 셋업으로 길게 점유하는 행동을 강화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1783080"/>
            <a:ext cx="5212080" cy="3703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1783080"/>
            <a:ext cx="5212080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1783080"/>
            <a:ext cx="52120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예시 B · 회피가능 전환 (지양)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2377440"/>
            <a:ext cx="48463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3255"/>
                </a:solidFill>
                <a:latin typeface="맑은 고딕"/>
              </a:rPr>
              <a:t>상황 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EQP가 PPK001→PPK002로 셋업을 바꿔 1캐리어만 처리. 다른 무전환 설비가 PPK002를 70% 커버 가능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248716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48716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1[직전 PPK·OPER 동일 &amp; 재공 잔존]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7648" y="268833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셋업 변경 → 1[동일]=0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78440" y="256032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287007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287007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 / target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7648" y="307124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2.5 · (0.2 − 0.3) / 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78440" y="294322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3A3A"/>
                </a:solidFill>
                <a:latin typeface="맑은 고딕"/>
              </a:rPr>
              <a:t>−Δ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27648" y="325297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325297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 = max(target − done, 0)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7648" y="345414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gap_before=gap_after=0 → 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78440" y="332613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27648" y="363588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363588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 시에만]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383705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블록 시작 아님 또는 N=1 → 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78440" y="370903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27648" y="401878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35240" y="401878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셋업 변경]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27648" y="421995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−10.0 · 1 = −10.0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78440" y="409194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3A3A"/>
                </a:solidFill>
                <a:latin typeface="맑은 고딕"/>
              </a:rPr>
              <a:t>−10.0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27648" y="440169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440169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;  α = 회피가능 비율 (0~1)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27648" y="460286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−8.0 · 0.7 = −5.6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78440" y="447484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3A3A"/>
                </a:solidFill>
                <a:latin typeface="맑은 고딕"/>
              </a:rPr>
              <a:t>−5.6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7648" y="478459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478459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27648" y="498576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−5.0 · min(0.4, 2) ≈ −2.0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78440" y="485775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3A3A"/>
                </a:solidFill>
                <a:latin typeface="맑은 고딕"/>
              </a:rPr>
              <a:t>−2.0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27648" y="516750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516750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27648" y="536867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−4.0 · 1 = −4.0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78440" y="524065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3A3A"/>
                </a:solidFill>
                <a:latin typeface="맑은 고딕"/>
              </a:rPr>
              <a:t>−4.0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27648" y="4956048"/>
            <a:ext cx="4809744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27648" y="5029200"/>
            <a:ext cx="480974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합계  </a:t>
            </a:r>
            <a:r>
              <a:rPr sz="1300" b="1">
                <a:solidFill>
                  <a:srgbClr val="B33A3A"/>
                </a:solidFill>
                <a:latin typeface="맑은 고딕"/>
              </a:rPr>
              <a:t>≈ −20 수준의 강한 음(−) 보상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5440680"/>
            <a:ext cx="48463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→ 불필요한 셋업 변경을 강하게 억제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51560" y="5715000"/>
            <a:ext cx="10149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BEE0"/>
                </a:solidFill>
                <a:latin typeface="맑은 고딕"/>
              </a:rPr>
              <a:t>학습 결과  </a:t>
            </a:r>
            <a:r>
              <a:rPr sz="1300" b="0">
                <a:solidFill>
                  <a:srgbClr val="FFFFFF"/>
                </a:solidFill>
                <a:latin typeface="맑은 고딕"/>
              </a:rPr>
              <a:t>정책은 "전담 블록은 키우고, 회피가능한 전환은 피한다"는 행동을 자연스럽게 획득합니다.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스텝별 요약 — SYM_3x3 트레이스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170432"/>
            <a:ext cx="110642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맑은 고딕"/>
              </a:rPr>
              <a:t>학습 모델을 </a:t>
            </a:r>
            <a:r>
              <a:rPr sz="1150" b="1">
                <a:solidFill>
                  <a:srgbClr val="1B3255"/>
                </a:solidFill>
                <a:latin typeface="맑은 고딕"/>
              </a:rPr>
              <a:t>SYM_3x3</a:t>
            </a:r>
            <a:r>
              <a:rPr sz="1150" b="0">
                <a:solidFill>
                  <a:srgbClr val="222A33"/>
                </a:solidFill>
                <a:latin typeface="맑은 고딕"/>
              </a:rPr>
              <a:t>(3설비·각 8캐리어, takt 예산 8)에 결정론적 추론한 </a:t>
            </a:r>
            <a:r>
              <a:rPr sz="1150" b="1">
                <a:solidFill>
                  <a:srgbClr val="1B3255"/>
                </a:solidFill>
                <a:latin typeface="맑은 고딕"/>
              </a:rPr>
              <a:t>실제 첫 8스텝</a:t>
            </a:r>
            <a:r>
              <a:rPr sz="1150" b="0">
                <a:solidFill>
                  <a:srgbClr val="222A33"/>
                </a:solidFill>
                <a:latin typeface="맑은 고딕"/>
              </a:rPr>
              <a:t>의 상태·보상 변화입니다.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77724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스텝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44168" y="1627632"/>
            <a:ext cx="91440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t(분)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58568" y="1627632"/>
            <a:ext cx="269748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결정 (EQP → PPK)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6048" y="1627632"/>
            <a:ext cx="169164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행동 유형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47688" y="1627632"/>
            <a:ext cx="141732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달성률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1627632"/>
            <a:ext cx="173736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보상 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02368" y="1627632"/>
            <a:ext cx="173736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누적 Σr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048256"/>
            <a:ext cx="7772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4168" y="2048256"/>
            <a:ext cx="91440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58568" y="2048256"/>
            <a:ext cx="269748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EQP001 → PPK001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2048256"/>
            <a:ext cx="16916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블록 시작 (N=8)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47688" y="2048256"/>
            <a:ext cx="141732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5008" y="2048256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+2.83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02368" y="2048256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2.83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404872"/>
            <a:ext cx="7772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44168" y="2404872"/>
            <a:ext cx="91440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58568" y="2404872"/>
            <a:ext cx="269748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EQP002 → PPK002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6048" y="2404872"/>
            <a:ext cx="16916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블록 시작 (N=8)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47688" y="2404872"/>
            <a:ext cx="141732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2404872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+2.83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02368" y="2404872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5.66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761488"/>
            <a:ext cx="7772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44168" y="2761488"/>
            <a:ext cx="91440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58568" y="2761488"/>
            <a:ext cx="269748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EQP003 → PPK003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2761488"/>
            <a:ext cx="16916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블록 시작 (N=8)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7688" y="2761488"/>
            <a:ext cx="141732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2761488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+2.83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02368" y="2761488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8.49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118104"/>
            <a:ext cx="7772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4168" y="3118104"/>
            <a:ext cx="91440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58568" y="3118104"/>
            <a:ext cx="269748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EQP001 → PPK001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118104"/>
            <a:ext cx="16916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4A6D8C"/>
                </a:solidFill>
                <a:latin typeface="맑은 고딕"/>
              </a:rPr>
              <a:t>블록 연속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47688" y="3118104"/>
            <a:ext cx="141732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12%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65008" y="3118104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+0.83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02368" y="3118104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9.32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474720"/>
            <a:ext cx="77724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44168" y="3474720"/>
            <a:ext cx="91440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60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58568" y="3474720"/>
            <a:ext cx="269748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EQP002 → PPK002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56048" y="3474720"/>
            <a:ext cx="169164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4A6D8C"/>
                </a:solidFill>
                <a:latin typeface="맑은 고딕"/>
              </a:rPr>
              <a:t>블록 연속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47688" y="3474720"/>
            <a:ext cx="141732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17%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3474720"/>
            <a:ext cx="17373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+0.83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02368" y="3474720"/>
            <a:ext cx="17373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10.15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831336"/>
            <a:ext cx="7772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44168" y="3831336"/>
            <a:ext cx="91440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60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58568" y="3831336"/>
            <a:ext cx="269748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EQP003 → PPK003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56048" y="3831336"/>
            <a:ext cx="16916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4A6D8C"/>
                </a:solidFill>
                <a:latin typeface="맑은 고딕"/>
              </a:rPr>
              <a:t>블록 연속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47688" y="3831336"/>
            <a:ext cx="141732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21%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65008" y="3831336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+0.83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02368" y="3831336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10.98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4187952"/>
            <a:ext cx="77724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44168" y="4187952"/>
            <a:ext cx="91440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60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58568" y="4187952"/>
            <a:ext cx="269748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EQP001 → PPK001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6048" y="4187952"/>
            <a:ext cx="169164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4A6D8C"/>
                </a:solidFill>
                <a:latin typeface="맑은 고딕"/>
              </a:rPr>
              <a:t>블록 연속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47688" y="4187952"/>
            <a:ext cx="141732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25%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65008" y="4187952"/>
            <a:ext cx="17373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+0.83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02368" y="4187952"/>
            <a:ext cx="17373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11.81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544568"/>
            <a:ext cx="7772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44168" y="4544568"/>
            <a:ext cx="91440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120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58568" y="4544568"/>
            <a:ext cx="269748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EQP002 → PPK002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56048" y="4544568"/>
            <a:ext cx="16916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4A6D8C"/>
                </a:solidFill>
                <a:latin typeface="맑은 고딕"/>
              </a:rPr>
              <a:t>블록 연속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47688" y="4544568"/>
            <a:ext cx="141732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29%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65008" y="4544568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+0.83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02368" y="4544568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12.64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937759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관찰  </a:t>
            </a:r>
            <a:r>
              <a:rPr sz="1050" b="0">
                <a:solidFill>
                  <a:srgbClr val="5C6670"/>
                </a:solidFill>
                <a:latin typeface="맑은 고딕"/>
              </a:rPr>
              <a:t>스텝 1~3은 각 설비 전담 블록 시작(보상 큼), 4~8은 같은 셋업 연속. 상세 State/Action/Reward·간트는 슬라이드 12~17 참고.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4736592"/>
            <a:ext cx="11064240" cy="420624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" y="4736592"/>
            <a:ext cx="1106424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스텝 보상 식    r_t  =  w_same_setup·1[동일셋업]  +  w_pacing·(|ideal−eff_before| − |ideal−eff_after|)/target  +  w_plan_hit·(gap_before − gap_after)/target  +  [블록 시작 시] Δblock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193792"/>
            <a:ext cx="11064240" cy="3657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5193792"/>
            <a:ext cx="109728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222A33"/>
                </a:solidFill>
                <a:latin typeface="맑은 고딕"/>
              </a:rPr>
              <a:t>Δblock = w_bulk_block_bonus·min(N/예산,1)  +  w_dedication_misuse·1[전용오용]  +  w_redundant_cover·min(cover/need, 2)        |        전환 발생 시  + w_conversion  + w_avoidable_conversion·avoidable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5669279"/>
            <a:ext cx="5440680" cy="1078992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6928" y="5669279"/>
            <a:ext cx="82296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8" y="5742431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스텝 1 · 블록 시작 (EQP001→PPK001, N=8)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9808" y="6035040"/>
            <a:ext cx="52120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2E7D4F"/>
                </a:solidFill>
                <a:latin typeface="맑은 고딕"/>
              </a:rPr>
              <a:t>블록보너스 3.0·(8/8)=+3.00 </a:t>
            </a:r>
            <a:r>
              <a:rPr sz="1030" b="0">
                <a:solidFill>
                  <a:srgbClr val="5C6670"/>
                </a:solidFill>
                <a:latin typeface="맑은 고딕"/>
              </a:rPr>
              <a:t>· 페이싱 −0.31 · 계획 +0.13</a:t>
            </a:r>
            <a:r>
              <a:rPr sz="1100" b="1">
                <a:solidFill>
                  <a:srgbClr val="1B3255"/>
                </a:solidFill>
                <a:latin typeface="맑은 고딕"/>
              </a:rPr>
              <a:t>  →  r = +2.83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90488" y="5669279"/>
            <a:ext cx="544068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90488" y="5669279"/>
            <a:ext cx="82296" cy="107899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73368" y="5742431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스텝 4 · 블록 연속 (EQP001→PPK001)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73368" y="6035040"/>
            <a:ext cx="52120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2E7D4F"/>
                </a:solidFill>
                <a:latin typeface="맑은 고딕"/>
              </a:rPr>
              <a:t>동일셋업 +1.00 </a:t>
            </a:r>
            <a:r>
              <a:rPr sz="1030" b="0">
                <a:solidFill>
                  <a:srgbClr val="5C6670"/>
                </a:solidFill>
                <a:latin typeface="맑은 고딕"/>
              </a:rPr>
              <a:t>· 페이싱 −0.30 · 계획 +0.13 (블록보너스 없음)</a:t>
            </a:r>
            <a:r>
              <a:rPr sz="1100" b="1">
                <a:solidFill>
                  <a:srgbClr val="1B3255"/>
                </a:solidFill>
                <a:latin typeface="맑은 고딕"/>
              </a:rPr>
              <a:t>  →  r = +0.83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검증 설계 — CONV_BENCH 데이터셋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22A33"/>
                </a:solidFill>
                <a:latin typeface="맑은 고딕"/>
              </a:rPr>
              <a:t>전환 비용이 </a:t>
            </a:r>
            <a:r>
              <a:rPr sz="1350" b="1">
                <a:solidFill>
                  <a:srgbClr val="1B3255"/>
                </a:solidFill>
                <a:latin typeface="맑은 고딕"/>
              </a:rPr>
              <a:t>생산 수량 손실로 1:1 환산</a:t>
            </a:r>
            <a:r>
              <a:rPr sz="1350" b="0">
                <a:solidFill>
                  <a:srgbClr val="222A33"/>
                </a:solidFill>
                <a:latin typeface="맑은 고딕"/>
              </a:rPr>
              <a:t>되도록 설계한 직관형 검증 데이터셋입니다.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920240"/>
            <a:ext cx="2587752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920240"/>
            <a:ext cx="2587752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84831"/>
            <a:ext cx="23134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설비 / 제품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32304"/>
            <a:ext cx="231343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3 설비 × 3 제품(PPK)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07792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동일 성능 A모델 3대, 제품별 LOT_CD 상이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1920240"/>
            <a:ext cx="2587752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920240"/>
            <a:ext cx="2587752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084831"/>
            <a:ext cx="23134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재공 /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432304"/>
            <a:ext cx="231343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제품당 8캐리어 =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07792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계획도 제품당 8 (총 24캐리어)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2587752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2587752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84831"/>
            <a:ext cx="23134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시간 파라미터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432304"/>
            <a:ext cx="231343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ST=60 · 전환=60 · 8h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907792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설비당 480/60 = 8캐리어 처리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920240"/>
            <a:ext cx="2587752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1920240"/>
            <a:ext cx="2587752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084831"/>
            <a:ext cx="23134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배정 난이도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432304"/>
            <a:ext cx="231343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홈 LOT 혼합 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907792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단순 규칙은 전환 불가피, 전략적 선택만 전담 달성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749039"/>
            <a:ext cx="521208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49039"/>
            <a:ext cx="52120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이론적 최적해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206240"/>
            <a:ext cx="52120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343400"/>
            <a:ext cx="48463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설비별 1제품 전담 → 전환 0회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C6670"/>
                </a:solidFill>
                <a:latin typeface="맑은 고딕"/>
              </a:rPr>
              <a:t>EQP001 → PPK001  (8캐리어)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C6670"/>
                </a:solidFill>
                <a:latin typeface="맑은 고딕"/>
              </a:rPr>
              <a:t>EQP002 → PPK002  (8캐리어)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C6670"/>
                </a:solidFill>
                <a:latin typeface="맑은 고딕"/>
              </a:rPr>
              <a:t>EQP003 → PPK003  (8캐리어)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생산 24 · 전환 0 · 가동률 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749039"/>
            <a:ext cx="498348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749039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전환 → 손실 환산표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206240"/>
            <a:ext cx="4983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37960" y="4315968"/>
            <a:ext cx="1828800" cy="402336"/>
          </a:xfrm>
          <a:prstGeom prst="rect">
            <a:avLst/>
          </a:prstGeom>
          <a:solidFill>
            <a:srgbClr val="1B3255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전환 횟수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4315968"/>
            <a:ext cx="1737360" cy="402336"/>
          </a:xfrm>
          <a:prstGeom prst="rect">
            <a:avLst/>
          </a:prstGeom>
          <a:solidFill>
            <a:srgbClr val="1B3255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생산 수량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4315968"/>
            <a:ext cx="1097280" cy="402336"/>
          </a:xfrm>
          <a:prstGeom prst="rect">
            <a:avLst/>
          </a:prstGeom>
          <a:solidFill>
            <a:srgbClr val="1B3255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손실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4718304"/>
            <a:ext cx="1828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4718304"/>
            <a:ext cx="1737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24 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04120" y="4718304"/>
            <a:ext cx="109728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5120640"/>
            <a:ext cx="1828800" cy="402336"/>
          </a:xfrm>
          <a:prstGeom prst="rect">
            <a:avLst/>
          </a:prstGeom>
          <a:solidFill>
            <a:srgbClr val="DDE6F0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3255"/>
                </a:solidFill>
                <a:latin typeface="맑은 고딕"/>
              </a:rPr>
              <a:t>2 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5120640"/>
            <a:ext cx="1737360" cy="402336"/>
          </a:xfrm>
          <a:prstGeom prst="rect">
            <a:avLst/>
          </a:prstGeom>
          <a:solidFill>
            <a:srgbClr val="DDE6F0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22 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5120640"/>
            <a:ext cx="1097280" cy="402336"/>
          </a:xfrm>
          <a:prstGeom prst="rect">
            <a:avLst/>
          </a:prstGeom>
          <a:solidFill>
            <a:srgbClr val="DDE6F0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−2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5522976"/>
            <a:ext cx="1828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3255"/>
                </a:solidFill>
                <a:latin typeface="맑은 고딕"/>
              </a:rPr>
              <a:t>6 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5522976"/>
            <a:ext cx="1737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18 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04120" y="5522976"/>
            <a:ext cx="109728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−6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</a:rPr>
              <a:t>동일 시뮬레이터·동일 데이터에서 세 알고리즘을 실행해 KPI를 직접 비교합니다.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KPI 비교 결과 (CONV_BENCH)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417320"/>
            <a:ext cx="3200400" cy="749808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KPI 지표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417320"/>
            <a:ext cx="2606040" cy="749808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Earliest-ST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(단순 규칙)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417320"/>
            <a:ext cx="2606040" cy="749808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Min-Progress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(휴리스틱)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417320"/>
            <a:ext cx="2606040" cy="749808"/>
          </a:xfrm>
          <a:prstGeom prst="rect">
            <a:avLst/>
          </a:prstGeom>
          <a:solidFill>
            <a:srgbClr val="2E6F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Bulk-Fill PPO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(학습 모델)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67128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생산 수량 (최대 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167128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18 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2167128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24 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167128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24 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798064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전환 횟수 (낮을수록 우수)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798064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B33A3A"/>
                </a:solidFill>
                <a:latin typeface="맑은 고딕"/>
              </a:rPr>
              <a:t>6 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798064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0 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798064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0 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429000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전환 손실 캐리어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3429000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B33A3A"/>
                </a:solidFill>
                <a:latin typeface="맑은 고딕"/>
              </a:rPr>
              <a:t>−6 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3429000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−0 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429000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−0 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059935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설비 가동률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4059935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75 %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4059935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100 %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4059935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100 %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690871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제품 전담 설비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4690871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0 /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4690871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3 /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4690871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3 /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321807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최적해 도달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5321807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B33A3A"/>
                </a:solidFill>
                <a:latin typeface="맑은 고딕"/>
              </a:rPr>
              <a:t>미달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5321807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달성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5321807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달성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126480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Bulk-Fill PPO는 학습만으로 최고 휴리스틱과 동일한 이론적 최적해(생산 24·전환 0)에 도달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했으며, 단순 규칙 대비 모든 지표에서 우위입니다.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효과성 검증 — 정량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417320"/>
          <a:ext cx="3657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343400" y="1417320"/>
          <a:ext cx="36576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8229600" y="1417320"/>
            <a:ext cx="3246120" cy="33832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324612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2461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학습 모델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11680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6FB0"/>
                </a:solidFill>
                <a:latin typeface="맑은 고딕"/>
              </a:rPr>
              <a:t>+6 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95728"/>
            <a:ext cx="2880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단순 규칙 대비 생산량 (+33%)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24912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6FB0"/>
                </a:solidFill>
                <a:latin typeface="맑은 고딕"/>
              </a:rPr>
              <a:t>−6 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108960"/>
            <a:ext cx="2880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전환을 전량 제거 (6→0)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38144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6FB0"/>
                </a:solidFill>
                <a:latin typeface="맑은 고딕"/>
              </a:rPr>
              <a:t>+25%p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822192"/>
            <a:ext cx="2880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가동률 75%→100%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151376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6FB0"/>
                </a:solidFill>
                <a:latin typeface="맑은 고딕"/>
              </a:rPr>
              <a:t>3 /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535424"/>
            <a:ext cx="2880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제품 전담 설비 달성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029200"/>
            <a:ext cx="10835640" cy="11887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38928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BEE0"/>
                </a:solidFill>
                <a:latin typeface="맑은 고딕"/>
              </a:rPr>
              <a:t>효과성 결론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68112"/>
            <a:ext cx="10515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7E2EE"/>
                </a:solidFill>
                <a:latin typeface="맑은 고딕"/>
              </a:rPr>
              <a:t>Bulk-Fill PPO는 별도 규칙 주입 없이 </a:t>
            </a:r>
            <a:r>
              <a:rPr sz="1350" b="1">
                <a:solidFill>
                  <a:srgbClr val="FFFFFF"/>
                </a:solidFill>
                <a:latin typeface="맑은 고딕"/>
              </a:rPr>
              <a:t>학습만으로 이론적 최적해에 도달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했으며, 단순 규칙 대비 </a:t>
            </a:r>
            <a:r>
              <a:rPr sz="1350" b="1">
                <a:solidFill>
                  <a:srgbClr val="FFFFFF"/>
                </a:solidFill>
                <a:latin typeface="맑은 고딕"/>
              </a:rPr>
              <a:t>생산량 +33% · 전환 100% 제거 · 가동률 +25%p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 의 개선을 입증했습니다.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대표 벤치마크 8종 — 무엇을 검증하는가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88720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</a:rPr>
              <a:t>단순 휴리스틱이 </a:t>
            </a:r>
            <a:r>
              <a:rPr sz="1200" b="1">
                <a:solidFill>
                  <a:srgbClr val="1B3255"/>
                </a:solidFill>
                <a:latin typeface="맑은 고딕"/>
              </a:rPr>
              <a:t>쉽게 풀 수 없는 비대칭·제약 시나리오</a:t>
            </a:r>
            <a:r>
              <a:rPr sz="1200" b="0">
                <a:solidFill>
                  <a:srgbClr val="222A33"/>
                </a:solidFill>
                <a:latin typeface="맑은 고딕"/>
              </a:rPr>
              <a:t>를 4개 카테고리로 구성해, 알고리즘의 실제 변별력을 측정합니다.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91640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91640"/>
            <a:ext cx="91440" cy="107899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10512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SYM_3x3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1810512"/>
            <a:ext cx="1463040" cy="30175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대칭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194560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3설비 × 3제품 · 24캐리어 · ST 60분 · 전환 60분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450592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4A6D8C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기본 전담 최적해 도달 (대조군)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91440" cy="107899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10512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SYM_5x5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1810512"/>
            <a:ext cx="1463040" cy="30175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대칭 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194560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5설비 × 5제품 · 30캐리어 · ST 48분 · 전환 48분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450592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4A6D8C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규모 확장 시 전담 유지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916936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916936"/>
            <a:ext cx="91440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035808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OVER_5p3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3035808"/>
            <a:ext cx="1463040" cy="30175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제품 과잉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419856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3설비 × 5제품 · 20캐리어 · ST 60분 · 전환 60분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3675887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불가피한 전환을 최소 횟수로 묶기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16936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2916936"/>
            <a:ext cx="91440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3035808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OVER_7p4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3035808"/>
            <a:ext cx="1463040" cy="30175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제품 과잉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419856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4설비 × 7제품 · 28캐리어 · ST 45분 · 전환 45분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3675887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다수 제품 분배 + 전환 최소화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142231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142231"/>
            <a:ext cx="91440" cy="1078992"/>
          </a:xfrm>
          <a:prstGeom prst="rect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261103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LOAD_skew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4261103"/>
            <a:ext cx="1463040" cy="301752"/>
          </a:xfrm>
          <a:prstGeom prst="rect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부하 불균등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4645151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4설비 × 4제품 · 30캐리어 · ST 60분 · 전환 60분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4901183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6B4E8E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물량 편중에서의 균형 배분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142231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142231"/>
            <a:ext cx="91440" cy="1078992"/>
          </a:xfrm>
          <a:prstGeom prst="rect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4261103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LOAD_stmix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4261103"/>
            <a:ext cx="1463040" cy="301752"/>
          </a:xfrm>
          <a:prstGeom prst="rect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부하 불균등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4645151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4설비 × 4제품 · 32캐리어 · ST 30~90분 · 전환 60분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4901183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6B4E8E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처리시간 이질성 하의 효율 배분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367527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5367527"/>
            <a:ext cx="91440" cy="1078992"/>
          </a:xfrm>
          <a:prstGeom prst="rect">
            <a:avLst/>
          </a:prstGeom>
          <a:solidFill>
            <a:srgbClr val="B5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5486399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CONV_x2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07408" y="5486399"/>
            <a:ext cx="1463040" cy="301752"/>
          </a:xfrm>
          <a:prstGeom prst="rect">
            <a:avLst/>
          </a:prstGeom>
          <a:solidFill>
            <a:srgbClr val="B5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전환 과중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" y="5870447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4설비 × 4제품 · 24캐리어 · ST 45분 · 전환 90분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" y="6126479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56A2A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큰 전환비용 하의 전담 가치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5367527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26480" y="5367527"/>
            <a:ext cx="91440" cy="1078992"/>
          </a:xfrm>
          <a:prstGeom prst="rect">
            <a:avLst/>
          </a:prstGeom>
          <a:solidFill>
            <a:srgbClr val="B5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5486399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CONV_x3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66960" y="5486399"/>
            <a:ext cx="1463040" cy="301752"/>
          </a:xfrm>
          <a:prstGeom prst="rect">
            <a:avLst/>
          </a:prstGeom>
          <a:solidFill>
            <a:srgbClr val="B5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전환 과중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5936" y="5870447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3설비 × 5제품 · 20캐리어 · ST 40분 · 전환 120분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6126479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56A2A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전환 과중 + 제품 과잉 복합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199632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대칭 기준은 전담만으로 최적이라 대조군이며, 나머지 6종은 전환이 불가피하거나 부하가 불균등해 </a:t>
            </a:r>
            <a:r>
              <a:rPr sz="1050" b="1">
                <a:solidFill>
                  <a:srgbClr val="1B3255"/>
                </a:solidFill>
                <a:latin typeface="맑은 고딕"/>
              </a:rPr>
              <a:t>배정 전략에 따라 결과가 갈립니다.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벤치마크 8종 KPI 비교 — 난이도별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88720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</a:rPr>
              <a:t>8종 데이터셋에 </a:t>
            </a:r>
            <a:r>
              <a:rPr sz="1200" b="1">
                <a:solidFill>
                  <a:srgbClr val="1B3255"/>
                </a:solidFill>
                <a:latin typeface="맑은 고딕"/>
              </a:rPr>
              <a:t>단일 Bulk-Fill 모델을 공동 학습</a:t>
            </a:r>
            <a:r>
              <a:rPr sz="1200" b="0">
                <a:solidFill>
                  <a:srgbClr val="5C6670"/>
                </a:solidFill>
                <a:latin typeface="맑은 고딕"/>
              </a:rPr>
              <a:t> 후 평가. 표기 = 생산 / 전환 (생산 많고 전환 적을수록 우수).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91640"/>
            <a:ext cx="2103120" cy="54864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벤치마크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691640"/>
            <a:ext cx="1828800" cy="54864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카테고리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1691640"/>
            <a:ext cx="2331720" cy="54864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Earliest-ST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생산 / 전환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30568" y="1691640"/>
            <a:ext cx="2331720" cy="54864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Min-Progress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생산 / 전환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62288" y="1691640"/>
            <a:ext cx="2468880" cy="548640"/>
          </a:xfrm>
          <a:prstGeom prst="rect">
            <a:avLst/>
          </a:prstGeom>
          <a:solidFill>
            <a:srgbClr val="2E6F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Bulk-Fill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생산 / 전환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240280"/>
            <a:ext cx="21031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SYM_3x3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224028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대칭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22402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18/24 ·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0568" y="22402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24/24 ·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62288" y="2240280"/>
            <a:ext cx="2468880" cy="457200"/>
          </a:xfrm>
          <a:prstGeom prst="rect">
            <a:avLst/>
          </a:prstGeom>
          <a:solidFill>
            <a:srgbClr val="ECF3EE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24/24 ·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697480"/>
            <a:ext cx="21031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SYM_5x5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048" y="2697480"/>
            <a:ext cx="182880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대칭 기준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26974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18/30 · 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0568" y="26974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30/30 ·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62288" y="2697480"/>
            <a:ext cx="2468880" cy="457200"/>
          </a:xfrm>
          <a:prstGeom prst="rect">
            <a:avLst/>
          </a:prstGeom>
          <a:solidFill>
            <a:srgbClr val="ECF3EE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30/30 ·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54680"/>
            <a:ext cx="21031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OVER_5p3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15468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제품 과잉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31546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15/20 · 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0568" y="31546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14/20 · 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62288" y="3154680"/>
            <a:ext cx="2468880" cy="457200"/>
          </a:xfrm>
          <a:prstGeom prst="rect">
            <a:avLst/>
          </a:prstGeom>
          <a:solidFill>
            <a:srgbClr val="E2EEE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18/20 ·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611880"/>
            <a:ext cx="21031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OVER_7p4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611880"/>
            <a:ext cx="182880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제품 과잉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98848" y="36118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20/28 · 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0568" y="36118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21/28 · 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62288" y="3611880"/>
            <a:ext cx="2468880" cy="457200"/>
          </a:xfrm>
          <a:prstGeom prst="rect">
            <a:avLst/>
          </a:prstGeom>
          <a:solidFill>
            <a:srgbClr val="E2EEE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28/28 · 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069080"/>
            <a:ext cx="21031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LOAD_skew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70048" y="406908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부하 불균등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8848" y="40690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22/30 ·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0568" y="40690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21/30 · 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62288" y="4069080"/>
            <a:ext cx="2468880" cy="457200"/>
          </a:xfrm>
          <a:prstGeom prst="rect">
            <a:avLst/>
          </a:prstGeom>
          <a:solidFill>
            <a:srgbClr val="E2EEE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26/30 ·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526280"/>
            <a:ext cx="21031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LOAD_stmix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70048" y="4526280"/>
            <a:ext cx="182880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부하 불균등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98848" y="45262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24/32 · 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0568" y="45262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22/32 ·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62288" y="4526280"/>
            <a:ext cx="2468880" cy="457200"/>
          </a:xfrm>
          <a:prstGeom prst="rect">
            <a:avLst/>
          </a:prstGeom>
          <a:solidFill>
            <a:srgbClr val="E2EEE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27/32 · 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983480"/>
            <a:ext cx="21031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CONV_x2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70048" y="498348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전환 과중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98848" y="49834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12/24 · 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30568" y="49834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24/24 · 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62288" y="4983480"/>
            <a:ext cx="2468880" cy="457200"/>
          </a:xfrm>
          <a:prstGeom prst="rect">
            <a:avLst/>
          </a:prstGeom>
          <a:solidFill>
            <a:srgbClr val="ECF3EE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24/24 · 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440680"/>
            <a:ext cx="21031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CONV_x3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70048" y="5440680"/>
            <a:ext cx="182880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전환 과중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98848" y="54406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12/20 · 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30568" y="54406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12/20 · 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62288" y="5440680"/>
            <a:ext cx="2468880" cy="457200"/>
          </a:xfrm>
          <a:prstGeom prst="rect">
            <a:avLst/>
          </a:prstGeom>
          <a:solidFill>
            <a:srgbClr val="E2EEE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18/20 · 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5897880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222A33"/>
                </a:solidFill>
                <a:latin typeface="맑은 고딕"/>
              </a:rPr>
              <a:t>대칭(SYM·CONV_x2)에선 Bulk-Fill = Min-Progress(둘 다 최적), </a:t>
            </a:r>
            <a:r>
              <a:rPr sz="1130" b="1">
                <a:solidFill>
                  <a:srgbClr val="2E7D4F"/>
                </a:solidFill>
                <a:latin typeface="맑은 고딕"/>
              </a:rPr>
              <a:t>제품 과잉·부하 불균등·전환 과중에선 Bulk-Fill가 Min-Progress를 크게 앞섭니다</a:t>
            </a:r>
            <a:r>
              <a:rPr sz="1130" b="0">
                <a:solidFill>
                  <a:srgbClr val="5C6670"/>
                </a:solidFill>
                <a:latin typeface="맑은 고딕"/>
              </a:rPr>
              <a:t> (녹색=BF 우위/동률, 주황=열위).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종합 집계 — 어려운 케이스일수록 학습 모델이 우위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371600"/>
          <a:ext cx="5943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858000" y="1371600"/>
            <a:ext cx="4617720" cy="33832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371600"/>
            <a:ext cx="461772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371600"/>
            <a:ext cx="4617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종합 집계 (8종 합산)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38528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6FB0"/>
                </a:solidFill>
                <a:latin typeface="맑은 고딕"/>
              </a:rPr>
              <a:t>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938528"/>
            <a:ext cx="9601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6FB0"/>
                </a:solidFill>
                <a:latin typeface="맑은 고딕"/>
              </a:rPr>
              <a:t>Earliest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938528"/>
            <a:ext cx="1005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6FB0"/>
                </a:solidFill>
                <a:latin typeface="맑은 고딕"/>
              </a:rPr>
              <a:t>Bulk-Fill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193852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6FB0"/>
                </a:solidFill>
                <a:latin typeface="맑은 고딕"/>
              </a:rPr>
              <a:t>Min-Prog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49424"/>
            <a:ext cx="17373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총 생산률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49424"/>
            <a:ext cx="960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33A3A"/>
                </a:solidFill>
                <a:latin typeface="맑은 고딕"/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249424"/>
            <a:ext cx="10515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249424"/>
            <a:ext cx="777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734056"/>
            <a:ext cx="17373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총 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734056"/>
            <a:ext cx="960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33A3A"/>
                </a:solidFill>
                <a:latin typeface="맑은 고딕"/>
              </a:rPr>
              <a:t>110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734056"/>
            <a:ext cx="10515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734056"/>
            <a:ext cx="777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218688"/>
            <a:ext cx="17373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평균 가동률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218688"/>
            <a:ext cx="960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33A3A"/>
                </a:solidFill>
                <a:latin typeface="맑은 고딕"/>
              </a:rPr>
              <a:t>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218688"/>
            <a:ext cx="10515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81%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3218688"/>
            <a:ext cx="777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71%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03320"/>
            <a:ext cx="17373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전량 생산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703320"/>
            <a:ext cx="960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33A3A"/>
                </a:solidFill>
                <a:latin typeface="맑은 고딕"/>
              </a:rPr>
              <a:t>0/8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703320"/>
            <a:ext cx="10515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4/8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3703320"/>
            <a:ext cx="777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3/8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87952"/>
            <a:ext cx="17373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전담 달성률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187952"/>
            <a:ext cx="960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33A3A"/>
                </a:solidFill>
                <a:latin typeface="맑은 고딕"/>
              </a:rPr>
              <a:t>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4187952"/>
            <a:ext cx="10515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60%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4187952"/>
            <a:ext cx="777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47%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983480"/>
            <a:ext cx="10835640" cy="123444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084064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BEE0"/>
                </a:solidFill>
                <a:latin typeface="맑은 고딕"/>
              </a:rPr>
              <a:t>핵심 발견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1324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7E2EE"/>
                </a:solidFill>
                <a:latin typeface="맑은 고딕"/>
              </a:rPr>
              <a:t>쉬운 대칭 케이스에선 휴리스틱과 동등하지만, </a:t>
            </a:r>
            <a:r>
              <a:rPr sz="1250" b="0">
                <a:solidFill>
                  <a:srgbClr val="D7E2EE"/>
                </a:solidFill>
                <a:latin typeface="맑은 고딕"/>
              </a:rPr>
              <a:t>전환이 불가피한 현실적 케이스에서 Bulk-Fill가 생산률 </a:t>
            </a:r>
            <a:r>
              <a:rPr sz="1300" b="1">
                <a:solidFill>
                  <a:srgbClr val="FFFFFF"/>
                </a:solidFill>
                <a:latin typeface="맑은 고딕"/>
              </a:rPr>
              <a:t>94% vs 81%(Min-Progress) · 전환 34 vs 76</a:t>
            </a:r>
            <a:r>
              <a:rPr sz="1250" b="0">
                <a:solidFill>
                  <a:srgbClr val="D7E2EE"/>
                </a:solidFill>
                <a:latin typeface="맑은 고딕"/>
              </a:rPr>
              <a:t> 으로 명확히 앞섭니다. 단순 휴리스틱은 전환을 남발해 캐리어를 잃습니다.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간트 비교 ① 제품 과잉 (3설비·5제품)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38</a:t>
            </a:r>
          </a:p>
        </p:txBody>
      </p:sp>
      <p:pic>
        <p:nvPicPr>
          <p:cNvPr id="10" name="Picture 9" descr="gantt_OVER_5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092440" cy="4253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32520" y="1325880"/>
            <a:ext cx="3017520" cy="402336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20" y="1325880"/>
            <a:ext cx="301752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325880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결과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92024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33A3A"/>
                </a:solidFill>
                <a:latin typeface="맑은 고딕"/>
              </a:rPr>
              <a:t>Earliest-ST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19456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15/20 · 전환 12회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633472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C6670"/>
                </a:solidFill>
                <a:latin typeface="맑은 고딕"/>
              </a:rPr>
              <a:t>Min-Progress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907791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14/20 · 전환 14회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346704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4F"/>
                </a:solidFill>
                <a:latin typeface="맑은 고딕"/>
              </a:rPr>
              <a:t>Bulk-Fill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621024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18/20 · 전환 7회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4014216"/>
            <a:ext cx="2651760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4133088"/>
            <a:ext cx="27432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3설비가 5제품을 처리해 전환이 불가피한 케이스.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Earliest·Min-Progress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는 제품을 자주 바꿔 </a:t>
            </a:r>
            <a:r>
              <a:rPr sz="1100" b="1">
                <a:solidFill>
                  <a:srgbClr val="B33A3A"/>
                </a:solidFill>
                <a:latin typeface="맑은 고딕"/>
              </a:rPr>
              <a:t>전환(빗금)이 빈발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, 시간 내 캐리어를 잃습니다.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Bulk-Fill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는 같은 제품을 길게 묶어 </a:t>
            </a:r>
            <a:r>
              <a:rPr sz="1100" b="1">
                <a:solidFill>
                  <a:srgbClr val="2E7D4F"/>
                </a:solidFill>
                <a:latin typeface="맑은 고딕"/>
              </a:rPr>
              <a:t>전환을 최소화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하고 전량을 생산합니다.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간트 비교 ② 부하 불균등 (계획 14·8·4·4)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39</a:t>
            </a:r>
          </a:p>
        </p:txBody>
      </p:sp>
      <p:pic>
        <p:nvPicPr>
          <p:cNvPr id="10" name="Picture 9" descr="gantt_LOAD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092440" cy="4253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32520" y="1325880"/>
            <a:ext cx="3017520" cy="402336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20" y="1325880"/>
            <a:ext cx="301752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325880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결과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92024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33A3A"/>
                </a:solidFill>
                <a:latin typeface="맑은 고딕"/>
              </a:rPr>
              <a:t>Earliest-ST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19456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22/30 · 전환 12회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633472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C6670"/>
                </a:solidFill>
                <a:latin typeface="맑은 고딕"/>
              </a:rPr>
              <a:t>Min-Progress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907791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21/30 · 전환 12회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346704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4F"/>
                </a:solidFill>
                <a:latin typeface="맑은 고딕"/>
              </a:rPr>
              <a:t>Bulk-Fill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621024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26/30 · 전환 2회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4014216"/>
            <a:ext cx="2651760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4133088"/>
            <a:ext cx="27432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제품별 물량이 14·8·4·4로 편중된 케이스.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휴리스틱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은 진행률만 보고 분배해 </a:t>
            </a:r>
            <a:r>
              <a:rPr sz="1100" b="1">
                <a:solidFill>
                  <a:srgbClr val="B33A3A"/>
                </a:solidFill>
                <a:latin typeface="맑은 고딕"/>
              </a:rPr>
              <a:t>전환이 누적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됩니다.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Bulk-Fill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는 물량 많은 제품에 설비를 </a:t>
            </a:r>
            <a:r>
              <a:rPr sz="1100" b="1">
                <a:solidFill>
                  <a:srgbClr val="2E7D4F"/>
                </a:solidFill>
                <a:latin typeface="맑은 고딕"/>
              </a:rPr>
              <a:t>전담 배치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해 전환 2회로 최소화합니다.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결론 및 기대 효과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417320"/>
            <a:ext cx="516636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51663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핵심 성과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16636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417320"/>
            <a:ext cx="51663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기대 효과 및 향후 과제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057400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057400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203704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검증된 성과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69464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8종 벤치마크 종합 생산률 94%로 휴리스틱(81%)을 능가, 전환 76→34회 감소.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057400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057400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03704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확장성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69464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더 많은 설비·제품·다단 공정으로 데이터 교체만으로 확장 적용 가능.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273552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273552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419856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변별력 있는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85616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전환이 불가피한 제품 과잉·부하 불균등 케이스에서 학습 모델의 우위를 입증.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273552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273552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419856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운영 적용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85616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전환 비용·계획·재공 제약을 함께 고려한 일배치 의사결정 지원.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489704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489704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36008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구조적 강점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01768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벌크 점유 + 행동 마스킹으로 전환을 근본적으로 억제하고 학습을 안정화.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489704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4489704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36008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향후 과제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001768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실데이터 적용·보상 가중치 튜닝·다공정 흐름 균형의 추가 검증.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강화학습 기반 Bulk-Fill 스케줄링 — 전환 최소화와 계획 추종을 동시에 달성하는 검증된 의사결정 모델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