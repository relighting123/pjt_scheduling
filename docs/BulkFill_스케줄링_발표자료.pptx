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250" b="1">
                <a:solidFill>
                  <a:srgbClr val="1B3255"/>
                </a:solidFill>
                <a:latin typeface="맑은 고딕"/>
              </a:defRPr>
            </a:pPr>
            <a:r>
              <a:t>생산 수량 (개, 최대 24)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생산 수량</c:v>
                </c:pt>
              </c:strCache>
            </c:strRef>
          </c:tx>
          <c:dPt>
            <c:idx val="0"/>
            <c:spPr>
              <a:solidFill>
                <a:srgbClr val="C28A8A"/>
              </a:solidFill>
            </c:spPr>
          </c:dPt>
          <c:dPt>
            <c:idx val="1"/>
            <c:spPr>
              <a:solidFill>
                <a:srgbClr val="4A6D8C"/>
              </a:solidFill>
            </c:spPr>
          </c:dPt>
          <c:dPt>
            <c:idx val="2"/>
            <c:spPr>
              <a:solidFill>
                <a:srgbClr val="2E6FB0"/>
              </a:solidFill>
            </c:spPr>
          </c:dPt>
          <c:cat>
            <c:strRef>
              <c:f>Sheet1!$A$2:$A$4</c:f>
              <c:strCache>
                <c:ptCount val="3"/>
                <c:pt idx="0">
                  <c:v>Earliest-ST</c:v>
                </c:pt>
                <c:pt idx="1">
                  <c:v>Min-Progress</c:v>
                </c:pt>
                <c:pt idx="2">
                  <c:v>Bulk-Fill PPO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18</c:v>
                </c:pt>
                <c:pt idx="1">
                  <c:v>24</c:v>
                </c:pt>
                <c:pt idx="2">
                  <c:v>24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 b="1">
                  <a:solidFill>
                    <a:srgbClr val="1B3255"/>
                  </a:solidFill>
                  <a:latin typeface="맑은 고딕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50">
                <a:latin typeface="맑은 고딕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6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맑은 고딕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250" b="1">
                <a:solidFill>
                  <a:srgbClr val="1B3255"/>
                </a:solidFill>
                <a:latin typeface="맑은 고딕"/>
              </a:defRPr>
            </a:pPr>
            <a:r>
              <a:t>전환 횟수 (회, 낮을수록 우수)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전환 횟수</c:v>
                </c:pt>
              </c:strCache>
            </c:strRef>
          </c:tx>
          <c:dPt>
            <c:idx val="0"/>
            <c:spPr>
              <a:solidFill>
                <a:srgbClr val="B33A3A"/>
              </a:solidFill>
            </c:spPr>
          </c:dPt>
          <c:dPt>
            <c:idx val="1"/>
            <c:spPr>
              <a:solidFill>
                <a:srgbClr val="4A6D8C"/>
              </a:solidFill>
            </c:spPr>
          </c:dPt>
          <c:dPt>
            <c:idx val="2"/>
            <c:spPr>
              <a:solidFill>
                <a:srgbClr val="2E6FB0"/>
              </a:solidFill>
            </c:spPr>
          </c:dPt>
          <c:cat>
            <c:strRef>
              <c:f>Sheet1!$A$2:$A$4</c:f>
              <c:strCache>
                <c:ptCount val="3"/>
                <c:pt idx="0">
                  <c:v>Earliest-ST</c:v>
                </c:pt>
                <c:pt idx="1">
                  <c:v>Min-Progress</c:v>
                </c:pt>
                <c:pt idx="2">
                  <c:v>Bulk-Fill PPO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</c:v>
                </c:pt>
                <c:pt idx="1">
                  <c:v>0</c:v>
                </c:pt>
                <c:pt idx="2">
                  <c:v>0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 b="1">
                  <a:solidFill>
                    <a:srgbClr val="1B3255"/>
                  </a:solidFill>
                  <a:latin typeface="맑은 고딕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50">
                <a:latin typeface="맑은 고딕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8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맑은 고딕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300" b="1">
                <a:solidFill>
                  <a:srgbClr val="1B3255"/>
                </a:solidFill>
                <a:latin typeface="맑은 고딕"/>
              </a:defRPr>
            </a:pPr>
            <a:r>
              <a:t>8종 종합 — 생산률 · 평균 가동률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생산률(%)</c:v>
                </c:pt>
              </c:strCache>
            </c:strRef>
          </c:tx>
          <c:spPr>
            <a:solidFill>
              <a:srgbClr val="2E6FB0"/>
            </a:solidFill>
          </c:spPr>
          <c:cat>
            <c:strRef>
              <c:f>Sheet1!$A$2:$A$4</c:f>
              <c:strCache>
                <c:ptCount val="3"/>
                <c:pt idx="0">
                  <c:v>Earliest-ST</c:v>
                </c:pt>
                <c:pt idx="1">
                  <c:v>Min-Progress</c:v>
                </c:pt>
                <c:pt idx="2">
                  <c:v>Bulk-Fill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67.8</c:v>
                </c:pt>
                <c:pt idx="1">
                  <c:v>80.8</c:v>
                </c:pt>
                <c:pt idx="2">
                  <c:v>93.8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평균 가동률(%)</c:v>
                </c:pt>
              </c:strCache>
            </c:strRef>
          </c:tx>
          <c:spPr>
            <a:solidFill>
              <a:srgbClr val="4A6D8C"/>
            </a:solidFill>
          </c:spPr>
          <c:cat>
            <c:strRef>
              <c:f>Sheet1!$A$2:$A$4</c:f>
              <c:strCache>
                <c:ptCount val="3"/>
                <c:pt idx="0">
                  <c:v>Earliest-ST</c:v>
                </c:pt>
                <c:pt idx="1">
                  <c:v>Min-Progress</c:v>
                </c:pt>
                <c:pt idx="2">
                  <c:v>Bulk-Fill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57.1</c:v>
                </c:pt>
                <c:pt idx="1">
                  <c:v>71.1</c:v>
                </c:pt>
                <c:pt idx="2">
                  <c:v>81.3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950" b="1">
                  <a:solidFill>
                    <a:srgbClr val="1B3255"/>
                  </a:solidFill>
                  <a:latin typeface="맑은 고딕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9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맑은 고딕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0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맑은 고딕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>
              <a:latin typeface="맑은 고딕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869680" y="0"/>
            <a:ext cx="3322015" cy="6858000"/>
          </a:xfrm>
          <a:prstGeom prst="rect">
            <a:avLst/>
          </a:prstGeom>
          <a:solidFill>
            <a:srgbClr val="162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914400"/>
            <a:ext cx="109728" cy="15544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914400"/>
            <a:ext cx="822960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9DBEE0"/>
                </a:solidFill>
                <a:latin typeface="맑은 고딕"/>
              </a:rPr>
              <a:t>설비 스케줄링 · 강화학습 적용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1" y="1417320"/>
            <a:ext cx="8412480" cy="1828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3800" b="1">
                <a:solidFill>
                  <a:srgbClr val="FFFFFF"/>
                </a:solidFill>
                <a:latin typeface="맑은 고딕"/>
              </a:rPr>
              <a:t>Bulk-Fill 강화학습 기반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3800" b="1">
                <a:solidFill>
                  <a:srgbClr val="FFFFFF"/>
                </a:solidFill>
                <a:latin typeface="맑은 고딕"/>
              </a:rPr>
              <a:t>반도체 설비 스케줄링 모델</a:t>
            </a:r>
          </a:p>
        </p:txBody>
      </p:sp>
      <p:sp>
        <p:nvSpPr>
          <p:cNvPr id="8" name="Rectangle 7"/>
          <p:cNvSpPr/>
          <p:nvPr/>
        </p:nvSpPr>
        <p:spPr>
          <a:xfrm>
            <a:off x="1078992" y="3611880"/>
            <a:ext cx="4754880" cy="18288"/>
          </a:xfrm>
          <a:prstGeom prst="rect">
            <a:avLst/>
          </a:prstGeom>
          <a:solidFill>
            <a:srgbClr val="3A55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3767328"/>
            <a:ext cx="8686800" cy="10972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C9D8E8"/>
                </a:solidFill>
                <a:latin typeface="맑은 고딕"/>
              </a:rPr>
              <a:t>MDP 모델 정의(State · Action · Reward)와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C9D8E8"/>
                </a:solidFill>
                <a:latin typeface="맑은 고딕"/>
              </a:rPr>
              <a:t>테스트 데이터 기반 알고리즘 KPI 비교 · 효과성 검증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5943600"/>
            <a:ext cx="73152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8FA6C0"/>
                </a:solidFill>
                <a:latin typeface="맑은 고딕"/>
              </a:rPr>
              <a:t>Project  pjt_scheduling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0" y="5943600"/>
            <a:ext cx="27432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8FA6C0"/>
                </a:solidFill>
                <a:latin typeface="맑은 고딕"/>
              </a:rPr>
              <a:t>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CONTENTS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목차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508760"/>
            <a:ext cx="786384" cy="786384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508760"/>
            <a:ext cx="786384" cy="7863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83080" y="1572768"/>
            <a:ext cx="96926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B3255"/>
                </a:solidFill>
                <a:latin typeface="맑은 고딕"/>
              </a:rPr>
              <a:t>문제 정의 및 시스템 구조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1368" y="1965960"/>
            <a:ext cx="96926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C6670"/>
                </a:solidFill>
                <a:latin typeface="맑은 고딕"/>
              </a:rPr>
              <a:t>스케줄링 과제 · 전환 비용 · 모듈 아키텍처와 구조적 강점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2587752"/>
            <a:ext cx="786384" cy="786384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2587752"/>
            <a:ext cx="786384" cy="7863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3080" y="2651760"/>
            <a:ext cx="96926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B3255"/>
                </a:solidFill>
                <a:latin typeface="맑은 고딕"/>
              </a:rPr>
              <a:t>Bulk-Fill MDP 모델 정의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01368" y="3044952"/>
            <a:ext cx="96926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C6670"/>
                </a:solidFill>
                <a:latin typeface="맑은 고딕"/>
              </a:rPr>
              <a:t>State · Action · Reward 상세(항목별 예시) · 마스킹 · 블록 점유 메커니즘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3666744"/>
            <a:ext cx="786384" cy="786384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666744"/>
            <a:ext cx="786384" cy="7863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83080" y="3730752"/>
            <a:ext cx="96926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B3255"/>
                </a:solidFill>
                <a:latin typeface="맑은 고딕"/>
              </a:rPr>
              <a:t>보상 산출 로직 예시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1368" y="4123944"/>
            <a:ext cx="96926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C6670"/>
                </a:solidFill>
                <a:latin typeface="맑은 고딕"/>
              </a:rPr>
              <a:t>입력 JSON · 보상 항목별 상세(8p) · 스텝별 SAR · 누적 간트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4745736"/>
            <a:ext cx="786384" cy="786384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4745736"/>
            <a:ext cx="786384" cy="7863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83080" y="4809744"/>
            <a:ext cx="96926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B3255"/>
                </a:solidFill>
                <a:latin typeface="맑은 고딕"/>
              </a:rPr>
              <a:t>알고리즘 KPI 비교 및 효과성 검증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01368" y="5202936"/>
            <a:ext cx="96926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C6670"/>
                </a:solidFill>
                <a:latin typeface="맑은 고딕"/>
              </a:rPr>
              <a:t>테스트 데이터 기반 정량 비교 · 학습 모델 효과 입증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303520" y="1828800"/>
            <a:ext cx="2743200" cy="822960"/>
          </a:xfrm>
          <a:prstGeom prst="roundRect">
            <a:avLst>
              <a:gd name="adj" fmla="val 10000"/>
            </a:avLst>
          </a:prstGeom>
          <a:solidFill>
            <a:srgbClr val="0066CC"/>
          </a:solidFill>
          <a:ln w="19050">
            <a:solidFill>
              <a:srgbClr val="9696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📊 Source Demand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94960" y="2697480"/>
            <a:ext cx="2560320" cy="365760"/>
          </a:xfrm>
          <a:prstGeom prst="rect">
            <a:avLst/>
          </a:prstGeom>
          <a:noFill/>
        </p:spPr>
        <p:txBody>
          <a:bodyPr wrap="square" bIns="63500" tIns="63500" lIns="63500" rIns="63500">
            <a:spAutoFit/>
          </a:bodyPr>
          <a:lstStyle/>
          <a:p>
            <a:pPr algn="ctr">
              <a:defRPr sz="1000" b="0">
                <a:solidFill>
                  <a:srgbClr val="3C3C3C"/>
                </a:solidFill>
              </a:defRPr>
            </a:pPr>
            <a:r>
              <a:t>context = 155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63640" y="3063240"/>
            <a:ext cx="822960" cy="365760"/>
          </a:xfrm>
          <a:prstGeom prst="roundRect">
            <a:avLst>
              <a:gd name="adj" fmla="val 10000"/>
            </a:avLst>
          </a:prstGeom>
          <a:solidFill>
            <a:srgbClr val="0066CC"/>
          </a:solidFill>
          <a:ln w="12700"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155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675120" y="3474720"/>
            <a:ext cx="0" cy="365760"/>
          </a:xfrm>
          <a:prstGeom prst="line">
            <a:avLst/>
          </a:prstGeom>
          <a:ln w="25400">
            <a:solidFill>
              <a:srgbClr val="9696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5303520" y="3794760"/>
            <a:ext cx="2743200" cy="1051560"/>
          </a:xfrm>
          <a:prstGeom prst="roundRect">
            <a:avLst>
              <a:gd name="adj" fmla="val 10000"/>
            </a:avLst>
          </a:prstGeom>
          <a:solidFill>
            <a:srgbClr val="009966"/>
          </a:solidFill>
          <a:ln w="19050">
            <a:solidFill>
              <a:srgbClr val="9696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⚙️ Alternative Equipment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94960" y="4663440"/>
            <a:ext cx="2560320" cy="548640"/>
          </a:xfrm>
          <a:prstGeom prst="rect">
            <a:avLst/>
          </a:prstGeom>
          <a:noFill/>
        </p:spPr>
        <p:txBody>
          <a:bodyPr wrap="square" bIns="63500" tIns="63500" lIns="63500" rIns="63500">
            <a:spAutoFit/>
          </a:bodyPr>
          <a:lstStyle/>
          <a:p>
            <a:pPr algn="ctr">
              <a:defRPr sz="1000" b="0">
                <a:solidFill>
                  <a:srgbClr val="3C3C3C"/>
                </a:solidFill>
              </a:defRPr>
            </a:pPr>
            <a:r>
              <a:t>EQP001 + EQP003 = 80 + 16 = 96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63640" y="4892040"/>
            <a:ext cx="822960" cy="365760"/>
          </a:xfrm>
          <a:prstGeom prst="roundRect">
            <a:avLst>
              <a:gd name="adj" fmla="val 10000"/>
            </a:avLst>
          </a:prstGeom>
          <a:solidFill>
            <a:srgbClr val="009966"/>
          </a:solidFill>
          <a:ln w="12700">
            <a:solidFill>
              <a:srgbClr val="0099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96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675120" y="5303520"/>
            <a:ext cx="0" cy="365760"/>
          </a:xfrm>
          <a:prstGeom prst="line">
            <a:avLst/>
          </a:prstGeom>
          <a:ln w="25400">
            <a:solidFill>
              <a:srgbClr val="9696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5303520" y="5897880"/>
            <a:ext cx="2743200" cy="1097280"/>
          </a:xfrm>
          <a:prstGeom prst="roundRect">
            <a:avLst>
              <a:gd name="adj" fmla="val 10000"/>
            </a:avLst>
          </a:prstGeom>
          <a:solidFill>
            <a:srgbClr val="FF9900"/>
          </a:solidFill>
          <a:ln w="19050">
            <a:solidFill>
              <a:srgbClr val="9696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📈 Coverage Fraction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94960" y="6766560"/>
            <a:ext cx="2560320" cy="640080"/>
          </a:xfrm>
          <a:prstGeom prst="rect">
            <a:avLst/>
          </a:prstGeom>
          <a:noFill/>
        </p:spPr>
        <p:txBody>
          <a:bodyPr wrap="square" bIns="63500" tIns="63500" lIns="63500" rIns="63500">
            <a:spAutoFit/>
          </a:bodyPr>
          <a:lstStyle/>
          <a:p>
            <a:pPr algn="ctr">
              <a:defRPr sz="900" b="0">
                <a:solidFill>
                  <a:srgbClr val="3C3C3C"/>
                </a:solidFill>
              </a:defRPr>
            </a:pPr>
            <a:r>
              <a:t>96 ÷ 155 = 0.619</a:t>
            </a:r>
            <a:br/>
            <a:r>
              <a:t>= min(0.619, 1.0)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263640" y="7086600"/>
            <a:ext cx="822960" cy="365760"/>
          </a:xfrm>
          <a:prstGeom prst="roundRect">
            <a:avLst>
              <a:gd name="adj" fmla="val 10000"/>
            </a:avLst>
          </a:prstGeom>
          <a:solidFill>
            <a:srgbClr val="FF9900"/>
          </a:solidFill>
          <a:ln w="12700">
            <a:solidFill>
              <a:srgbClr val="FF9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0.619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6675120" y="7498080"/>
            <a:ext cx="0" cy="365760"/>
          </a:xfrm>
          <a:prstGeom prst="line">
            <a:avLst/>
          </a:prstGeom>
          <a:ln w="25400">
            <a:solidFill>
              <a:srgbClr val="9696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5303520" y="8138160"/>
            <a:ext cx="2743200" cy="914400"/>
          </a:xfrm>
          <a:prstGeom prst="roundRect">
            <a:avLst>
              <a:gd name="adj" fmla="val 10000"/>
            </a:avLst>
          </a:prstGeom>
          <a:solidFill>
            <a:srgbClr val="CC5500"/>
          </a:solidFill>
          <a:ln w="19050">
            <a:solidFill>
              <a:srgbClr val="9696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🎯 Avoidable Fraction (α)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394960" y="9006840"/>
            <a:ext cx="2560320" cy="365760"/>
          </a:xfrm>
          <a:prstGeom prst="rect">
            <a:avLst/>
          </a:prstGeom>
          <a:noFill/>
        </p:spPr>
        <p:txBody>
          <a:bodyPr wrap="square" bIns="63500" tIns="63500" lIns="63500" rIns="63500">
            <a:spAutoFit/>
          </a:bodyPr>
          <a:lstStyle/>
          <a:p>
            <a:pPr algn="ctr">
              <a:defRPr sz="1000" b="0">
                <a:solidFill>
                  <a:srgbClr val="3C3C3C"/>
                </a:solidFill>
              </a:defRPr>
            </a:pPr>
            <a:r>
              <a:t>α = max(0.619, 0) = 0.619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263640" y="9144000"/>
            <a:ext cx="822960" cy="457200"/>
          </a:xfrm>
          <a:prstGeom prst="roundRect">
            <a:avLst>
              <a:gd name="adj" fmla="val 10000"/>
            </a:avLst>
          </a:prstGeom>
          <a:solidFill>
            <a:srgbClr val="CC5500"/>
          </a:solidFill>
          <a:ln w="31750">
            <a:solidFill>
              <a:srgbClr val="CC5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0.619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303520" y="9875520"/>
            <a:ext cx="2743200" cy="1097280"/>
          </a:xfrm>
          <a:prstGeom prst="roundRect">
            <a:avLst>
              <a:gd name="adj" fmla="val 10000"/>
            </a:avLst>
          </a:prstGeom>
          <a:solidFill>
            <a:srgbClr val="F5F5F5"/>
          </a:solidFill>
          <a:ln w="12700">
            <a:solidFill>
              <a:srgbClr val="9696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63500" bIns="63500"/>
          <a:lstStyle/>
          <a:p>
            <a:pPr algn="l">
              <a:defRPr sz="900">
                <a:solidFill>
                  <a:srgbClr val="323232"/>
                </a:solidFill>
              </a:defRPr>
            </a:pPr>
            <a:r>
              <a:t>💡 전체 Demand 155 중 96을 대체설비로 처리 가능</a:t>
            </a:r>
            <a:br/>
            <a:br/>
            <a:r>
              <a:t>→ Coverage = 96÷155 = 61.9%</a:t>
            </a:r>
            <a:br/>
            <a:r>
              <a:t>∴ avoidable_frac = 0.619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01  문제 정의 및 시스템 구조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스케줄링 과제와 전환(Conversion) 비용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325880"/>
            <a:ext cx="1060704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222A33"/>
                </a:solidFill>
                <a:latin typeface="맑은 고딕"/>
              </a:rPr>
              <a:t>설비가 유휴 상태가 될 때마다 </a:t>
            </a:r>
            <a:r>
              <a:rPr sz="1400" b="1">
                <a:solidFill>
                  <a:srgbClr val="1B3255"/>
                </a:solidFill>
                <a:latin typeface="맑은 고딕"/>
              </a:rPr>
              <a:t>어떤 제품·공정(PPK·OPER)을 투입할지</a:t>
            </a:r>
            <a:r>
              <a:rPr sz="1400" b="0">
                <a:solidFill>
                  <a:srgbClr val="222A33"/>
                </a:solidFill>
                <a:latin typeface="맑은 고딕"/>
              </a:rPr>
              <a:t> 결정하는 순차적 의사결정 문제입니다.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057400"/>
            <a:ext cx="525780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057400"/>
            <a:ext cx="525780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핵심 난점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2514600"/>
            <a:ext cx="5257800" cy="26974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2697480"/>
            <a:ext cx="4846320" cy="2377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2E6FB0"/>
                </a:solidFill>
                <a:latin typeface="맑은 고딕"/>
              </a:rPr>
              <a:t>▪  </a:t>
            </a:r>
            <a:r>
              <a:rPr sz="1280" b="1">
                <a:solidFill>
                  <a:srgbClr val="1B3255"/>
                </a:solidFill>
                <a:latin typeface="맑은 고딕"/>
              </a:rPr>
              <a:t>제품 전환마다 셋업 손실</a:t>
            </a:r>
            <a:r>
              <a:rPr sz="1230" b="0">
                <a:solidFill>
                  <a:srgbClr val="5C6670"/>
                </a:solidFill>
                <a:latin typeface="맑은 고딕"/>
              </a:rPr>
              <a:t>   LOT_CD/TEMP가 바뀌면 전환(conversion) 시간이 발생해 그만큼 가동 시간이 사라집니다.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2E6FB0"/>
                </a:solidFill>
                <a:latin typeface="맑은 고딕"/>
              </a:rPr>
              <a:t>▪  </a:t>
            </a:r>
            <a:r>
              <a:rPr sz="1280" b="1">
                <a:solidFill>
                  <a:srgbClr val="1B3255"/>
                </a:solidFill>
                <a:latin typeface="맑은 고딕"/>
              </a:rPr>
              <a:t>계획·재공·설비 제약 동시 고려</a:t>
            </a:r>
            <a:r>
              <a:rPr sz="1230" b="0">
                <a:solidFill>
                  <a:srgbClr val="5C6670"/>
                </a:solidFill>
                <a:latin typeface="맑은 고딕"/>
              </a:rPr>
              <a:t>   계획량, 가용 재공(WIP), 설비-제품 적합성, 동시 가공 공구(tool) 한도를 함께 만족해야 합니다.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2E6FB0"/>
                </a:solidFill>
                <a:latin typeface="맑은 고딕"/>
              </a:rPr>
              <a:t>▪  </a:t>
            </a:r>
            <a:r>
              <a:rPr sz="1280" b="1">
                <a:solidFill>
                  <a:srgbClr val="1B3255"/>
                </a:solidFill>
                <a:latin typeface="맑은 고딕"/>
              </a:rPr>
              <a:t>근시안적 1매 배정의 한계</a:t>
            </a:r>
            <a:r>
              <a:rPr sz="1230" b="0">
                <a:solidFill>
                  <a:srgbClr val="5C6670"/>
                </a:solidFill>
                <a:latin typeface="맑은 고딕"/>
              </a:rPr>
              <a:t>   유휴 설비에 1캐리어씩만 배정하면 같은 셋업을 길게 이어가지 못해 전환이 잦아집니다.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55080" y="2057400"/>
            <a:ext cx="498348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2057400"/>
            <a:ext cx="49834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전환 비용의 정량적 의미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55080" y="2514600"/>
            <a:ext cx="4983480" cy="26974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0" y="2697480"/>
            <a:ext cx="457200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5C6670"/>
                </a:solidFill>
                <a:latin typeface="맑은 고딕"/>
              </a:rPr>
              <a:t>처리시간 = 전환시간 = 60분, 가동 8시간 기준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0" y="3200400"/>
            <a:ext cx="452628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0" y="3200400"/>
            <a:ext cx="4526280" cy="8686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1B3255"/>
                </a:solidFill>
                <a:latin typeface="맑은 고딕"/>
              </a:rPr>
              <a:t>전환 1회  =  캐리어 1개 손실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5C6670"/>
                </a:solidFill>
                <a:latin typeface="맑은 고딕"/>
              </a:rPr>
              <a:t>설비당 8캐리어 처리 가능 → 전환 n회 시 (8 − n)개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4206240"/>
            <a:ext cx="4572000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222A33"/>
                </a:solidFill>
                <a:latin typeface="맑은 고딕"/>
              </a:rPr>
              <a:t>전환 비용이 </a:t>
            </a:r>
            <a:r>
              <a:rPr sz="1250" b="1">
                <a:solidFill>
                  <a:srgbClr val="B33A3A"/>
                </a:solidFill>
                <a:latin typeface="맑은 고딕"/>
              </a:rPr>
              <a:t>생산 수량 손실로 직접 환산</a:t>
            </a:r>
            <a:r>
              <a:rPr sz="1250" b="0">
                <a:solidFill>
                  <a:srgbClr val="222A33"/>
                </a:solidFill>
                <a:latin typeface="맑은 고딕"/>
              </a:rPr>
              <a:t>되므로, 전환 최소화가 곧 처리량 극대화로 이어집니다.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5440680"/>
            <a:ext cx="10515600" cy="77724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" y="5440680"/>
            <a:ext cx="10058400" cy="7772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9DBEE0"/>
                </a:solidFill>
                <a:latin typeface="맑은 고딕"/>
              </a:rPr>
              <a:t>설계 목표  </a:t>
            </a:r>
            <a:r>
              <a:rPr sz="1350" b="0">
                <a:solidFill>
                  <a:srgbClr val="FFFFFF"/>
                </a:solidFill>
                <a:latin typeface="맑은 고딕"/>
              </a:rPr>
              <a:t>재공이 충분하면 takt에 맞춰 균등 생산하고, 편중되면 몰린 공정에 집중하되 </a:t>
            </a:r>
            <a:r>
              <a:rPr sz="1350" b="1">
                <a:solidFill>
                  <a:srgbClr val="FFFFFF"/>
                </a:solidFill>
                <a:latin typeface="맑은 고딕"/>
              </a:rPr>
              <a:t>불필요한 전환은 회피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01  문제 정의 및 시스템 구조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모듈 아키텍처 — 데이터에서 추론·시각화까지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04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54480"/>
            <a:ext cx="2084831" cy="45720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data/loader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011680"/>
            <a:ext cx="2084831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121408"/>
            <a:ext cx="1938527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데이터 적재·전처리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542032"/>
            <a:ext cx="1938527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Oracle·JSON → env_data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(arrange·plan·flow·tool)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2656332" y="2267712"/>
            <a:ext cx="182879" cy="38404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816352" y="1554480"/>
            <a:ext cx="2084831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simulation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816352" y="2011680"/>
            <a:ext cx="2084831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889504" y="2121408"/>
            <a:ext cx="1938527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이산사건 시뮬레이터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89504" y="2542032"/>
            <a:ext cx="1938527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DES 엔진·상태/보상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LOT·EQP 규칙 배정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4905755" y="2267712"/>
            <a:ext cx="182879" cy="38404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65776" y="1554480"/>
            <a:ext cx="2084831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env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65776" y="2011680"/>
            <a:ext cx="2084831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38928" y="2121408"/>
            <a:ext cx="1938527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Gym 환경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38928" y="2542032"/>
            <a:ext cx="1938527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SchedulingEnv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BulkFillEnv(마스킹)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7155180" y="2267712"/>
            <a:ext cx="182879" cy="38404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15200" y="1554480"/>
            <a:ext cx="2084831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agent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0" y="2011680"/>
            <a:ext cx="2084831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88352" y="2121408"/>
            <a:ext cx="1938527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정책·휴리스틱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88352" y="2542032"/>
            <a:ext cx="1938527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PPO(학습)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Min-Progress·Earliest-ST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9404604" y="2267712"/>
            <a:ext cx="182879" cy="38404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564624" y="1554480"/>
            <a:ext cx="2084831" cy="45720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inference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64624" y="2011680"/>
            <a:ext cx="2084831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637776" y="2121408"/>
            <a:ext cx="1938527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추론·결과 출력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37776" y="2542032"/>
            <a:ext cx="1938527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스케줄·KPI·전환계획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output.json / DB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" y="3657600"/>
            <a:ext cx="11064240" cy="18288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66928" y="3886200"/>
            <a:ext cx="2706624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66928" y="3886200"/>
            <a:ext cx="73152" cy="9144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49808" y="3986784"/>
            <a:ext cx="2432304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config.py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9808" y="4334256"/>
            <a:ext cx="2414016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환경 축(O·P·K)·보상 가중치·경로 설정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355848" y="3886200"/>
            <a:ext cx="2706624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355848" y="3886200"/>
            <a:ext cx="73152" cy="9144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538728" y="3986784"/>
            <a:ext cx="2432304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api · frontend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38728" y="4334256"/>
            <a:ext cx="2414016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FastAPI + React 대시보드 · 간트/KPI 시각화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144768" y="3886200"/>
            <a:ext cx="2706624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144768" y="3886200"/>
            <a:ext cx="73152" cy="9144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27648" y="3986784"/>
            <a:ext cx="2432304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benchmark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27648" y="4334256"/>
            <a:ext cx="2414016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직관형 검증 데이터셋(CONV_BENCH) 생성·평가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933688" y="3886200"/>
            <a:ext cx="2706624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933688" y="3886200"/>
            <a:ext cx="73152" cy="9144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116567" y="3986784"/>
            <a:ext cx="2432304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models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116567" y="4334256"/>
            <a:ext cx="2414016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PPO 체크포인트(rl · bulkfill 분리 저장)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66928" y="5074920"/>
            <a:ext cx="11064240" cy="114300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77240" y="5175504"/>
            <a:ext cx="1069848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6FB0"/>
                </a:solidFill>
                <a:latin typeface="맑은 고딕"/>
              </a:rPr>
              <a:t>설계 포인트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77240" y="5522976"/>
            <a:ext cx="10789920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222A33"/>
                </a:solidFill>
                <a:latin typeface="맑은 고딕"/>
              </a:rPr>
              <a:t>정책(RL)은 </a:t>
            </a:r>
            <a:r>
              <a:rPr sz="1250" b="1">
                <a:solidFill>
                  <a:srgbClr val="1B3255"/>
                </a:solidFill>
                <a:latin typeface="맑은 고딕"/>
              </a:rPr>
              <a:t>(PPK, OPER) 버킷 선택에만 집중</a:t>
            </a:r>
            <a:r>
              <a:rPr sz="1250" b="0">
                <a:solidFill>
                  <a:srgbClr val="222A33"/>
                </a:solidFill>
                <a:latin typeface="맑은 고딕"/>
              </a:rPr>
              <a:t>하고, LOT·EQP 세부 배정과 이산사건 무결성은 시뮬레이터 규칙이 보장합니다. </a:t>
            </a:r>
            <a:r>
              <a:rPr sz="1250" b="1">
                <a:solidFill>
                  <a:srgbClr val="1B3255"/>
                </a:solidFill>
                <a:latin typeface="맑은 고딕"/>
              </a:rPr>
              <a:t>행동 공간을 작게 유지</a:t>
            </a:r>
            <a:r>
              <a:rPr sz="1250" b="0">
                <a:solidFill>
                  <a:srgbClr val="222A33"/>
                </a:solidFill>
                <a:latin typeface="맑은 고딕"/>
              </a:rPr>
              <a:t>해 학습이 안정적이며, 시뮬레이터·환경·정책이 느슨하게 결합되어 휴리스틱과 동일 조건에서 비교할 수 있습니다.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01  문제 정의 및 시스템 구조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구조적 특징과 강점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05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417320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1417320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1618488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이산사건 시뮬레이션 기반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093976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설비 배정 즉시 busy 전환·종료 이벤트로 진행하는 DES로 실제 라인 동작에 부합하는 일정·전환을 재현합니다.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120" y="1417320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89120" y="1417320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1618488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벌크 점유(Bulk-Fill) 행동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093976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정책이 (버킷 + 블록 크기)를 함께 선택해 같은 셋업으로 N캐리어를 연속 점유 → 전환 빈도를 구조적으로 억제합니다.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55280" y="1417320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55280" y="1417320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38160" y="1618488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행동 마스킹(MaskablePPO)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0" y="2093976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유효하지 않은 (PPK·OPER)·블록 크기는 마스크로 차단해 무효 행동 탐색을 제거하고 학습 효율을 높입니다.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3081528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22960" y="3081528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3282696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계획·재공 적응형 보상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" y="3758184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고정 계획이 아닌 달성가능 상한(achievable) 기준 takt를 추종해 재공 한계 내에서만 페이싱합니다.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89120" y="3081528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89120" y="3081528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0" y="3282696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전환 비용의 정량 모델링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3758184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전환 1회=설비 가동 손실로 환산해 회피가능 전환에 추가 패널티를 부여, 불필요한 셋업 변경을 억제합니다.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955280" y="3081528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955280" y="3081528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38160" y="3282696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동일 조건 알고리즘 비교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38160" y="3758184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PPO·휴리스틱이 같은 시뮬레이터·KPI로 평가되어 효과를 객관적으로 검증할 수 있습니다.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22960" y="4754880"/>
            <a:ext cx="10515600" cy="141732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97280" y="4882896"/>
            <a:ext cx="100584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9DBEE0"/>
                </a:solidFill>
                <a:latin typeface="맑은 고딕"/>
              </a:rPr>
              <a:t>요약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7280" y="5212080"/>
            <a:ext cx="10058400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맑은 고딕"/>
              </a:rPr>
              <a:t>작은 행동 공간 · 마스킹 · 벌크 점유</a:t>
            </a:r>
            <a:r>
              <a:rPr sz="1300" b="0">
                <a:solidFill>
                  <a:srgbClr val="D7E2EE"/>
                </a:solidFill>
                <a:latin typeface="맑은 고딕"/>
              </a:rPr>
              <a:t>를 결합해 전환을 줄이면서 계획을 추종하도록 설계했으며, 이산사건 시뮬레이터 위에서 </a:t>
            </a:r>
            <a:r>
              <a:rPr sz="1350" b="1">
                <a:solidFill>
                  <a:srgbClr val="FFFFFF"/>
                </a:solidFill>
                <a:latin typeface="맑은 고딕"/>
              </a:rPr>
              <a:t>휴리스틱과 1:1로 비교 가능한 검증 체계</a:t>
            </a:r>
            <a:r>
              <a:rPr sz="1300" b="0">
                <a:solidFill>
                  <a:srgbClr val="D7E2EE"/>
                </a:solidFill>
                <a:latin typeface="맑은 고딕"/>
              </a:rPr>
              <a:t>를 갖췄습니다.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강화학습 의사결정 구조 (MDP) 개요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280160"/>
            <a:ext cx="106070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222A33"/>
                </a:solidFill>
                <a:latin typeface="맑은 고딕"/>
              </a:rPr>
              <a:t>매 유휴 설비 결정 시점을 1 스텝으로 보고, </a:t>
            </a:r>
            <a:r>
              <a:rPr sz="1350" b="1">
                <a:solidFill>
                  <a:srgbClr val="1B3255"/>
                </a:solidFill>
                <a:latin typeface="맑은 고딕"/>
              </a:rPr>
              <a:t>상태(State) → 행동(Action) → 보상(Reward)</a:t>
            </a:r>
            <a:r>
              <a:rPr sz="1350" b="0">
                <a:solidFill>
                  <a:srgbClr val="222A33"/>
                </a:solidFill>
                <a:latin typeface="맑은 고딕"/>
              </a:rPr>
              <a:t> 순환으로 정책을 학습합니다.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5840" y="2057400"/>
            <a:ext cx="3017520" cy="105156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정책 (Agent)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MaskablePPO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38160" y="2057400"/>
            <a:ext cx="3017520" cy="105156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환경 (Environment)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이산사건 시뮬레이터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114800" y="2240280"/>
            <a:ext cx="3931920" cy="365760"/>
          </a:xfrm>
          <a:prstGeom prst="right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0" y="1883664"/>
            <a:ext cx="393192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B3255"/>
                </a:solidFill>
                <a:latin typeface="맑은 고딕"/>
              </a:rPr>
              <a:t>행동 a : (버킷, 블록크기)</a:t>
            </a:r>
          </a:p>
        </p:txBody>
      </p:sp>
      <p:sp>
        <p:nvSpPr>
          <p:cNvPr id="15" name="Left Arrow 14"/>
          <p:cNvSpPr/>
          <p:nvPr/>
        </p:nvSpPr>
        <p:spPr>
          <a:xfrm>
            <a:off x="4114800" y="2743200"/>
            <a:ext cx="3931920" cy="365760"/>
          </a:xfrm>
          <a:prstGeom prst="left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0" y="3127248"/>
            <a:ext cx="393192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B3255"/>
                </a:solidFill>
                <a:latin typeface="맑은 고딕"/>
              </a:rPr>
              <a:t>상태 s′ · 보상 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3749039"/>
            <a:ext cx="3456432" cy="214884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60" y="3749039"/>
            <a:ext cx="3456432" cy="50292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749039"/>
            <a:ext cx="3456432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State  (관측)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7552" y="4434840"/>
            <a:ext cx="3127248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B3255"/>
                </a:solidFill>
                <a:latin typeface="맑은 고딕"/>
              </a:rPr>
              <a:t>1,814차원 벡터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280160" y="5029200"/>
            <a:ext cx="2542032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5138928"/>
            <a:ext cx="3090672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180" b="0">
                <a:solidFill>
                  <a:srgbClr val="5C6670"/>
                </a:solidFill>
                <a:latin typeface="맑은 고딕"/>
              </a:rPr>
              <a:t>전역 6 + 버킷 O×P×K×12 + 설비 4 + 맥락 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53128" y="3749039"/>
            <a:ext cx="3456432" cy="214884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453128" y="3749039"/>
            <a:ext cx="3456432" cy="50292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53128" y="3749039"/>
            <a:ext cx="3456432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17720" y="4434840"/>
            <a:ext cx="3127248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B3255"/>
                </a:solidFill>
                <a:latin typeface="맑은 고딕"/>
              </a:rPr>
              <a:t>MultiDiscrete([O·P, L])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910328" y="5029200"/>
            <a:ext cx="2542032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636008" y="5138928"/>
            <a:ext cx="3090672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180" b="0">
                <a:solidFill>
                  <a:srgbClr val="5C6670"/>
                </a:solidFill>
                <a:latin typeface="맑은 고딕"/>
              </a:rPr>
              <a:t>투입할 (PPK·OPER) 버킷 + 블록 크기 레벨 4단계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83296" y="3749039"/>
            <a:ext cx="3456432" cy="214884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083296" y="3749039"/>
            <a:ext cx="3456432" cy="50292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83296" y="3749039"/>
            <a:ext cx="3456432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Reward  (보상)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47888" y="4434840"/>
            <a:ext cx="3127248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B3255"/>
                </a:solidFill>
                <a:latin typeface="맑은 고딕"/>
              </a:rPr>
              <a:t>전환·페이싱·벌크 합산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540496" y="5029200"/>
            <a:ext cx="2542032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66175" y="5138928"/>
            <a:ext cx="3090672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180" b="0">
                <a:solidFill>
                  <a:srgbClr val="5C6670"/>
                </a:solidFill>
                <a:latin typeface="맑은 고딕"/>
              </a:rPr>
              <a:t>전환 회피 + takt 추종 + 큰 블록 점유 유도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— 관측 공간 정의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280160"/>
            <a:ext cx="106070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222A33"/>
                </a:solidFill>
                <a:latin typeface="맑은 고딕"/>
              </a:rPr>
              <a:t>관측은 [0,1]로 정규화된 </a:t>
            </a:r>
            <a:r>
              <a:rPr sz="1350" b="1">
                <a:solidFill>
                  <a:srgbClr val="1B3255"/>
                </a:solidFill>
                <a:latin typeface="맑은 고딕"/>
              </a:rPr>
              <a:t>1,964차원 Box 벡터</a:t>
            </a:r>
            <a:r>
              <a:rPr sz="1300" b="0">
                <a:solidFill>
                  <a:srgbClr val="5C6670"/>
                </a:solidFill>
                <a:latin typeface="맑은 고딕"/>
              </a:rPr>
              <a:t> 입니다.  (O=3, P=10, K=5, 버킷 채널 F=13 기준)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874519"/>
            <a:ext cx="10515600" cy="603504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1874519"/>
            <a:ext cx="10515600" cy="60350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FFFFFF"/>
                </a:solidFill>
                <a:latin typeface="맑은 고딕"/>
              </a:rPr>
              <a:t>obs_dim = 6 (전역)  +  O×P×K×13 (버킷)  +  4 (현재 설비)  +  4 (직전 맥락)  =  1,964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2606040"/>
            <a:ext cx="5166360" cy="146304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2960" y="2606040"/>
            <a:ext cx="516636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2679192"/>
            <a:ext cx="3099816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전역 상태 (Global)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23360" y="2679192"/>
            <a:ext cx="1828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6 차원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3081528"/>
            <a:ext cx="4800600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222A33"/>
                </a:solidFill>
                <a:latin typeface="맑은 고딕"/>
              </a:rPr>
              <a:t>경과시간 · 잔여 takt여유 · 재공 소진율 · 계획 달성률 · 전환대기 설비 비율 · 공구 가동률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72200" y="2606040"/>
            <a:ext cx="5166360" cy="146304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72200" y="2606040"/>
            <a:ext cx="516636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2679192"/>
            <a:ext cx="3099816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버킷 특징 (Bucket)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72600" y="2679192"/>
            <a:ext cx="1828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1,950 차원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3081528"/>
            <a:ext cx="4800600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222A33"/>
                </a:solidFill>
                <a:latin typeface="맑은 고딕"/>
              </a:rPr>
              <a:t>(OPER×PPK×MODEL) 격자 13채널: WIP비중·takt·ST·urgency·전환/공구·달성가능·투영커버·소진시간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4251960"/>
            <a:ext cx="5166360" cy="146304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22960" y="4251960"/>
            <a:ext cx="5166360" cy="384048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0120" y="4325112"/>
            <a:ext cx="3099816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현재 설비 (EQP local)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23360" y="4325112"/>
            <a:ext cx="1828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4 차원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4727448"/>
            <a:ext cx="4800600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222A33"/>
                </a:solidFill>
                <a:latin typeface="맑은 고딕"/>
              </a:rPr>
              <a:t>전환 필요 · 회피가능 α · 직전 PPK · 직전 OPER (same_setup 정렬)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72200" y="4251960"/>
            <a:ext cx="5166360" cy="146304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72200" y="4251960"/>
            <a:ext cx="5166360" cy="384048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09360" y="4325112"/>
            <a:ext cx="3099816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직전 맥락 (Context)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72600" y="4325112"/>
            <a:ext cx="1828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4 차원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5080" y="4727448"/>
            <a:ext cx="4800600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222A33"/>
                </a:solidFill>
                <a:latin typeface="맑은 고딕"/>
              </a:rPr>
              <a:t>직전 배정의 PPK · OPER · EQP · LOT_CD (정규화 인덱스)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5989320"/>
            <a:ext cx="105156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6FB0"/>
                </a:solidFill>
                <a:latin typeface="맑은 고딕"/>
              </a:rPr>
              <a:t>다음 </a:t>
            </a:r>
            <a:r>
              <a:rPr sz="1250" b="1">
                <a:solidFill>
                  <a:srgbClr val="1B3255"/>
                </a:solidFill>
                <a:latin typeface="맑은 고딕"/>
              </a:rPr>
              <a:t>4개 State 블록</a:t>
            </a:r>
            <a:r>
              <a:rPr sz="1250" b="0">
                <a:solidFill>
                  <a:srgbClr val="222A33"/>
                </a:solidFill>
                <a:latin typeface="맑은 고딕"/>
              </a:rPr>
              <a:t>을 항목별 상세(채널 정의·실측 산출식 값)로 설명합니다. </a:t>
            </a:r>
            <a:r>
              <a:rPr sz="1250" b="1">
                <a:solidFill>
                  <a:srgbClr val="1B3255"/>
                </a:solidFill>
                <a:latin typeface="맑은 고딕"/>
              </a:rPr>
              <a:t>버킷 채널</a:t>
            </a:r>
            <a:r>
              <a:rPr sz="1250" b="0">
                <a:solidFill>
                  <a:srgbClr val="5C6670"/>
                </a:solidFill>
                <a:latin typeface="맑은 고딕"/>
              </a:rPr>
              <a:t>이 전환 회피·페이싱 판단의 근거가 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항목 — 전역 상태 (Global)  (obs[0:6])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08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5504688" cy="8686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207008"/>
            <a:ext cx="73152" cy="8686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1298448"/>
            <a:ext cx="5184648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6FB0"/>
                </a:solidFill>
                <a:latin typeface="맑은 고딕"/>
              </a:rPr>
              <a:t>쉬운 설명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222A33"/>
                </a:solidFill>
                <a:latin typeface="맑은 고딕"/>
              </a:rPr>
              <a:t>라인 전체 상황 — 시간·takt 여유·재공·계획·전환·공구를 6개 숫자로 요약합니다.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99631" y="1207008"/>
            <a:ext cx="5504688" cy="86868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99631" y="1207008"/>
            <a:ext cx="73152" cy="86868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9944" y="1298448"/>
            <a:ext cx="5184648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4A6D8C"/>
                </a:solidFill>
                <a:latin typeface="맑은 고딕"/>
              </a:rPr>
              <a:t>핵심 목적 (필요성)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정책이 "지금 몇 시쯤인지, 얼마나 급한지"를 전역적으로 파악하게 합니다.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212848"/>
            <a:ext cx="77724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인덱스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280160" y="2212848"/>
            <a:ext cx="105156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이름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31720" y="2212848"/>
            <a:ext cx="173736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의미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69080" y="2212848"/>
            <a:ext cx="146304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실측치 (Step 1)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2578608"/>
            <a:ext cx="7772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obs[0]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280160" y="2578608"/>
            <a:ext cx="10515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time_norm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331720" y="2578608"/>
            <a:ext cx="17373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시뮬 경과 비율 (0=시작, 1=종료)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69080" y="2578608"/>
            <a:ext cx="14630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min(0/480, 1) = 0.0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054096"/>
            <a:ext cx="7772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obs[1]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280160" y="3054096"/>
            <a:ext cx="10515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takt_margin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331720" y="3054096"/>
            <a:ext cx="17373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남은 horizon 여유 (1→여유 많음)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069080" y="3054096"/>
            <a:ext cx="14630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= 1.0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3529584"/>
            <a:ext cx="7772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obs[2]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280160" y="3529584"/>
            <a:ext cx="10515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remaining_lots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331720" y="3529584"/>
            <a:ext cx="17373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미배정 재공 비율 (↓=소진)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069080" y="3529584"/>
            <a:ext cx="14630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= 1.0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4005072"/>
            <a:ext cx="7772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obs[3]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80160" y="4005072"/>
            <a:ext cx="10515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plan_progress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331720" y="4005072"/>
            <a:ext cx="17373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전체 계획 달성률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069080" y="4005072"/>
            <a:ext cx="14630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min(0/24, 1) = 0.0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4480560"/>
            <a:ext cx="7772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obs[4]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280160" y="4480560"/>
            <a:ext cx="10515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conv_idle_ratio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331720" y="4480560"/>
            <a:ext cx="17373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셋업 바꾸느라 대기 중인 설비 비율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069080" y="4480560"/>
            <a:ext cx="14630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= 0.0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2920" y="4956048"/>
            <a:ext cx="7772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obs[5]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280160" y="4956048"/>
            <a:ext cx="10515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tool_util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331720" y="4956048"/>
            <a:ext cx="17373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tool cap 포화 정도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069080" y="4956048"/>
            <a:ext cx="14630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= 0.0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897880" y="2212848"/>
            <a:ext cx="5806440" cy="379476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080760" y="2350008"/>
            <a:ext cx="544068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전역 모니터링 메트릭스 (인포그래픽)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80760" y="2761488"/>
            <a:ext cx="544068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1. 시뮬레이션 경과 시간 (time_norm)</a:t>
            </a:r>
            <a:r>
              <a:rPr sz="900" b="0">
                <a:solidFill>
                  <a:srgbClr val="5C6670"/>
                </a:solidFill>
                <a:latin typeface="맑은 고딕"/>
              </a:rPr>
              <a:t>  min(t / sim_end, 1)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080760" y="3035808"/>
            <a:ext cx="347472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080760" y="3035808"/>
            <a:ext cx="2258568" cy="20116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692640" y="3008376"/>
            <a:ext cx="182880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65%  (t=936 / 1440)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080760" y="3538728"/>
            <a:ext cx="544068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2. 납기 시간 마진 (takt_margin)</a:t>
            </a:r>
            <a:r>
              <a:rPr sz="900" b="0">
                <a:solidFill>
                  <a:srgbClr val="5C6670"/>
                </a:solidFill>
                <a:latin typeface="맑은 고딕"/>
              </a:rPr>
              <a:t>  (soft_cutoff − t) / soft_cutoff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080760" y="3813048"/>
            <a:ext cx="347472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080760" y="3813048"/>
            <a:ext cx="1216151" cy="20116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692640" y="3785616"/>
            <a:ext cx="182880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35%  (남은 시간 여유 35%)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080760" y="4315968"/>
            <a:ext cx="544068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3. 전체 계획 달성률 (plan_progress)</a:t>
            </a:r>
            <a:r>
              <a:rPr sz="900" b="0">
                <a:solidFill>
                  <a:srgbClr val="5C6670"/>
                </a:solidFill>
                <a:latin typeface="맑은 고딕"/>
              </a:rPr>
              <a:t>  Σ완료 / Σ계획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080760" y="4590288"/>
            <a:ext cx="347472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6080760" y="4590288"/>
            <a:ext cx="1911095" cy="20116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692640" y="4562856"/>
            <a:ext cx="182880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55%  (생산 달성 55%)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080760" y="5093207"/>
            <a:ext cx="544068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4. 공구 가동 사용률 (tool_util)</a:t>
            </a:r>
            <a:r>
              <a:rPr sz="900" b="0">
                <a:solidFill>
                  <a:srgbClr val="5C6670"/>
                </a:solidFill>
                <a:latin typeface="맑은 고딕"/>
              </a:rPr>
              <a:t>  utilization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080760" y="5367527"/>
            <a:ext cx="347472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6080760" y="5367527"/>
            <a:ext cx="1563624" cy="20116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692640" y="5340096"/>
            <a:ext cx="182880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45%  (동시 점유 공구 45%)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항목 — 버킷 특징 (Bucket)  (obs[6 : 6 + O×P×10 + O×P×K×3])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09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5504688" cy="8686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207008"/>
            <a:ext cx="73152" cy="8686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1298448"/>
            <a:ext cx="5184648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6FB0"/>
                </a:solidFill>
                <a:latin typeface="맑은 고딕"/>
              </a:rPr>
              <a:t>쉬운 설명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222A33"/>
                </a:solidFill>
                <a:latin typeface="맑은 고딕"/>
              </a:rPr>
              <a:t>(OPER×PPK×모델) 격자마다 13채널 — "이 버킷을 지금 잡으면 시급·전환·중복인가"를 알려줍니다.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99631" y="1207008"/>
            <a:ext cx="5504688" cy="86868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99631" y="1207008"/>
            <a:ext cx="73152" cy="86868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9944" y="1298448"/>
            <a:ext cx="5184648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4A6D8C"/>
                </a:solidFill>
                <a:latin typeface="맑은 고딕"/>
              </a:rPr>
              <a:t>핵심 목적 (필요성)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보상(페이싱·중복커버·전환) 판단의 근거가 되는 핵심 특징입니다.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212848"/>
            <a:ext cx="77724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인덱스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280160" y="2212848"/>
            <a:ext cx="105156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이름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31720" y="2212848"/>
            <a:ext cx="173736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의미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69080" y="2212848"/>
            <a:ext cx="146304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실측치 (Step 1)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2578608"/>
            <a:ext cx="777240" cy="3789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ch0-1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280160" y="2578608"/>
            <a:ext cx="1051560" cy="3789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wip_비중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331720" y="2578608"/>
            <a:ext cx="1737360" cy="3789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재공이 이 버킷에 얼마나 몰려있나 (전체 대비 / 같은 제품 대비)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69080" y="2578608"/>
            <a:ext cx="1463040" cy="3789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—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2957576"/>
            <a:ext cx="777240" cy="3789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ch2-3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280160" y="2957576"/>
            <a:ext cx="1051560" cy="3789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prev/post_takt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331720" y="2957576"/>
            <a:ext cx="1737360" cy="3789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상류(이전공정)·하류(다음공정) 기준 요구 속도 — 수요 vs 설비capa 중 더 빠듯한 쪽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069080" y="2957576"/>
            <a:ext cx="1463040" cy="3789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—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3336543"/>
            <a:ext cx="777240" cy="3789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ch4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280160" y="3336543"/>
            <a:ext cx="1051560" cy="3789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self_st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331720" y="3336543"/>
            <a:ext cx="1737360" cy="3789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이 (PPK×OPER×MODEL) per-wafer 처리시간(정규화)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069080" y="3336543"/>
            <a:ext cx="1463040" cy="3789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—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3715512"/>
            <a:ext cx="777240" cy="3789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ch5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80160" y="3715512"/>
            <a:ext cx="1051560" cy="3789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plan_urgency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331720" y="3715512"/>
            <a:ext cx="1737360" cy="3789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남은 계획 대비 시간 압박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069080" y="3715512"/>
            <a:ext cx="1463040" cy="3789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—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4094480"/>
            <a:ext cx="777240" cy="3789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ch8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280160" y="4094480"/>
            <a:ext cx="1051560" cy="3789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needs_conversion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331720" y="4094480"/>
            <a:ext cx="1737360" cy="3789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이 버킷 잡으면 셋업 변경?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069080" y="4094480"/>
            <a:ext cx="1463040" cy="3789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2920" y="4473448"/>
            <a:ext cx="777240" cy="3789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ch9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280160" y="4473448"/>
            <a:ext cx="1051560" cy="3789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tool_can_assign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331720" y="4473448"/>
            <a:ext cx="1737360" cy="3789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tool cap 통과 여부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069080" y="4473448"/>
            <a:ext cx="1463040" cy="3789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—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4852416"/>
            <a:ext cx="777240" cy="3789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ch10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280160" y="4852416"/>
            <a:ext cx="1051560" cy="3789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achievable_ratio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331720" y="4852416"/>
            <a:ext cx="1737360" cy="3789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재공 한도 내 달성 가능한 상한 비율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069080" y="4852416"/>
            <a:ext cx="1463040" cy="3789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5231384"/>
            <a:ext cx="777240" cy="3789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ch11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280160" y="5231384"/>
            <a:ext cx="1051560" cy="3789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projected_cover_ratio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331720" y="5231384"/>
            <a:ext cx="1737360" cy="3789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중복 커버 신호 — 클수록 다른 설비가 이미 커버 중(회피 유도)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069080" y="5231384"/>
            <a:ext cx="1463040" cy="3789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—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" y="5610352"/>
            <a:ext cx="777240" cy="3789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ch12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280160" y="5610352"/>
            <a:ext cx="1051560" cy="3789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starve_time_norm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331720" y="5610352"/>
            <a:ext cx="1737360" cy="3789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안전재공 소진 시간 (몇 시간 후 재공이 말라 안전재공이 사라지는지)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069080" y="5610352"/>
            <a:ext cx="1463040" cy="3789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—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897880" y="2212848"/>
            <a:ext cx="5806440" cy="379476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080760" y="2322576"/>
            <a:ext cx="544068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버킷 (OPER × PPK × MODEL) 의사결정 흐름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080760" y="2807208"/>
            <a:ext cx="1463040" cy="50292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상류 공정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(prev_takt)</a:t>
            </a:r>
          </a:p>
        </p:txBody>
      </p:sp>
      <p:sp>
        <p:nvSpPr>
          <p:cNvPr id="59" name="Right Arrow 58"/>
          <p:cNvSpPr/>
          <p:nvPr/>
        </p:nvSpPr>
        <p:spPr>
          <a:xfrm>
            <a:off x="7635240" y="2926080"/>
            <a:ext cx="320040" cy="228600"/>
          </a:xfrm>
          <a:prstGeom prst="right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8046720" y="2743200"/>
            <a:ext cx="1645920" cy="6400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현재 버킷</a:t>
            </a:r>
          </a:p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(wip_비중 / urgency)</a:t>
            </a:r>
          </a:p>
        </p:txBody>
      </p:sp>
      <p:sp>
        <p:nvSpPr>
          <p:cNvPr id="61" name="Right Arrow 60"/>
          <p:cNvSpPr/>
          <p:nvPr/>
        </p:nvSpPr>
        <p:spPr>
          <a:xfrm>
            <a:off x="9784080" y="2926080"/>
            <a:ext cx="320040" cy="228600"/>
          </a:xfrm>
          <a:prstGeom prst="right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10195560" y="2807208"/>
            <a:ext cx="1325880" cy="50292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하류 공정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(post_takt)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080760" y="3584448"/>
            <a:ext cx="5440680" cy="224028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217920" y="3694176"/>
            <a:ext cx="5166360" cy="2011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1B3255"/>
                </a:solidFill>
                <a:latin typeface="맑은 고딕"/>
              </a:rPr>
              <a:t>핵심 제약 조건 및 케이스별 산식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▪ 가공 속도(self_st) :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st_per_wafer / max_st  (모델별 가공속도)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▪ 셋업 전환(needs_conversion) :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1 [prev_lot_cd != lot_cd]  (1회당 패널티)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▪ 공구 포화(tool_can_assign) :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1 [net capa 잔여]  (부족 시 배정 차단)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▪ 달성 목표(achievable_ratio) :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min(계획, 완료+상류WIP) / 계획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▪ 안전재공 소진(starve_time_norm) :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wip / (현재capa - 상류capa) / T_avail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항목 — 현재 설비 (EQP local)  (obs[…+0:…+4])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5504688" cy="8686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207008"/>
            <a:ext cx="73152" cy="8686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1298448"/>
            <a:ext cx="5184648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6FB0"/>
                </a:solidFill>
                <a:latin typeface="맑은 고딕"/>
              </a:rPr>
              <a:t>쉬운 설명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222A33"/>
                </a:solidFill>
                <a:latin typeface="맑은 고딕"/>
              </a:rPr>
              <a:t>지금 결정하는 그 설비의 전환·동일 셋업 맥락 4개.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99631" y="1207008"/>
            <a:ext cx="5504688" cy="86868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99631" y="1207008"/>
            <a:ext cx="73152" cy="86868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9944" y="1298448"/>
            <a:ext cx="5184648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4A6D8C"/>
                </a:solidFill>
                <a:latin typeface="맑은 고딕"/>
              </a:rPr>
              <a:t>핵심 목적 (필요성)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회피가능 전환·same_setup 보상 학습에 직접 쓰입니다.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212848"/>
            <a:ext cx="77724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인덱스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280160" y="2212848"/>
            <a:ext cx="105156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이름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31720" y="2212848"/>
            <a:ext cx="173736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의미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69080" y="2212848"/>
            <a:ext cx="146304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실측치 (Step 1)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2578608"/>
            <a:ext cx="7772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eqp[0]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280160" y="2578608"/>
            <a:ext cx="10515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needs_conversion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331720" y="2578608"/>
            <a:ext cx="17373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이 설비가 feasible한 선택 중 셋업 변경이 필요한 게 있나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69080" y="2578608"/>
            <a:ext cx="14630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= 0.0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054096"/>
            <a:ext cx="7772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eqp[1]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280160" y="3054096"/>
            <a:ext cx="10515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avoidable_frac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331720" y="3054096"/>
            <a:ext cx="17373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전환 시 회피가능 정도 (0~1, 보상 α와 동일 개념)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069080" y="3054096"/>
            <a:ext cx="14630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= 0.0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3529584"/>
            <a:ext cx="7772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eqp[2]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280160" y="3529584"/>
            <a:ext cx="10515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prev_prod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331720" y="3529584"/>
            <a:ext cx="17373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이 설비 직전 배정 PPK (same_setup 판단용)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069080" y="3529584"/>
            <a:ext cx="14630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EQP001 prev_prod → 정규화 0.0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4005072"/>
            <a:ext cx="7772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eqp[3]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80160" y="4005072"/>
            <a:ext cx="10515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prev_oper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331720" y="4005072"/>
            <a:ext cx="17373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이 설비 직전 배정 OPER (same_setup 판단용)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069080" y="4005072"/>
            <a:ext cx="14630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EQP001 prev_oper → 정규화 0.0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897880" y="2212848"/>
            <a:ext cx="5806440" cy="379476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080760" y="2350008"/>
            <a:ext cx="544068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설비 의사결정 시 셋업 전환 케이스 (미니 간트차트)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80760" y="2807208"/>
            <a:ext cx="54406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7D4F"/>
                </a:solidFill>
                <a:latin typeface="맑은 고딕"/>
              </a:rPr>
              <a:t>Case A. 무변환 배정 (연속 가공 → Setup 보너스 +1.0 대상)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080760" y="3081528"/>
            <a:ext cx="2194560" cy="45720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080760" y="3200400"/>
            <a:ext cx="21945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prev_lot (LC01)</a:t>
            </a:r>
          </a:p>
        </p:txBody>
      </p:sp>
      <p:sp>
        <p:nvSpPr>
          <p:cNvPr id="41" name="Right Arrow 40"/>
          <p:cNvSpPr/>
          <p:nvPr/>
        </p:nvSpPr>
        <p:spPr>
          <a:xfrm>
            <a:off x="8366760" y="3200400"/>
            <a:ext cx="320040" cy="228600"/>
          </a:xfrm>
          <a:prstGeom prst="rightArrow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778240" y="3081528"/>
            <a:ext cx="2194560" cy="457200"/>
          </a:xfrm>
          <a:prstGeom prst="rect">
            <a:avLst/>
          </a:prstGeom>
          <a:solidFill>
            <a:srgbClr val="2E6FB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778240" y="3200400"/>
            <a:ext cx="21945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current_lot (LC01)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080760" y="3813048"/>
            <a:ext cx="54406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33A3A"/>
                </a:solidFill>
                <a:latin typeface="맑은 고딕"/>
              </a:rPr>
              <a:t>Case B. 전환 배정 (셋업 교체 발생 → Conversion 패널티 -10.0 부과)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080760" y="4087368"/>
            <a:ext cx="1737360" cy="45720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080760" y="4206240"/>
            <a:ext cx="17373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prev_lot (LC01)</a:t>
            </a:r>
          </a:p>
        </p:txBody>
      </p:sp>
      <p:sp>
        <p:nvSpPr>
          <p:cNvPr id="47" name="Right Arrow 46"/>
          <p:cNvSpPr/>
          <p:nvPr/>
        </p:nvSpPr>
        <p:spPr>
          <a:xfrm>
            <a:off x="7909560" y="4206240"/>
            <a:ext cx="182880" cy="228600"/>
          </a:xfrm>
          <a:prstGeom prst="rightArrow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183879" y="4087368"/>
            <a:ext cx="1280160" cy="457200"/>
          </a:xfrm>
          <a:prstGeom prst="rect">
            <a:avLst/>
          </a:prstGeom>
          <a:solidFill>
            <a:srgbClr val="C8861E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183879" y="4206240"/>
            <a:ext cx="12801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Conversion</a:t>
            </a:r>
          </a:p>
        </p:txBody>
      </p:sp>
      <p:sp>
        <p:nvSpPr>
          <p:cNvPr id="50" name="Right Arrow 49"/>
          <p:cNvSpPr/>
          <p:nvPr/>
        </p:nvSpPr>
        <p:spPr>
          <a:xfrm>
            <a:off x="9555480" y="4206240"/>
            <a:ext cx="182880" cy="228600"/>
          </a:xfrm>
          <a:prstGeom prst="rightArrow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9829800" y="4087368"/>
            <a:ext cx="1554480" cy="457200"/>
          </a:xfrm>
          <a:prstGeom prst="rect">
            <a:avLst/>
          </a:prstGeom>
          <a:solidFill>
            <a:srgbClr val="4A6D8C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829800" y="4206240"/>
            <a:ext cx="15544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current_lot (LC02)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080760" y="4818888"/>
            <a:ext cx="544068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172200" y="4882896"/>
            <a:ext cx="5257800" cy="8229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▪ needs_conversion = 1 </a:t>
            </a:r>
            <a:r>
              <a:rPr sz="950" b="0">
                <a:solidFill>
                  <a:srgbClr val="5C6670"/>
                </a:solidFill>
                <a:latin typeface="맑은 고딕"/>
              </a:rPr>
              <a:t>: 직전과 다음의 LOT_CD 또는 TEMP가 다른 경우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▪ avoidable_frac (회피가능비율) </a:t>
            </a:r>
            <a:r>
              <a:rPr sz="950" b="0">
                <a:solidFill>
                  <a:srgbClr val="5C6670"/>
                </a:solidFill>
                <a:latin typeface="맑은 고딕"/>
              </a:rPr>
              <a:t>: 내 설비가 변환할 때, 동일 셋업을 이미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5C6670"/>
                </a:solidFill>
                <a:latin typeface="맑은 고딕"/>
              </a:rPr>
              <a:t>  가진 다른 설비들이 시간 내에 이 재공을 다 처리할 수 있는 비율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항목 — 직전 맥락 (Context)  (obs[…+4:…+8])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5504688" cy="8686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207008"/>
            <a:ext cx="73152" cy="8686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1298448"/>
            <a:ext cx="5184648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6FB0"/>
                </a:solidFill>
                <a:latin typeface="맑은 고딕"/>
              </a:rPr>
              <a:t>쉬운 설명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222A33"/>
                </a:solidFill>
                <a:latin typeface="맑은 고딕"/>
              </a:rPr>
              <a:t>직전 스텝에서 누가·무엇을·어느 설비에 배정했는지 정규화 인덱스 4개.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99631" y="1207008"/>
            <a:ext cx="5504688" cy="86868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99631" y="1207008"/>
            <a:ext cx="73152" cy="86868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9944" y="1298448"/>
            <a:ext cx="5184648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4A6D8C"/>
                </a:solidFill>
                <a:latin typeface="맑은 고딕"/>
              </a:rPr>
              <a:t>핵심 목적 (필요성)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라인 전역 직전 배정 맥락.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212848"/>
            <a:ext cx="77724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인덱스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280160" y="2212848"/>
            <a:ext cx="105156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이름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31720" y="2212848"/>
            <a:ext cx="173736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의미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69080" y="2212848"/>
            <a:ext cx="146304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실측치 (Step 4)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2578608"/>
            <a:ext cx="7772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ctx[0]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280160" y="2578608"/>
            <a:ext cx="10515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last_ppk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331720" y="2578608"/>
            <a:ext cx="17373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직전 배정 제품 인덱스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69080" y="2578608"/>
            <a:ext cx="14630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직전 배정 PPK003 → 정규화 0.0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054096"/>
            <a:ext cx="7772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ctx[1]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280160" y="3054096"/>
            <a:ext cx="10515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last_oper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331720" y="3054096"/>
            <a:ext cx="17373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직전 배정 공정 인덱스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069080" y="3054096"/>
            <a:ext cx="14630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직전 배정 OPER001 → 정규화 0.0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3529584"/>
            <a:ext cx="7772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ctx[2]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280160" y="3529584"/>
            <a:ext cx="10515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last_eqp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331720" y="3529584"/>
            <a:ext cx="17373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직전 배정 설비 인덱스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069080" y="3529584"/>
            <a:ext cx="14630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직전 배정 EQP003 → 정규화 0.0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4005072"/>
            <a:ext cx="7772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ctx[3]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80160" y="4005072"/>
            <a:ext cx="10515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last_lot_cd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331720" y="4005072"/>
            <a:ext cx="17373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직전 LOT_CD (셋업 그룹)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069080" y="4005072"/>
            <a:ext cx="14630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= 0.0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897880" y="2212848"/>
            <a:ext cx="5806440" cy="379476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080760" y="2350008"/>
            <a:ext cx="544068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Decision Steps 간의 Context (직전 맥락) 전이 구조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80760" y="2898648"/>
            <a:ext cx="201168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080760" y="2898648"/>
            <a:ext cx="2011680" cy="36576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080760" y="2962656"/>
            <a:ext cx="20116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Step t − 1 (직전)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172200" y="3328415"/>
            <a:ext cx="1828800" cy="17373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의사결정 결과 :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5C6670"/>
                </a:solidFill>
                <a:latin typeface="맑은 고딕"/>
              </a:rPr>
              <a:t>▪ EQP002 설비에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5C6670"/>
                </a:solidFill>
                <a:latin typeface="맑은 고딕"/>
              </a:rPr>
              <a:t>▪ PPK001 제품의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5C6670"/>
                </a:solidFill>
                <a:latin typeface="맑은 고딕"/>
              </a:rPr>
              <a:t>▪ OPER001 공정을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5C6670"/>
                </a:solidFill>
                <a:latin typeface="맑은 고딕"/>
              </a:rPr>
              <a:t>▪ LC01 셋업으로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5C6670"/>
                </a:solidFill>
                <a:latin typeface="맑은 고딕"/>
              </a:rPr>
              <a:t>  배정 완료</a:t>
            </a:r>
          </a:p>
        </p:txBody>
      </p:sp>
      <p:sp>
        <p:nvSpPr>
          <p:cNvPr id="42" name="Right Arrow 41"/>
          <p:cNvSpPr/>
          <p:nvPr/>
        </p:nvSpPr>
        <p:spPr>
          <a:xfrm>
            <a:off x="8183879" y="3858768"/>
            <a:ext cx="1325880" cy="365760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183879" y="3419856"/>
            <a:ext cx="132588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인덱스 인코딩
(Context 피처)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601200" y="2898648"/>
            <a:ext cx="192024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9601200" y="2898648"/>
            <a:ext cx="1920240" cy="36576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601200" y="2962656"/>
            <a:ext cx="1920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Step t (현재 결정)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692640" y="3328415"/>
            <a:ext cx="1737360" cy="17373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수신 피처 (obs) :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▪ last_ppk (ctx[0])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▪ last_oper (ctx[1])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▪ last_eqp (ctx[2])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▪ last_lot_cd (ctx[3])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5C6670"/>
                </a:solidFill>
                <a:latin typeface="맑은 고딕"/>
              </a:rPr>
              <a:t>→ 현재 의사결정의
  컨텍스트로 주입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080760" y="5321808"/>
            <a:ext cx="544068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172200" y="5367528"/>
            <a:ext cx="525780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의의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에이전트가 단일 설비의 상태뿐만 아니라, 직전 스텝의 라인 전역 스케줄링 결정 흐름을 학습에 반영할 수 있도록 돕습니다.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— 다장비 동시 비교 (t=120분, 3대 설비 실측)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34440"/>
            <a:ext cx="11201400" cy="47548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298448"/>
            <a:ext cx="10881360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같은 시각에 3대 설비가 차례로 판단을 내릴 때, 설비마다 State 값이 실제로 다르게 계산됩니다.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755648"/>
            <a:ext cx="11201400" cy="347472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08813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공통 전역값 (3대 동일)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time_norm=0.25, takt_margin=0.75, conv_idle_ratio=0.0, tool_util=0.0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176272"/>
            <a:ext cx="182880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항목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331720" y="2176272"/>
            <a:ext cx="292608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산식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257800" y="2176272"/>
            <a:ext cx="201168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EQP001  (Step 10)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269480" y="2176272"/>
            <a:ext cx="201168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EQP002  (Step 8)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281160" y="2176272"/>
            <a:ext cx="201168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EQP003  (Step 9)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2542032"/>
            <a:ext cx="182880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배정 결정 (참고)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331720" y="2542032"/>
            <a:ext cx="29260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이번 스텝에서 고른 PPK·OPER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257800" y="2542032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PPK001·OPER001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269480" y="2542032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PPK002·OPER001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281160" y="2542032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PPK003·OPER001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2932938"/>
            <a:ext cx="182880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remaining_lots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331720" y="2932938"/>
            <a:ext cx="29260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min(|lot_pool| / 초기 LOT수, 1)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257800" y="2932938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0.75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269480" y="2932938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0.833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281160" y="2932938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0.792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3323844"/>
            <a:ext cx="182880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plan_progress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331720" y="3323844"/>
            <a:ext cx="29260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min(produced / total_plan, 1)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257800" y="3323844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0.375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269480" y="3323844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0.292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281160" y="3323844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0.333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3714750"/>
            <a:ext cx="182880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needs_conversion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331720" y="3714750"/>
            <a:ext cx="29260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1[feasible 중 전환 필요 버킷 존재]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257800" y="3714750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269480" y="3714750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1.0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281160" y="3714750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1.0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2920" y="4105656"/>
            <a:ext cx="182880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avoidable_frac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331720" y="4105656"/>
            <a:ext cx="29260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max α over feasible 전환 버킷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257800" y="4105656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269480" y="4105656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1.0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281160" y="4105656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1.0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4496562"/>
            <a:ext cx="182880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prev_prod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331720" y="4496562"/>
            <a:ext cx="29260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encode(현재 EQP.prev_prod)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257800" y="4496562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269480" y="4496562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281160" y="4496562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0.0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02920" y="4887468"/>
            <a:ext cx="182880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prev_oper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331720" y="4887468"/>
            <a:ext cx="29260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encode(현재 EQP.prev_oper)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257800" y="4887468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269480" y="4887468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0.0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281160" y="4887468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" y="5278374"/>
            <a:ext cx="182880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reward (이 결정)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331720" y="5278374"/>
            <a:ext cx="29260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8항목 보상 합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257800" y="5278374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0.83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269480" y="5278374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0.83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281160" y="5278374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0.83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02920" y="5760720"/>
            <a:ext cx="112014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4A6D8C"/>
                </a:solidFill>
                <a:latin typeface="맑은 고딕"/>
              </a:rPr>
              <a:t>이 시점까지 누적 배정  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EQP001: 4건, EQP002: 3건, EQP003: 3건  — 대칭 벤치(SYM_3x3)에서 설비마다 전담 제품을 반복 배정받는 모습.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완전 해설 — MINI-A 예시 데이터셋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34440"/>
            <a:ext cx="11201400" cy="54864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234440"/>
            <a:ext cx="1088136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위 값은 실제 SYM_3x3 트레이스가 아니라 산식 계산 과정을 보여주기 위한 가상 예시 데이터셋(MINI-A)입니다. 이후 슬라이드의 모든 대입 계산은 이 데이터셋을 그대로 사용합니다.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965960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설비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057400" y="1965960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EQP001: OPER001·OPER002 가능, 세팅 A, busy (free_at=320)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276856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057400" y="2276856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EQP002: OPER001·OPER002 가능, 세팅 B, idle (free_at=120) — 지금 결정 대상(current_eqp)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587751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057400" y="2587751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EQP003: OPER002만 가능, 세팅 A, busy (free_at=400)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2898647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제품·공정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057400" y="2898647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PPK001: OPER001→OPER002 (세팅 LOT_CD=A, TEMP=없음), PPK002: OPER001만 사용(계획 없음)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3209543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계획/완료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057400" y="3209543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(PPK001,OPER002) 목표 60장, 완료 10장  ·  가공시간 OPER001=2분/장, OPER002=5분/장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3520439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WIP(대기재공)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057400" y="3520439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(PPK001,OPER001)=140장, (PPK001,OPER002)=15장, (PPK002,OPER001)=20장 → 합계 175장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831335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배정 설비수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057400" y="3831335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OPER001=2대(EQP001,EQP002), OPER002=3대(EQP001,EQP002,EQP003)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4142231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시각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057400" y="4142231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t=120분, sim_end=soft_cutoff=480분 → T_avail=max(480-120,1)=360분, wf_unit=1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4453127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직전 배정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057400" y="4453127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EQP003이 PPK001 · OPER002 · 세팅A를 배정받음 (Context 계산 기준)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4764023"/>
            <a:ext cx="1554480" cy="420624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인덱스맵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057400" y="4764023"/>
            <a:ext cx="964692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PPK{PPK002:0,PPK001:1}(P=10) · OPER{OPER001:0,OPER002:1}(O=3) · EQP{EQP001:0,EQP002:1,EQP003:2} · LOT_CD{B:0,A:1}(n_lc=2)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184647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기타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057400" y="5184647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lot_pool=25/초기40, tool_tracker.utilization()=0.4(가정) — 이 둘은 별도 헬퍼/클래스 내부라 예시값으로 표기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obs[0] time_norm  ·  obs[1] takt_margin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전역 (Global)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실제 소스코드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8" y="1892807"/>
            <a:ext cx="5266944" cy="3886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2356  group_global[0] = min(self.current_time / max(self.sim_end, 1), 1.0)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2357  group_global[1] = min(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2358      max(self.soft_cutoff - self.current_time, 0) / max(self.soft_cutoff, 1), 1.0,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2359  )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819656"/>
            <a:ext cx="5440680" cy="117957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91655" y="1892807"/>
            <a:ext cx="5184648" cy="108813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current_time=120, sim_end=480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time_norm = min(120 / 480, 1) = 0.25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 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soft_cutoff=480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takt_margin = min( max(480-120,0) / 480, 1 ) = min(360/480, 1) = 0.75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3072384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3072384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time_norm = 0.25   /   takt_margin = 0.75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602736"/>
            <a:ext cx="5440680" cy="224942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sim_end과 soft_cutoff을 같은 값(480)으로 두면 takt_margin ≈ 1-time_norm 처럼 보이지만, 두 값이 실제로 다르면(예: sim_end=600) 이 관계는 깨진다 — 서로 다른 변수임에 유의.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obs[2] remaining_lots  ·  obs[3] plan_progress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전역 (Global)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실제 소스코드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8" y="1892807"/>
            <a:ext cx="5266944" cy="3886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2323  initial_lot_count = max(len(data["lots"]), 1)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2324  total_plan = max(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2325      sum(p["d0_plan_qty"] for p in data.get("plan", []) if p.get("d0_plan_qty", 0) &gt; 0),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2326      0,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2327  )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  ...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2360  group_global[2] = min(len(self.lot_pool) / initial_lot_count, 1.0)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2361  produced = sum(self.stats["completed_qty"].values())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2362  if total_plan &gt; 0: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2363      group_global[3] = min(produced / total_plan, 1.0)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2364  else: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2365      group_global[3] = min(produced / max(self._initial_wip_total, 1), 1.0)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819656"/>
            <a:ext cx="5440680" cy="117957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91655" y="1892807"/>
            <a:ext cx="5184648" cy="108813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len(lot_pool)=25, initial_lot_count=40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remaining_lots = min(25/40, 1) = 0.625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 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produced = Σcompleted_qty = 10  (완료 10장)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total_plan = 60  (d0_plan_qty&gt;0인 계획 합)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plan_progress = min(10/60, 1) = 0.1667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3072384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3072384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remaining_lots = 0.625   /   plan_progress = 0.1667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602736"/>
            <a:ext cx="5440680" cy="224942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produced는 '이 (ppk,op) 하나'가 아니라 전체 completed_qty 합 — 계획이 하나뿐인 MINI-A에선 결과가 같다.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obs[4] conv_idle_ratio  ·  obs[5] tool_util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전역 (Global)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실제 소스코드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8" y="1892807"/>
            <a:ext cx="5266944" cy="3886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2366  conv_eqps = 0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2367  for eqp_id, eqp in self.eqps.items():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2368      rem = max(eqp.free_at - self.current_time, 0)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2369      if rem &gt; 0 and eqp.status == "idle" and eqp.prev_lot_cd is not None: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2370          conv_eqps += 1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2371  group_global[4] = conv_eqps / max(len(self.eqps), 1)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2372  group_global[5] = min(self._tool_tracker.utilization(), 1.0)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819656"/>
            <a:ext cx="5440680" cy="1481328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91655" y="1892807"/>
            <a:ext cx="5184648" cy="13898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EQP001: busy → status!=idle → 제외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EQP002: idle, free_at=120=t → rem=max(120-120,0)=0 → rem&gt;0 거짓 → 제외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EQP003: busy → status!=idle → 제외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conv_eqps = 0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conv_idle_ratio = 0 / 3 = 0.0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 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tool_tracker.utilization() = 0.4  (가정값 — 별도 클래스 내부 계산)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tool_util = min(0.4, 1) = 0.4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3374136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3374136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conv_idle_ratio = 0.0   /   tool_util = 0.4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904488"/>
            <a:ext cx="5440680" cy="19476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rem&gt;0 조건 때문에 '방금 막 idle된' 설비는 카운트되지 않는다 — 진짜 전환 buffer 중인 설비만 잡음.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ch0 wip_ratio_total  ·  ch1 wip_ratio_ppk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(PPK001, OPER002) 기준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실제 소스코드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8" y="1892807"/>
            <a:ext cx="5266944" cy="3886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2159  for key, q in self.get_wip_waiting().items():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2160      ppk_w, op_w = key.split("|", 1)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2161      wip_po[(ppk_w, op_w)] = wip_po.get((ppk_w, op_w), 0.0) + q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2162      ppk_wip[ppk_w] = ppk_wip.get(ppk_w, 0.0) + q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2163      total_wip += q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2164  total_wip = max(total_wip, 1.0)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  ...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2221  wip_q = wip_po.get((ppk, op), 0.0)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2222  ppk_total = max(ppk_wip.get(ppk, 0.0), 1.0)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  ...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2279  feats[oi, pi, vmis, 0] = wip_q / total_wip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2280  feats[oi, pi, vmis, 1] = wip_q / ppk_total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819656"/>
            <a:ext cx="5440680" cy="1330452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91655" y="1892807"/>
            <a:ext cx="5184648" cy="123901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wip_q = wip_po[(PPK001,OPER002)] = 15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total_wip = 140(PPK001·OPER001) + 15(PPK001·OPER002) + 20(PPK002·OPER001) = 175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ppk_total = ppk_wip[PPK001] = 140+15 = 155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 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wip_ratio_total = 15 / 175 = 0.0857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wip_ratio_ppk   = 15 / 155 = 0.0968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3223260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3223260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ch0 = 0.0857   /   ch1 = 0.0968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753612"/>
            <a:ext cx="5440680" cy="20985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분모가 다르다: ch0은 '팹 전체 WIP', ch1은 '같은 PPK001 안에서의 WIP' — 같은 wip_q라도 두 관점을 동시에 준다.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ch2 prev_takt  ·  ch3 post_takt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OPER001 vs OPER002 버킷 비교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실제 소스코드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8" y="1892807"/>
            <a:ext cx="5266944" cy="3886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2185  def eff_takt(ppk, op):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2189      lst = arranges_by.get((ppk, op))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2190      spw = (sum(s for _, s in lst) / len(lst)) if lst else None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2191      n = max(n_eqp_per_oper.get(op, 0), 1)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2192      cap_takt = (spw / n) if spw is not None else 0.0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2193      pm = plan_meta.get((ppk, op))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2194      if pm and pm.get("d0_plan_qty", 0) &gt; 0: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2195          q_plan = max(pm["d0_plan_qty"] - completed.get((ppk, op), 0), 1)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2196          demand_takt = T_avail / q_plan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2197          return max(demand_takt, cap_takt) * wf_unit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2198      return cap_takt * wf_unit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  ...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2232  ppk_fp = flow_prev.get(ppk, {})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2233  ppk_fpo = flow_post.get(ppk, {})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2234  prev_takt = eff_takt(ppk, ppk_fp.get(op)) / max_takt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2235  post_takt = eff_takt(ppk, ppk_fpo.get(op)) / max_takt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819656"/>
            <a:ext cx="5440680" cy="193395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91655" y="1892807"/>
            <a:ext cx="5184648" cy="184251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eff_takt(PPK001,OPER001): spw=2, n=2 → cap_takt=1 ; 계획없음(중간공정) → eff_takt=1*1=1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eff_takt(PPK001,OPER002): spw=5, n=3 → cap_takt=1.67 ; q_plan=max(60-10,1)=50,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  demand_takt=360/50=7.2 → eff_takt=max(7.2,1.67)*1=7.2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max_takt = T_avail*wf_unit = 360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 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[OPER001 버킷] prev_takt=eff_takt(flow_prev=없음)/360=0/360=0.0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[OPER001 버킷] post_takt=eff_takt(OPER002)/360=7.2/360=0.02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[OPER002 버킷] prev_takt=eff_takt(OPER001)/360=1/360=0.0028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[OPER002 버킷] post_takt=eff_takt(flow_post=없음)/360=0/360=0.0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3826764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3826764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OPER001버킷: prev=0.0, post=0.02   /   OPER002버킷: prev=0.0028, post=0.0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4357116"/>
            <a:ext cx="5440680" cy="1495043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eff_takt는 '계획을 맞추려면 허용되는 로트당 간격' — 클수록 여유(천천히 만들어도 됨). OPER002(=7.2)가 OPER001(=1)보다 훨씬 여유롭다는 게 OPER001버킷의 post_takt(0.02)로 드러난다.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ch4 self_st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(PPK001, OPER002) 기준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실제 소스코드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8" y="1892807"/>
            <a:ext cx="5266944" cy="3886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2126  max_arrange_st = max(data.get("max_arrange_st", 1), 1)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  ...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2266      st = st_per_wafer(ppk, op, model)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  ...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2269      valid_sts.append(float(st) if st is not None else 0.0)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  ...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2280  feats[oi, pi, vmis, 4] = vsts / max_arrange_st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819656"/>
            <a:ext cx="5440680" cy="1097280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91655" y="1892807"/>
            <a:ext cx="5184648" cy="100583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st_per_wafer(PPK001,OPER002,M1) = 5분/장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max_arrange_st = 전체 (ppk,op,model) 중 최댓값 = 5  (OPER002가 가장 느림)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self_st = 5 / 5 = 1.0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2990088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2990088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self_st (ch4) = 1.0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520440"/>
            <a:ext cx="5440680" cy="23317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이 예시에서 OPER002가 가장 느린 공정이라 정규화 최댓값과 같아져 1.0 — 극단값 예시.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ch5 plan_urgency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(PPK001, OPER002) 기준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실제 소스코드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8" y="1892807"/>
            <a:ext cx="5266944" cy="3886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2224  pm = plan_meta.get((ppk, op))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2225  if pm and pm.get("d0_plan_qty", 0) &gt; 0: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2226      plan_qty = max(pm["d0_plan_qty"], 1)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2227      gap = max(plan_qty - completed.get((ppk, op), 0), 0)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2228      urgency = min(gap / T_avail / plan_qty, 1.0)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  ...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2285  feats[oi, pi, vmis, 5] = urgency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819656"/>
            <a:ext cx="5440680" cy="1097280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91655" y="1892807"/>
            <a:ext cx="5184648" cy="100583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plan_qty=60, completed=10 → gap=max(60-10,0)=50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T_avail=360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plan_urgency = min( (50/360)/60, 1 ) = min(0.00231, 1) = 0.0023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2990088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2990088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plan_urgency (ch5) = 0.0023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520440"/>
            <a:ext cx="5440680" cy="23317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T_avail이 분모라서, 시간이 줄면(예: T_avail=30) 같은 gap=50이어도 urgency=min((50/30)/60,1)=0.0278로 12배 뜀.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ch6 wip_lot_cd  ·  ch7 wip_temp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(PPK001, OPER002) 기준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실제 소스코드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8" y="1892807"/>
            <a:ext cx="5266944" cy="3886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2129  lot_cd_idx = data.get("lot_cd_idx", {})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2130  temp_idx = data.get("temp_idx", {})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2131  n_lc = max(len(lot_cd_idx), 1)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2132  n_tp = max(len(temp_idx), 1)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  ...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2253  lc, tp = self._bucket_lot_cd_temp(ppk, op)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2254  lc_enc = encode_normalized(lc or None, lot_cd_idx, n_lc)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2255  tp_enc = encode_normalized(tp or None, temp_idx, n_tp)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  ...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2286  feats[oi, pi, vmis, 6] = lc_enc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2287  feats[oi, pi, vmis, 7] = tp_enc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819656"/>
            <a:ext cx="5440680" cy="1097280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91655" y="1892807"/>
            <a:ext cx="5184648" cy="100583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이 버킷의 lc="A", tp=None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lot_cd_idx={"B":0,"A":1}, n_lc=2 → lc_enc = encode("A") = 1/(2-1) = 1.0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temp_idx={} (TEMP 미사용), n_tp=1 → tp_enc = encode(None) = 0.0  (값이 None이라 기본값 0)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2990088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2990088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wip_lot_cd (ch6) = 1.0   /   wip_temp (ch7) = 0.0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520440"/>
            <a:ext cx="5440680" cy="23317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ch7의 0.0은 'TEMP 조건이 아예 없다'는 뜻이지, 오류나 결측이 아니다 — encode_normalized(None,...)의 정상 동작.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ch8 needs_conversion  ·  ch9 tool_can_assign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current_eqp=EQP002 기준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실제 소스코드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8" y="1892807"/>
            <a:ext cx="5266944" cy="3886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2144  current_eqp_model = eqp_model_map.get(current_eqp) if current_eqp else None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  ...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2205  curr_eqp_in_om: bool = (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2206      current_eqp is not None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2207      and current_eqp_model is not None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2208      and current_eqp in self._eqps_by_om.get((op, current_eqp_model), [])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2209  )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  ...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2306  if curr_eqp_in_om and current_mi &gt;= 0 and current_mi in valid_mis and lc: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2307      feats[oi, pi, current_mi, 8] = (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2308          1.0 if self._would_need_conversion(current_eqp, lc, tp) else 0.0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2309      )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2310      feats[oi, pi, current_mi, 9] = (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2311          1.0 if not self._needs_tool_swap(current_eqp, lc, tp)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2312          or self._tool_tracker.can_assign(lc, current_eqp) else 0.0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2313      )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819656"/>
            <a:ext cx="5440680" cy="1481328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91655" y="1892807"/>
            <a:ext cx="5184648" cy="13898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current_eqp=EQP002, EQP002는 (OPER002,M1)에 속함 → curr_eqp_in_om=True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EQP002.prev_lot_cd="B", 이 버킷 lc="A" → would_need_conversion(EQP002,"A",None)=True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needs_conversion = 1.0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 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needs_tool_swap(EQP002,"A",None) = False (가정: 공구 교체 불필요)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→ "not False" = True → OR 조건 만족(뒤 항 평가 불필요)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tool_can_assign = 1.0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3374136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3374136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needs_conversion (ch8) = 1.0   /   tool_can_assign (ch9) = 1.0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904488"/>
            <a:ext cx="5440680" cy="19476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이 두 채널은 current_eqp가 속한 (op,model) 한 칸에만 기록되고, 나머지 칸은 0으로 남는다.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ch10 achievable_ratio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(PPK001, OPER002) 기준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실제 소스코드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8" y="1892807"/>
            <a:ext cx="5266944" cy="3886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2239  achievable_ratio = 1.0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2240  if pm and pm.get("d0_plan_qty", 0) &gt; 0: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2241      plan_qty = max(pm["d0_plan_qty"], 1)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2242      done = completed.get((ppk, op), 0)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2243      reachable = wip_po.get((ppk, op), 0.0)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2244      seen = {op}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2245      prev_op = ppk_fp.get(op)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2246      while prev_op and prev_op not in seen: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2247          seen.add(prev_op)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2248          reachable += wip_po.get((ppk, prev_op), 0.0)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2249          prev_op = ppk_fp.get(prev_op)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2250      achievable_ratio = min(min(plan_qty, done + reachable) / plan_qty, 1.0)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  ...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2288  feats[oi, pi, vmis, 10] = achievable_ratio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819656"/>
            <a:ext cx="5440680" cy="117957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91655" y="1892807"/>
            <a:ext cx="5184648" cy="108813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plan_qty=60, done=10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reachable = wip_po[(PPK001,OPER002)]=15  (자기 자신)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→ 상류(OPER001) 순회: reachable += wip_po[(PPK001,OPER001)]=140  → reachable=155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achievable_ratio = min( min(60, 10+155) / 60, 1 ) = min(60/60, 1) = 1.0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3072384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3072384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achievable_ratio (ch10) = 1.0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602736"/>
            <a:ext cx="5440680" cy="224942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상류 재공(140장)이 충분해서 achievable이 plan_qty(60)에 그대로 캡핑됨 — 재공 부족 걱정이 없는 상태.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ch11 projected_cover_ratio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(PPK001, OPER002) 기준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실제 소스코드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8" y="1892807"/>
            <a:ext cx="5266944" cy="3886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2277  # 채널 11: 투영 커버 비율 — 다른 장비(current_eqp 제외)가 이 버킷을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2278  # 하루 끝까지 덮는 양 / 남은 필요량. 1에 가까울수록 '이미 덮임' → 회피 유도.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2279  done11 = completed.get((ppk, op), 0)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2280  need11 = max(self._achievable_qty(ppk, op) - done11, 1.0)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2281  cov11 = self._bucket_projected_cover(ppk, op, exclude_eqp=current_eqp)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2282  feats[oi, pi, vmis, 11] = min(cov11 / need11, 2.0) / 2.0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819656"/>
            <a:ext cx="5440680" cy="2084831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91655" y="1892807"/>
            <a:ext cx="5184648" cy="1993391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_achievable_qty(PPK001,OPER002) = min(60, 10+155) = 60  → need15 = max(60-10,1) = 50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 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_bucket_projected_cover: EQP002(본인) 제외, prev_prod==PPK001 &amp; prev_oper==OPER002인 '다른' 설비만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  EQP001: prev_oper=OPER001 → 불일치, 제외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  EQP003: prev_oper=OPER002, prev_prod=PPK001 → 일치! (busy 여부는 이 함수에서 안 봄)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    remaining=max(soft_cutoff-t,0)=360, st=5 → 기여 = 360/5 = 72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cov15 = 72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 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projected_cover_ratio = min(72/50, 2) / 2 = min(1.44,2)/2 = 0.72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3977639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3977639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projected_cover_ratio (ch11) = 0.72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4507992"/>
            <a:ext cx="5440680" cy="1344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_bucket_projected_cover는 설비의 '지금 busy 여부'를 빼지 않는다(반면 avoidable_frac의 alt_cap 계산은 뺀다) — 같은 '다른 설비 capa' 개념이라도 두 함수가 정밀도가 다르다는 점이 이 코드베이스의 흥미로운 디테일.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ch12 starve_time_norm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(PPK001, OPER002) 기준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실제 소스코드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8" y="1892807"/>
            <a:ext cx="5266944" cy="3886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2282  # 채널 12: starve_time_normalized (재공 소진 시간)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2283  consume_rate = self._oper_capacity_per_min(ppk, op)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2284  supply_rate = self._oper_supply_rate(ppk, op)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2285  if consume_rate &gt; supply_rate: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2286      net_rate = consume_rate - supply_rate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2287      starve_time = wip_q / net_rate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2288      starve_time_norm = min(starve_time / T_avail, 1.0)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2289  else: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2290      starve_time_norm = 1.0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2291  feats[oi, pi, vmis, 12] = starve_time_norm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819656"/>
            <a:ext cx="5440680" cy="1330452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91655" y="1892807"/>
            <a:ext cx="5184648" cy="123901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wip_q = wip_po[(PPK001,OPER002)] = 15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consume_rate: EQP001(M1) st=5, EQP002(M1) st=5, EQP003(M1) st=5 (가정) → 3 * (1/5) = 0.6 매/분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supply_rate: 선행 OPER001의 capa = EQP001(M1) st=2, EQP002(M1) st=2 → 2 * (1/2) = 1.0 매/분 (wip존재)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consume_rate(0.6) &lt;= supply_rate(1.0) → starve_time_norm = 1.0 (재공이 마르지 않음)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3223260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3223260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starve_time_norm (ch12) = 1.0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753612"/>
            <a:ext cx="5440680" cy="20985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이 공정(OPER002)은 공급 속도가 소비 속도보다 빨라 재공이 마르지 않기 때문에 소진 시간 비율이 최댓값인 1.0이 된다.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eqp[0~1] needs_conversion · avoidable_frac  ·  eqp[2~3] prev_prod · prev_oper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현재 설비 (EQP local) — current_eqp=EQP002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실제 소스코드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8" y="1892807"/>
            <a:ext cx="5266944" cy="3886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2332  eqp_local = np.zeros(4, dtype=np.float32)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2333  current_eqp_id = self._current_eqp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2334  if current_eqp_id and current_eqp_id in self.eqps: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2335      eqp_obj = self.eqps[current_eqp_id]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2336      eqp_local[2] = encode_normalized(eqp_obj.prev_prod, prod_idx, P)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2337      eqp_local[3] = encode_normalized(eqp_obj.prev_oper, oper_idx, O)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2342      max_avoidable = 0.0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2343      for flat in self.get_feasible_ppk_oper(current_eqp_id):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2346          if self._would_need_conversion(current_eqp_id, lc, tp):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2347              eqp_local[0] = 1.0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2353      eqp_local[1] = max_avoidable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819656"/>
            <a:ext cx="5440680" cy="1097280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91655" y="1892807"/>
            <a:ext cx="5184648" cy="1005839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EQP002.prev_prod=PPK002, prev_oper=OPER001 → prev_prod=0/(10-1)=0.0, prev_oper=0/(3-1)=0.0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EQP002 feasible 중 (PPK001,OPER002) 전환 필요 → eqp[0]=1.0, avoidable_frac=0.619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2990088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2990088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needs_conversion=1.0 / avoidable_frac=0.619 / prev_prod=0.0 / prev_oper=0.0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520440"/>
            <a:ext cx="5440680" cy="23317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prev_prod/prev_oper는 same_setup 보상(현재 EQP 기준)과 정렬 — 구 ch5 same_ppk(전역) 대체.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eqp[1] avoidable_frac (α)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현재 설비 (EQP local) — avoidable_frac 상세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실제 소스코드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8" y="1892807"/>
            <a:ext cx="5266944" cy="3886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2348              av = self._conversion_avoidable_fraction(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2349                  current_eqp_id, ppk_f, oper_f, lc, tp,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2350              )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2352                  max_avoidable = av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2353      eqp_local[1] = max_avoidable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819656"/>
            <a:ext cx="5440680" cy="268833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91655" y="1892807"/>
            <a:ext cx="5184648" cy="2596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EQP002가 고를 수 있는 feasible 버킷 중 (PPK001,OPER002)는 세팅 A 필요(EQP002는 B) → 전환 필요 → eqp[0]=1.0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 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α 계산 (_conversion_avoidable_fraction):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demand = 세팅A 공유 ready WIP 합 = 140(OPER001)+15(OPER002) = 155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alt_cap: EQP001 남은가용=max(360-max(320-120,0),0)=160, best_st=2(OPER001) → 160/2=80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         EQP003 남은가용=max(360-max(400-120,0),0)=80,  best_st=5(OPER002) → 80/5=16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         alt_cap = 80+16 = 96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coverage_frac = min(96/155, 1) = 0.619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residual = max(155-96,0)=59, my_st=5, my_cap=360/5=72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my_run_min = min(72,59)*5 = 295, need=1.0×60=60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short_run_frac = max(0, 1-295/60) = 0  (이미 넉넉히 돌 수 있어 '짧아서 아깝다'는 근거 없음)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α = max(0.619, 0) = 0.619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4581144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4581144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needs_conversion (eqp[0]) = 1.0   /   avoidable_frac (eqp[1]) = 0.619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5111496"/>
            <a:ext cx="5440680" cy="7406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α=0.619 → 이 전환의 62%는 다른 설비가 대신 커버 가능했다는 뜻 → 실제로 전환을 감행하면 avoidable_conversion = -8.0×0.619 ≈ -4.95 페널티.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ctx[0~3] last_ppk · last_oper · last_eqp · last_lot_cd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직전 맥락 (Context) — 직전 배정: EQP003 → PPK001/OPER002/세팅A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실제 소스코드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8" y="1892807"/>
            <a:ext cx="5266944" cy="3886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2374  context = np.zeros(4, dtype=np.float32)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2375  if self._last_assigned: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2376      la = self._last_assigned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2377      context[0] = encode_normalized(la.get("plan_prod_key"), prod_idx, P)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2380      oper_guess = None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2381      for ld in data.get("lots", []):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2382          if ld["lot_id"] == la.get("lot_id"):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2383              oper_guess = ld.get("oper_id")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2384              break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2385      context[1] = encode_normalized(oper_guess, oper_idx, O)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2386      context[2] = encode_normalized(la.get("eqp_id"), eqp_idx, len(data["eqp_ids"]))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222A33"/>
                </a:solidFill>
                <a:latin typeface="Courier New"/>
              </a:rPr>
              <a:t>2387      context[3] = encode_normalized(la.get("lot_cd"), lot_cd_idx, max(len(lot_cd_idx), 1))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819656"/>
            <a:ext cx="5440680" cy="1481328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91655" y="1892807"/>
            <a:ext cx="5184648" cy="13898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la = {plan_prod_key:PPK001, lot_id:LOT099, eqp_id:EQP003, lot_cd:A}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prod_idx={PPK002:0,PPK001:1}, P=10 → last_ppk = 1/(10-1) = 0.111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 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lot_id=LOT099 → data['lots']에서 역추적 → oper_guess=OPER002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oper_idx={OPER001:0,OPER002:1}, O=3 → last_oper = 1/(3-1) = 0.5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 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eqp_idx={EQP001:0,EQP002:1,EQP003:2} → last_eqp = 2/(3-1) = 1.0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100"/>
              </a:spcAft>
            </a:pPr>
            <a:r>
              <a:rPr sz="1019" b="0">
                <a:solidFill>
                  <a:srgbClr val="222A33"/>
                </a:solidFill>
                <a:latin typeface="맑은 고딕"/>
              </a:rPr>
              <a:t>lot_cd_idx={B:0,A:1} → last_lot_cd = 1/(2-1) = 1.0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3374136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3374136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last_ppk=0.111 / last_oper=0.5 / last_eqp=1.0 / last_lot_cd=1.0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904488"/>
            <a:ext cx="5440680" cy="19476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oper_guess는 lot_id로 원본 lots 테이블을 뒤져서 찾는다 — 못 찾으면 None → encode 결과 0.0으로 빠진다.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Action — 행동 공간과 블록 점유 메커니즘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29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280160"/>
            <a:ext cx="10515600" cy="603504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280160"/>
            <a:ext cx="10515600" cy="60350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맑은 고딕"/>
              </a:rPr>
              <a:t>action = MultiDiscrete( [ O×P 버킷 ,  L 블록크기 레벨 ] 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2103120"/>
            <a:ext cx="5212080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2212848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① 버킷 선택 (O×P)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2578608"/>
            <a:ext cx="4892040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22A33"/>
                </a:solidFill>
                <a:latin typeface="맑은 고딕"/>
              </a:rPr>
              <a:t>투입할 </a:t>
            </a:r>
            <a:r>
              <a:rPr sz="1200" b="1">
                <a:solidFill>
                  <a:srgbClr val="1B3255"/>
                </a:solidFill>
                <a:latin typeface="맑은 고딕"/>
              </a:rPr>
              <a:t>(PPK·OPER) 조합</a:t>
            </a:r>
            <a:r>
              <a:rPr sz="1200" b="0">
                <a:solidFill>
                  <a:srgbClr val="5C6670"/>
                </a:solidFill>
                <a:latin typeface="맑은 고딕"/>
              </a:rPr>
              <a:t>을 선택합니다. LOT과 EQP는 우선순위 규칙으로 자동 배정되어 행동 차원을 줄입니다.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2103120"/>
            <a:ext cx="5212080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212848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② 블록 크기 레벨 (L=4)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578608"/>
            <a:ext cx="4892040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22A33"/>
                </a:solidFill>
                <a:latin typeface="맑은 고딕"/>
              </a:rPr>
              <a:t>같은 셋업으로 </a:t>
            </a:r>
            <a:r>
              <a:rPr sz="1200" b="1">
                <a:solidFill>
                  <a:srgbClr val="1B3255"/>
                </a:solidFill>
                <a:latin typeface="맑은 고딕"/>
              </a:rPr>
              <a:t>연속 점유할 캐리어 수</a:t>
            </a:r>
            <a:r>
              <a:rPr sz="1200" b="0">
                <a:solidFill>
                  <a:srgbClr val="5C6670"/>
                </a:solidFill>
                <a:latin typeface="맑은 고딕"/>
              </a:rPr>
              <a:t>를 takt 예산 분율로 결정합니다. 레벨↑ → 더 큰 블록.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3657600"/>
            <a:ext cx="10515600" cy="41148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657600"/>
            <a:ext cx="10515600" cy="4114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맑은 고딕"/>
              </a:rPr>
              <a:t>블록 점유(Masked Replay) 동작 순서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4206240"/>
            <a:ext cx="2505456" cy="16002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05840" y="4370832"/>
            <a:ext cx="45720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72768" y="4407408"/>
            <a:ext cx="1636776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블록 시작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" y="4956048"/>
            <a:ext cx="2121408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버킷·크기 선택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N 산출, 1캐리어 배정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remaining = N−1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3328416" y="4892040"/>
            <a:ext cx="164592" cy="29260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493008" y="4206240"/>
            <a:ext cx="2505456" cy="16002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675888" y="4370832"/>
            <a:ext cx="45720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42816" y="4407408"/>
            <a:ext cx="1636776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블록 진행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94176" y="4956048"/>
            <a:ext cx="2121408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같은 설비의 다음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결정은 같은 버킷으로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강제(마스킹) 재생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5998464" y="4892040"/>
            <a:ext cx="164592" cy="29260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63056" y="4206240"/>
            <a:ext cx="2505456" cy="16002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345936" y="4370832"/>
            <a:ext cx="45720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12864" y="4407408"/>
            <a:ext cx="1636776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블록 종료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64224" y="4956048"/>
            <a:ext cx="2121408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remaining=0 또는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재공·계획·공구 소진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→ 블록 해제</a:t>
            </a:r>
          </a:p>
        </p:txBody>
      </p:sp>
      <p:sp>
        <p:nvSpPr>
          <p:cNvPr id="34" name="Right Arrow 33"/>
          <p:cNvSpPr/>
          <p:nvPr/>
        </p:nvSpPr>
        <p:spPr>
          <a:xfrm>
            <a:off x="8668512" y="4892040"/>
            <a:ext cx="164592" cy="29260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33104" y="4206240"/>
            <a:ext cx="2505456" cy="16002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015984" y="4370832"/>
            <a:ext cx="45720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582912" y="4407408"/>
            <a:ext cx="1636776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상한 규칙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34272" y="4956048"/>
            <a:ext cx="2121408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N ≤ min(takt예산,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가용 WIP, 잔여 계획)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공구는 매 캐리어 검사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2960" y="5943600"/>
            <a:ext cx="1051560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6FB0"/>
                </a:solidFill>
                <a:latin typeface="맑은 고딕"/>
              </a:rPr>
              <a:t>효과 </a:t>
            </a:r>
            <a:r>
              <a:rPr sz="1230" b="0">
                <a:solidFill>
                  <a:srgbClr val="222A33"/>
                </a:solidFill>
                <a:latin typeface="맑은 고딕"/>
              </a:rPr>
              <a:t>이산사건 무결성을 깨지 않으면서도 한 번의 결정으로 "같은 셋업 N캐리어 연속"을 실현 → 전환 횟수를 근본적으로 감소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Reward — 보상 항목과 가중치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261872"/>
            <a:ext cx="106070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222A33"/>
                </a:solidFill>
                <a:latin typeface="맑은 고딕"/>
              </a:rPr>
              <a:t>스텝 보상은 아래 항의 합이며 </a:t>
            </a:r>
            <a:r>
              <a:rPr sz="1350" b="1">
                <a:solidFill>
                  <a:srgbClr val="1B3255"/>
                </a:solidFill>
                <a:latin typeface="맑은 고딕"/>
              </a:rPr>
              <a:t>±10 범위로 클리핑</a:t>
            </a:r>
            <a:r>
              <a:rPr sz="1300" b="0">
                <a:solidFill>
                  <a:srgbClr val="5C6670"/>
                </a:solidFill>
                <a:latin typeface="맑은 고딕"/>
              </a:rPr>
              <a:t> 됩니다. (Bulk-Fill 학습 기준 가중치)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783080"/>
            <a:ext cx="3977639" cy="420624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50" b="1">
                <a:solidFill>
                  <a:srgbClr val="FFFFFF"/>
                </a:solidFill>
                <a:latin typeface="맑은 고딕"/>
              </a:rPr>
              <a:t>보상 항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800600" y="1783080"/>
            <a:ext cx="1234440" cy="420624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150" b="1">
                <a:solidFill>
                  <a:srgbClr val="FFFFFF"/>
                </a:solidFill>
                <a:latin typeface="맑은 고딕"/>
              </a:rPr>
              <a:t>가중치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35040" y="1783080"/>
            <a:ext cx="5303520" cy="420624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50" b="1">
                <a:solidFill>
                  <a:srgbClr val="FFFFFF"/>
                </a:solidFill>
                <a:latin typeface="맑은 고딕"/>
              </a:rPr>
              <a:t>의미 / 발생 조건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2203704"/>
            <a:ext cx="3977639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전환 패널티  w_conversion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00600" y="2203704"/>
            <a:ext cx="1234440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150" b="1">
                <a:solidFill>
                  <a:srgbClr val="B33A3A"/>
                </a:solidFill>
                <a:latin typeface="맑은 고딕"/>
              </a:rPr>
              <a:t>−10.0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35040" y="2203704"/>
            <a:ext cx="5303520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060" b="0">
                <a:solidFill>
                  <a:srgbClr val="5C6670"/>
                </a:solidFill>
                <a:latin typeface="맑은 고딕"/>
              </a:rPr>
              <a:t>LOT_CD·TEMP 전환(셋업 변경) 1회마다 부과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2756916"/>
            <a:ext cx="3977639" cy="55321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회피가능 전환  w_avoidable_conversion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00600" y="2756916"/>
            <a:ext cx="1234440" cy="55321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150" b="1">
                <a:solidFill>
                  <a:srgbClr val="B33A3A"/>
                </a:solidFill>
                <a:latin typeface="맑은 고딕"/>
              </a:rPr>
              <a:t>−8.0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35040" y="2756916"/>
            <a:ext cx="5303520" cy="55321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060" b="0">
                <a:solidFill>
                  <a:srgbClr val="5C6670"/>
                </a:solidFill>
                <a:latin typeface="맑은 고딕"/>
              </a:rPr>
              <a:t>다른 무전환 설비가 커버 가능한데도 전환 시 추가 부과(×회피가능비율)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3310128"/>
            <a:ext cx="3977639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페이싱  w_pacing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00600" y="3310128"/>
            <a:ext cx="1234440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150" b="1">
                <a:solidFill>
                  <a:srgbClr val="2E7D4F"/>
                </a:solidFill>
                <a:latin typeface="맑은 고딕"/>
              </a:rPr>
              <a:t>+2.5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35040" y="3310128"/>
            <a:ext cx="5303520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060" b="0">
                <a:solidFill>
                  <a:srgbClr val="5C6670"/>
                </a:solidFill>
                <a:latin typeface="맑은 고딕"/>
              </a:rPr>
              <a:t>달성가능 상한 기준 선형 takt에 가까워지면 +, 과생산이면 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3863339"/>
            <a:ext cx="3977639" cy="55321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동일 셋업 연속  w_same_setup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800600" y="3863339"/>
            <a:ext cx="1234440" cy="55321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150" b="1">
                <a:solidFill>
                  <a:srgbClr val="2E7D4F"/>
                </a:solidFill>
                <a:latin typeface="맑은 고딕"/>
              </a:rPr>
              <a:t>+1.0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35040" y="3863339"/>
            <a:ext cx="5303520" cy="55321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060" b="0">
                <a:solidFill>
                  <a:srgbClr val="5C6670"/>
                </a:solidFill>
                <a:latin typeface="맑은 고딕"/>
              </a:rPr>
              <a:t>직전과 제품·공정이 모두 같고 재공이 남아있을 때 +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4416552"/>
            <a:ext cx="3977639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블록 크기 보너스  w_bulk_block_bonus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800600" y="4416552"/>
            <a:ext cx="1234440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150" b="1">
                <a:solidFill>
                  <a:srgbClr val="2E7D4F"/>
                </a:solidFill>
                <a:latin typeface="맑은 고딕"/>
              </a:rPr>
              <a:t>+3.0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035040" y="4416552"/>
            <a:ext cx="5303520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060" b="0">
                <a:solidFill>
                  <a:srgbClr val="5C6670"/>
                </a:solidFill>
                <a:latin typeface="맑은 고딕"/>
              </a:rPr>
              <a:t>큰 블록으로 커밋할수록 + (takt예산 대비 블록 비율)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2960" y="4969764"/>
            <a:ext cx="3977639" cy="55321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전용 오용 패널티  w_dedication_misuse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800600" y="4969764"/>
            <a:ext cx="1234440" cy="55321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150" b="1">
                <a:solidFill>
                  <a:srgbClr val="B33A3A"/>
                </a:solidFill>
                <a:latin typeface="맑은 고딕"/>
              </a:rPr>
              <a:t>−4.0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035040" y="4969764"/>
            <a:ext cx="5303520" cy="55321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060" b="0">
                <a:solidFill>
                  <a:srgbClr val="5C6670"/>
                </a:solidFill>
                <a:latin typeface="맑은 고딕"/>
              </a:rPr>
              <a:t>더 전용적인 유휴 설비가 있는데 범용 설비가 그 버킷을 잡으면 −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2960" y="5522976"/>
            <a:ext cx="3977639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중복 커버 패널티  w_redundant_cover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800600" y="5522976"/>
            <a:ext cx="1234440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150" b="1">
                <a:solidFill>
                  <a:srgbClr val="B33A3A"/>
                </a:solidFill>
                <a:latin typeface="맑은 고딕"/>
              </a:rPr>
              <a:t>−5.0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035040" y="5522976"/>
            <a:ext cx="5303520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060" b="0">
                <a:solidFill>
                  <a:srgbClr val="5C6670"/>
                </a:solidFill>
                <a:latin typeface="맑은 고딕"/>
              </a:rPr>
              <a:t>이미 다른 설비가 충분히 덮는 버킷을 또 잡으면 − (전환 유도)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960" y="6053328"/>
            <a:ext cx="106070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80" b="0">
                <a:solidFill>
                  <a:srgbClr val="222A33"/>
                </a:solidFill>
                <a:latin typeface="맑은 고딕"/>
              </a:rPr>
              <a:t>위 3개 벌크 전용 항(블록·전용오용·중복커버)은 Bulk-Fill 환경에서만 활성화되어 </a:t>
            </a:r>
            <a:r>
              <a:rPr sz="1180" b="1">
                <a:solidFill>
                  <a:srgbClr val="1B3255"/>
                </a:solidFill>
                <a:latin typeface="맑은 고딕"/>
              </a:rPr>
              <a:t>"큰 블록으로 전담"</a:t>
            </a:r>
            <a:r>
              <a:rPr sz="1180" b="0">
                <a:solidFill>
                  <a:srgbClr val="5C6670"/>
                </a:solidFill>
                <a:latin typeface="맑은 고딕"/>
              </a:rPr>
              <a:t> 행동을 유도합니다.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입력 데이터 형태 (JSON)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234440"/>
            <a:ext cx="106070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222A33"/>
                </a:solidFill>
                <a:latin typeface="맑은 고딕"/>
              </a:rPr>
              <a:t>Oracle 또는 샘플 생성기가 </a:t>
            </a:r>
            <a:r>
              <a:rPr sz="1250" b="1">
                <a:solidFill>
                  <a:srgbClr val="1B3255"/>
                </a:solidFill>
                <a:latin typeface="맑은 고딕"/>
              </a:rPr>
              <a:t>data/dataset/{FAC}/{split}/{RULE_TIMEKEY}/input/</a:t>
            </a:r>
            <a:r>
              <a:rPr sz="1250" b="0">
                <a:solidFill>
                  <a:srgbClr val="222A33"/>
                </a:solidFill>
                <a:latin typeface="맑은 고딕"/>
              </a:rPr>
              <a:t> 경로에 아래 JSON을 적재합니다.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783080"/>
            <a:ext cx="2926080" cy="420624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파일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49040" y="1783080"/>
            <a:ext cx="594360" cy="420624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필수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43400" y="1783080"/>
            <a:ext cx="6995160" cy="420624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주요 필드 (행 단위)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2203704"/>
            <a:ext cx="292608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discrete_arrange.json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749040" y="2203704"/>
            <a:ext cx="5943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●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43400" y="2203704"/>
            <a:ext cx="69951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EQP_ID, LOT_ID, PLAN_PROD_ATTR_VAL, OPER_ID, ST, EQP_MODEL_CD, WF_QTY, CARRIER_ID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2862072"/>
            <a:ext cx="292608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plan.json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749040" y="2862072"/>
            <a:ext cx="5943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●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43400" y="2862072"/>
            <a:ext cx="69951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PLAN_PROD_ATTR_VAL, OPER_ID, D0_PLAN_QTY, D1_PLAN_QTY, PLAN_PRIORITY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3520439"/>
            <a:ext cx="292608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flow.json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749040" y="3520439"/>
            <a:ext cx="5943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●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43400" y="3520439"/>
            <a:ext cx="69951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PLAN_PROD_ATTR_VAL, OPER_SEQ, OPER_ID  (공정 순서)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4178807"/>
            <a:ext cx="292608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abstract_arrange.json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749040" y="4178807"/>
            <a:ext cx="5943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●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43400" y="4178807"/>
            <a:ext cx="69951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EQP_MODEL_CD, PLAN_PROD_ATTR_VAL, OPER_ID, ST  (모델-제품 적합성)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4837175"/>
            <a:ext cx="292608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lot_master.json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749040" y="4837175"/>
            <a:ext cx="5943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○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43400" y="4837175"/>
            <a:ext cx="69951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LOT_ID, LOT_CD, TEMP  (전환 그룹 판별)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2960" y="5495543"/>
            <a:ext cx="292608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tool_capacity.json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749040" y="5495543"/>
            <a:ext cx="5943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○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43400" y="5495543"/>
            <a:ext cx="69951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LOT_CD, TEMP, MAX_TOOL  (동시 가공 공구 한도)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2960" y="6153911"/>
            <a:ext cx="292608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batch_info.json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749040" y="6153911"/>
            <a:ext cx="5943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○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43400" y="6153911"/>
            <a:ext cx="69951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PLAN_PROD_ATTR_VAL, OPER_ID, LOT_CD, TEMP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2960" y="4892040"/>
            <a:ext cx="5074920" cy="14173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22960" y="4892040"/>
            <a:ext cx="5074920" cy="41148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2960" y="4892040"/>
            <a:ext cx="5074920" cy="4114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discrete_arrange 예시 (1행)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0120" y="5394960"/>
            <a:ext cx="4800600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{"EQP_ID":"EQP001","LOT_ID":"LOT001",</a:t>
            </a:r>
            <a:r>
              <a:rPr sz="950" b="0">
                <a:solidFill>
                  <a:srgbClr val="222A33"/>
                </a:solidFill>
                <a:latin typeface="맑은 고딕"/>
              </a:rPr>
              <a:t>"PLAN_PROD_ATTR_VAL":"PPK001","OPER_ID":"OPER001",</a:t>
            </a:r>
            <a:r>
              <a:rPr sz="950" b="1">
                <a:solidFill>
                  <a:srgbClr val="1B3255"/>
                </a:solidFill>
                <a:latin typeface="맑은 고딕"/>
              </a:rPr>
              <a:t>"ST":60,"EQP_MODEL_CD":"A","WF_QTY":1}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080760" y="4892040"/>
            <a:ext cx="5257800" cy="14173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080760" y="4892040"/>
            <a:ext cx="5257800" cy="4114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80760" y="4892040"/>
            <a:ext cx="5257800" cy="4114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preprocess() 이후 env_data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5394960"/>
            <a:ext cx="4983480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sim_base_time · sim_end_minutes(1440)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eqp_ids · prod_keys · oper_ids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lots · plan · flow · proc_time_matrix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→ 시뮬레이터·Gym 환경이 공유하는 내부 상태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스텝 보상 수식 — 항목별 정의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325880"/>
            <a:ext cx="10515600" cy="65836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325880"/>
            <a:ext cx="10515600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맑은 고딕"/>
              </a:rPr>
              <a:t>r_t = clip( Σ 보상항 , ±10 )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2148840"/>
            <a:ext cx="1051560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2221992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동일 셋업  +w_same_setup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0" y="2221992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직전과 제품·공정 동일 &amp; 재공 잔존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21240" y="2221992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+1.0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2624328"/>
            <a:ext cx="1051560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2697480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페이싱  w_pacing·Δ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2697480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(|ideal−eff_before| − |ideal−eff_after|) / target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921240" y="2697480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+2.5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3099816"/>
            <a:ext cx="1051560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5840" y="3172968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계획 달성  w_plan_hit·Δ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120" y="3172968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(gap_before − gap_after) / target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21240" y="3172968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+1.0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3575304"/>
            <a:ext cx="1051560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3648456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블록 보너스  w_bulk·min(N/예산,1)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9120" y="3648456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블록 시작 시에만 (Bulk-Fill)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21240" y="3648456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+3.0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2960" y="4050791"/>
            <a:ext cx="1051560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5840" y="4123944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전환  w_conversion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9120" y="4123944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LOT_CD/TEMP 셋업 변경 1회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921240" y="4123944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−10.0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2960" y="4526279"/>
            <a:ext cx="1051560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05840" y="4599431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회피가능 전환  w_avoid·α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89120" y="4599431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다른 무전환 설비가 커버 가능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21240" y="4599431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−8.0×α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22960" y="5001767"/>
            <a:ext cx="1051560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05840" y="5074919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중복 커버  w_redundant·min(cover/need,2)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89120" y="5074919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이미 덮이는 버킷 재선택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921240" y="5074919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−5.0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22960" y="5477255"/>
            <a:ext cx="1051560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05840" y="5550407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전용 오용  w_dedication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389120" y="5550407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더 전용 idle 설비가 있는데 범용이 선점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921240" y="5550407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−4.0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2960" y="5989320"/>
            <a:ext cx="1051560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22A33"/>
                </a:solidFill>
                <a:latin typeface="맑은 고딕"/>
              </a:rPr>
              <a:t>다음 </a:t>
            </a:r>
            <a:r>
              <a:rPr sz="1200" b="1">
                <a:solidFill>
                  <a:srgbClr val="1B3255"/>
                </a:solidFill>
                <a:latin typeface="맑은 고딕"/>
              </a:rPr>
              <a:t>8개 보상 항목</a:t>
            </a:r>
            <a:r>
              <a:rPr sz="1200" b="0">
                <a:solidFill>
                  <a:srgbClr val="222A33"/>
                </a:solidFill>
                <a:latin typeface="맑은 고딕"/>
              </a:rPr>
              <a:t>을 항목별 상세(쉬운 설명·수식·A/B·실측)로 설명한 뒤, </a:t>
            </a:r>
            <a:r>
              <a:rPr sz="1200" b="1">
                <a:solidFill>
                  <a:srgbClr val="1B3255"/>
                </a:solidFill>
                <a:latin typeface="맑은 고딕"/>
              </a:rPr>
              <a:t>SYM_3x3 실제 추론 트레이스</a:t>
            </a:r>
            <a:r>
              <a:rPr sz="1200" b="0">
                <a:solidFill>
                  <a:srgbClr val="222A33"/>
                </a:solidFill>
                <a:latin typeface="맑은 고딕"/>
              </a:rPr>
              <a:t>를 스텝마다 </a:t>
            </a:r>
            <a:r>
              <a:rPr sz="1200" b="1">
                <a:solidFill>
                  <a:srgbClr val="2E6FB0"/>
                </a:solidFill>
                <a:latin typeface="맑은 고딕"/>
              </a:rPr>
              <a:t>State → Action → Reward(8항 전체)</a:t>
            </a:r>
            <a:r>
              <a:rPr sz="1200" b="0">
                <a:solidFill>
                  <a:srgbClr val="222A33"/>
                </a:solidFill>
                <a:latin typeface="맑은 고딕"/>
              </a:rPr>
              <a:t>와 누적 간트로 보여줍니다.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동일 셋업  (w=+1.0)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33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w_same_setup · 1[직전 PPK·OPER 동일 &amp; 재공 잔존]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직전과 제품(PPK)·공정(OPER)이 같으면 셋업 변경 없이 +1. 셋업을 이어 붙이라는 신호.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786384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72237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w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+1.0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1[동일]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직전 PPK·OPER = 이번 선택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962656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008376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전환 비용을 피하고 같은 셋업으로 연속 가공하도록 유도.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블록 연속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EQP001이 직전과 동일 PPK001·OPER001로 블록 진행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1.0 · 1[PPK001→PPK001, OPER001→OPER001] = 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7D4F"/>
                </a:solidFill>
                <a:latin typeface="맑은 고딕"/>
              </a:rPr>
              <a:t>결과  +1.0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셋업 변경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PPK001→PPK002로 LOT_CD/TEMP 전환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셋업 변경 → 1[동일]=0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C6670"/>
                </a:solidFill>
                <a:latin typeface="맑은 고딕"/>
              </a:rPr>
              <a:t>결과  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248656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Step 4  ·  EQP001 → PPK001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650992"/>
            <a:ext cx="108813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80" b="0">
                <a:solidFill>
                  <a:srgbClr val="222A33"/>
                </a:solidFill>
                <a:latin typeface="맑은 고딕"/>
              </a:rPr>
              <a:t>1.0 · 1[None→PPK001, None→OPER001] = 1.0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035040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7D4F"/>
                </a:solidFill>
                <a:latin typeface="맑은 고딕"/>
              </a:rPr>
              <a:t>→  = +1.00  </a:t>
            </a:r>
            <a:r>
              <a:rPr sz="950" b="0">
                <a:solidFill>
                  <a:srgbClr val="5C6670"/>
                </a:solidFill>
                <a:latin typeface="맑은 고딕"/>
              </a:rPr>
              <a:t>(clip 전 항목 기여)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페이싱  (w=+2.5)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34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w_pacing · (|ideal − eff_before| − |ideal − eff_after|) / target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takt 목표선(ideal)에 실제 진척(eff)이 가까워지면 +, 멀어지면 −.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987552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923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ideal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target·min(t,H)/H — 지금까지 만들어야 할 이상량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eff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done + 다른설비 cover — 실제+커버 진척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target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달성가능 상한(재공 한도)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163824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209544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계획 속도(takt)에 맞추되, 이미 다른 설비가 덮으면 pace 충족으로 봄.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547872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547872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547872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pace 개선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968496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ideal=0.5, eff 0.3→0.5 (target=8)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4352544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407408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2.5 · (|0.5−0.3| − |0.5−0.5|) / 8 = 2.5 · 0.2/8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5029200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7D4F"/>
                </a:solidFill>
                <a:latin typeface="맑은 고딕"/>
              </a:rPr>
              <a:t>결과  +0.06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547872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547872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547872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과생산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968496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ideal=0.5, eff 0.3→0.8 (takt 초과)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4352544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407408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2.5 · (0.2 − 0.3) / 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5029200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B33A3A"/>
                </a:solidFill>
                <a:latin typeface="맑은 고딕"/>
              </a:rPr>
              <a:t>결과  −Δ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449824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449824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449824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Step 1  ·  EQP001 → PPK001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852160"/>
            <a:ext cx="108813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80" b="0">
                <a:solidFill>
                  <a:srgbClr val="222A33"/>
                </a:solidFill>
                <a:latin typeface="맑은 고딕"/>
              </a:rPr>
              <a:t>ideal: target·min(t,H)/H = 8·0/1320 = 0.0 · eff: 0.0→1.0 (done=0, cover=0.0, wf=1) · 2.5·(0.0−1.0)/8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236208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B33A3A"/>
                </a:solidFill>
                <a:latin typeface="맑은 고딕"/>
              </a:rPr>
              <a:t>→  = -0.31  </a:t>
            </a:r>
            <a:r>
              <a:rPr sz="950" b="0">
                <a:solidFill>
                  <a:srgbClr val="5C6670"/>
                </a:solidFill>
                <a:latin typeface="맑은 고딕"/>
              </a:rPr>
              <a:t>(clip 전 항목 기여)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계획 달성  (w=+1.0)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35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w_plan_hit · (gap_before − gap_after) / target   ;  gap = max(target − done, 0)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아직 만들어야 할 양(gap)이 줄면 +. 이미 다 만들었으면 0.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786384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72237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gap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max(target−done, 0)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target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달성가능 상한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962656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008376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계획 수량 달성을 직접 장려.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gap 감소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target=8, done 0→1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1.0 · (8−7) / 8 = +0.125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7D4F"/>
                </a:solidFill>
                <a:latin typeface="맑은 고딕"/>
              </a:rPr>
              <a:t>결과  +0.13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gap=0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이미 target 달성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gap_before=gap_after=0 → 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C6670"/>
                </a:solidFill>
                <a:latin typeface="맑은 고딕"/>
              </a:rPr>
              <a:t>결과  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248656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Step 1  ·  EQP001 → PPK001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650992"/>
            <a:ext cx="108813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80" b="0">
                <a:solidFill>
                  <a:srgbClr val="222A33"/>
                </a:solidFill>
                <a:latin typeface="맑은 고딕"/>
              </a:rPr>
              <a:t>gap: 8→7 (done 0→1, target=8) · 1.0·(8−7)/8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035040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7D4F"/>
                </a:solidFill>
                <a:latin typeface="맑은 고딕"/>
              </a:rPr>
              <a:t>→  = +0.14  </a:t>
            </a:r>
            <a:r>
              <a:rPr sz="950" b="0">
                <a:solidFill>
                  <a:srgbClr val="5C6670"/>
                </a:solidFill>
                <a:latin typeface="맑은 고딕"/>
              </a:rPr>
              <a:t>(clip 전 항목 기여)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블록 보너스  (w=+3.0)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36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w_bulk · min(N / takt예산, 1)   [블록 시작 시에만]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블록 시작 시 N캐리어 연속 처리를 약속(commit)하면 +. 연속 2번째 LOT에는 없음.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987552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923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N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커밋 블록 크기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takt 예산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horizon 내 허용 캐리어 수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w_bulk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+3.0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163824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209544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한 설비·한 셋업으로 길게 밀어라 — Bulk-Fill 핵심.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547872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547872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547872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블록 시작 N=8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968496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EQP001, PPK001, takt 예산=8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4352544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407408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3.0 · min(8/8, 1) = +3.0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5029200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7D4F"/>
                </a:solidFill>
                <a:latin typeface="맑은 고딕"/>
              </a:rPr>
              <a:t>결과  +3.0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547872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547872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547872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N=1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968496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블록 없이 1캐리어만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4352544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407408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블록 시작 아님 또는 N=1 → 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5029200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C6670"/>
                </a:solidFill>
                <a:latin typeface="맑은 고딕"/>
              </a:rPr>
              <a:t>결과  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449824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449824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449824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Step 1  ·  EQP001 → PPK001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852160"/>
            <a:ext cx="108813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80" b="0">
                <a:solidFill>
                  <a:srgbClr val="222A33"/>
                </a:solidFill>
                <a:latin typeface="맑은 고딕"/>
              </a:rPr>
              <a:t>3.0 · min(6 / 6, 1) = 3.0 · 1.0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236208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7D4F"/>
                </a:solidFill>
                <a:latin typeface="맑은 고딕"/>
              </a:rPr>
              <a:t>→  = +3.00  </a:t>
            </a:r>
            <a:r>
              <a:rPr sz="950" b="0">
                <a:solidFill>
                  <a:srgbClr val="5C6670"/>
                </a:solidFill>
                <a:latin typeface="맑은 고딕"/>
              </a:rPr>
              <a:t>(clip 전 항목 기여)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전환  (w=−10.0)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37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w_conversion · 1[LOT_CD/TEMP 셋업 변경]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LOT_CD/TEMP 셋업이 바뀌는 전환 1회마다 −10.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786384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72237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w_conv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−10.0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1[전환]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셋업 변경 발생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962656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008376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전환 = 설비 가동 손실. 근본적으로 줄이게 함.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전환 없음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동일 셋업 블록 연속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1[전환]=0 → 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C6670"/>
                </a:solidFill>
                <a:latin typeface="맑은 고딕"/>
              </a:rPr>
              <a:t>결과  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전환 발생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PPK001→PPK002 셋업 변경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−10.0 · 1 = −10.0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B33A3A"/>
                </a:solidFill>
                <a:latin typeface="맑은 고딕"/>
              </a:rPr>
              <a:t>결과  −10.0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248656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해당 항목 비발생 (0)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687568"/>
            <a:ext cx="1088136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이 트레이스에서는 해당 항목이 발생하지 않아 0입니다. </a:t>
            </a:r>
            <a:r>
              <a:rPr sz="1000" b="1">
                <a:solidFill>
                  <a:srgbClr val="1B3255"/>
                </a:solidFill>
                <a:latin typeface="맑은 고딕"/>
              </a:rPr>
              <a:t>예시 B 시나리오를 참고하세요.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회피가능 전환  (w=−8.0)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38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w_avoidable · α   ;  α = 회피가능 비율 (0~1)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굳이 이 설비에서 바꿀 필요 없었는데 전환하면 추가 −8×α.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58521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521207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α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0~1 회피가능 비율 (다른 설비 커버 등)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761488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2807208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다른 idle 설비에 맡기라는 신호.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145536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145536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145536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전환 없음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566160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—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3950208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005072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전환 없음 → 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4626864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C6670"/>
                </a:solidFill>
                <a:latin typeface="맑은 고딕"/>
              </a:rPr>
              <a:t>결과  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145536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145536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145536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회피가능 전환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566160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다른 설비가 PPK002를 70% 커버 가능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3950208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005072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−8.0 · 0.7 = −5.6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4626864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B33A3A"/>
                </a:solidFill>
                <a:latin typeface="맑은 고딕"/>
              </a:rPr>
              <a:t>결과  −5.6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047488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047488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047488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해당 항목 비발생 (0)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486400"/>
            <a:ext cx="1088136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이 트레이스에서는 해당 항목이 발생하지 않아 0입니다. </a:t>
            </a:r>
            <a:r>
              <a:rPr sz="1000" b="1">
                <a:solidFill>
                  <a:srgbClr val="1B3255"/>
                </a:solidFill>
                <a:latin typeface="맑은 고딕"/>
              </a:rPr>
              <a:t>예시 B 시나리오를 참고하세요.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중복 커버  (w=−5.0)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39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w_redundant · min(cover / need, 2)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다른 설비가 이미 충분히 덮는 제품을 또 잡으면 −.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786384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72237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cover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다른 EQP horizon 투영 생산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need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잔여 필요량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962656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008376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3대가 같은 제품만 몰리는 lockstep 방지.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cover=0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전담 제품, 다른 설비 커버 없음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cover=0 → 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C6670"/>
                </a:solidFill>
                <a:latin typeface="맑은 고딕"/>
              </a:rPr>
              <a:t>결과  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중복 커버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cover/need ≈ 0.4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−5.0 · min(0.4, 2) ≈ −2.0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B33A3A"/>
                </a:solidFill>
                <a:latin typeface="맑은 고딕"/>
              </a:rPr>
              <a:t>결과  −2.0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248656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Step 1  ·  EQP001 → PPK001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650992"/>
            <a:ext cx="108813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80" b="0">
                <a:solidFill>
                  <a:srgbClr val="222A33"/>
                </a:solidFill>
                <a:latin typeface="맑은 고딕"/>
              </a:rPr>
              <a:t>cover=0.0, need=8 → 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035040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5C6670"/>
                </a:solidFill>
                <a:latin typeface="맑은 고딕"/>
              </a:rPr>
              <a:t>→  = -0.00  </a:t>
            </a:r>
            <a:r>
              <a:rPr sz="950" b="0">
                <a:solidFill>
                  <a:srgbClr val="5C6670"/>
                </a:solidFill>
                <a:latin typeface="맑은 고딕"/>
              </a:rPr>
              <a:t>(clip 전 항목 기여)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전용 오용  (w=−4.0)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w_dedication_misuse · 1[더 전용 idle 설비 존재]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범용 설비가 전용 idle 설비도 할 수 있는 일을 가져가면 −4.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58521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521207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breadth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장비가 할 수 있는 제품 종류 수 — 작을수록 전용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761488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2807208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전용 설비는 전용 제품에, 범용은 범용에.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145536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145536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145536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전담 적합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566160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EQP001 전담 PPK001, 더 전용 idle 없음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3950208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005072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1[전용 오용]=0 → 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4626864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C6670"/>
                </a:solidFill>
                <a:latin typeface="맑은 고딕"/>
              </a:rPr>
              <a:t>결과  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145536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145536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145536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범용 오용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566160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범용 EQP가 전용 EQP 가능 버킷 선점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3950208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005072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−4.0 · 1 = −4.0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4626864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B33A3A"/>
                </a:solidFill>
                <a:latin typeface="맑은 고딕"/>
              </a:rPr>
              <a:t>결과  −4.0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047488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047488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047488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해당 항목 비발생 (0)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486400"/>
            <a:ext cx="1088136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이 트레이스에서는 해당 항목이 발생하지 않아 0입니다. </a:t>
            </a:r>
            <a:r>
              <a:rPr sz="1000" b="1">
                <a:solidFill>
                  <a:srgbClr val="1B3255"/>
                </a:solidFill>
                <a:latin typeface="맑은 고딕"/>
              </a:rPr>
              <a:t>예시 B 시나리오를 참고하세요.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Step 1 — 블록 시작 (N=6 커밋 · 이번 1LOT)  (EQP001 → PPK001)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State  (관측 요약)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시뮬 시각 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계획 달성률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완료 수량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/ 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전환 누적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유휴 설비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3 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obs[0] 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obs[3] 진척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0.000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684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62288" y="1810512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결정 설비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1810512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EQP001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121408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버킷 PPK/OPER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5560" y="2121408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PPK001 / OPER001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62288" y="2432303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레벨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5560" y="2432303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L=3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2288" y="2743199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커밋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60" y="2743199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N=6 연속 처리 약속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3054095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remaining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3054095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5 (다음 idle마다)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62288" y="3364991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배정 LOT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60" y="3364991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LOT001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62288" y="3675887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유형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95560" y="3675887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시작 (N=6 커밋 · 이번 1LOT)</a:t>
            </a:r>
          </a:p>
        </p:txBody>
      </p:sp>
      <p:pic>
        <p:nvPicPr>
          <p:cNvPr id="44" name="Picture 43" descr="step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298448"/>
            <a:ext cx="5532120" cy="217627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3337560" y="3511296"/>
            <a:ext cx="553212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연한 해칭 = N캐리어 커밋 구간  ·  실선 = 스케줄 등록 LOT (스텝마다 1개씩)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Reward  r = +2.83   ·   누적 Σr = +2.83   ·   clip(Σ항, ±10)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0292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3093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25780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093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1[동일 제품·공정 &amp; 재공 잔존]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093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1.0 · 1[None→PPK001, None→OPER001] = 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02920" y="4617720"/>
            <a:ext cx="64008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3093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25780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-0.31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093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eff_after|)…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3093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ideal: target·min(t,H)/H = 8·0/1320 = 0.0 · eff: 0.0→1.0 (done=0, cov…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0292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02920" y="5129784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3093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25780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+0.14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3093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gap…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3093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gap: 8→7 (done 0→1, target=8) · 1.0·(8−7)/8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0292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02920" y="5641848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3093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25780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+3.00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시작]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3093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3.0 · min(6 / 6, 1) = 3.0 · 1.0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17220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17220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30021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92708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30021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전환]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021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-10.0 · 1[전환 없음] = 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17220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172200" y="4617720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30021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92708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30021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(α=회피가능 비율)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30021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전환 없음 또는 회피 불가 → 0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17220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6172200" y="5129784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30021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92708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-0.00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30021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30021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cover=0.0, need=8 → 0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17220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617220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30021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92708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30021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30021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더 전용 idle 설비 없음 → 0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02920" y="6190488"/>
            <a:ext cx="11201400" cy="310896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58368" y="6190488"/>
            <a:ext cx="1088136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합산  </a:t>
            </a:r>
            <a:r>
              <a:rPr sz="950" b="0">
                <a:solidFill>
                  <a:srgbClr val="222A33"/>
                </a:solidFill>
                <a:latin typeface="맑은 고딕"/>
              </a:rPr>
              <a:t>동일 셋업 +0.00 + 페이싱 -0.31 + 계획 달성 +0.14 + 블록 보너스 +3.00 + 전환 +0.00 + 회피가능 전환 +0.00 + 중복 커버 -0.00 + 전용 오용 +0.00  →  r = +2.83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Step 2 — 블록 시작 (N=6 커밋 · 이번 1LOT)  (EQP002 → PPK002)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42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State  (관측 요약)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시뮬 시각 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계획 달성률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4.2%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완료 수량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 / 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전환 누적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유휴 설비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2 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obs[0] 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obs[3] 진척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0.042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684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62288" y="1810512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결정 설비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1810512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EQP002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121408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버킷 PPK/OPER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5560" y="2121408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PPK002 / OPER001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62288" y="2432303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레벨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5560" y="2432303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L=3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2288" y="2743199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커밋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60" y="2743199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N=6 연속 처리 약속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3054095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remaining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3054095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5 (다음 idle마다)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62288" y="3364991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배정 LOT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60" y="3364991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LOT009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62288" y="3675887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유형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95560" y="3675887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시작 (N=6 커밋 · 이번 1LOT)</a:t>
            </a:r>
          </a:p>
        </p:txBody>
      </p:sp>
      <p:pic>
        <p:nvPicPr>
          <p:cNvPr id="44" name="Picture 43" descr="step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298448"/>
            <a:ext cx="5532120" cy="217627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3337560" y="3511296"/>
            <a:ext cx="553212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연한 해칭 = N캐리어 커밋 구간  ·  실선 = 스케줄 등록 LOT (스텝마다 1개씩)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Reward  r = +2.83   ·   누적 Σr = +5.66   ·   clip(Σ항, ±10)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0292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3093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25780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093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1[동일 제품·공정 &amp; 재공 잔존]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093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1.0 · 1[None→PPK002, None→OPER001] = 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02920" y="4617720"/>
            <a:ext cx="64008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3093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25780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-0.31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093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eff_after|)…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3093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ideal: target·min(t,H)/H = 8·0/1320 = 0.0 · eff: 0.0→1.0 (done=0, cov…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0292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02920" y="5129784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3093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25780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+0.14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3093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gap…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3093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gap: 8→7 (done 0→1, target=8) · 1.0·(8−7)/8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0292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02920" y="5641848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3093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25780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+3.00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시작]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3093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3.0 · min(6 / 6, 1) = 3.0 · 1.0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17220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17220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30021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92708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30021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전환]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021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-10.0 · 1[전환 없음] = 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17220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172200" y="4617720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30021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92708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30021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(α=회피가능 비율)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30021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전환 없음 또는 회피 불가 → 0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17220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6172200" y="5129784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30021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92708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-0.00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30021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30021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cover=0.0, need=8 → 0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17220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617220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30021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92708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30021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30021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더 전용 idle 설비 없음 → 0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02920" y="6190488"/>
            <a:ext cx="11201400" cy="310896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58368" y="6190488"/>
            <a:ext cx="1088136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합산  </a:t>
            </a:r>
            <a:r>
              <a:rPr sz="950" b="0">
                <a:solidFill>
                  <a:srgbClr val="222A33"/>
                </a:solidFill>
                <a:latin typeface="맑은 고딕"/>
              </a:rPr>
              <a:t>동일 셋업 +0.00 + 페이싱 -0.31 + 계획 달성 +0.14 + 블록 보너스 +3.00 + 전환 +0.00 + 회피가능 전환 +0.00 + 중복 커버 -0.00 + 전용 오용 +0.00  →  r = +2.83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Step 3 — 블록 시작 (N=6 커밋 · 이번 1LOT)  (EQP003 → PPK003)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43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State  (관측 요약)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시뮬 시각 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계획 달성률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8.3%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완료 수량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2 / 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전환 누적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유휴 설비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 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obs[0] 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obs[3] 진척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0.083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684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62288" y="1810512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결정 설비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1810512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EQP003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121408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버킷 PPK/OPER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5560" y="2121408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PPK003 / OPER001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62288" y="2432303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레벨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5560" y="2432303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L=3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2288" y="2743199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커밋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60" y="2743199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N=6 연속 처리 약속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3054095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remaining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3054095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5 (다음 idle마다)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62288" y="3364991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배정 LOT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60" y="3364991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LOT017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62288" y="3675887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유형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95560" y="3675887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시작 (N=6 커밋 · 이번 1LOT)</a:t>
            </a:r>
          </a:p>
        </p:txBody>
      </p:sp>
      <p:pic>
        <p:nvPicPr>
          <p:cNvPr id="44" name="Picture 43" descr="step_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298448"/>
            <a:ext cx="5532120" cy="217627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3337560" y="3511296"/>
            <a:ext cx="553212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연한 해칭 = N캐리어 커밋 구간  ·  실선 = 스케줄 등록 LOT (스텝마다 1개씩)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Reward  r = +2.83   ·   누적 Σr = +8.49   ·   clip(Σ항, ±10)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0292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3093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25780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093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1[동일 제품·공정 &amp; 재공 잔존]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093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1.0 · 1[None→PPK003, None→OPER001] = 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02920" y="4617720"/>
            <a:ext cx="64008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3093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25780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-0.31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093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eff_after|)…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3093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ideal: target·min(t,H)/H = 8·0/1320 = 0.0 · eff: 0.0→1.0 (done=0, cov…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0292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02920" y="5129784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3093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25780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+0.14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3093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gap…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3093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gap: 8→7 (done 0→1, target=8) · 1.0·(8−7)/8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0292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02920" y="5641848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3093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25780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+3.00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시작]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3093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3.0 · min(6 / 6, 1) = 3.0 · 1.0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17220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17220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30021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92708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30021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전환]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021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-10.0 · 1[전환 없음] = 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17220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172200" y="4617720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30021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92708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30021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(α=회피가능 비율)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30021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전환 없음 또는 회피 불가 → 0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17220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6172200" y="5129784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30021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92708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-0.00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30021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30021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cover=0.0, need=8 → 0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17220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617220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30021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92708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30021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30021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더 전용 idle 설비 없음 → 0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02920" y="6190488"/>
            <a:ext cx="11201400" cy="310896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58368" y="6190488"/>
            <a:ext cx="1088136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합산  </a:t>
            </a:r>
            <a:r>
              <a:rPr sz="950" b="0">
                <a:solidFill>
                  <a:srgbClr val="222A33"/>
                </a:solidFill>
                <a:latin typeface="맑은 고딕"/>
              </a:rPr>
              <a:t>동일 셋업 +0.00 + 페이싱 -0.31 + 계획 달성 +0.14 + 블록 보너스 +3.00 + 전환 +0.00 + 회피가능 전환 +0.00 + 중복 커버 -0.00 + 전용 오용 +0.00  →  r = +2.83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Step 4 — 블록 연속 (LOT 2/6 · masked replay)  (EQP001 → PPK001)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44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State  (관측 요약)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시뮬 시각 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계획 달성률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12.5%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완료 수량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3 / 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전환 누적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유휴 설비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obs[0] 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obs[3] 진척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0.125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684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62288" y="1810512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결정 설비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1810512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EQP001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157984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버킷 PPK/OPER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5560" y="2157984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PPK001 / OPER001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62288" y="2505456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레벨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5560" y="2505456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L=3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2288" y="2852927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진행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60" y="2852927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 2/6 추가 배정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3200399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배정 LOT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3200399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LOT004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62288" y="3547871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유형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60" y="3547871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연속 (LOT 2/6 · masked replay)</a:t>
            </a:r>
          </a:p>
        </p:txBody>
      </p:sp>
      <p:pic>
        <p:nvPicPr>
          <p:cNvPr id="42" name="Picture 41" descr="step_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298448"/>
            <a:ext cx="5532120" cy="217627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3337560" y="3511296"/>
            <a:ext cx="553212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연한 해칭 = N캐리어 커밋 구간  ·  실선 = 스케줄 등록 LOT (스텝마다 1개씩)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Reward  r = +0.83   ·   누적 Σr = +9.32   ·   clip(Σ항, ±10)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02920" y="4105656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3093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25780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+1.00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093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1[동일 제품·공정 &amp; 재공 잔존]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093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1.0 · 1[None→PPK001, None→OPER001] = 1.0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02920" y="4617720"/>
            <a:ext cx="64008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093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25780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-0.31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3093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eff_after|)…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3093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ideal: target·min(t,H)/H = 8·0/1320 = 0.0 · eff: 22.0→23.0 (done=1, c…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292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02920" y="5129784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3093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25780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+0.14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3093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gap…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3093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gap: 7→6 (done 1→2, target=8) · 1.0·(7−6)/8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0292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0292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3093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5780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3093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시작]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3093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블록 시작 아님 → 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17220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17220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30021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92708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30021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전환]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30021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-10.0 · 1[전환 없음] = 0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17220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172200" y="4617720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30021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92708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30021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(α=회피가능 비율)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30021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전환 없음 또는 회피 불가 → 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17220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6172200" y="5129784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021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92708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30021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30021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cover=21.0, need=7 → 0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17220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617220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30021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092708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30021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30021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더 전용 idle 설비 없음 → 0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02920" y="6190488"/>
            <a:ext cx="11201400" cy="310896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58368" y="6190488"/>
            <a:ext cx="1088136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합산  </a:t>
            </a:r>
            <a:r>
              <a:rPr sz="950" b="0">
                <a:solidFill>
                  <a:srgbClr val="222A33"/>
                </a:solidFill>
                <a:latin typeface="맑은 고딕"/>
              </a:rPr>
              <a:t>동일 셋업 +1.00 + 페이싱 -0.31 + 계획 달성 +0.14 + 블록 보너스 +0.00 + 전환 +0.00 + 회피가능 전환 +0.00 + 중복 커버 +0.00 + 전용 오용 +0.00  →  r = +0.83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Step 6 — 블록 연속 (LOT 2/6 · masked replay)  (EQP003 → PPK003)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45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State  (관측 요약)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시뮬 시각 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60 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계획 달성률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20.8%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완료 수량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5 / 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전환 누적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유휴 설비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 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obs[0] 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0.125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obs[3] 진척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0.208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684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62288" y="1810512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결정 설비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1810512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EQP003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157984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버킷 PPK/OPER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5560" y="2157984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PPK003 / OPER001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62288" y="2505456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레벨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5560" y="2505456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L=3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2288" y="2852927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진행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60" y="2852927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 2/6 추가 배정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3200399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배정 LOT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3200399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LOT018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62288" y="3547871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유형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60" y="3547871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연속 (LOT 2/6 · masked replay)</a:t>
            </a:r>
          </a:p>
        </p:txBody>
      </p:sp>
      <p:pic>
        <p:nvPicPr>
          <p:cNvPr id="42" name="Picture 41" descr="step_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298448"/>
            <a:ext cx="5532120" cy="217627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3337560" y="3511296"/>
            <a:ext cx="553212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연한 해칭 = N캐리어 커밋 구간  ·  실선 = 스케줄 등록 LOT (스텝마다 1개씩)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Reward  r = +0.83   ·   누적 Σr = +10.98   ·   clip(Σ항, ±10)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02920" y="4105656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3093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25780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+1.00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093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1[동일 제품·공정 &amp; 재공 잔존]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093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1.0 · 1[PPK003→PPK003, OPER001→OPER001] = 1.0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02920" y="4617720"/>
            <a:ext cx="64008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093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25780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-0.31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3093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eff_after|)…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3093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ideal: target·min(t,H)/H = 8·60/1320 = 0.36 · eff: 1.0→2.0 (done=1, c…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292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02920" y="5129784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3093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25780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+0.14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3093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gap…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3093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gap: 7→6 (done 1→2, target=8) · 1.0·(7−6)/8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0292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0292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3093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5780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3093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시작]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3093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블록 시작 아님 → 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17220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17220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30021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92708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30021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전환]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30021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-10.0 · 1[전환 없음] = 0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17220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172200" y="4617720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30021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92708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30021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(α=회피가능 비율)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30021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전환 없음 또는 회피 불가 → 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17220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6172200" y="5129784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021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92708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30021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30021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cover=0.0, need=7 → 0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17220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617220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30021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092708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30021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30021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더 전용 idle 설비 없음 → 0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02920" y="6190488"/>
            <a:ext cx="11201400" cy="310896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58368" y="6190488"/>
            <a:ext cx="1088136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합산  </a:t>
            </a:r>
            <a:r>
              <a:rPr sz="950" b="0">
                <a:solidFill>
                  <a:srgbClr val="222A33"/>
                </a:solidFill>
                <a:latin typeface="맑은 고딕"/>
              </a:rPr>
              <a:t>동일 셋업 +1.00 + 페이싱 -0.31 + 계획 달성 +0.14 + 블록 보너스 +0.00 + 전환 +0.00 + 회피가능 전환 +0.00 + 중복 커버 +0.00 + 전용 오용 +0.00  →  r = +0.83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Step 8 — 블록 연속 (LOT 3/6 · masked replay)  (EQP002 → PPK002)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46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State  (관측 요약)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시뮬 시각 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120 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계획 달성률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29.2%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완료 수량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7 / 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전환 누적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유휴 설비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2 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obs[0] 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0.250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obs[3] 진척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0.292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684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62288" y="1810512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결정 설비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1810512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EQP002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157984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버킷 PPK/OPER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5560" y="2157984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PPK002 / OPER001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62288" y="2505456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레벨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5560" y="2505456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L=3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2288" y="2852927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진행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60" y="2852927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 3/6 추가 배정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3200399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배정 LOT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3200399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LOT015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62288" y="3547871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유형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60" y="3547871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연속 (LOT 3/6 · masked replay)</a:t>
            </a:r>
          </a:p>
        </p:txBody>
      </p:sp>
      <p:pic>
        <p:nvPicPr>
          <p:cNvPr id="42" name="Picture 41" descr="step_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298448"/>
            <a:ext cx="5532120" cy="217627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3337560" y="3511296"/>
            <a:ext cx="553212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연한 해칭 = N캐리어 커밋 구간  ·  실선 = 스케줄 등록 LOT (스텝마다 1개씩)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Reward  r = +0.83   ·   누적 Σr = +12.64   ·   clip(Σ항, ±10)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02920" y="4105656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3093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25780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+1.00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093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1[동일 제품·공정 &amp; 재공 잔존]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093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1.0 · 1[PPK002→PPK002, OPER001→OPER001] = 1.0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02920" y="4617720"/>
            <a:ext cx="64008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093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25780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-0.31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3093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eff_after|)…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3093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ideal: target·min(t,H)/H = 8·120/1320 = 0.73 · eff: 2.0→3.0 (done=2, …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292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02920" y="5129784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3093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25780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+0.14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3093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gap…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3093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gap: 6→5 (done 2→3, target=8) · 1.0·(6−5)/8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0292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0292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3093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5780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3093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시작]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3093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블록 시작 아님 → 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17220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17220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30021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92708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30021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전환]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30021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-10.0 · 1[전환 없음] = 0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17220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172200" y="4617720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30021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92708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30021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(α=회피가능 비율)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30021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전환 없음 또는 회피 불가 → 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17220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6172200" y="5129784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021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92708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30021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30021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cover=0.0, need=6 → 0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17220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617220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30021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092708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30021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30021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더 전용 idle 설비 없음 → 0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02920" y="6190488"/>
            <a:ext cx="11201400" cy="310896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58368" y="6190488"/>
            <a:ext cx="1088136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합산  </a:t>
            </a:r>
            <a:r>
              <a:rPr sz="950" b="0">
                <a:solidFill>
                  <a:srgbClr val="222A33"/>
                </a:solidFill>
                <a:latin typeface="맑은 고딕"/>
              </a:rPr>
              <a:t>동일 셋업 +1.00 + 페이싱 -0.31 + 계획 달성 +0.14 + 블록 보너스 +0.00 + 전환 +0.00 + 회피가능 전환 +0.00 + 중복 커버 +0.00 + 전용 오용 +0.00  →  r = +0.83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대표 시나리오 — 바람직 vs 지양 결정 (전체 항목)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234440"/>
            <a:ext cx="1060704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80" b="0">
                <a:solidFill>
                  <a:srgbClr val="5C6670"/>
                </a:solidFill>
                <a:latin typeface="맑은 고딕"/>
              </a:rPr>
              <a:t>검증 데이터(3설비·3제품·각 8캐리어, takt 예산 8) 기준, 대표 결정 두 가지의 보상 계산입니다.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783080"/>
            <a:ext cx="5212080" cy="37033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1783080"/>
            <a:ext cx="5212080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1783080"/>
            <a:ext cx="52120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예시 A · 전담 블록 시작 (바람직)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" y="2377440"/>
            <a:ext cx="484632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B3255"/>
                </a:solidFill>
                <a:latin typeface="맑은 고딕"/>
              </a:rPr>
              <a:t>상황 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EQP001이 직전과 같은 PPK001을 블록 크기 8(=takt 예산 전량)로 커밋, 다른 설비가 덮지 않는 제품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4128" y="248716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31720" y="248716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1[직전 PPK·OPER 동일 &amp; 재공 잔존]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4128" y="268833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1.0 · 1[PPK001→PPK001, OPER001→OPER001] = 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74920" y="256032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7D4F"/>
                </a:solidFill>
                <a:latin typeface="맑은 고딕"/>
              </a:rPr>
              <a:t>+1.0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4128" y="287007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31720" y="287007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 / target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4128" y="307124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2.5 · (|0.5−0.3| − |0.5−0.5|) / 8 = 2.5 · 0.2/8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74920" y="294322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7D4F"/>
                </a:solidFill>
                <a:latin typeface="맑은 고딕"/>
              </a:rPr>
              <a:t>+0.06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" y="325297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31720" y="325297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 = max(target − done, 0)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4128" y="345414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1.0 · (8−7) / 8 = +0.125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74920" y="332613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7D4F"/>
                </a:solidFill>
                <a:latin typeface="맑은 고딕"/>
              </a:rPr>
              <a:t>+0.13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4128" y="363588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331720" y="363588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 시에만]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4128" y="383705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3.0 · min(8/8, 1) = +3.0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74920" y="370903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7D4F"/>
                </a:solidFill>
                <a:latin typeface="맑은 고딕"/>
              </a:rPr>
              <a:t>+3.0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4128" y="401878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331720" y="401878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셋업 변경]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4128" y="421995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1[전환]=0 → 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74920" y="409194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4128" y="440169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31720" y="440169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;  α = 회피가능 비율 (0~1)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24128" y="460286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전환 없음 → 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74920" y="447484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24128" y="478459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331720" y="478459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4128" y="498576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cover=0 → 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74920" y="485775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4128" y="516750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331720" y="516750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24128" y="536867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1[전용 오용]=0 → 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074920" y="524065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024128" y="4956048"/>
            <a:ext cx="4809744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24128" y="5029200"/>
            <a:ext cx="4809744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합계  </a:t>
            </a:r>
            <a:r>
              <a:rPr sz="1300" b="1">
                <a:solidFill>
                  <a:srgbClr val="2E7D4F"/>
                </a:solidFill>
                <a:latin typeface="맑은 고딕"/>
              </a:rPr>
              <a:t>≈ +4~+6 수준의 강한 양(+) 보상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24128" y="5440680"/>
            <a:ext cx="484632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→ 같은 셋업으로 길게 점유하는 행동을 강화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126480" y="1783080"/>
            <a:ext cx="5212080" cy="37033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126480" y="1783080"/>
            <a:ext cx="5212080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126480" y="1783080"/>
            <a:ext cx="52120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예시 B · 회피가능 전환 (지양)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27648" y="2377440"/>
            <a:ext cx="484632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B3255"/>
                </a:solidFill>
                <a:latin typeface="맑은 고딕"/>
              </a:rPr>
              <a:t>상황 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EQP가 PPK001→PPK002로 셋업을 바꿔 1캐리어만 처리. 다른 무전환 설비가 PPK002를 70% 커버 가능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327648" y="248716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35240" y="248716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1[직전 PPK·OPER 동일 &amp; 재공 잔존]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327648" y="268833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셋업 변경 → 1[동일]=0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378440" y="256032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27648" y="287007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635240" y="287007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 / target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327648" y="307124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2.5 · (0.2 − 0.3) / 8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378440" y="294322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33A3A"/>
                </a:solidFill>
                <a:latin typeface="맑은 고딕"/>
              </a:rPr>
              <a:t>−Δ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327648" y="325297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635240" y="325297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 = max(target − done, 0)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327648" y="345414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gap_before=gap_after=0 → 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378440" y="332613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327648" y="363588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35240" y="363588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 시에만]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327648" y="383705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블록 시작 아님 또는 N=1 → 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378440" y="370903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27648" y="401878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635240" y="401878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셋업 변경]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327648" y="421995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−10.0 · 1 = −10.0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378440" y="409194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33A3A"/>
                </a:solidFill>
                <a:latin typeface="맑은 고딕"/>
              </a:rPr>
              <a:t>−10.0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327648" y="440169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635240" y="440169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;  α = 회피가능 비율 (0~1)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327648" y="460286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−8.0 · 0.7 = −5.6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378440" y="447484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33A3A"/>
                </a:solidFill>
                <a:latin typeface="맑은 고딕"/>
              </a:rPr>
              <a:t>−5.6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327648" y="478459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635240" y="478459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327648" y="498576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−5.0 · min(0.4, 2) ≈ −2.0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378440" y="485775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33A3A"/>
                </a:solidFill>
                <a:latin typeface="맑은 고딕"/>
              </a:rPr>
              <a:t>−2.0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327648" y="516750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635240" y="516750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327648" y="536867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−4.0 · 1 = −4.0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378440" y="524065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33A3A"/>
                </a:solidFill>
                <a:latin typeface="맑은 고딕"/>
              </a:rPr>
              <a:t>−4.0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327648" y="4956048"/>
            <a:ext cx="4809744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327648" y="5029200"/>
            <a:ext cx="4809744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합계  </a:t>
            </a:r>
            <a:r>
              <a:rPr sz="1300" b="1">
                <a:solidFill>
                  <a:srgbClr val="B33A3A"/>
                </a:solidFill>
                <a:latin typeface="맑은 고딕"/>
              </a:rPr>
              <a:t>≈ −20 수준의 강한 음(−) 보상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327648" y="5440680"/>
            <a:ext cx="484632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→ 불필요한 셋업 변경을 강하게 억제</a:t>
            </a:r>
          </a:p>
        </p:txBody>
      </p:sp>
      <p:sp>
        <p:nvSpPr>
          <p:cNvPr id="89" name="Rectangle 88"/>
          <p:cNvSpPr/>
          <p:nvPr/>
        </p:nvSpPr>
        <p:spPr>
          <a:xfrm>
            <a:off x="822960" y="5715000"/>
            <a:ext cx="10515600" cy="64008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1051560" y="5715000"/>
            <a:ext cx="10149840" cy="6400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9DBEE0"/>
                </a:solidFill>
                <a:latin typeface="맑은 고딕"/>
              </a:rPr>
              <a:t>학습 결과  </a:t>
            </a:r>
            <a:r>
              <a:rPr sz="1300" b="0">
                <a:solidFill>
                  <a:srgbClr val="FFFFFF"/>
                </a:solidFill>
                <a:latin typeface="맑은 고딕"/>
              </a:rPr>
              <a:t>정책은 "전담 블록은 키우고, 회피가능한 전환은 피한다"는 행동을 자연스럽게 획득합니다.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스텝별 요약 — SYM_3x3 트레이스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170432"/>
            <a:ext cx="1106424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222A33"/>
                </a:solidFill>
                <a:latin typeface="맑은 고딕"/>
              </a:rPr>
              <a:t>학습 모델을 </a:t>
            </a:r>
            <a:r>
              <a:rPr sz="1150" b="1">
                <a:solidFill>
                  <a:srgbClr val="1B3255"/>
                </a:solidFill>
                <a:latin typeface="맑은 고딕"/>
              </a:rPr>
              <a:t>SYM_3x3</a:t>
            </a:r>
            <a:r>
              <a:rPr sz="1150" b="0">
                <a:solidFill>
                  <a:srgbClr val="222A33"/>
                </a:solidFill>
                <a:latin typeface="맑은 고딕"/>
              </a:rPr>
              <a:t>(3설비·각 8캐리어, takt 예산 8)에 결정론적 추론한 </a:t>
            </a:r>
            <a:r>
              <a:rPr sz="1150" b="1">
                <a:solidFill>
                  <a:srgbClr val="1B3255"/>
                </a:solidFill>
                <a:latin typeface="맑은 고딕"/>
              </a:rPr>
              <a:t>실제 첫 8스텝</a:t>
            </a:r>
            <a:r>
              <a:rPr sz="1150" b="0">
                <a:solidFill>
                  <a:srgbClr val="222A33"/>
                </a:solidFill>
                <a:latin typeface="맑은 고딕"/>
              </a:rPr>
              <a:t>의 상태·보상 변화입니다.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1627632"/>
            <a:ext cx="77724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스텝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344168" y="1627632"/>
            <a:ext cx="91440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t(분)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58568" y="1627632"/>
            <a:ext cx="269748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결정 (EQP → PPK)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956048" y="1627632"/>
            <a:ext cx="169164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행동 유형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47688" y="1627632"/>
            <a:ext cx="141732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달성률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65008" y="1627632"/>
            <a:ext cx="173736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보상 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802368" y="1627632"/>
            <a:ext cx="173736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누적 Σr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2048256"/>
            <a:ext cx="77724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344168" y="2048256"/>
            <a:ext cx="91440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58568" y="2048256"/>
            <a:ext cx="269748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EQP001 → PPK001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956048" y="2048256"/>
            <a:ext cx="169164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블록 시작 (N=8)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47688" y="2048256"/>
            <a:ext cx="141732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0%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65008" y="2048256"/>
            <a:ext cx="173736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+2.83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802368" y="2048256"/>
            <a:ext cx="173736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2.83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6928" y="2404872"/>
            <a:ext cx="77724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344168" y="2404872"/>
            <a:ext cx="91440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258568" y="2404872"/>
            <a:ext cx="269748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EQP002 → PPK002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956048" y="2404872"/>
            <a:ext cx="169164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블록 시작 (N=8)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47688" y="2404872"/>
            <a:ext cx="141732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4%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65008" y="2404872"/>
            <a:ext cx="173736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+2.83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802368" y="2404872"/>
            <a:ext cx="173736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5.66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28" y="2761488"/>
            <a:ext cx="77724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344168" y="2761488"/>
            <a:ext cx="91440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258568" y="2761488"/>
            <a:ext cx="269748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EQP003 → PPK003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956048" y="2761488"/>
            <a:ext cx="169164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블록 시작 (N=8)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647688" y="2761488"/>
            <a:ext cx="141732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8%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065008" y="2761488"/>
            <a:ext cx="173736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+2.83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802368" y="2761488"/>
            <a:ext cx="173736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8.49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66928" y="3118104"/>
            <a:ext cx="77724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344168" y="3118104"/>
            <a:ext cx="91440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258568" y="3118104"/>
            <a:ext cx="269748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EQP001 → PPK001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956048" y="3118104"/>
            <a:ext cx="169164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4A6D8C"/>
                </a:solidFill>
                <a:latin typeface="맑은 고딕"/>
              </a:rPr>
              <a:t>블록 연속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647688" y="3118104"/>
            <a:ext cx="141732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12%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065008" y="3118104"/>
            <a:ext cx="173736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+0.83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802368" y="3118104"/>
            <a:ext cx="173736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9.32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6928" y="3474720"/>
            <a:ext cx="77724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344168" y="3474720"/>
            <a:ext cx="91440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60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258568" y="3474720"/>
            <a:ext cx="269748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EQP002 → PPK002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956048" y="3474720"/>
            <a:ext cx="169164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4A6D8C"/>
                </a:solidFill>
                <a:latin typeface="맑은 고딕"/>
              </a:rPr>
              <a:t>블록 연속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647688" y="3474720"/>
            <a:ext cx="141732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17%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065008" y="3474720"/>
            <a:ext cx="173736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+0.83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802368" y="3474720"/>
            <a:ext cx="173736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10.15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66928" y="3831336"/>
            <a:ext cx="77724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344168" y="3831336"/>
            <a:ext cx="91440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60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258568" y="3831336"/>
            <a:ext cx="269748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EQP003 → PPK003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956048" y="3831336"/>
            <a:ext cx="169164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4A6D8C"/>
                </a:solidFill>
                <a:latin typeface="맑은 고딕"/>
              </a:rPr>
              <a:t>블록 연속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647688" y="3831336"/>
            <a:ext cx="141732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21%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065008" y="3831336"/>
            <a:ext cx="173736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+0.83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802368" y="3831336"/>
            <a:ext cx="173736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10.98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66928" y="4187952"/>
            <a:ext cx="77724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344168" y="4187952"/>
            <a:ext cx="91440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60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258568" y="4187952"/>
            <a:ext cx="269748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EQP001 → PPK001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956048" y="4187952"/>
            <a:ext cx="169164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4A6D8C"/>
                </a:solidFill>
                <a:latin typeface="맑은 고딕"/>
              </a:rPr>
              <a:t>블록 연속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647688" y="4187952"/>
            <a:ext cx="141732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25%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065008" y="4187952"/>
            <a:ext cx="173736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+0.83</a:t>
            </a:r>
          </a:p>
        </p:txBody>
      </p:sp>
      <p:sp>
        <p:nvSpPr>
          <p:cNvPr id="66" name="Rectangle 65"/>
          <p:cNvSpPr/>
          <p:nvPr/>
        </p:nvSpPr>
        <p:spPr>
          <a:xfrm>
            <a:off x="9802368" y="4187952"/>
            <a:ext cx="173736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11.81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66928" y="4544568"/>
            <a:ext cx="77724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344168" y="4544568"/>
            <a:ext cx="91440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120</a:t>
            </a:r>
          </a:p>
        </p:txBody>
      </p:sp>
      <p:sp>
        <p:nvSpPr>
          <p:cNvPr id="69" name="Rectangle 68"/>
          <p:cNvSpPr/>
          <p:nvPr/>
        </p:nvSpPr>
        <p:spPr>
          <a:xfrm>
            <a:off x="2258568" y="4544568"/>
            <a:ext cx="269748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EQP002 → PPK002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956048" y="4544568"/>
            <a:ext cx="169164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4A6D8C"/>
                </a:solidFill>
                <a:latin typeface="맑은 고딕"/>
              </a:rPr>
              <a:t>블록 연속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647688" y="4544568"/>
            <a:ext cx="141732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29%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065008" y="4544568"/>
            <a:ext cx="173736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+0.83</a:t>
            </a:r>
          </a:p>
        </p:txBody>
      </p:sp>
      <p:sp>
        <p:nvSpPr>
          <p:cNvPr id="73" name="Rectangle 72"/>
          <p:cNvSpPr/>
          <p:nvPr/>
        </p:nvSpPr>
        <p:spPr>
          <a:xfrm>
            <a:off x="9802368" y="4544568"/>
            <a:ext cx="173736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12.64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66928" y="4937759"/>
            <a:ext cx="110642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관찰  </a:t>
            </a:r>
            <a:r>
              <a:rPr sz="1050" b="0">
                <a:solidFill>
                  <a:srgbClr val="5C6670"/>
                </a:solidFill>
                <a:latin typeface="맑은 고딕"/>
              </a:rPr>
              <a:t>스텝 1~3은 각 설비 전담 블록 시작(보상 큼), 4~8은 같은 셋업 연속. 상세 State/Action/Reward·간트는 슬라이드 12~17 참고.</a:t>
            </a:r>
          </a:p>
        </p:txBody>
      </p:sp>
      <p:sp>
        <p:nvSpPr>
          <p:cNvPr id="75" name="Rectangle 74"/>
          <p:cNvSpPr/>
          <p:nvPr/>
        </p:nvSpPr>
        <p:spPr>
          <a:xfrm>
            <a:off x="566928" y="4736592"/>
            <a:ext cx="11064240" cy="420624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566928" y="4736592"/>
            <a:ext cx="11064240" cy="42062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스텝 보상 식    r_t  =  w_same_setup·1[동일셋업]  +  w_pacing·(|ideal−eff_before| − |ideal−eff_after|)/target  +  w_plan_hit·(gap_before − gap_after)/target  +  [블록 시작 시] Δblock</a:t>
            </a:r>
          </a:p>
        </p:txBody>
      </p:sp>
      <p:sp>
        <p:nvSpPr>
          <p:cNvPr id="77" name="Rectangle 76"/>
          <p:cNvSpPr/>
          <p:nvPr/>
        </p:nvSpPr>
        <p:spPr>
          <a:xfrm>
            <a:off x="566928" y="5193792"/>
            <a:ext cx="11064240" cy="36576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85800" y="5193792"/>
            <a:ext cx="10972800" cy="3657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222A33"/>
                </a:solidFill>
                <a:latin typeface="맑은 고딕"/>
              </a:rPr>
              <a:t>Δblock = w_bulk_block_bonus·min(N/예산,1)  +  w_dedication_misuse·1[전용오용]  +  w_redundant_cover·min(cover/need, 2)        |        전환 발생 시  + w_conversion  + w_avoidable_conversion·avoidable</a:t>
            </a:r>
          </a:p>
        </p:txBody>
      </p:sp>
      <p:sp>
        <p:nvSpPr>
          <p:cNvPr id="79" name="Rectangle 78"/>
          <p:cNvSpPr/>
          <p:nvPr/>
        </p:nvSpPr>
        <p:spPr>
          <a:xfrm>
            <a:off x="566928" y="5669279"/>
            <a:ext cx="5440680" cy="1078992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566928" y="5669279"/>
            <a:ext cx="82296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749808" y="5742431"/>
            <a:ext cx="521208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스텝 1 · 블록 시작 (EQP001→PPK001, N=8)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49808" y="6035040"/>
            <a:ext cx="5212080" cy="6583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1">
                <a:solidFill>
                  <a:srgbClr val="2E7D4F"/>
                </a:solidFill>
                <a:latin typeface="맑은 고딕"/>
              </a:rPr>
              <a:t>블록보너스 3.0·(8/8)=+3.00 </a:t>
            </a:r>
            <a:r>
              <a:rPr sz="1030" b="0">
                <a:solidFill>
                  <a:srgbClr val="5C6670"/>
                </a:solidFill>
                <a:latin typeface="맑은 고딕"/>
              </a:rPr>
              <a:t>· 페이싱 −0.31 · 계획 +0.13</a:t>
            </a:r>
            <a:r>
              <a:rPr sz="1100" b="1">
                <a:solidFill>
                  <a:srgbClr val="1B3255"/>
                </a:solidFill>
                <a:latin typeface="맑은 고딕"/>
              </a:rPr>
              <a:t>  →  r = +2.83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190488" y="5669279"/>
            <a:ext cx="544068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6190488" y="5669279"/>
            <a:ext cx="82296" cy="1078992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373368" y="5742431"/>
            <a:ext cx="521208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스텝 4 · 블록 연속 (EQP001→PPK001)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373368" y="6035040"/>
            <a:ext cx="5212080" cy="6583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1">
                <a:solidFill>
                  <a:srgbClr val="2E7D4F"/>
                </a:solidFill>
                <a:latin typeface="맑은 고딕"/>
              </a:rPr>
              <a:t>동일셋업 +1.00 </a:t>
            </a:r>
            <a:r>
              <a:rPr sz="1030" b="0">
                <a:solidFill>
                  <a:srgbClr val="5C6670"/>
                </a:solidFill>
                <a:latin typeface="맑은 고딕"/>
              </a:rPr>
              <a:t>· 페이싱 −0.30 · 계획 +0.13 (블록보너스 없음)</a:t>
            </a:r>
            <a:r>
              <a:rPr sz="1100" b="1">
                <a:solidFill>
                  <a:srgbClr val="1B3255"/>
                </a:solidFill>
                <a:latin typeface="맑은 고딕"/>
              </a:rPr>
              <a:t>  →  r = +0.83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검증 설계 — CONV_BENCH 데이터셋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280160"/>
            <a:ext cx="106070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222A33"/>
                </a:solidFill>
                <a:latin typeface="맑은 고딕"/>
              </a:rPr>
              <a:t>전환 비용이 </a:t>
            </a:r>
            <a:r>
              <a:rPr sz="1350" b="1">
                <a:solidFill>
                  <a:srgbClr val="1B3255"/>
                </a:solidFill>
                <a:latin typeface="맑은 고딕"/>
              </a:rPr>
              <a:t>생산 수량 손실로 1:1 환산</a:t>
            </a:r>
            <a:r>
              <a:rPr sz="1350" b="0">
                <a:solidFill>
                  <a:srgbClr val="222A33"/>
                </a:solidFill>
                <a:latin typeface="맑은 고딕"/>
              </a:rPr>
              <a:t>되도록 설계한 직관형 검증 데이터셋입니다.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920240"/>
            <a:ext cx="2587752" cy="15544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1920240"/>
            <a:ext cx="2587752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2084831"/>
            <a:ext cx="2313432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설비 / 제품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2432304"/>
            <a:ext cx="2313432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3 설비 × 3 제품(PPK)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2907792"/>
            <a:ext cx="23317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동일 성능 A모델 3대, 제품별 LOT_CD 상이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520440" y="1920240"/>
            <a:ext cx="2587752" cy="15544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520440" y="1920240"/>
            <a:ext cx="2587752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0" y="2084831"/>
            <a:ext cx="2313432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재공 / 계획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0" y="2432304"/>
            <a:ext cx="2313432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제품당 8캐리어 = 24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0" y="2907792"/>
            <a:ext cx="23317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계획도 제품당 8 (총 24캐리어)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7920" y="1920240"/>
            <a:ext cx="2587752" cy="15544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17920" y="1920240"/>
            <a:ext cx="2587752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5080" y="2084831"/>
            <a:ext cx="2313432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시간 파라미터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80" y="2432304"/>
            <a:ext cx="2313432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ST=60 · 전환=60 · 8h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5080" y="2907792"/>
            <a:ext cx="23317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설비당 480/60 = 8캐리어 처리 가능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915400" y="1920240"/>
            <a:ext cx="2587752" cy="15544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915400" y="1920240"/>
            <a:ext cx="2587752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52560" y="2084831"/>
            <a:ext cx="2313432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배정 난이도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52560" y="2432304"/>
            <a:ext cx="2313432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홈 LOT 혼합 배치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52560" y="2907792"/>
            <a:ext cx="23317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단순 규칙은 전환 불가피, 전략적 선택만 전담 달성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3749039"/>
            <a:ext cx="52120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2960" y="3749039"/>
            <a:ext cx="52120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이론적 최적해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2960" y="4206240"/>
            <a:ext cx="52120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51560" y="4343400"/>
            <a:ext cx="4846320" cy="1645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설비별 1제품 전담 → 전환 0회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C6670"/>
                </a:solidFill>
                <a:latin typeface="맑은 고딕"/>
              </a:rPr>
              <a:t>EQP001 → PPK001  (8캐리어)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C6670"/>
                </a:solidFill>
                <a:latin typeface="맑은 고딕"/>
              </a:rPr>
              <a:t>EQP002 → PPK002  (8캐리어)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C6670"/>
                </a:solidFill>
                <a:latin typeface="맑은 고딕"/>
              </a:rPr>
              <a:t>EQP003 → PPK003  (8캐리어)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생산 24 · 전환 0 · 가동률 100%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55080" y="3749039"/>
            <a:ext cx="498348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55080" y="3749039"/>
            <a:ext cx="49834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전환 → 손실 환산표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55080" y="4206240"/>
            <a:ext cx="49834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537960" y="4315968"/>
            <a:ext cx="1828800" cy="402336"/>
          </a:xfrm>
          <a:prstGeom prst="rect">
            <a:avLst/>
          </a:prstGeom>
          <a:solidFill>
            <a:srgbClr val="1B3255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전환 횟수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366760" y="4315968"/>
            <a:ext cx="1737360" cy="402336"/>
          </a:xfrm>
          <a:prstGeom prst="rect">
            <a:avLst/>
          </a:prstGeom>
          <a:solidFill>
            <a:srgbClr val="1B3255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생산 수량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104120" y="4315968"/>
            <a:ext cx="1097280" cy="402336"/>
          </a:xfrm>
          <a:prstGeom prst="rect">
            <a:avLst/>
          </a:prstGeom>
          <a:solidFill>
            <a:srgbClr val="1B3255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손실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37960" y="4718304"/>
            <a:ext cx="182880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366760" y="4718304"/>
            <a:ext cx="173736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24 개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0104120" y="4718304"/>
            <a:ext cx="109728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537960" y="5120640"/>
            <a:ext cx="1828800" cy="402336"/>
          </a:xfrm>
          <a:prstGeom prst="rect">
            <a:avLst/>
          </a:prstGeom>
          <a:solidFill>
            <a:srgbClr val="DDE6F0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B3255"/>
                </a:solidFill>
                <a:latin typeface="맑은 고딕"/>
              </a:rPr>
              <a:t>2 회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366760" y="5120640"/>
            <a:ext cx="1737360" cy="402336"/>
          </a:xfrm>
          <a:prstGeom prst="rect">
            <a:avLst/>
          </a:prstGeom>
          <a:solidFill>
            <a:srgbClr val="DDE6F0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22 개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104120" y="5120640"/>
            <a:ext cx="1097280" cy="402336"/>
          </a:xfrm>
          <a:prstGeom prst="rect">
            <a:avLst/>
          </a:prstGeom>
          <a:solidFill>
            <a:srgbClr val="DDE6F0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−2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537960" y="5522976"/>
            <a:ext cx="182880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B3255"/>
                </a:solidFill>
                <a:latin typeface="맑은 고딕"/>
              </a:rPr>
              <a:t>6 회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366760" y="5522976"/>
            <a:ext cx="173736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18 개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104120" y="5522976"/>
            <a:ext cx="109728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−6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2960" y="6126480"/>
            <a:ext cx="105156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22A33"/>
                </a:solidFill>
                <a:latin typeface="맑은 고딕"/>
              </a:rPr>
              <a:t>동일 시뮬레이터·동일 데이터에서 세 알고리즘을 실행해 KPI를 직접 비교합니다.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KPI 비교 결과 (CONV_BENCH)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50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417320"/>
            <a:ext cx="3200400" cy="749808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KPI 지표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23360" y="1417320"/>
            <a:ext cx="2606040" cy="749808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Earliest-ST</a:t>
            </a:r>
          </a:p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(단순 규칙)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29400" y="1417320"/>
            <a:ext cx="2606040" cy="749808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Min-Progress</a:t>
            </a:r>
          </a:p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(휴리스틱)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35440" y="1417320"/>
            <a:ext cx="2606040" cy="749808"/>
          </a:xfrm>
          <a:prstGeom prst="rect">
            <a:avLst/>
          </a:prstGeom>
          <a:solidFill>
            <a:srgbClr val="2E6FB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Bulk-Fill PPO</a:t>
            </a:r>
          </a:p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(학습 모델)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2167128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생산 수량 (최대 24)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023360" y="2167128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18 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29400" y="2167128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24 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235440" y="2167128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24 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2798064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전환 횟수 (낮을수록 우수)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23360" y="2798064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B33A3A"/>
                </a:solidFill>
                <a:latin typeface="맑은 고딕"/>
              </a:rPr>
              <a:t>6 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29400" y="2798064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0 회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235440" y="2798064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0 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3429000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전환 손실 캐리어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3429000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B33A3A"/>
                </a:solidFill>
                <a:latin typeface="맑은 고딕"/>
              </a:rPr>
              <a:t>−6 개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629400" y="3429000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−0 개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235440" y="3429000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−0 개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4059935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설비 가동률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023360" y="4059935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75 %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629400" y="4059935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100 %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235440" y="4059935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100 %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2960" y="4690871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제품 전담 설비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023360" y="4690871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0 / 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629400" y="4690871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3 / 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235440" y="4690871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3 / 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22960" y="5321807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최적해 도달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023360" y="5321807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B33A3A"/>
                </a:solidFill>
                <a:latin typeface="맑은 고딕"/>
              </a:rPr>
              <a:t>미달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629400" y="5321807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달성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235440" y="5321807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달성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" y="6126480"/>
            <a:ext cx="106070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Bulk-Fill PPO는 학습만으로 최고 휴리스틱과 동일한 이론적 최적해(생산 24·전환 0)에 도달</a:t>
            </a:r>
            <a:r>
              <a:rPr sz="1250" b="0">
                <a:solidFill>
                  <a:srgbClr val="222A33"/>
                </a:solidFill>
                <a:latin typeface="맑은 고딕"/>
              </a:rPr>
              <a:t>했으며, 단순 규칙 대비 모든 지표에서 우위입니다.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효과성 검증 — 정량 비교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51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417320"/>
          <a:ext cx="3657600" cy="3383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4343400" y="1417320"/>
          <a:ext cx="3657600" cy="33832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Rectangle 11"/>
          <p:cNvSpPr/>
          <p:nvPr/>
        </p:nvSpPr>
        <p:spPr>
          <a:xfrm>
            <a:off x="8229600" y="1417320"/>
            <a:ext cx="3246120" cy="33832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229600" y="1417320"/>
            <a:ext cx="324612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0" y="1417320"/>
            <a:ext cx="324612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학습 모델 효과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58200" y="2011680"/>
            <a:ext cx="28346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2E6FB0"/>
                </a:solidFill>
                <a:latin typeface="맑은 고딕"/>
              </a:rPr>
              <a:t>+6 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58200" y="2395728"/>
            <a:ext cx="28803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단순 규칙 대비 생산량 (+33%)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724912"/>
            <a:ext cx="28346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2E6FB0"/>
                </a:solidFill>
                <a:latin typeface="맑은 고딕"/>
              </a:rPr>
              <a:t>−6 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3108960"/>
            <a:ext cx="28803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전환을 전량 제거 (6→0)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58200" y="3438144"/>
            <a:ext cx="28346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2E6FB0"/>
                </a:solidFill>
                <a:latin typeface="맑은 고딕"/>
              </a:rPr>
              <a:t>+25%p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58200" y="3822192"/>
            <a:ext cx="28803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가동률 75%→100%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58200" y="4151376"/>
            <a:ext cx="28346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2E6FB0"/>
                </a:solidFill>
                <a:latin typeface="맑은 고딕"/>
              </a:rPr>
              <a:t>3 / 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4535424"/>
            <a:ext cx="28803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제품 전담 설비 달성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5029200"/>
            <a:ext cx="10835640" cy="118872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5138928"/>
            <a:ext cx="10424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9DBEE0"/>
                </a:solidFill>
                <a:latin typeface="맑은 고딕"/>
              </a:rPr>
              <a:t>효과성 결론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5468112"/>
            <a:ext cx="10515600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D7E2EE"/>
                </a:solidFill>
                <a:latin typeface="맑은 고딕"/>
              </a:rPr>
              <a:t>Bulk-Fill PPO는 별도 규칙 주입 없이 </a:t>
            </a:r>
            <a:r>
              <a:rPr sz="1350" b="1">
                <a:solidFill>
                  <a:srgbClr val="FFFFFF"/>
                </a:solidFill>
                <a:latin typeface="맑은 고딕"/>
              </a:rPr>
              <a:t>학습만으로 이론적 최적해에 도달</a:t>
            </a:r>
            <a:r>
              <a:rPr sz="1300" b="0">
                <a:solidFill>
                  <a:srgbClr val="D7E2EE"/>
                </a:solidFill>
                <a:latin typeface="맑은 고딕"/>
              </a:rPr>
              <a:t>했으며, 단순 규칙 대비 </a:t>
            </a:r>
            <a:r>
              <a:rPr sz="1350" b="1">
                <a:solidFill>
                  <a:srgbClr val="FFFFFF"/>
                </a:solidFill>
                <a:latin typeface="맑은 고딕"/>
              </a:rPr>
              <a:t>생산량 +33% · 전환 100% 제거 · 가동률 +25%p</a:t>
            </a:r>
            <a:r>
              <a:rPr sz="1300" b="0">
                <a:solidFill>
                  <a:srgbClr val="D7E2EE"/>
                </a:solidFill>
                <a:latin typeface="맑은 고딕"/>
              </a:rPr>
              <a:t> 의 개선을 입증했습니다.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대표 벤치마크 8종 — 무엇을 검증하는가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52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188720"/>
            <a:ext cx="106070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22A33"/>
                </a:solidFill>
                <a:latin typeface="맑은 고딕"/>
              </a:rPr>
              <a:t>단순 휴리스틱이 </a:t>
            </a:r>
            <a:r>
              <a:rPr sz="1200" b="1">
                <a:solidFill>
                  <a:srgbClr val="1B3255"/>
                </a:solidFill>
                <a:latin typeface="맑은 고딕"/>
              </a:rPr>
              <a:t>쉽게 풀 수 없는 비대칭·제약 시나리오</a:t>
            </a:r>
            <a:r>
              <a:rPr sz="1200" b="0">
                <a:solidFill>
                  <a:srgbClr val="222A33"/>
                </a:solidFill>
                <a:latin typeface="맑은 고딕"/>
              </a:rPr>
              <a:t>를 4개 카테고리로 구성해, 알고리즘의 실제 변별력을 측정합니다.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1691640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1691640"/>
            <a:ext cx="91440" cy="1078992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1810512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SYM_3x3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07408" y="1810512"/>
            <a:ext cx="1463040" cy="301752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대칭 기준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" y="2194560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3설비 × 3제품 · 24캐리어 · ST 60분 · 전환 60분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2450592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4A6D8C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기본 전담 최적해 도달 (대조군)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1691640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26480" y="1691640"/>
            <a:ext cx="91440" cy="1078992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7648" y="1810512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SYM_5x5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966960" y="1810512"/>
            <a:ext cx="1463040" cy="301752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대칭 기준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45936" y="2194560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5설비 × 5제품 · 30캐리어 · ST 48분 · 전환 48분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45936" y="2450592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4A6D8C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규모 확장 시 전담 유지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2916936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66928" y="2916936"/>
            <a:ext cx="91440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8096" y="3035808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OVER_5p3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407408" y="3035808"/>
            <a:ext cx="1463040" cy="30175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제품 과잉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6384" y="3419856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3설비 × 5제품 · 20캐리어 · ST 60분 · 전환 60분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6384" y="3675887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불가피한 전환을 최소 횟수로 묶기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26480" y="2916936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26480" y="2916936"/>
            <a:ext cx="91440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27648" y="3035808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OVER_7p4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966960" y="3035808"/>
            <a:ext cx="1463040" cy="30175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제품 과잉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45936" y="3419856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4설비 × 7제품 · 28캐리어 · ST 45분 · 전환 45분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45936" y="3675887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다수 제품 분배 + 전환 최소화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66928" y="4142231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66928" y="4142231"/>
            <a:ext cx="91440" cy="1078992"/>
          </a:xfrm>
          <a:prstGeom prst="rect">
            <a:avLst/>
          </a:prstGeom>
          <a:solidFill>
            <a:srgbClr val="6B4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68096" y="4261103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LOAD_skew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407408" y="4261103"/>
            <a:ext cx="1463040" cy="301752"/>
          </a:xfrm>
          <a:prstGeom prst="rect">
            <a:avLst/>
          </a:prstGeom>
          <a:solidFill>
            <a:srgbClr val="6B4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부하 불균등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86384" y="4645151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4설비 × 4제품 · 30캐리어 · ST 60분 · 전환 60분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86384" y="4901183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6B4E8E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물량 편중에서의 균형 배분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126480" y="4142231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126480" y="4142231"/>
            <a:ext cx="91440" cy="1078992"/>
          </a:xfrm>
          <a:prstGeom prst="rect">
            <a:avLst/>
          </a:prstGeom>
          <a:solidFill>
            <a:srgbClr val="6B4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27648" y="4261103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LOAD_stmix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966960" y="4261103"/>
            <a:ext cx="1463040" cy="301752"/>
          </a:xfrm>
          <a:prstGeom prst="rect">
            <a:avLst/>
          </a:prstGeom>
          <a:solidFill>
            <a:srgbClr val="6B4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부하 불균등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45936" y="4645151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4설비 × 4제품 · 32캐리어 · ST 30~90분 · 전환 60분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45936" y="4901183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6B4E8E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처리시간 이질성 하의 효율 배분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66928" y="5367527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66928" y="5367527"/>
            <a:ext cx="91440" cy="1078992"/>
          </a:xfrm>
          <a:prstGeom prst="rect">
            <a:avLst/>
          </a:prstGeom>
          <a:solidFill>
            <a:srgbClr val="B56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68096" y="5486399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CONV_x2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407408" y="5486399"/>
            <a:ext cx="1463040" cy="301752"/>
          </a:xfrm>
          <a:prstGeom prst="rect">
            <a:avLst/>
          </a:prstGeom>
          <a:solidFill>
            <a:srgbClr val="B56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전환 과중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86384" y="5870447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4설비 × 4제품 · 24캐리어 · ST 45분 · 전환 90분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86384" y="6126479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56A2A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큰 전환비용 하의 전담 가치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126480" y="5367527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6126480" y="5367527"/>
            <a:ext cx="91440" cy="1078992"/>
          </a:xfrm>
          <a:prstGeom prst="rect">
            <a:avLst/>
          </a:prstGeom>
          <a:solidFill>
            <a:srgbClr val="B56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327648" y="5486399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CONV_x3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966960" y="5486399"/>
            <a:ext cx="1463040" cy="301752"/>
          </a:xfrm>
          <a:prstGeom prst="rect">
            <a:avLst/>
          </a:prstGeom>
          <a:solidFill>
            <a:srgbClr val="B56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전환 과중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345936" y="5870447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3설비 × 5제품 · 20캐리어 · ST 40분 · 전환 120분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45936" y="6126479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56A2A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전환 과중 + 제품 과잉 복합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66928" y="6199632"/>
            <a:ext cx="110642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대칭 기준은 전담만으로 최적이라 대조군이며, 나머지 6종은 전환이 불가피하거나 부하가 불균등해 </a:t>
            </a:r>
            <a:r>
              <a:rPr sz="1050" b="1">
                <a:solidFill>
                  <a:srgbClr val="1B3255"/>
                </a:solidFill>
                <a:latin typeface="맑은 고딕"/>
              </a:rPr>
              <a:t>배정 전략에 따라 결과가 갈립니다.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벤치마크 8종 KPI 비교 — 난이도별 결과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53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188720"/>
            <a:ext cx="1060704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22A33"/>
                </a:solidFill>
                <a:latin typeface="맑은 고딕"/>
              </a:rPr>
              <a:t>8종 데이터셋에 </a:t>
            </a:r>
            <a:r>
              <a:rPr sz="1200" b="1">
                <a:solidFill>
                  <a:srgbClr val="1B3255"/>
                </a:solidFill>
                <a:latin typeface="맑은 고딕"/>
              </a:rPr>
              <a:t>단일 Bulk-Fill 모델을 공동 학습</a:t>
            </a:r>
            <a:r>
              <a:rPr sz="1200" b="0">
                <a:solidFill>
                  <a:srgbClr val="5C6670"/>
                </a:solidFill>
                <a:latin typeface="맑은 고딕"/>
              </a:rPr>
              <a:t> 후 평가. 표기 = 생산 / 전환 (생산 많고 전환 적을수록 우수).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1691640"/>
            <a:ext cx="2103120" cy="548640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벤치마크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70048" y="1691640"/>
            <a:ext cx="1828800" cy="548640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카테고리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98848" y="1691640"/>
            <a:ext cx="2331720" cy="548640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Earliest-ST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생산 / 전환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30568" y="1691640"/>
            <a:ext cx="2331720" cy="548640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Min-Progress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생산 / 전환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62288" y="1691640"/>
            <a:ext cx="2468880" cy="548640"/>
          </a:xfrm>
          <a:prstGeom prst="rect">
            <a:avLst/>
          </a:prstGeom>
          <a:solidFill>
            <a:srgbClr val="2E6FB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Bulk-Fill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생산 / 전환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2240280"/>
            <a:ext cx="21031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SYM_3x3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670048" y="2240280"/>
            <a:ext cx="182880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대칭 기준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498848" y="22402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18/24 · 6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30568" y="22402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24/24 · 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62288" y="2240280"/>
            <a:ext cx="2468880" cy="457200"/>
          </a:xfrm>
          <a:prstGeom prst="rect">
            <a:avLst/>
          </a:prstGeom>
          <a:solidFill>
            <a:srgbClr val="ECF3EE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24/24 · 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2697480"/>
            <a:ext cx="21031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SYM_5x5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670048" y="2697480"/>
            <a:ext cx="182880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대칭 기준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98848" y="26974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18/30 · 20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30568" y="26974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30/30 · 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162288" y="2697480"/>
            <a:ext cx="2468880" cy="457200"/>
          </a:xfrm>
          <a:prstGeom prst="rect">
            <a:avLst/>
          </a:prstGeom>
          <a:solidFill>
            <a:srgbClr val="ECF3EE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30/30 · 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3154680"/>
            <a:ext cx="21031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OVER_5p3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670048" y="3154680"/>
            <a:ext cx="182880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제품 과잉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498848" y="31546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15/20 · 12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830568" y="31546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14/20 · 14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162288" y="3154680"/>
            <a:ext cx="2468880" cy="457200"/>
          </a:xfrm>
          <a:prstGeom prst="rect">
            <a:avLst/>
          </a:prstGeom>
          <a:solidFill>
            <a:srgbClr val="E2EEE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18/20 · 7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66928" y="3611880"/>
            <a:ext cx="21031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OVER_7p4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670048" y="3611880"/>
            <a:ext cx="182880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제품 과잉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498848" y="36118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20/28 · 24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830568" y="36118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21/28 · 23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162288" y="3611880"/>
            <a:ext cx="2468880" cy="457200"/>
          </a:xfrm>
          <a:prstGeom prst="rect">
            <a:avLst/>
          </a:prstGeom>
          <a:solidFill>
            <a:srgbClr val="E2EEE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28/28 · 12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28" y="4069080"/>
            <a:ext cx="21031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LOAD_skew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670048" y="4069080"/>
            <a:ext cx="182880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부하 불균등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498848" y="40690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22/30 · 12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830568" y="40690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21/30 · 12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62288" y="4069080"/>
            <a:ext cx="2468880" cy="457200"/>
          </a:xfrm>
          <a:prstGeom prst="rect">
            <a:avLst/>
          </a:prstGeom>
          <a:solidFill>
            <a:srgbClr val="E2EEE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26/30 · 2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66928" y="4526280"/>
            <a:ext cx="21031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LOAD_stmix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670048" y="4526280"/>
            <a:ext cx="182880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부하 불균등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498848" y="45262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24/32 · 12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830568" y="45262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22/32 · 13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162288" y="4526280"/>
            <a:ext cx="2468880" cy="457200"/>
          </a:xfrm>
          <a:prstGeom prst="rect">
            <a:avLst/>
          </a:prstGeom>
          <a:solidFill>
            <a:srgbClr val="E2EEE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27/32 · 6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6928" y="4983480"/>
            <a:ext cx="21031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CONV_x2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670048" y="4983480"/>
            <a:ext cx="182880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전환 과중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498848" y="49834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12/24 · 12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830568" y="49834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24/24 · 0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162288" y="4983480"/>
            <a:ext cx="2468880" cy="457200"/>
          </a:xfrm>
          <a:prstGeom prst="rect">
            <a:avLst/>
          </a:prstGeom>
          <a:solidFill>
            <a:srgbClr val="ECF3EE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24/24 · 0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66928" y="5440680"/>
            <a:ext cx="21031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CONV_x3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670048" y="5440680"/>
            <a:ext cx="182880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전환 과중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498848" y="54406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12/20 · 12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830568" y="54406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12/20 · 14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162288" y="5440680"/>
            <a:ext cx="2468880" cy="457200"/>
          </a:xfrm>
          <a:prstGeom prst="rect">
            <a:avLst/>
          </a:prstGeom>
          <a:solidFill>
            <a:srgbClr val="E2EEE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18/20 · 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66928" y="5897880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222A33"/>
                </a:solidFill>
                <a:latin typeface="맑은 고딕"/>
              </a:rPr>
              <a:t>대칭(SYM·CONV_x2)에선 Bulk-Fill = Min-Progress(둘 다 최적), </a:t>
            </a:r>
            <a:r>
              <a:rPr sz="1130" b="1">
                <a:solidFill>
                  <a:srgbClr val="2E7D4F"/>
                </a:solidFill>
                <a:latin typeface="맑은 고딕"/>
              </a:rPr>
              <a:t>제품 과잉·부하 불균등·전환 과중에선 Bulk-Fill가 Min-Progress를 크게 앞섭니다</a:t>
            </a:r>
            <a:r>
              <a:rPr sz="1130" b="0">
                <a:solidFill>
                  <a:srgbClr val="5C6670"/>
                </a:solidFill>
                <a:latin typeface="맑은 고딕"/>
              </a:rPr>
              <a:t> (녹색=BF 우위/동률, 주황=열위).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종합 집계 — 어려운 케이스일수록 학습 모델이 우위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54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371600"/>
          <a:ext cx="5943600" cy="3383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6858000" y="1371600"/>
            <a:ext cx="4617720" cy="33832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0" y="1371600"/>
            <a:ext cx="461772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0" y="1371600"/>
            <a:ext cx="461772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종합 집계 (8종 합산)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0" y="1938528"/>
            <a:ext cx="17373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2E6FB0"/>
                </a:solidFill>
                <a:latin typeface="맑은 고딕"/>
              </a:rPr>
              <a:t>지표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1938528"/>
            <a:ext cx="9601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2E6FB0"/>
                </a:solidFill>
                <a:latin typeface="맑은 고딕"/>
              </a:rPr>
              <a:t>Earliest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46920" y="1938528"/>
            <a:ext cx="10058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2E6FB0"/>
                </a:solidFill>
                <a:latin typeface="맑은 고딕"/>
              </a:rPr>
              <a:t>Bulk-Fill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52760" y="1938528"/>
            <a:ext cx="777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2E6FB0"/>
                </a:solidFill>
                <a:latin typeface="맑은 고딕"/>
              </a:rPr>
              <a:t>Min-Prog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40880" y="2249424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총 생산률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49640" y="2249424"/>
            <a:ext cx="96012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B33A3A"/>
                </a:solidFill>
                <a:latin typeface="맑은 고딕"/>
              </a:rPr>
              <a:t>68%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55480" y="2249424"/>
            <a:ext cx="10515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94%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7040" y="2249424"/>
            <a:ext cx="77724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81%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0" y="2734056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총 전환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49640" y="2734056"/>
            <a:ext cx="96012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B33A3A"/>
                </a:solidFill>
                <a:latin typeface="맑은 고딕"/>
              </a:rPr>
              <a:t>110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55480" y="2734056"/>
            <a:ext cx="10515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34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7040" y="2734056"/>
            <a:ext cx="77724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76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0880" y="3218688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평균 가동률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49640" y="3218688"/>
            <a:ext cx="96012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B33A3A"/>
                </a:solidFill>
                <a:latin typeface="맑은 고딕"/>
              </a:rPr>
              <a:t>57%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55480" y="3218688"/>
            <a:ext cx="10515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81%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07040" y="3218688"/>
            <a:ext cx="77724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71%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0880" y="3703320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전량 생산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49640" y="3703320"/>
            <a:ext cx="96012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B33A3A"/>
                </a:solidFill>
                <a:latin typeface="맑은 고딕"/>
              </a:rPr>
              <a:t>0/8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55480" y="3703320"/>
            <a:ext cx="10515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4/8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07040" y="3703320"/>
            <a:ext cx="77724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3/8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40880" y="4187952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전담 달성률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49640" y="4187952"/>
            <a:ext cx="96012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B33A3A"/>
                </a:solidFill>
                <a:latin typeface="맑은 고딕"/>
              </a:rPr>
              <a:t>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55480" y="4187952"/>
            <a:ext cx="10515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60%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607040" y="4187952"/>
            <a:ext cx="77724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47%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80" y="4983480"/>
            <a:ext cx="10835640" cy="123444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14400" y="5084064"/>
            <a:ext cx="10424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9DBEE0"/>
                </a:solidFill>
                <a:latin typeface="맑은 고딕"/>
              </a:rPr>
              <a:t>핵심 발견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4400" y="5413248"/>
            <a:ext cx="10515600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D7E2EE"/>
                </a:solidFill>
                <a:latin typeface="맑은 고딕"/>
              </a:rPr>
              <a:t>쉬운 대칭 케이스에선 휴리스틱과 동등하지만, </a:t>
            </a:r>
            <a:r>
              <a:rPr sz="1250" b="0">
                <a:solidFill>
                  <a:srgbClr val="D7E2EE"/>
                </a:solidFill>
                <a:latin typeface="맑은 고딕"/>
              </a:rPr>
              <a:t>전환이 불가피한 현실적 케이스에서 Bulk-Fill가 생산률 </a:t>
            </a:r>
            <a:r>
              <a:rPr sz="1300" b="1">
                <a:solidFill>
                  <a:srgbClr val="FFFFFF"/>
                </a:solidFill>
                <a:latin typeface="맑은 고딕"/>
              </a:rPr>
              <a:t>94% vs 81%(Min-Progress) · 전환 34 vs 76</a:t>
            </a:r>
            <a:r>
              <a:rPr sz="1250" b="0">
                <a:solidFill>
                  <a:srgbClr val="D7E2EE"/>
                </a:solidFill>
                <a:latin typeface="맑은 고딕"/>
              </a:rPr>
              <a:t> 으로 명확히 앞섭니다. 단순 휴리스틱은 전환을 남발해 캐리어를 잃습니다.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간트 비교 ① 제품 과잉 (3설비·5제품)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55</a:t>
            </a:r>
          </a:p>
        </p:txBody>
      </p:sp>
      <p:pic>
        <p:nvPicPr>
          <p:cNvPr id="10" name="Picture 9" descr="gantt_OVER_5p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8092440" cy="42535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8732520" y="1325880"/>
            <a:ext cx="3017520" cy="402336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32520" y="1325880"/>
            <a:ext cx="301752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32520" y="1325880"/>
            <a:ext cx="301752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결과 요약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15400" y="1920240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B33A3A"/>
                </a:solidFill>
                <a:latin typeface="맑은 고딕"/>
              </a:rPr>
              <a:t>Earliest-ST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15400" y="2194560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15/20 · 전환 12회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15400" y="2633472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5C6670"/>
                </a:solidFill>
                <a:latin typeface="맑은 고딕"/>
              </a:rPr>
              <a:t>Min-Progress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15400" y="2907791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14/20 · 전환 14회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15400" y="3346704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7D4F"/>
                </a:solidFill>
                <a:latin typeface="맑은 고딕"/>
              </a:rPr>
              <a:t>Bulk-Fill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15400" y="3621024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18/20 · 전환 7회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15400" y="4014216"/>
            <a:ext cx="2651760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15400" y="4133088"/>
            <a:ext cx="2743200" cy="1828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3설비가 5제품을 처리해 전환이 불가피한 케이스.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Earliest·Min-Progress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는 제품을 자주 바꿔 </a:t>
            </a:r>
            <a:r>
              <a:rPr sz="1100" b="1">
                <a:solidFill>
                  <a:srgbClr val="B33A3A"/>
                </a:solidFill>
                <a:latin typeface="맑은 고딕"/>
              </a:rPr>
              <a:t>전환(빗금)이 빈발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, 시간 내 캐리어를 잃습니다.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Bulk-Fill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는 같은 제품을 길게 묶어 </a:t>
            </a:r>
            <a:r>
              <a:rPr sz="1100" b="1">
                <a:solidFill>
                  <a:srgbClr val="2E7D4F"/>
                </a:solidFill>
                <a:latin typeface="맑은 고딕"/>
              </a:rPr>
              <a:t>전환을 최소화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하고 전량을 생산합니다.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간트 비교 ② 부하 불균등 (계획 14·8·4·4)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56</a:t>
            </a:r>
          </a:p>
        </p:txBody>
      </p:sp>
      <p:pic>
        <p:nvPicPr>
          <p:cNvPr id="10" name="Picture 9" descr="gantt_LOAD_sk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8092440" cy="42535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8732520" y="1325880"/>
            <a:ext cx="3017520" cy="402336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32520" y="1325880"/>
            <a:ext cx="301752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32520" y="1325880"/>
            <a:ext cx="301752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결과 요약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15400" y="1920240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B33A3A"/>
                </a:solidFill>
                <a:latin typeface="맑은 고딕"/>
              </a:rPr>
              <a:t>Earliest-ST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15400" y="2194560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22/30 · 전환 12회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15400" y="2633472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5C6670"/>
                </a:solidFill>
                <a:latin typeface="맑은 고딕"/>
              </a:rPr>
              <a:t>Min-Progress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15400" y="2907791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21/30 · 전환 12회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15400" y="3346704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7D4F"/>
                </a:solidFill>
                <a:latin typeface="맑은 고딕"/>
              </a:rPr>
              <a:t>Bulk-Fill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15400" y="3621024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26/30 · 전환 2회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15400" y="4014216"/>
            <a:ext cx="2651760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15400" y="4133088"/>
            <a:ext cx="2743200" cy="1828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제품별 물량이 14·8·4·4로 편중된 케이스.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휴리스틱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은 진행률만 보고 분배해 </a:t>
            </a:r>
            <a:r>
              <a:rPr sz="1100" b="1">
                <a:solidFill>
                  <a:srgbClr val="B33A3A"/>
                </a:solidFill>
                <a:latin typeface="맑은 고딕"/>
              </a:rPr>
              <a:t>전환이 누적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됩니다.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Bulk-Fill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는 물량 많은 제품에 설비를 </a:t>
            </a:r>
            <a:r>
              <a:rPr sz="1100" b="1">
                <a:solidFill>
                  <a:srgbClr val="2E7D4F"/>
                </a:solidFill>
                <a:latin typeface="맑은 고딕"/>
              </a:rPr>
              <a:t>전담 배치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해 전환 2회로 최소화합니다.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결론 및 기대 효과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57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417320"/>
            <a:ext cx="516636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417320"/>
            <a:ext cx="516636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맑은 고딕"/>
              </a:rPr>
              <a:t>핵심 성과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72200" y="1417320"/>
            <a:ext cx="516636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72200" y="1417320"/>
            <a:ext cx="516636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맑은 고딕"/>
              </a:rPr>
              <a:t>기대 효과 및 향후 과제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2057400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2057400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2203704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검증된 성과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2569464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8종 벤치마크 종합 생산률 94%로 휴리스틱(81%)을 능가, 전환 76→34회 감소.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72200" y="2057400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72200" y="2057400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0" y="2203704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확장성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2569464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더 많은 설비·제품·다단 공정으로 데이터 교체만으로 확장 적용 가능.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3273552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22960" y="3273552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51560" y="3419856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변별력 있는 검증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" y="3785616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전환이 불가피한 제품 과잉·부하 불균등 케이스에서 학습 모델의 우위를 입증.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72200" y="3273552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72200" y="3273552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3419856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운영 적용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3785616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전환 비용·계획·재공 제약을 함께 고려한 일배치 의사결정 지원.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2960" y="4489704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22960" y="4489704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51560" y="4636008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구조적 강점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" y="5001768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벌크 점유 + 행동 마스킹으로 전환을 근본적으로 억제하고 학습을 안정화.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72200" y="4489704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172200" y="4489704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0" y="4636008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향후 과제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0" y="5001768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실데이터 적용·보상 가중치 튜닝·다공정 흐름 균형의 추가 검증.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22960" y="5806440"/>
            <a:ext cx="105156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2960" y="5806440"/>
            <a:ext cx="105156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강화학습 기반 Bulk-Fill 스케줄링 — 전환 최소화와 계획 추종을 동시에 달성하는 검증된 의사결정 모델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