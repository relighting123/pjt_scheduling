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250" b="1">
                <a:solidFill>
                  <a:srgbClr val="1B3255"/>
                </a:solidFill>
                <a:latin typeface="맑은 고딕"/>
              </a:defRPr>
            </a:pPr>
            <a:r>
              <a:t>생산 수량 (개, 최대 24)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생산 수량</c:v>
                </c:pt>
              </c:strCache>
            </c:strRef>
          </c:tx>
          <c:dPt>
            <c:idx val="0"/>
            <c:spPr>
              <a:solidFill>
                <a:srgbClr val="C28A8A"/>
              </a:solidFill>
            </c:spPr>
          </c:dPt>
          <c:dPt>
            <c:idx val="1"/>
            <c:spPr>
              <a:solidFill>
                <a:srgbClr val="4A6D8C"/>
              </a:solidFill>
            </c:spPr>
          </c:dPt>
          <c:dPt>
            <c:idx val="2"/>
            <c:spPr>
              <a:solidFill>
                <a:srgbClr val="2E6FB0"/>
              </a:solidFill>
            </c:spPr>
          </c:dPt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 PPO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18</c:v>
                </c:pt>
                <c:pt idx="1">
                  <c:v>24</c:v>
                </c:pt>
                <c:pt idx="2">
                  <c:v>24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solidFill>
                    <a:srgbClr val="1B3255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6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맑은 고딕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250" b="1">
                <a:solidFill>
                  <a:srgbClr val="1B3255"/>
                </a:solidFill>
                <a:latin typeface="맑은 고딕"/>
              </a:defRPr>
            </a:pPr>
            <a:r>
              <a:t>전환 횟수 (회, 낮을수록 우수)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전환 횟수</c:v>
                </c:pt>
              </c:strCache>
            </c:strRef>
          </c:tx>
          <c:dPt>
            <c:idx val="0"/>
            <c:spPr>
              <a:solidFill>
                <a:srgbClr val="B33A3A"/>
              </a:solidFill>
            </c:spPr>
          </c:dPt>
          <c:dPt>
            <c:idx val="1"/>
            <c:spPr>
              <a:solidFill>
                <a:srgbClr val="4A6D8C"/>
              </a:solidFill>
            </c:spPr>
          </c:dPt>
          <c:dPt>
            <c:idx val="2"/>
            <c:spPr>
              <a:solidFill>
                <a:srgbClr val="2E6FB0"/>
              </a:solidFill>
            </c:spPr>
          </c:dPt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 PPO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solidFill>
                    <a:srgbClr val="1B3255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맑은 고딕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300" b="1">
                <a:solidFill>
                  <a:srgbClr val="1B3255"/>
                </a:solidFill>
                <a:latin typeface="맑은 고딕"/>
              </a:defRPr>
            </a:pPr>
            <a:r>
              <a:t>8종 종합 — 생산률 · 평균 가동률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생산률(%)</c:v>
                </c:pt>
              </c:strCache>
            </c:strRef>
          </c:tx>
          <c:spPr>
            <a:solidFill>
              <a:srgbClr val="2E6FB0"/>
            </a:solidFill>
          </c:spPr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67.8</c:v>
                </c:pt>
                <c:pt idx="1">
                  <c:v>80.8</c:v>
                </c:pt>
                <c:pt idx="2">
                  <c:v>93.8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평균 가동률(%)</c:v>
                </c:pt>
              </c:strCache>
            </c:strRef>
          </c:tx>
          <c:spPr>
            <a:solidFill>
              <a:srgbClr val="4A6D8C"/>
            </a:solidFill>
          </c:spPr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57.1</c:v>
                </c:pt>
                <c:pt idx="1">
                  <c:v>71.1</c:v>
                </c:pt>
                <c:pt idx="2">
                  <c:v>81.3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950" b="1">
                  <a:solidFill>
                    <a:srgbClr val="1B3255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9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맑은 고딕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latin typeface="맑은 고딕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869680" y="0"/>
            <a:ext cx="3322015" cy="6858000"/>
          </a:xfrm>
          <a:prstGeom prst="rect">
            <a:avLst/>
          </a:prstGeom>
          <a:solidFill>
            <a:srgbClr val="162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914400"/>
            <a:ext cx="109728" cy="1554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914400"/>
            <a:ext cx="82296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9DBEE0"/>
                </a:solidFill>
                <a:latin typeface="맑은 고딕"/>
              </a:rPr>
              <a:t>설비 스케줄링 · 강화학습 적용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1" y="1417320"/>
            <a:ext cx="841248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800" b="1">
                <a:solidFill>
                  <a:srgbClr val="FFFFFF"/>
                </a:solidFill>
                <a:latin typeface="맑은 고딕"/>
              </a:rPr>
              <a:t>Bulk-Fill 강화학습 기반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800" b="1">
                <a:solidFill>
                  <a:srgbClr val="FFFFFF"/>
                </a:solidFill>
                <a:latin typeface="맑은 고딕"/>
              </a:rPr>
              <a:t>반도체 설비 스케줄링 모델</a:t>
            </a:r>
          </a:p>
        </p:txBody>
      </p:sp>
      <p:sp>
        <p:nvSpPr>
          <p:cNvPr id="8" name="Rectangle 7"/>
          <p:cNvSpPr/>
          <p:nvPr/>
        </p:nvSpPr>
        <p:spPr>
          <a:xfrm>
            <a:off x="1078992" y="3611880"/>
            <a:ext cx="4754880" cy="18288"/>
          </a:xfrm>
          <a:prstGeom prst="rect">
            <a:avLst/>
          </a:prstGeom>
          <a:solidFill>
            <a:srgbClr val="3A5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3767328"/>
            <a:ext cx="8686800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C9D8E8"/>
                </a:solidFill>
                <a:latin typeface="맑은 고딕"/>
              </a:rPr>
              <a:t>MDP 모델 정의(State · Action · Reward)와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C9D8E8"/>
                </a:solidFill>
                <a:latin typeface="맑은 고딕"/>
              </a:rPr>
              <a:t>테스트 데이터 기반 알고리즘 KPI 비교 · 효과성 검증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5943600"/>
            <a:ext cx="73152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FA6C0"/>
                </a:solidFill>
                <a:latin typeface="맑은 고딕"/>
              </a:rPr>
              <a:t>Project  pjt_scheduling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5943600"/>
            <a:ext cx="27432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FA6C0"/>
                </a:solidFill>
                <a:latin typeface="맑은 고딕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CONTENTS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목차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508760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508760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1572768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문제 정의 및 시스템 구조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965960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스케줄링 과제 · 전환 비용 · 모듈 아키텍처와 구조적 강점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587752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587752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2651760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Bulk-Fill MDP 모델 정의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01368" y="3044952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State · Action · Reward 상세 정의와 마스킹 · 블록 점유 메커니즘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3666744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666744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3730752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보상 산출 로직 예시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4123944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입력 JSON · 스텝별 State/Action/Reward · 누적 간트 차트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4745736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745736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4809744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알고리즘 KPI 비교 및 효과성 검증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01368" y="5202936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테스트 데이터 기반 정량 비교 · 학습 모델 효과 입증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01  문제 정의 및 시스템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스케줄링 과제와 전환(Conversion) 비용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325880"/>
            <a:ext cx="1060704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222A33"/>
                </a:solidFill>
                <a:latin typeface="맑은 고딕"/>
              </a:rPr>
              <a:t>설비가 유휴 상태가 될 때마다 </a:t>
            </a:r>
            <a:r>
              <a:rPr sz="1400" b="1">
                <a:solidFill>
                  <a:srgbClr val="1B3255"/>
                </a:solidFill>
                <a:latin typeface="맑은 고딕"/>
              </a:rPr>
              <a:t>어떤 제품·공정(PPK·OPER)을 투입할지</a:t>
            </a:r>
            <a:r>
              <a:rPr sz="1400" b="0">
                <a:solidFill>
                  <a:srgbClr val="222A33"/>
                </a:solidFill>
                <a:latin typeface="맑은 고딕"/>
              </a:rPr>
              <a:t> 결정하는 순차적 의사결정 문제입니다.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057400"/>
            <a:ext cx="525780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057400"/>
            <a:ext cx="525780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핵심 난점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514600"/>
            <a:ext cx="5257800" cy="26974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2697480"/>
            <a:ext cx="4846320" cy="2377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▪  </a:t>
            </a:r>
            <a:r>
              <a:rPr sz="1280" b="1">
                <a:solidFill>
                  <a:srgbClr val="1B3255"/>
                </a:solidFill>
                <a:latin typeface="맑은 고딕"/>
              </a:rPr>
              <a:t>제품 전환마다 셋업 손실</a:t>
            </a:r>
            <a:r>
              <a:rPr sz="1230" b="0">
                <a:solidFill>
                  <a:srgbClr val="5C6670"/>
                </a:solidFill>
                <a:latin typeface="맑은 고딕"/>
              </a:rPr>
              <a:t>   LOT_CD/TEMP가 바뀌면 전환(conversion) 시간이 발생해 그만큼 가동 시간이 사라집니다.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▪  </a:t>
            </a:r>
            <a:r>
              <a:rPr sz="1280" b="1">
                <a:solidFill>
                  <a:srgbClr val="1B3255"/>
                </a:solidFill>
                <a:latin typeface="맑은 고딕"/>
              </a:rPr>
              <a:t>계획·재공·설비 제약 동시 고려</a:t>
            </a:r>
            <a:r>
              <a:rPr sz="1230" b="0">
                <a:solidFill>
                  <a:srgbClr val="5C6670"/>
                </a:solidFill>
                <a:latin typeface="맑은 고딕"/>
              </a:rPr>
              <a:t>   계획량, 가용 재공(WIP), 설비-제품 적합성, 동시 가공 공구(tool) 한도를 함께 만족해야 합니다.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▪  </a:t>
            </a:r>
            <a:r>
              <a:rPr sz="1280" b="1">
                <a:solidFill>
                  <a:srgbClr val="1B3255"/>
                </a:solidFill>
                <a:latin typeface="맑은 고딕"/>
              </a:rPr>
              <a:t>근시안적 1매 배정의 한계</a:t>
            </a:r>
            <a:r>
              <a:rPr sz="1230" b="0">
                <a:solidFill>
                  <a:srgbClr val="5C6670"/>
                </a:solidFill>
                <a:latin typeface="맑은 고딕"/>
              </a:rPr>
              <a:t>   유휴 설비에 1캐리어씩만 배정하면 같은 셋업을 길게 이어가지 못해 전환이 잦아집니다.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55080" y="2057400"/>
            <a:ext cx="498348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2057400"/>
            <a:ext cx="49834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전환 비용의 정량적 의미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55080" y="2514600"/>
            <a:ext cx="4983480" cy="26974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2697480"/>
            <a:ext cx="45720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5C6670"/>
                </a:solidFill>
                <a:latin typeface="맑은 고딕"/>
              </a:rPr>
              <a:t>처리시간 = 전환시간 = 60분, 가동 8시간 기준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3200400"/>
            <a:ext cx="45262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3200400"/>
            <a:ext cx="4526280" cy="8686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1B3255"/>
                </a:solidFill>
                <a:latin typeface="맑은 고딕"/>
              </a:rPr>
              <a:t>전환 1회  =  캐리어 1개 손실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설비당 8캐리어 처리 가능 → 전환 n회 시 (8 − n)개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4206240"/>
            <a:ext cx="457200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222A33"/>
                </a:solidFill>
                <a:latin typeface="맑은 고딕"/>
              </a:rPr>
              <a:t>전환 비용이 </a:t>
            </a:r>
            <a:r>
              <a:rPr sz="1250" b="1">
                <a:solidFill>
                  <a:srgbClr val="B33A3A"/>
                </a:solidFill>
                <a:latin typeface="맑은 고딕"/>
              </a:rPr>
              <a:t>생산 수량 손실로 직접 환산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되므로, 전환 최소화가 곧 처리량 극대화로 이어집니다.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440680"/>
            <a:ext cx="10515600" cy="77724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5440680"/>
            <a:ext cx="10058400" cy="7772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9DBEE0"/>
                </a:solidFill>
                <a:latin typeface="맑은 고딕"/>
              </a:rPr>
              <a:t>설계 목표  </a:t>
            </a:r>
            <a:r>
              <a:rPr sz="1350" b="0">
                <a:solidFill>
                  <a:srgbClr val="FFFFFF"/>
                </a:solidFill>
                <a:latin typeface="맑은 고딕"/>
              </a:rPr>
              <a:t>재공이 충분하면 takt에 맞춰 균등 생산하고, 편중되면 몰린 공정에 집중하되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불필요한 전환은 회피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01  문제 정의 및 시스템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모듈 아키텍처 — 데이터에서 추론·시각화까지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54480"/>
            <a:ext cx="2084831" cy="45720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data/loader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데이터 적재·전처리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Oracle·JSON → env_data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(arrange·plan·flow·tool)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656332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816352" y="1554480"/>
            <a:ext cx="2084831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simulation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16352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89504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이산사건 시뮬레이터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9504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DES 엔진·상태/보상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LOT·EQP 규칙 배정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4905755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65776" y="1554480"/>
            <a:ext cx="2084831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env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65776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38928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Gym 환경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38928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SchedulingEnv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BulkFillEnv(마스킹)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7155180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0" y="1554480"/>
            <a:ext cx="2084831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agent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0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88352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정책·휴리스틱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88352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PPO(학습)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Min-Progress·Earliest-ST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9404604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564624" y="1554480"/>
            <a:ext cx="2084831" cy="45720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inference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64624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37776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추론·결과 출력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37776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스케줄·KPI·전환계획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output.json / DB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3657600"/>
            <a:ext cx="11064240" cy="18288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9808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config.py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환경 축(O·P·K)·보상 가중치·경로 설정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35584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35584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538728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api · frontend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38728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FastAPI + React 대시보드 · 간트/KPI 시각화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4476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14476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27648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benchmark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27648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직관형 검증 데이터셋(CONV_BENCH) 생성·평가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93368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93368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116567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models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16567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PPO 체크포인트(rl · bulkfill 분리 저장)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6928" y="5074920"/>
            <a:ext cx="11064240" cy="11430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77240" y="5175504"/>
            <a:ext cx="106984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설계 포인트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7240" y="5522976"/>
            <a:ext cx="1078992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222A33"/>
                </a:solidFill>
                <a:latin typeface="맑은 고딕"/>
              </a:rPr>
              <a:t>정책(RL)은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(PPK, OPER) 버킷 선택에만 집중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하고, LOT·EQP 세부 배정과 이산사건 무결성은 시뮬레이터 규칙이 보장합니다.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행동 공간을 작게 유지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해 학습이 안정적이며, 시뮬레이터·환경·정책이 느슨하게 결합되어 휴리스틱과 동일 조건에서 비교할 수 있습니다.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01  문제 정의 및 시스템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구조적 특징과 강점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417320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1417320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1618488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이산사건 시뮬레이션 기반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093976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설비 배정 즉시 busy 전환·종료 이벤트로 진행하는 DES로 실제 라인 동작에 부합하는 일정·전환을 재현합니다.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20" y="1417320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9120" y="1417320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1618488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벌크 점유(Bulk-Fill) 행동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093976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정책이 (버킷 + 블록 크기)를 함께 선택해 같은 셋업으로 N캐리어를 연속 점유 → 전환 빈도를 구조적으로 억제합니다.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55280" y="1417320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55280" y="1417320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8160" y="1618488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행동 마스킹(MaskablePPO)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2093976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유효하지 않은 (PPK·OPER)·블록 크기는 마스크로 차단해 무효 행동 탐색을 제거하고 학습 효율을 높입니다.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081528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960" y="3081528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3282696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계획·재공 적응형 보상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3758184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고정 계획이 아닌 달성가능 상한(achievable) 기준 takt를 추종해 재공 한계 내에서만 페이싱합니다.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120" y="3081528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89120" y="3081528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0" y="3282696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전환 비용의 정량 모델링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3758184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전환 1회=설비 가동 손실로 환산해 회피가능 전환에 추가 패널티를 부여, 불필요한 셋업 변경을 억제합니다.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55280" y="3081528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955280" y="3081528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38160" y="3282696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동일 조건 알고리즘 비교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60" y="3758184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PPO·휴리스틱이 같은 시뮬레이터·KPI로 평가되어 효과를 객관적으로 검증할 수 있습니다.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" y="4754880"/>
            <a:ext cx="10515600" cy="141732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97280" y="4882896"/>
            <a:ext cx="100584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요약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" y="5212080"/>
            <a:ext cx="1005840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작은 행동 공간 · 마스킹 · 벌크 점유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를 결합해 전환을 줄이면서 계획을 추종하도록 설계했으며, 이산사건 시뮬레이터 위에서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휴리스틱과 1:1로 비교 가능한 검증 체계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를 갖췄습니다.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강화학습 의사결정 구조 (MDP) 개요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80160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매 유휴 설비 결정 시점을 1 스텝으로 보고, 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>상태(State) → 행동(Action) → 보상(Reward)</a:t>
            </a:r>
            <a:r>
              <a:rPr sz="1350" b="0">
                <a:solidFill>
                  <a:srgbClr val="222A33"/>
                </a:solidFill>
                <a:latin typeface="맑은 고딕"/>
              </a:rPr>
              <a:t> 순환으로 정책을 학습합니다.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0" y="2057400"/>
            <a:ext cx="3017520" cy="105156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정책 (Agent)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MaskablePPO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60" y="2057400"/>
            <a:ext cx="3017520" cy="105156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환경 (Environment)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이산사건 시뮬레이터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114800" y="2240280"/>
            <a:ext cx="3931920" cy="365760"/>
          </a:xfrm>
          <a:prstGeom prst="right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0" y="1883664"/>
            <a:ext cx="39319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행동 a : (버킷, 블록크기)</a:t>
            </a:r>
          </a:p>
        </p:txBody>
      </p:sp>
      <p:sp>
        <p:nvSpPr>
          <p:cNvPr id="15" name="Left Arrow 14"/>
          <p:cNvSpPr/>
          <p:nvPr/>
        </p:nvSpPr>
        <p:spPr>
          <a:xfrm>
            <a:off x="4114800" y="2743200"/>
            <a:ext cx="3931920" cy="365760"/>
          </a:xfrm>
          <a:prstGeom prst="left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0" y="3127248"/>
            <a:ext cx="39319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상태 s′ · 보상 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749039"/>
            <a:ext cx="3456432" cy="21488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" y="3749039"/>
            <a:ext cx="3456432" cy="50292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749039"/>
            <a:ext cx="345643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State  (관측)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" y="4434840"/>
            <a:ext cx="3127248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B3255"/>
                </a:solidFill>
                <a:latin typeface="맑은 고딕"/>
              </a:rPr>
              <a:t>2,412차원 벡터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80160" y="5029200"/>
            <a:ext cx="2542032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138928"/>
            <a:ext cx="309067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5C6670"/>
                </a:solidFill>
                <a:latin typeface="맑은 고딕"/>
              </a:rPr>
              <a:t>전역 6 + 버킷 O×P×K×16 + 설비 2 + 맥락 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53128" y="3749039"/>
            <a:ext cx="3456432" cy="21488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453128" y="3749039"/>
            <a:ext cx="3456432" cy="50292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53128" y="3749039"/>
            <a:ext cx="345643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17720" y="4434840"/>
            <a:ext cx="3127248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B3255"/>
                </a:solidFill>
                <a:latin typeface="맑은 고딕"/>
              </a:rPr>
              <a:t>MultiDiscrete([O·P, L])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910328" y="5029200"/>
            <a:ext cx="2542032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36008" y="5138928"/>
            <a:ext cx="309067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5C6670"/>
                </a:solidFill>
                <a:latin typeface="맑은 고딕"/>
              </a:rPr>
              <a:t>투입할 (PPK·OPER) 버킷 + 블록 크기 레벨 4단계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83296" y="3749039"/>
            <a:ext cx="3456432" cy="21488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83296" y="3749039"/>
            <a:ext cx="3456432" cy="50292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83296" y="3749039"/>
            <a:ext cx="345643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Reward  (보상)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47888" y="4434840"/>
            <a:ext cx="3127248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B3255"/>
                </a:solidFill>
                <a:latin typeface="맑은 고딕"/>
              </a:rPr>
              <a:t>전환·페이싱·벌크 합산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40496" y="5029200"/>
            <a:ext cx="2542032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66175" y="5138928"/>
            <a:ext cx="309067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5C6670"/>
                </a:solidFill>
                <a:latin typeface="맑은 고딕"/>
              </a:rPr>
              <a:t>전환 회피 + takt 추종 + 큰 블록 점유 유도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— 관측 공간 정의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80160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관측은 [0,1]로 정규화된 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>2,412차원 Box 벡터</a:t>
            </a:r>
            <a:r>
              <a:rPr sz="1300" b="0">
                <a:solidFill>
                  <a:srgbClr val="5C6670"/>
                </a:solidFill>
                <a:latin typeface="맑은 고딕"/>
              </a:rPr>
              <a:t> 입니다.  (O=3, P=10, K=5, 버킷 채널 F=16 기준)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874519"/>
            <a:ext cx="10515600" cy="60350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874519"/>
            <a:ext cx="10515600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FFFFF"/>
                </a:solidFill>
                <a:latin typeface="맑은 고딕"/>
              </a:rPr>
              <a:t>obs_dim = 6 (전역)  +  O×P×K×16 (버킷)  +  2 (현재 설비)  +  4 (직전 맥락)  =  2,412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697480"/>
            <a:ext cx="2743200" cy="45720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구성 블록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66160" y="2697480"/>
            <a:ext cx="914400" cy="45720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차원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80560" y="2697480"/>
            <a:ext cx="6858000" cy="45720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주요 내용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3154680"/>
            <a:ext cx="2743200" cy="7132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전역 상태 (Global)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66160" y="3154680"/>
            <a:ext cx="914400" cy="7132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200" b="0">
                <a:solidFill>
                  <a:srgbClr val="1B3255"/>
                </a:solidFill>
                <a:latin typeface="맑은 고딕"/>
              </a:rPr>
              <a:t>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80560" y="3154680"/>
            <a:ext cx="6858000" cy="7132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00" b="0">
                <a:solidFill>
                  <a:srgbClr val="5C6670"/>
                </a:solidFill>
                <a:latin typeface="맑은 고딕"/>
              </a:rPr>
              <a:t>경과시간 · 잔여 takt여유 · 재공 소진율 · 계획 달성률 · 전환대기 설비 비율 · 공구 가동률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3867912"/>
            <a:ext cx="27432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버킷 특징 (Bucket)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66160" y="3867912"/>
            <a:ext cx="914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200" b="0">
                <a:solidFill>
                  <a:srgbClr val="1B3255"/>
                </a:solidFill>
                <a:latin typeface="맑은 고딕"/>
              </a:rPr>
              <a:t>2,400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80560" y="3867912"/>
            <a:ext cx="68580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00" b="0">
                <a:solidFill>
                  <a:srgbClr val="5C6670"/>
                </a:solidFill>
                <a:latin typeface="맑은 고딕"/>
              </a:rPr>
              <a:t>(OPER×PPK×MODEL) 격자의 16개 채널: 유효성·WIP비중·종료시각·처리율·takt·전환필요·공구여유·달성가능비·투영커버 등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4736592"/>
            <a:ext cx="2743200" cy="7132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현재 설비 (EQP local)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566160" y="4736592"/>
            <a:ext cx="914400" cy="7132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200" b="0">
                <a:solidFill>
                  <a:srgbClr val="1B3255"/>
                </a:solidFill>
                <a:latin typeface="맑은 고딕"/>
              </a:rPr>
              <a:t>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80560" y="4736592"/>
            <a:ext cx="6858000" cy="7132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00" b="0">
                <a:solidFill>
                  <a:srgbClr val="5C6670"/>
                </a:solidFill>
                <a:latin typeface="맑은 고딕"/>
              </a:rPr>
              <a:t>현재 결정 설비의 전환 필요 여부 · 전환 회피가능 정도(0~1)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5449824"/>
            <a:ext cx="27432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직전 맥락 (Context)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566160" y="5449824"/>
            <a:ext cx="9144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200" b="0">
                <a:solidFill>
                  <a:srgbClr val="1B3255"/>
                </a:solidFill>
                <a:latin typeface="맑은 고딕"/>
              </a:rPr>
              <a:t>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80560" y="5449824"/>
            <a:ext cx="68580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00" b="0">
                <a:solidFill>
                  <a:srgbClr val="5C6670"/>
                </a:solidFill>
                <a:latin typeface="맑은 고딕"/>
              </a:rPr>
              <a:t>직전 배정의 PPK · OPER · EQP · LOT_CD (정규화 인덱스)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5989320"/>
            <a:ext cx="105156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6FB0"/>
                </a:solidFill>
                <a:latin typeface="맑은 고딕"/>
              </a:rPr>
              <a:t>핵심 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버킷 채널이 제품·공정·설비모델별 "지금 이 버킷을 잡으면 얼마나 유효/시급/중복인가"를 정책에 제공</a:t>
            </a:r>
            <a:r>
              <a:rPr sz="1250" b="0">
                <a:solidFill>
                  <a:srgbClr val="5C6670"/>
                </a:solidFill>
                <a:latin typeface="맑은 고딕"/>
              </a:rPr>
              <a:t>하여, 전환 회피와 페이싱 판단의 근거가 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Action — 행동 공간과 블록 점유 메커니즘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08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280160"/>
            <a:ext cx="10515600" cy="603504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280160"/>
            <a:ext cx="10515600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맑은 고딕"/>
              </a:rPr>
              <a:t>action = MultiDiscrete( [ O×P 버킷 ,  L 블록크기 레벨 ] 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2103120"/>
            <a:ext cx="5212080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212848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① 버킷 선택 (O×P)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2578608"/>
            <a:ext cx="489204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투입할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(PPK·OPER) 조합</a:t>
            </a:r>
            <a:r>
              <a:rPr sz="1200" b="0">
                <a:solidFill>
                  <a:srgbClr val="5C6670"/>
                </a:solidFill>
                <a:latin typeface="맑은 고딕"/>
              </a:rPr>
              <a:t>을 선택합니다. LOT과 EQP는 우선순위 규칙으로 자동 배정되어 행동 차원을 줄입니다.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2103120"/>
            <a:ext cx="5212080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212848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② 블록 크기 레벨 (L=4)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578608"/>
            <a:ext cx="489204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같은 셋업으로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연속 점유할 캐리어 수</a:t>
            </a:r>
            <a:r>
              <a:rPr sz="1200" b="0">
                <a:solidFill>
                  <a:srgbClr val="5C6670"/>
                </a:solidFill>
                <a:latin typeface="맑은 고딕"/>
              </a:rPr>
              <a:t>를 takt 예산 분율로 결정합니다. 레벨↑ → 더 큰 블록.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3657600"/>
            <a:ext cx="10515600" cy="41148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657600"/>
            <a:ext cx="10515600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블록 점유(Masked Replay) 동작 순서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4206240"/>
            <a:ext cx="2505456" cy="16002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05840" y="4370832"/>
            <a:ext cx="45720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72768" y="4407408"/>
            <a:ext cx="1636776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블록 시작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" y="4956048"/>
            <a:ext cx="2121408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버킷·크기 선택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N 산출, 1캐리어 배정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remaining = N−1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3328416" y="4892040"/>
            <a:ext cx="164592" cy="29260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493008" y="4206240"/>
            <a:ext cx="2505456" cy="16002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75888" y="4370832"/>
            <a:ext cx="45720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42816" y="4407408"/>
            <a:ext cx="1636776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블록 진행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94176" y="4956048"/>
            <a:ext cx="2121408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같은 설비의 다음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결정은 같은 버킷으로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강제(마스킹) 재생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5998464" y="4892040"/>
            <a:ext cx="164592" cy="29260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63056" y="4206240"/>
            <a:ext cx="2505456" cy="16002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45936" y="4370832"/>
            <a:ext cx="45720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12864" y="4407408"/>
            <a:ext cx="1636776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블록 종료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64224" y="4956048"/>
            <a:ext cx="2121408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remaining=0 또는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재공·계획·공구 소진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→ 블록 해제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8668512" y="4892040"/>
            <a:ext cx="164592" cy="29260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33104" y="4206240"/>
            <a:ext cx="2505456" cy="16002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15984" y="4370832"/>
            <a:ext cx="45720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82912" y="4407408"/>
            <a:ext cx="1636776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상한 규칙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34272" y="4956048"/>
            <a:ext cx="2121408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N ≤ min(takt예산,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가용 WIP, 잔여 계획)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공구는 매 캐리어 검사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" y="5943600"/>
            <a:ext cx="105156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6FB0"/>
                </a:solidFill>
                <a:latin typeface="맑은 고딕"/>
              </a:rPr>
              <a:t>효과 </a:t>
            </a:r>
            <a:r>
              <a:rPr sz="1230" b="0">
                <a:solidFill>
                  <a:srgbClr val="222A33"/>
                </a:solidFill>
                <a:latin typeface="맑은 고딕"/>
              </a:rPr>
              <a:t>이산사건 무결성을 깨지 않으면서도 한 번의 결정으로 "같은 셋업 N캐리어 연속"을 실현 → 전환 횟수를 근본적으로 감소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Reward — 보상 항목과 가중치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61872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스텝 보상은 아래 항의 합이며 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>±10 범위로 클리핑</a:t>
            </a:r>
            <a:r>
              <a:rPr sz="1300" b="0">
                <a:solidFill>
                  <a:srgbClr val="5C6670"/>
                </a:solidFill>
                <a:latin typeface="맑은 고딕"/>
              </a:rPr>
              <a:t> 됩니다. (Bulk-Fill 학습 기준 가중치)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783080"/>
            <a:ext cx="3977639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FFFFFF"/>
                </a:solidFill>
                <a:latin typeface="맑은 고딕"/>
              </a:rPr>
              <a:t>보상 항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00600" y="1783080"/>
            <a:ext cx="123444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FFFFFF"/>
                </a:solidFill>
                <a:latin typeface="맑은 고딕"/>
              </a:rPr>
              <a:t>가중치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5040" y="1783080"/>
            <a:ext cx="530352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FFFFFF"/>
                </a:solidFill>
                <a:latin typeface="맑은 고딕"/>
              </a:rPr>
              <a:t>의미 / 발생 조건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203704"/>
            <a:ext cx="3977639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전환 패널티  w_conversion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00600" y="2203704"/>
            <a:ext cx="123444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B33A3A"/>
                </a:solidFill>
                <a:latin typeface="맑은 고딕"/>
              </a:rPr>
              <a:t>−10.0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35040" y="2203704"/>
            <a:ext cx="530352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LOT_CD·TEMP 전환(셋업 변경) 1회마다 부과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2756916"/>
            <a:ext cx="3977639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회피가능 전환  w_avoidable_conversion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00600" y="2756916"/>
            <a:ext cx="123444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B33A3A"/>
                </a:solidFill>
                <a:latin typeface="맑은 고딕"/>
              </a:rPr>
              <a:t>−8.0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40" y="2756916"/>
            <a:ext cx="530352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다른 무전환 설비가 커버 가능한데도 전환 시 추가 부과(×회피가능비율)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310128"/>
            <a:ext cx="3977639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페이싱  w_pacing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00600" y="3310128"/>
            <a:ext cx="123444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2E7D4F"/>
                </a:solidFill>
                <a:latin typeface="맑은 고딕"/>
              </a:rPr>
              <a:t>+2.5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35040" y="3310128"/>
            <a:ext cx="530352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달성가능 상한 기준 선형 takt에 가까워지면 +, 과생산이면 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3863339"/>
            <a:ext cx="3977639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동일 셋업 연속  w_same_setup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00600" y="3863339"/>
            <a:ext cx="123444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35040" y="3863339"/>
            <a:ext cx="530352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직전과 제품·공정이 모두 같고 재공이 남아있을 때 +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4416552"/>
            <a:ext cx="3977639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블록 크기 보너스  w_bulk_block_bonus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00600" y="4416552"/>
            <a:ext cx="123444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35040" y="4416552"/>
            <a:ext cx="530352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큰 블록으로 커밋할수록 + (takt예산 대비 블록 비율)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" y="4969764"/>
            <a:ext cx="3977639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전용 오용 패널티  w_dedication_misuse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00600" y="4969764"/>
            <a:ext cx="123444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B33A3A"/>
                </a:solidFill>
                <a:latin typeface="맑은 고딕"/>
              </a:rPr>
              <a:t>−4.0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35040" y="4969764"/>
            <a:ext cx="530352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더 전용적인 유휴 설비가 있는데 범용 설비가 그 버킷을 잡으면 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5522976"/>
            <a:ext cx="3977639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중복 커버 패널티  w_redundant_cover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800600" y="5522976"/>
            <a:ext cx="123444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B33A3A"/>
                </a:solidFill>
                <a:latin typeface="맑은 고딕"/>
              </a:rPr>
              <a:t>−5.0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35040" y="5522976"/>
            <a:ext cx="530352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이미 다른 설비가 충분히 덮는 버킷을 또 잡으면 − (전환 유도)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" y="6053328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222A33"/>
                </a:solidFill>
                <a:latin typeface="맑은 고딕"/>
              </a:rPr>
              <a:t>위 3개 벌크 전용 항(블록·전용오용·중복커버)은 Bulk-Fill 환경에서만 활성화되어 </a:t>
            </a:r>
            <a:r>
              <a:rPr sz="1180" b="1">
                <a:solidFill>
                  <a:srgbClr val="1B3255"/>
                </a:solidFill>
                <a:latin typeface="맑은 고딕"/>
              </a:rPr>
              <a:t>"큰 블록으로 전담"</a:t>
            </a:r>
            <a:r>
              <a:rPr sz="1180" b="0">
                <a:solidFill>
                  <a:srgbClr val="5C6670"/>
                </a:solidFill>
                <a:latin typeface="맑은 고딕"/>
              </a:rPr>
              <a:t> 행동을 유도합니다.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입력 데이터 형태 (JSON)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34440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222A33"/>
                </a:solidFill>
                <a:latin typeface="맑은 고딕"/>
              </a:rPr>
              <a:t>Oracle 또는 샘플 생성기가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data/dataset/{FAC}/{split}/{RULE_TIMEKEY}/input/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 경로에 아래 JSON을 적재합니다.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783080"/>
            <a:ext cx="292608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파일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49040" y="1783080"/>
            <a:ext cx="59436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필수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3400" y="1783080"/>
            <a:ext cx="699516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주요 필드 (행 단위)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203704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discrete_arrange.json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49040" y="2203704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43400" y="2203704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EQP_ID, LOT_ID, PLAN_PROD_KEY, OPER_ID, ST, EQP_MODEL_CD, WF_QTY, CARRIER_ID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2862072"/>
            <a:ext cx="29260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plan.json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49040" y="2862072"/>
            <a:ext cx="5943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43400" y="2862072"/>
            <a:ext cx="69951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PLAN_PROD_KEY, OPER_ID, D0_PLAN_QTY, D1_PLAN_QTY, PLAN_PRIORITY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520439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flow.json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749040" y="3520439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43400" y="3520439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PLAN_PROD_KEY, OPER_SEQ, OPER_ID  (공정 순서)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4178807"/>
            <a:ext cx="29260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abstract_arrange.json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49040" y="4178807"/>
            <a:ext cx="5943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43400" y="4178807"/>
            <a:ext cx="69951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EQP_MODEL_CD, PLAN_PROD_KEY, OPER_ID, ST  (모델-제품 적합성)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4837175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lot_master.json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749040" y="4837175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43400" y="4837175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LOT_ID, LOT_CD, TEMP  (전환 그룹 판별)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" y="5495543"/>
            <a:ext cx="29260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tool_capacity.json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749040" y="5495543"/>
            <a:ext cx="5943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43400" y="5495543"/>
            <a:ext cx="69951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LOT_CD, TEMP, MAX_TOOL  (동시 가공 공구 한도)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6153911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batch_info.json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749040" y="6153911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○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43400" y="6153911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PLAN_PROD_KEY, OPER_ID, LOT_CD, TEMP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4892040"/>
            <a:ext cx="5074920" cy="1417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22960" y="4892040"/>
            <a:ext cx="5074920" cy="4114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" y="4892040"/>
            <a:ext cx="5074920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discrete_arrange 예시 (1행)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5394960"/>
            <a:ext cx="480060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{"EQP_ID":"EQP001","LOT_ID":"LOT001",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"PLAN_PROD_KEY":"PPK001","OPER_ID":"OPER001",</a:t>
            </a:r>
            <a:r>
              <a:rPr sz="950" b="1">
                <a:solidFill>
                  <a:srgbClr val="1B3255"/>
                </a:solidFill>
                <a:latin typeface="맑은 고딕"/>
              </a:rPr>
              <a:t>"ST":60,"EQP_MODEL_CD":"A","WF_QTY":1}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80760" y="4892040"/>
            <a:ext cx="5257800" cy="1417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080760" y="4892040"/>
            <a:ext cx="5257800" cy="411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80760" y="4892040"/>
            <a:ext cx="5257800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preprocess() 이후 env_data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5394960"/>
            <a:ext cx="498348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sim_base_time · sim_end_minutes(1440)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eqp_ids · prod_keys · oper_ids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lots · plan · flow · proc_time_matrix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→ 시뮬레이터·Gym 환경이 공유하는 내부 상태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스텝 보상 수식 — 항목별 정의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325880"/>
            <a:ext cx="10515600" cy="65836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325880"/>
            <a:ext cx="10515600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맑은 고딕"/>
              </a:rPr>
              <a:t>r_t = clip( Σ 보상항 , ±10 )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2194560"/>
            <a:ext cx="10515600" cy="53035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286000"/>
            <a:ext cx="32918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동일 셋업  +w_same_setup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2286000"/>
            <a:ext cx="53035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직전과 제품·공정 동일 &amp; 재공 잔존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21240" y="2286000"/>
            <a:ext cx="1280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2724912"/>
            <a:ext cx="1051560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2816352"/>
            <a:ext cx="32918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페이싱  w_pacing·Δ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816352"/>
            <a:ext cx="53035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(|ideal−eff_before| − |ideal−eff_after|) / target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21240" y="2816352"/>
            <a:ext cx="1280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+2.5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255264"/>
            <a:ext cx="10515600" cy="53035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3346704"/>
            <a:ext cx="32918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계획 달성  w_plan_hit·Δ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3346704"/>
            <a:ext cx="53035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(gap_before − gap_after) / target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21240" y="3346704"/>
            <a:ext cx="1280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3785615"/>
            <a:ext cx="1051560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3877055"/>
            <a:ext cx="32918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블록 보너스  w_bulk·min(N/예산,1)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0" y="3877055"/>
            <a:ext cx="53035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블록 시작 시에만 (Bulk-Fill)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21240" y="3877055"/>
            <a:ext cx="1280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" y="4315968"/>
            <a:ext cx="10515600" cy="53035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4407407"/>
            <a:ext cx="32918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전환  w_conversion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120" y="4407407"/>
            <a:ext cx="53035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LOT_CD/TEMP 셋업 변경 1회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21240" y="4407407"/>
            <a:ext cx="1280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33A3A"/>
                </a:solidFill>
                <a:latin typeface="맑은 고딕"/>
              </a:rPr>
              <a:t>−10.0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4846320"/>
            <a:ext cx="1051560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5840" y="4937759"/>
            <a:ext cx="32918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회피가능 전환  w_avoid·α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120" y="4937759"/>
            <a:ext cx="53035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다른 무전환 설비가 커버 가능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21240" y="4937759"/>
            <a:ext cx="1280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33A3A"/>
                </a:solidFill>
                <a:latin typeface="맑은 고딕"/>
              </a:rPr>
              <a:t>−8.0×α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2960" y="5376672"/>
            <a:ext cx="10515600" cy="53035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5840" y="5468112"/>
            <a:ext cx="32918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중복 커버  w_redundant·min(cover/need,2)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120" y="5468112"/>
            <a:ext cx="53035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이미 덮이는 버킷 재선택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21240" y="5468112"/>
            <a:ext cx="1280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33A3A"/>
                </a:solidFill>
                <a:latin typeface="맑은 고딕"/>
              </a:rPr>
              <a:t>−5.0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2960" y="5989320"/>
            <a:ext cx="1051560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다음 슬라이드부터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SYM_3x3 실제 추론 트레이스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를 스텝마다 </a:t>
            </a:r>
            <a:r>
              <a:rPr sz="1200" b="1">
                <a:solidFill>
                  <a:srgbClr val="2E6FB0"/>
                </a:solidFill>
                <a:latin typeface="맑은 고딕"/>
              </a:rPr>
              <a:t>State → Action → Reward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와 누적 간트로 보여줍니다.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1 — 블록 시작 (N=6 캐리어 커밋)  (EQP001 → PPK001)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3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57984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57984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PPK001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50545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505456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85292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크기 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85292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2003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진행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2003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1/6 시작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54787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54787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LOT001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62288" y="3895344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3895344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시작 (N=6 캐리어 커밋)</a:t>
            </a:r>
          </a:p>
        </p:txBody>
      </p:sp>
      <p:pic>
        <p:nvPicPr>
          <p:cNvPr id="44" name="Picture 43" descr="step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325880"/>
            <a:ext cx="5532120" cy="2240280"/>
          </a:xfrm>
          <a:prstGeom prst="rect">
            <a:avLst/>
          </a:prstGeom>
        </p:spPr>
      </p:pic>
      <p:sp>
        <p:nvSpPr>
          <p:cNvPr id="45" name="Rectangle 44"/>
          <p:cNvSpPr/>
          <p:nvPr/>
        </p:nvSpPr>
        <p:spPr>
          <a:xfrm>
            <a:off x="502920" y="3703320"/>
            <a:ext cx="11201400" cy="36576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2920" y="3703320"/>
            <a:ext cx="1120140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Reward  r = +2.83   ·   누적 Σr = +2.83   ·   clip(Σ항, ±10)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4133087"/>
            <a:ext cx="112014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02920" y="4133087"/>
            <a:ext cx="73152" cy="71323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58368" y="4187951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8368" y="4462272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148840" y="4178807"/>
            <a:ext cx="87325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148840" y="4407407"/>
            <a:ext cx="90525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ideal: target·min(t,horizon)/horizon = 8·0/1320 = 0.0 · eff: 0.0→1.0 (done=0, cover=0.0, wf=1) · 2.5·(0.0−1.0)/8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561320" y="4334255"/>
            <a:ext cx="100584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= -0.31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901183"/>
            <a:ext cx="112014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2920" y="4901183"/>
            <a:ext cx="73152" cy="71323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58368" y="4956047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58368" y="5230368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148840" y="4946903"/>
            <a:ext cx="87325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148840" y="5175503"/>
            <a:ext cx="90525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gap: 8→7 (done 0→1, target=8) · 1.0·(8−7)/8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561320" y="5102351"/>
            <a:ext cx="100584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= +0.14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02920" y="5669279"/>
            <a:ext cx="112014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02920" y="5669279"/>
            <a:ext cx="73152" cy="71323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58368" y="5724143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58368" y="5998464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E7D4F"/>
                </a:solidFill>
                <a:latin typeface="맑은 고딕"/>
              </a:rPr>
              <a:t>+3.00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148840" y="5714999"/>
            <a:ext cx="87325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C6670"/>
                </a:solidFill>
                <a:latin typeface="맑은 고딕"/>
              </a:rPr>
              <a:t>w_bulk · min(N / takt예산, 1)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148840" y="5943599"/>
            <a:ext cx="90525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3.0 · min(6 / 6, 1) = 3.0 · 1.0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561320" y="5870447"/>
            <a:ext cx="100584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= +3.00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2920" y="6455663"/>
            <a:ext cx="11201400" cy="347472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85800" y="6455663"/>
            <a:ext cx="1088136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페이싱 -0.31 + 계획 달성 +0.14 + 블록 보너스 +3.00  →  r = +2.83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2 — 블록 시작 (N=6 캐리어 커밋)  (EQP002 → PPK002)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4.2%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0.042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57984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57984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PPK002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50545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505456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85292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크기 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85292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2003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진행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2003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1/6 시작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54787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54787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LOT009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62288" y="3895344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3895344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시작 (N=6 캐리어 커밋)</a:t>
            </a:r>
          </a:p>
        </p:txBody>
      </p:sp>
      <p:pic>
        <p:nvPicPr>
          <p:cNvPr id="44" name="Picture 43" descr="step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325880"/>
            <a:ext cx="5532120" cy="2240280"/>
          </a:xfrm>
          <a:prstGeom prst="rect">
            <a:avLst/>
          </a:prstGeom>
        </p:spPr>
      </p:pic>
      <p:sp>
        <p:nvSpPr>
          <p:cNvPr id="45" name="Rectangle 44"/>
          <p:cNvSpPr/>
          <p:nvPr/>
        </p:nvSpPr>
        <p:spPr>
          <a:xfrm>
            <a:off x="502920" y="3703320"/>
            <a:ext cx="11201400" cy="36576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2920" y="3703320"/>
            <a:ext cx="1120140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Reward  r = +2.83   ·   누적 Σr = +5.66   ·   clip(Σ항, ±10)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4133087"/>
            <a:ext cx="112014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02920" y="4133087"/>
            <a:ext cx="73152" cy="71323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58368" y="4187951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8368" y="4462272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148840" y="4178807"/>
            <a:ext cx="87325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148840" y="4407407"/>
            <a:ext cx="90525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ideal: target·min(t,horizon)/horizon = 8·0/1320 = 0.0 · eff: 0.0→1.0 (done=0, cover=0.0, wf=1) · 2.5·(0.0−1.0)/8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561320" y="4334255"/>
            <a:ext cx="100584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= -0.31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901183"/>
            <a:ext cx="112014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2920" y="4901183"/>
            <a:ext cx="73152" cy="71323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58368" y="4956047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58368" y="5230368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148840" y="4946903"/>
            <a:ext cx="87325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148840" y="5175503"/>
            <a:ext cx="90525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gap: 8→7 (done 0→1, target=8) · 1.0·(8−7)/8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561320" y="5102351"/>
            <a:ext cx="100584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= +0.14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02920" y="5669279"/>
            <a:ext cx="112014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02920" y="5669279"/>
            <a:ext cx="73152" cy="71323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58368" y="5724143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58368" y="5998464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E7D4F"/>
                </a:solidFill>
                <a:latin typeface="맑은 고딕"/>
              </a:rPr>
              <a:t>+3.00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148840" y="5714999"/>
            <a:ext cx="87325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C6670"/>
                </a:solidFill>
                <a:latin typeface="맑은 고딕"/>
              </a:rPr>
              <a:t>w_bulk · min(N / takt예산, 1)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148840" y="5943599"/>
            <a:ext cx="90525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3.0 · min(6 / 6, 1) = 3.0 · 1.0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561320" y="5870447"/>
            <a:ext cx="100584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= +3.00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2920" y="6455663"/>
            <a:ext cx="11201400" cy="347472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85800" y="6455663"/>
            <a:ext cx="1088136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페이싱 -0.31 + 계획 달성 +0.14 + 블록 보너스 +3.00  →  r = +2.83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3 — 블록 시작 (N=6 캐리어 커밋)  (EQP003 → PPK003)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8.3%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0.083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57984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57984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PPK003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50545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505456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85292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크기 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85292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2003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진행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2003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1/6 시작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54787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54787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LOT017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62288" y="3895344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3895344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시작 (N=6 캐리어 커밋)</a:t>
            </a:r>
          </a:p>
        </p:txBody>
      </p:sp>
      <p:pic>
        <p:nvPicPr>
          <p:cNvPr id="44" name="Picture 43" descr="step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325880"/>
            <a:ext cx="5532120" cy="2240280"/>
          </a:xfrm>
          <a:prstGeom prst="rect">
            <a:avLst/>
          </a:prstGeom>
        </p:spPr>
      </p:pic>
      <p:sp>
        <p:nvSpPr>
          <p:cNvPr id="45" name="Rectangle 44"/>
          <p:cNvSpPr/>
          <p:nvPr/>
        </p:nvSpPr>
        <p:spPr>
          <a:xfrm>
            <a:off x="502920" y="3703320"/>
            <a:ext cx="11201400" cy="36576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2920" y="3703320"/>
            <a:ext cx="1120140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Reward  r = +2.83   ·   누적 Σr = +8.49   ·   clip(Σ항, ±10)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4133087"/>
            <a:ext cx="112014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02920" y="4133087"/>
            <a:ext cx="73152" cy="71323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58368" y="4187951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8368" y="4462272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148840" y="4178807"/>
            <a:ext cx="87325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148840" y="4407407"/>
            <a:ext cx="90525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ideal: target·min(t,horizon)/horizon = 8·0/1320 = 0.0 · eff: 0.0→1.0 (done=0, cover=0.0, wf=1) · 2.5·(0.0−1.0)/8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561320" y="4334255"/>
            <a:ext cx="100584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= -0.31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901183"/>
            <a:ext cx="112014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2920" y="4901183"/>
            <a:ext cx="73152" cy="71323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58368" y="4956047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58368" y="5230368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148840" y="4946903"/>
            <a:ext cx="87325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148840" y="5175503"/>
            <a:ext cx="90525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gap: 8→7 (done 0→1, target=8) · 1.0·(8−7)/8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561320" y="5102351"/>
            <a:ext cx="100584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= +0.14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02920" y="5669279"/>
            <a:ext cx="112014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02920" y="5669279"/>
            <a:ext cx="73152" cy="71323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58368" y="5724143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58368" y="5998464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E7D4F"/>
                </a:solidFill>
                <a:latin typeface="맑은 고딕"/>
              </a:rPr>
              <a:t>+3.00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148840" y="5714999"/>
            <a:ext cx="87325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C6670"/>
                </a:solidFill>
                <a:latin typeface="맑은 고딕"/>
              </a:rPr>
              <a:t>w_bulk · min(N / takt예산, 1)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148840" y="5943599"/>
            <a:ext cx="90525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3.0 · min(6 / 6, 1) = 3.0 · 1.0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561320" y="5870447"/>
            <a:ext cx="100584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= +3.00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2920" y="6455663"/>
            <a:ext cx="11201400" cy="347472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85800" y="6455663"/>
            <a:ext cx="1088136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페이싱 -0.31 + 계획 달성 +0.14 + 블록 보너스 +3.00  →  r = +2.83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4 — 블록 연속 (2/6 · 같은 셋업·장비 점유)  (EQP001 → PPK001)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12.5%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3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0.125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57984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57984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PPK001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50545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505456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85292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크기 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85292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2003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진행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2003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2/6  (잔여 4)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54787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54787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LOT004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62288" y="3895344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3895344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연속 (2/6 · 같은 셋업·장비 점유)</a:t>
            </a:r>
          </a:p>
        </p:txBody>
      </p:sp>
      <p:pic>
        <p:nvPicPr>
          <p:cNvPr id="44" name="Picture 43" descr="step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325880"/>
            <a:ext cx="5532120" cy="2240280"/>
          </a:xfrm>
          <a:prstGeom prst="rect">
            <a:avLst/>
          </a:prstGeom>
        </p:spPr>
      </p:pic>
      <p:sp>
        <p:nvSpPr>
          <p:cNvPr id="45" name="Rectangle 44"/>
          <p:cNvSpPr/>
          <p:nvPr/>
        </p:nvSpPr>
        <p:spPr>
          <a:xfrm>
            <a:off x="502920" y="3703320"/>
            <a:ext cx="11201400" cy="36576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2920" y="3703320"/>
            <a:ext cx="1120140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Reward  r = +0.83   ·   누적 Σr = +9.32   ·   clip(Σ항, ±10)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4133087"/>
            <a:ext cx="112014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02920" y="4133087"/>
            <a:ext cx="73152" cy="71323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58368" y="4187951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8368" y="4462272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E7D4F"/>
                </a:solidFill>
                <a:latin typeface="맑은 고딕"/>
              </a:rPr>
              <a:t>+1.00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148840" y="4178807"/>
            <a:ext cx="87325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148840" y="4407407"/>
            <a:ext cx="90525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1.0 · 1[None→PPK001, None→OPER001] = 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561320" y="4334255"/>
            <a:ext cx="100584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= +1.00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901183"/>
            <a:ext cx="112014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2920" y="4901183"/>
            <a:ext cx="73152" cy="71323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58368" y="4956047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58368" y="5230368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148840" y="4946903"/>
            <a:ext cx="87325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148840" y="5175503"/>
            <a:ext cx="90525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ideal: target·min(t,horizon)/horizon = 8·0/1320 = 0.0 · eff: 22.0→23.0 (done=1, cover=21.0, wf=1) · 2.5·(22.0−23.0)/8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561320" y="5102351"/>
            <a:ext cx="100584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= -0.31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02920" y="5669279"/>
            <a:ext cx="112014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02920" y="5669279"/>
            <a:ext cx="73152" cy="71323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58368" y="5724143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58368" y="5998464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148840" y="5714999"/>
            <a:ext cx="87325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148840" y="5943599"/>
            <a:ext cx="90525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gap: 7→6 (done 1→2, target=8) · 1.0·(7−6)/8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561320" y="5870447"/>
            <a:ext cx="100584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= +0.14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2920" y="6455663"/>
            <a:ext cx="11201400" cy="347472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85800" y="6455663"/>
            <a:ext cx="1088136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동일 셋업 +1.00 + 페이싱 -0.31 + 계획 달성 +0.14  →  r = +0.83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6 — 블록 연속 (2/6 · 같은 셋업·장비 점유)  (EQP003 → PPK003)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60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20.8%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5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0.125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0.208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57984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57984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PPK003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50545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505456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85292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크기 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85292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2003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진행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2003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2/6  (잔여 4)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54787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54787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LOT018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62288" y="3895344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3895344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연속 (2/6 · 같은 셋업·장비 점유)</a:t>
            </a:r>
          </a:p>
        </p:txBody>
      </p:sp>
      <p:pic>
        <p:nvPicPr>
          <p:cNvPr id="44" name="Picture 43" descr="step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325880"/>
            <a:ext cx="5532120" cy="2240280"/>
          </a:xfrm>
          <a:prstGeom prst="rect">
            <a:avLst/>
          </a:prstGeom>
        </p:spPr>
      </p:pic>
      <p:sp>
        <p:nvSpPr>
          <p:cNvPr id="45" name="Rectangle 44"/>
          <p:cNvSpPr/>
          <p:nvPr/>
        </p:nvSpPr>
        <p:spPr>
          <a:xfrm>
            <a:off x="502920" y="3703320"/>
            <a:ext cx="11201400" cy="36576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2920" y="3703320"/>
            <a:ext cx="1120140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Reward  r = +0.83   ·   누적 Σr = +10.98   ·   clip(Σ항, ±10)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4133087"/>
            <a:ext cx="112014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02920" y="4133087"/>
            <a:ext cx="73152" cy="71323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58368" y="4187951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8368" y="4462272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E7D4F"/>
                </a:solidFill>
                <a:latin typeface="맑은 고딕"/>
              </a:rPr>
              <a:t>+1.00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148840" y="4178807"/>
            <a:ext cx="87325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148840" y="4407407"/>
            <a:ext cx="90525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1.0 · 1[PPK003→PPK003, OPER001→OPER001] = 1.0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561320" y="4334255"/>
            <a:ext cx="100584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= +1.00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901183"/>
            <a:ext cx="112014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2920" y="4901183"/>
            <a:ext cx="73152" cy="71323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58368" y="4956047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58368" y="5230368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148840" y="4946903"/>
            <a:ext cx="87325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148840" y="5175503"/>
            <a:ext cx="90525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ideal: target·min(t,horizon)/horizon = 8·60/1320 = 0.36 · eff: 1.0→2.0 (done=1, cover=0.0, wf=1) · 2.5·(0.64−1.64)/8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561320" y="5102351"/>
            <a:ext cx="100584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= -0.31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02920" y="5669279"/>
            <a:ext cx="112014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02920" y="5669279"/>
            <a:ext cx="73152" cy="71323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58368" y="5724143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58368" y="5998464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148840" y="5714999"/>
            <a:ext cx="87325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148840" y="5943599"/>
            <a:ext cx="90525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gap: 7→6 (done 1→2, target=8) · 1.0·(7−6)/8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561320" y="5870447"/>
            <a:ext cx="100584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= +0.14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2920" y="6455663"/>
            <a:ext cx="11201400" cy="347472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85800" y="6455663"/>
            <a:ext cx="1088136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동일 셋업 +1.00 + 페이싱 -0.31 + 계획 달성 +0.14  →  r = +0.83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8 — 블록 연속 (3/6 · 같은 셋업·장비 점유)  (EQP002 → PPK002)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17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120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29.2%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7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0.250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0.292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57984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57984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PPK002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50545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505456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85292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크기 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85292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2003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진행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2003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3/6  (잔여 3)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54787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54787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LOT015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62288" y="3895344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3895344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연속 (3/6 · 같은 셋업·장비 점유)</a:t>
            </a:r>
          </a:p>
        </p:txBody>
      </p:sp>
      <p:pic>
        <p:nvPicPr>
          <p:cNvPr id="44" name="Picture 43" descr="step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325880"/>
            <a:ext cx="5532120" cy="2240280"/>
          </a:xfrm>
          <a:prstGeom prst="rect">
            <a:avLst/>
          </a:prstGeom>
        </p:spPr>
      </p:pic>
      <p:sp>
        <p:nvSpPr>
          <p:cNvPr id="45" name="Rectangle 44"/>
          <p:cNvSpPr/>
          <p:nvPr/>
        </p:nvSpPr>
        <p:spPr>
          <a:xfrm>
            <a:off x="502920" y="3703320"/>
            <a:ext cx="11201400" cy="36576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2920" y="3703320"/>
            <a:ext cx="1120140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Reward  r = +0.83   ·   누적 Σr = +12.64   ·   clip(Σ항, ±10)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4133087"/>
            <a:ext cx="112014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02920" y="4133087"/>
            <a:ext cx="73152" cy="71323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58368" y="4187951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8368" y="4462272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E7D4F"/>
                </a:solidFill>
                <a:latin typeface="맑은 고딕"/>
              </a:rPr>
              <a:t>+1.00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148840" y="4178807"/>
            <a:ext cx="87325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148840" y="4407407"/>
            <a:ext cx="90525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1.0 · 1[PPK002→PPK002, OPER001→OPER001] = 1.0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561320" y="4334255"/>
            <a:ext cx="100584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= +1.00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901183"/>
            <a:ext cx="112014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2920" y="4901183"/>
            <a:ext cx="73152" cy="71323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58368" y="4956047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58368" y="5230368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148840" y="4946903"/>
            <a:ext cx="87325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148840" y="5175503"/>
            <a:ext cx="90525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ideal: target·min(t,horizon)/horizon = 8·120/1320 = 0.73 · eff: 2.0→3.0 (done=2, cover=0.0, wf=1) · 2.5·(1.27−2.27)/8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561320" y="5102351"/>
            <a:ext cx="100584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= -0.31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02920" y="5669279"/>
            <a:ext cx="112014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02920" y="5669279"/>
            <a:ext cx="73152" cy="71323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58368" y="5724143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58368" y="5998464"/>
            <a:ext cx="1417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148840" y="5714999"/>
            <a:ext cx="87325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148840" y="5943599"/>
            <a:ext cx="90525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gap: 6→5 (done 2→3, target=8) · 1.0·(6−5)/8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561320" y="5870447"/>
            <a:ext cx="100584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= +0.14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2920" y="6455663"/>
            <a:ext cx="11201400" cy="347472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85800" y="6455663"/>
            <a:ext cx="1088136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동일 셋업 +1.00 + 페이싱 -0.31 + 계획 달성 +0.14  →  r = +0.83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대표 시나리오 — 바람직 vs 지양 결정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34440"/>
            <a:ext cx="1060704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80" b="0">
                <a:solidFill>
                  <a:srgbClr val="5C6670"/>
                </a:solidFill>
                <a:latin typeface="맑은 고딕"/>
              </a:rPr>
              <a:t>검증 데이터(3설비·3제품·각 8캐리어, takt 예산 8) 기준, 대표 결정 두 가지의 보상 계산입니다.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783080"/>
            <a:ext cx="5212080" cy="3703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1783080"/>
            <a:ext cx="5212080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783080"/>
            <a:ext cx="52120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예시 A · 전담 블록 시작 (바람직)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2377440"/>
            <a:ext cx="484632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상황 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EQP001이 직전과 같은 PPK001을 블록 크기 8(=takt 예산 전량)로 커밋, 다른 설비가 덮지 않는 제품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" y="2880360"/>
            <a:ext cx="14173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23160" y="2880360"/>
            <a:ext cx="26060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w·1[동일셋업]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28" y="3118104"/>
            <a:ext cx="3977639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1.0·1 = +1.0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2971800"/>
            <a:ext cx="6858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" y="3355848"/>
            <a:ext cx="14173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23160" y="3355848"/>
            <a:ext cx="26060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w·(|ideal−eff_b|−|ideal−eff_a|)/T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" y="3593591"/>
            <a:ext cx="3977639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2.5·(0.5−0.3)/8 ≈ +0.06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3447288"/>
            <a:ext cx="6858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" y="3831335"/>
            <a:ext cx="14173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23160" y="3831335"/>
            <a:ext cx="26060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w_bulk·min(N/예산,1)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4128" y="4069079"/>
            <a:ext cx="3977639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3.0·min(8/8,1) = +3.0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74920" y="3922775"/>
            <a:ext cx="6858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4128" y="4306823"/>
            <a:ext cx="14173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23160" y="4306823"/>
            <a:ext cx="26060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w_conv·1[전환]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128" y="4544567"/>
            <a:ext cx="3977639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셋업 동일 → 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74920" y="4398263"/>
            <a:ext cx="6858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4128" y="4782311"/>
            <a:ext cx="14173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23160" y="4782311"/>
            <a:ext cx="26060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w_red·min(cover/need,2)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4128" y="5020055"/>
            <a:ext cx="3977639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cover=0 → 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74920" y="4873751"/>
            <a:ext cx="6858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24128" y="4956048"/>
            <a:ext cx="4809744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24128" y="5029200"/>
            <a:ext cx="4809744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합계  </a:t>
            </a:r>
            <a:r>
              <a:rPr sz="1300" b="1">
                <a:solidFill>
                  <a:srgbClr val="2E7D4F"/>
                </a:solidFill>
                <a:latin typeface="맑은 고딕"/>
              </a:rPr>
              <a:t>≈ +6 수준의 강한 양(+) 보상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4128" y="5440680"/>
            <a:ext cx="484632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→ 같은 셋업으로 길게 점유하는 행동을 강화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26480" y="1783080"/>
            <a:ext cx="5212080" cy="3703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26480" y="1783080"/>
            <a:ext cx="5212080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126480" y="1783080"/>
            <a:ext cx="52120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예시 B · 회피가능 전환 (지양)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27648" y="2377440"/>
            <a:ext cx="484632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상황 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EQP가 PPK001→PPK002로 셋업을 바꿔 1캐리어만 처리. 다른 무전환 설비가 PPK002를 70% 커버 가능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27648" y="2880360"/>
            <a:ext cx="14173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26679" y="2880360"/>
            <a:ext cx="26060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w_conv·1[전환]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27648" y="3118104"/>
            <a:ext cx="3977639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−10.0·1 = −10.0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378440" y="2971800"/>
            <a:ext cx="6858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−10.0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27648" y="3355848"/>
            <a:ext cx="14173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726679" y="3355848"/>
            <a:ext cx="26060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w_avoid·α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27648" y="3593591"/>
            <a:ext cx="3977639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−8.0·0.7 = −5.6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378440" y="3447288"/>
            <a:ext cx="6858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−5.6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27648" y="3831335"/>
            <a:ext cx="14173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726679" y="3831335"/>
            <a:ext cx="26060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w_red·min(c/need,2)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27648" y="4069079"/>
            <a:ext cx="3977639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−5.0·0.4 ≈ −2.0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378440" y="3922775"/>
            <a:ext cx="6858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−Δ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27648" y="4306823"/>
            <a:ext cx="14173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726679" y="4306823"/>
            <a:ext cx="26060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w_bulk·min(N/B,1)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27648" y="4544567"/>
            <a:ext cx="3977639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N=1 → 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378440" y="4398263"/>
            <a:ext cx="6858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27648" y="4782311"/>
            <a:ext cx="141732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26679" y="4782311"/>
            <a:ext cx="26060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w·1[동일]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27648" y="5020055"/>
            <a:ext cx="3977639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셋업 변경 → 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378440" y="4873751"/>
            <a:ext cx="6858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327648" y="4956048"/>
            <a:ext cx="4809744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327648" y="5029200"/>
            <a:ext cx="4809744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합계  </a:t>
            </a:r>
            <a:r>
              <a:rPr sz="1300" b="1">
                <a:solidFill>
                  <a:srgbClr val="B33A3A"/>
                </a:solidFill>
                <a:latin typeface="맑은 고딕"/>
              </a:rPr>
              <a:t>≈ −20 수준의 강한 음(−) 보상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27648" y="5440680"/>
            <a:ext cx="484632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→ 불필요한 셋업 변경을 강하게 억제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22960" y="5715000"/>
            <a:ext cx="10515600" cy="64008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51560" y="5715000"/>
            <a:ext cx="10149840" cy="6400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학습 결과  </a:t>
            </a:r>
            <a:r>
              <a:rPr sz="1300" b="0">
                <a:solidFill>
                  <a:srgbClr val="FFFFFF"/>
                </a:solidFill>
                <a:latin typeface="맑은 고딕"/>
              </a:rPr>
              <a:t>정책은 "전담 블록은 키우고, 회피가능한 전환은 피한다"는 행동을 자연스럽게 획득합니다.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스텝별 요약 — SYM_3x3 트레이스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170432"/>
            <a:ext cx="1106424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222A33"/>
                </a:solidFill>
                <a:latin typeface="맑은 고딕"/>
              </a:rPr>
              <a:t>학습 모델을 </a:t>
            </a:r>
            <a:r>
              <a:rPr sz="1150" b="1">
                <a:solidFill>
                  <a:srgbClr val="1B3255"/>
                </a:solidFill>
                <a:latin typeface="맑은 고딕"/>
              </a:rPr>
              <a:t>SYM_3x3</a:t>
            </a:r>
            <a:r>
              <a:rPr sz="1150" b="0">
                <a:solidFill>
                  <a:srgbClr val="222A33"/>
                </a:solidFill>
                <a:latin typeface="맑은 고딕"/>
              </a:rPr>
              <a:t>(3설비·각 8캐리어, takt 예산 8)에 결정론적 추론한 </a:t>
            </a:r>
            <a:r>
              <a:rPr sz="1150" b="1">
                <a:solidFill>
                  <a:srgbClr val="1B3255"/>
                </a:solidFill>
                <a:latin typeface="맑은 고딕"/>
              </a:rPr>
              <a:t>실제 첫 8스텝</a:t>
            </a:r>
            <a:r>
              <a:rPr sz="1150" b="0">
                <a:solidFill>
                  <a:srgbClr val="222A33"/>
                </a:solidFill>
                <a:latin typeface="맑은 고딕"/>
              </a:rPr>
              <a:t>의 상태·보상 변화입니다.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627632"/>
            <a:ext cx="77724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스텝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44168" y="1627632"/>
            <a:ext cx="91440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t(분)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58568" y="1627632"/>
            <a:ext cx="269748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결정 (EQP → PPK)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56048" y="1627632"/>
            <a:ext cx="169164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행동 유형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47688" y="1627632"/>
            <a:ext cx="141732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달성률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65008" y="1627632"/>
            <a:ext cx="173736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보상 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802368" y="1627632"/>
            <a:ext cx="173736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누적 Σr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2048256"/>
            <a:ext cx="7772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44168" y="2048256"/>
            <a:ext cx="91440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58568" y="2048256"/>
            <a:ext cx="269748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EQP001 → PPK001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56048" y="2048256"/>
            <a:ext cx="16916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블록 시작 (N=8)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47688" y="2048256"/>
            <a:ext cx="141732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65008" y="2048256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+2.83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802368" y="2048256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2.83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2404872"/>
            <a:ext cx="7772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344168" y="2404872"/>
            <a:ext cx="91440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258568" y="2404872"/>
            <a:ext cx="269748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EQP002 → PPK002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56048" y="2404872"/>
            <a:ext cx="16916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블록 시작 (N=8)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47688" y="2404872"/>
            <a:ext cx="141732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4%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65008" y="2404872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+2.83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02368" y="2404872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5.66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2761488"/>
            <a:ext cx="7772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344168" y="2761488"/>
            <a:ext cx="91440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258568" y="2761488"/>
            <a:ext cx="269748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EQP003 → PPK003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956048" y="2761488"/>
            <a:ext cx="16916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블록 시작 (N=8)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47688" y="2761488"/>
            <a:ext cx="141732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8%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065008" y="2761488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+2.83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802368" y="2761488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8.49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6928" y="3118104"/>
            <a:ext cx="7772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344168" y="3118104"/>
            <a:ext cx="91440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258568" y="3118104"/>
            <a:ext cx="269748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EQP001 → PPK001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956048" y="3118104"/>
            <a:ext cx="16916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647688" y="3118104"/>
            <a:ext cx="141732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065008" y="3118104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802368" y="3118104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9.32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28" y="3474720"/>
            <a:ext cx="7772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344168" y="3474720"/>
            <a:ext cx="91440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258568" y="3474720"/>
            <a:ext cx="269748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EQP002 → PPK002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956048" y="3474720"/>
            <a:ext cx="16916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647688" y="3474720"/>
            <a:ext cx="141732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17%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065008" y="3474720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802368" y="3474720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10.15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66928" y="3831336"/>
            <a:ext cx="7772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344168" y="3831336"/>
            <a:ext cx="91440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258568" y="3831336"/>
            <a:ext cx="269748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EQP003 → PPK003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956048" y="3831336"/>
            <a:ext cx="16916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647688" y="3831336"/>
            <a:ext cx="141732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21%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065008" y="3831336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802368" y="3831336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10.98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66928" y="4187952"/>
            <a:ext cx="7772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344168" y="4187952"/>
            <a:ext cx="91440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258568" y="4187952"/>
            <a:ext cx="269748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EQP001 → PPK001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956048" y="4187952"/>
            <a:ext cx="16916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647688" y="4187952"/>
            <a:ext cx="141732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25%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065008" y="4187952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802368" y="4187952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11.81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66928" y="4544568"/>
            <a:ext cx="7772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344168" y="4544568"/>
            <a:ext cx="91440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120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258568" y="4544568"/>
            <a:ext cx="269748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EQP002 → PPK002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956048" y="4544568"/>
            <a:ext cx="16916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647688" y="4544568"/>
            <a:ext cx="141732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29%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65008" y="4544568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73" name="Rectangle 72"/>
          <p:cNvSpPr/>
          <p:nvPr/>
        </p:nvSpPr>
        <p:spPr>
          <a:xfrm>
            <a:off x="9802368" y="4544568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12.64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66928" y="4937759"/>
            <a:ext cx="110642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관찰  </a:t>
            </a:r>
            <a:r>
              <a:rPr sz="1050" b="0">
                <a:solidFill>
                  <a:srgbClr val="5C6670"/>
                </a:solidFill>
                <a:latin typeface="맑은 고딕"/>
              </a:rPr>
              <a:t>스텝 1~3은 각 설비 전담 블록 시작(보상 큼), 4~8은 같은 셋업 연속. 상세 State/Action/Reward·간트는 슬라이드 12~17 참고.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66928" y="4736592"/>
            <a:ext cx="11064240" cy="420624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66928" y="4736592"/>
            <a:ext cx="11064240" cy="42062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스텝 보상 식    r_t  =  w_same_setup·1[동일셋업]  +  w_pacing·(|ideal−eff_before| − |ideal−eff_after|)/target  +  w_plan_hit·(gap_before − gap_after)/target  +  [블록 시작 시] Δblock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66928" y="5193792"/>
            <a:ext cx="11064240" cy="3657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85800" y="5193792"/>
            <a:ext cx="1097280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222A33"/>
                </a:solidFill>
                <a:latin typeface="맑은 고딕"/>
              </a:rPr>
              <a:t>Δblock = w_bulk_block_bonus·min(N/예산,1)  +  w_dedication_misuse·1[전용오용]  +  w_redundant_cover·min(cover/need, 2)        |        전환 발생 시  + w_conversion  + w_avoidable_conversion·avoidable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66928" y="5669279"/>
            <a:ext cx="5440680" cy="1078992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566928" y="5669279"/>
            <a:ext cx="82296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49808" y="5742431"/>
            <a:ext cx="521208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스텝 1 · 블록 시작 (EQP001→PPK001, N=8)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49808" y="6035040"/>
            <a:ext cx="5212080" cy="6583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1">
                <a:solidFill>
                  <a:srgbClr val="2E7D4F"/>
                </a:solidFill>
                <a:latin typeface="맑은 고딕"/>
              </a:rPr>
              <a:t>블록보너스 3.0·(8/8)=+3.00 </a:t>
            </a:r>
            <a:r>
              <a:rPr sz="1030" b="0">
                <a:solidFill>
                  <a:srgbClr val="5C6670"/>
                </a:solidFill>
                <a:latin typeface="맑은 고딕"/>
              </a:rPr>
              <a:t>· 페이싱 −0.31 · 계획 +0.13</a:t>
            </a:r>
            <a:r>
              <a:rPr sz="1100" b="1">
                <a:solidFill>
                  <a:srgbClr val="1B3255"/>
                </a:solidFill>
                <a:latin typeface="맑은 고딕"/>
              </a:rPr>
              <a:t>  →  r = +2.83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190488" y="5669279"/>
            <a:ext cx="544068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6190488" y="5669279"/>
            <a:ext cx="82296" cy="10789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373368" y="5742431"/>
            <a:ext cx="521208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스텝 4 · 블록 연속 (EQP001→PPK001)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73368" y="6035040"/>
            <a:ext cx="5212080" cy="6583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1">
                <a:solidFill>
                  <a:srgbClr val="2E7D4F"/>
                </a:solidFill>
                <a:latin typeface="맑은 고딕"/>
              </a:rPr>
              <a:t>동일셋업 +1.00 </a:t>
            </a:r>
            <a:r>
              <a:rPr sz="1030" b="0">
                <a:solidFill>
                  <a:srgbClr val="5C6670"/>
                </a:solidFill>
                <a:latin typeface="맑은 고딕"/>
              </a:rPr>
              <a:t>· 페이싱 −0.30 · 계획 +0.13 (블록보너스 없음)</a:t>
            </a:r>
            <a:r>
              <a:rPr sz="1100" b="1">
                <a:solidFill>
                  <a:srgbClr val="1B3255"/>
                </a:solidFill>
                <a:latin typeface="맑은 고딕"/>
              </a:rPr>
              <a:t>  →  r = +0.83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검증 설계 — CONV_BENCH 데이터셋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80160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전환 비용이 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>생산 수량 손실로 1:1 환산</a:t>
            </a:r>
            <a:r>
              <a:rPr sz="1350" b="0">
                <a:solidFill>
                  <a:srgbClr val="222A33"/>
                </a:solidFill>
                <a:latin typeface="맑은 고딕"/>
              </a:rPr>
              <a:t>되도록 설계한 직관형 검증 데이터셋입니다.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설비 / 제품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3 설비 × 3 제품(PPK)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동일 성능 A모델 3대, 제품별 LOT_CD 상이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2044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2044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재공 / 계획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제품당 8캐리어 = 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계획도 제품당 8 (총 24캐리어)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792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508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시간 파라미터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ST=60 · 전환=60 · 8h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설비당 480/60 = 8캐리어 처리 가능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1540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1540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5256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배정 난이도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5256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홈 LOT 혼합 배치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5256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단순 규칙은 전환 불가피, 전략적 선택만 전담 달성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3749039"/>
            <a:ext cx="52120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3749039"/>
            <a:ext cx="52120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이론적 최적해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206240"/>
            <a:ext cx="52120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51560" y="4343400"/>
            <a:ext cx="4846320" cy="1645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설비별 1제품 전담 → 전환 0회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EQP001 → PPK001  (8캐리어)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EQP002 → PPK002  (8캐리어)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EQP003 → PPK003  (8캐리어)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생산 24 · 전환 0 · 가동률 100%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55080" y="3749039"/>
            <a:ext cx="498348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55080" y="3749039"/>
            <a:ext cx="49834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전환 → 손실 환산표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55080" y="4206240"/>
            <a:ext cx="4983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537960" y="4315968"/>
            <a:ext cx="1828800" cy="402336"/>
          </a:xfrm>
          <a:prstGeom prst="rect">
            <a:avLst/>
          </a:prstGeom>
          <a:solidFill>
            <a:srgbClr val="1B3255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전환 횟수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366760" y="4315968"/>
            <a:ext cx="1737360" cy="402336"/>
          </a:xfrm>
          <a:prstGeom prst="rect">
            <a:avLst/>
          </a:prstGeom>
          <a:solidFill>
            <a:srgbClr val="1B3255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생산 수량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104120" y="4315968"/>
            <a:ext cx="1097280" cy="402336"/>
          </a:xfrm>
          <a:prstGeom prst="rect">
            <a:avLst/>
          </a:prstGeom>
          <a:solidFill>
            <a:srgbClr val="1B3255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손실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37960" y="4718304"/>
            <a:ext cx="182880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366760" y="4718304"/>
            <a:ext cx="173736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24 개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104120" y="4718304"/>
            <a:ext cx="109728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537960" y="5120640"/>
            <a:ext cx="1828800" cy="402336"/>
          </a:xfrm>
          <a:prstGeom prst="rect">
            <a:avLst/>
          </a:prstGeom>
          <a:solidFill>
            <a:srgbClr val="DDE6F0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B3255"/>
                </a:solidFill>
                <a:latin typeface="맑은 고딕"/>
              </a:rPr>
              <a:t>2 회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366760" y="5120640"/>
            <a:ext cx="1737360" cy="402336"/>
          </a:xfrm>
          <a:prstGeom prst="rect">
            <a:avLst/>
          </a:prstGeom>
          <a:solidFill>
            <a:srgbClr val="DDE6F0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22 개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104120" y="5120640"/>
            <a:ext cx="1097280" cy="402336"/>
          </a:xfrm>
          <a:prstGeom prst="rect">
            <a:avLst/>
          </a:prstGeom>
          <a:solidFill>
            <a:srgbClr val="DDE6F0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−2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537960" y="5522976"/>
            <a:ext cx="182880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B3255"/>
                </a:solidFill>
                <a:latin typeface="맑은 고딕"/>
              </a:rPr>
              <a:t>6 회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366760" y="5522976"/>
            <a:ext cx="173736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18 개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104120" y="5522976"/>
            <a:ext cx="109728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−6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2960" y="6126480"/>
            <a:ext cx="105156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동일 시뮬레이터·동일 데이터에서 세 알고리즘을 실행해 KPI를 직접 비교합니다.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KPI 비교 결과 (CONV_BENCH)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21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417320"/>
            <a:ext cx="3200400" cy="749808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KPI 지표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0" y="1417320"/>
            <a:ext cx="2606040" cy="749808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Earliest-ST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(단순 규칙)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29400" y="1417320"/>
            <a:ext cx="2606040" cy="749808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Min-Progress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(휴리스틱)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35440" y="1417320"/>
            <a:ext cx="2606040" cy="749808"/>
          </a:xfrm>
          <a:prstGeom prst="rect">
            <a:avLst/>
          </a:prstGeom>
          <a:solidFill>
            <a:srgbClr val="2E6FB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Bulk-Fill PPO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(학습 모델)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167128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생산 수량 (최대 24)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360" y="2167128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18 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29400" y="2167128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24 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35440" y="2167128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24 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2798064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전환 횟수 (낮을수록 우수)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23360" y="2798064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B33A3A"/>
                </a:solidFill>
                <a:latin typeface="맑은 고딕"/>
              </a:rPr>
              <a:t>6 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29400" y="2798064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0 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35440" y="2798064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0 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429000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전환 손실 캐리어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3429000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B33A3A"/>
                </a:solidFill>
                <a:latin typeface="맑은 고딕"/>
              </a:rPr>
              <a:t>−6 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29400" y="3429000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−0 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35440" y="3429000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−0 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4059935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설비 가동률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23360" y="4059935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75 %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29400" y="4059935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100 %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235440" y="4059935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100 %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4690871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제품 전담 설비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23360" y="4690871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0 / 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29400" y="4690871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3 / 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235440" y="4690871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3 / 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" y="5321807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최적해 도달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023360" y="5321807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B33A3A"/>
                </a:solidFill>
                <a:latin typeface="맑은 고딕"/>
              </a:rPr>
              <a:t>미달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29400" y="5321807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달성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235440" y="5321807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달성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6126480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Bulk-Fill PPO는 학습만으로 최고 휴리스틱과 동일한 이론적 최적해(생산 24·전환 0)에 도달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했으며, 단순 규칙 대비 모든 지표에서 우위입니다.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효과성 검증 — 정량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22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417320"/>
          <a:ext cx="365760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4343400" y="1417320"/>
          <a:ext cx="3657600" cy="33832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Rectangle 11"/>
          <p:cNvSpPr/>
          <p:nvPr/>
        </p:nvSpPr>
        <p:spPr>
          <a:xfrm>
            <a:off x="8229600" y="1417320"/>
            <a:ext cx="3246120" cy="33832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0" y="1417320"/>
            <a:ext cx="32461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417320"/>
            <a:ext cx="32461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학습 모델 효과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58200" y="2011680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+6 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2395728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단순 규칙 대비 생산량 (+33%)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724912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−6 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3108960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전환을 전량 제거 (6→0)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58200" y="3438144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+25%p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3822192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가동률 75%→100%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4151376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3 /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4535424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제품 전담 설비 달성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5029200"/>
            <a:ext cx="10835640" cy="118872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5138928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효과성 결론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468112"/>
            <a:ext cx="1051560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D7E2EE"/>
                </a:solidFill>
                <a:latin typeface="맑은 고딕"/>
              </a:rPr>
              <a:t>Bulk-Fill PPO는 별도 규칙 주입 없이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학습만으로 이론적 최적해에 도달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했으며, 단순 규칙 대비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생산량 +33% · 전환 100% 제거 · 가동률 +25%p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 의 개선을 입증했습니다.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대표 벤치마크 8종 — 무엇을 검증하는가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188720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단순 휴리스틱이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쉽게 풀 수 없는 비대칭·제약 시나리오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를 4개 카테고리로 구성해, 알고리즘의 실제 변별력을 측정합니다.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691640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1691640"/>
            <a:ext cx="91440" cy="10789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1810512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SYM_3x3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7408" y="1810512"/>
            <a:ext cx="1463040" cy="30175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대칭 기준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2194560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3설비 × 3제품 · 24캐리어 · ST 60분 · 전환 60분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2450592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4A6D8C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기본 전담 최적해 도달 (대조군)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1691640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1691640"/>
            <a:ext cx="91440" cy="10789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7648" y="1810512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SYM_5x5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966960" y="1810512"/>
            <a:ext cx="1463040" cy="30175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대칭 기준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45936" y="2194560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5설비 × 5제품 · 30캐리어 · ST 48분 · 전환 48분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5936" y="2450592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4A6D8C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규모 확장 시 전담 유지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2916936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66928" y="2916936"/>
            <a:ext cx="91440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8096" y="3035808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OVER_5p3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07408" y="3035808"/>
            <a:ext cx="1463040" cy="30175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제품 과잉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" y="3419856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3설비 × 5제품 · 20캐리어 · ST 60분 · 전환 60분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3675887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불가피한 전환을 최소 횟수로 묶기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26480" y="2916936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26480" y="2916936"/>
            <a:ext cx="91440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7648" y="3035808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OVER_7p4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966960" y="3035808"/>
            <a:ext cx="1463040" cy="30175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제품 과잉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45936" y="3419856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7제품 · 28캐리어 · ST 45분 · 전환 45분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45936" y="3675887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다수 제품 분배 + 전환 최소화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" y="4142231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4142231"/>
            <a:ext cx="91440" cy="107899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8096" y="4261103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LOAD_skew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07408" y="4261103"/>
            <a:ext cx="1463040" cy="30175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부하 불균등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4" y="4645151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4제품 · 30캐리어 · ST 60분 · 전환 60분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6384" y="4901183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6B4E8E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물량 편중에서의 균형 배분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26480" y="4142231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126480" y="4142231"/>
            <a:ext cx="91440" cy="107899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27648" y="4261103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LOAD_stmix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966960" y="4261103"/>
            <a:ext cx="1463040" cy="30175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부하 불균등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45936" y="4645151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4제품 · 32캐리어 · ST 30~90분 · 전환 60분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45936" y="4901183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6B4E8E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처리시간 이질성 하의 효율 배분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66928" y="5367527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66928" y="5367527"/>
            <a:ext cx="91440" cy="107899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8096" y="5486399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CONV_x2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407408" y="5486399"/>
            <a:ext cx="1463040" cy="30175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전환 과중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86384" y="5870447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4제품 · 24캐리어 · ST 45분 · 전환 90분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6384" y="6126479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56A2A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큰 전환비용 하의 전담 가치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126480" y="5367527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126480" y="5367527"/>
            <a:ext cx="91440" cy="107899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327648" y="5486399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CONV_x3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966960" y="5486399"/>
            <a:ext cx="1463040" cy="30175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전환 과중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45936" y="5870447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3설비 × 5제품 · 20캐리어 · ST 40분 · 전환 120분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45936" y="6126479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56A2A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전환 과중 + 제품 과잉 복합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6928" y="6199632"/>
            <a:ext cx="110642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대칭 기준은 전담만으로 최적이라 대조군이며, 나머지 6종은 전환이 불가피하거나 부하가 불균등해 </a:t>
            </a:r>
            <a:r>
              <a:rPr sz="1050" b="1">
                <a:solidFill>
                  <a:srgbClr val="1B3255"/>
                </a:solidFill>
                <a:latin typeface="맑은 고딕"/>
              </a:rPr>
              <a:t>배정 전략에 따라 결과가 갈립니다.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벤치마크 8종 KPI 비교 — 난이도별 결과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188720"/>
            <a:ext cx="1060704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8종 데이터셋에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단일 Bulk-Fill 모델을 공동 학습</a:t>
            </a:r>
            <a:r>
              <a:rPr sz="1200" b="0">
                <a:solidFill>
                  <a:srgbClr val="5C6670"/>
                </a:solidFill>
                <a:latin typeface="맑은 고딕"/>
              </a:rPr>
              <a:t> 후 평가. 표기 = 생산 / 전환 (생산 많고 전환 적을수록 우수).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691640"/>
            <a:ext cx="210312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벤치마크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70048" y="1691640"/>
            <a:ext cx="182880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카테고리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98848" y="1691640"/>
            <a:ext cx="233172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Earliest-ST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생산 / 전환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30568" y="1691640"/>
            <a:ext cx="233172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Min-Progress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생산 / 전환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62288" y="1691640"/>
            <a:ext cx="2468880" cy="548640"/>
          </a:xfrm>
          <a:prstGeom prst="rect">
            <a:avLst/>
          </a:prstGeom>
          <a:solidFill>
            <a:srgbClr val="2E6FB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Bulk-Fill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생산 / 전환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22402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SYM_3x3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70048" y="22402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대칭 기준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98848" y="22402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18/24 · 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30568" y="22402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24/24 · 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62288" y="2240280"/>
            <a:ext cx="2468880" cy="457200"/>
          </a:xfrm>
          <a:prstGeom prst="rect">
            <a:avLst/>
          </a:prstGeom>
          <a:solidFill>
            <a:srgbClr val="ECF3EE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24/24 · 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26974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SYM_5x5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670048" y="26974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대칭 기준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98848" y="26974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18/30 · 20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30568" y="26974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30/30 ·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62288" y="2697480"/>
            <a:ext cx="2468880" cy="457200"/>
          </a:xfrm>
          <a:prstGeom prst="rect">
            <a:avLst/>
          </a:prstGeom>
          <a:solidFill>
            <a:srgbClr val="ECF3EE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30/30 · 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31546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OVER_5p3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670048" y="31546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제품 과잉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98848" y="31546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15/20 · 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30568" y="31546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14/20 · 14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162288" y="31546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18/20 · 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36118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OVER_7p4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70048" y="36118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제품 과잉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98848" y="36118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20/28 · 24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30568" y="36118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21/28 · 23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62288" y="36118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28/28 · 12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" y="40690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LOAD_skew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670048" y="40690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부하 불균등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98848" y="40690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22/30 · 12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30568" y="40690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21/30 · 12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62288" y="40690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26/30 · 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6928" y="45262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LOAD_stmix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670048" y="45262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부하 불균등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498848" y="45262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24/32 · 12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830568" y="45262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22/32 · 13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162288" y="45262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27/32 · 6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28" y="49834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CONV_x2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670048" y="49834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전환 과중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498848" y="49834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12/24 · 12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830568" y="49834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24/24 · 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162288" y="4983480"/>
            <a:ext cx="2468880" cy="457200"/>
          </a:xfrm>
          <a:prstGeom prst="rect">
            <a:avLst/>
          </a:prstGeom>
          <a:solidFill>
            <a:srgbClr val="ECF3EE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24/24 · 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6928" y="54406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CONV_x3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670048" y="54406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전환 과중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498848" y="54406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12/20 · 12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830568" y="54406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12/20 · 14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162288" y="54406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18/20 · 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6928" y="5897880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222A33"/>
                </a:solidFill>
                <a:latin typeface="맑은 고딕"/>
              </a:rPr>
              <a:t>대칭(SYM·CONV_x2)에선 Bulk-Fill = Min-Progress(둘 다 최적), </a:t>
            </a:r>
            <a:r>
              <a:rPr sz="1130" b="1">
                <a:solidFill>
                  <a:srgbClr val="2E7D4F"/>
                </a:solidFill>
                <a:latin typeface="맑은 고딕"/>
              </a:rPr>
              <a:t>제품 과잉·부하 불균등·전환 과중에선 Bulk-Fill가 Min-Progress를 크게 앞섭니다</a:t>
            </a:r>
            <a:r>
              <a:rPr sz="1130" b="0">
                <a:solidFill>
                  <a:srgbClr val="5C6670"/>
                </a:solidFill>
                <a:latin typeface="맑은 고딕"/>
              </a:rPr>
              <a:t> (녹색=BF 우위/동률, 주황=열위).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종합 집계 — 어려운 케이스일수록 학습 모델이 우위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25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371600"/>
          <a:ext cx="594360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858000" y="1371600"/>
            <a:ext cx="4617720" cy="33832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0" y="1371600"/>
            <a:ext cx="46177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1371600"/>
            <a:ext cx="46177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종합 집계 (8종 합산)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1938528"/>
            <a:ext cx="17373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지표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1938528"/>
            <a:ext cx="9601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Earliest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46920" y="1938528"/>
            <a:ext cx="10058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Bulk-Fill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52760" y="1938528"/>
            <a:ext cx="777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Min-Prog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0" y="2249424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총 생산률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2249424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68%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55480" y="2249424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94%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2249424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81%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2734056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총 전환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2734056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110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55480" y="2734056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34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0" y="2734056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76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3218688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평균 가동률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49640" y="3218688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57%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55480" y="3218688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81%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07040" y="3218688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71%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0" y="3703320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전량 생산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49640" y="3703320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0/8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55480" y="3703320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4/8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3703320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3/8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0880" y="4187952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전담 달성률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49640" y="4187952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55480" y="4187952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60%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07040" y="4187952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47%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" y="4983480"/>
            <a:ext cx="10835640" cy="123444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4400" y="5084064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핵심 발견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" y="5413248"/>
            <a:ext cx="1051560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D7E2EE"/>
                </a:solidFill>
                <a:latin typeface="맑은 고딕"/>
              </a:rPr>
              <a:t>쉬운 대칭 케이스에선 휴리스틱과 동등하지만, </a:t>
            </a:r>
            <a:r>
              <a:rPr sz="1250" b="0">
                <a:solidFill>
                  <a:srgbClr val="D7E2EE"/>
                </a:solidFill>
                <a:latin typeface="맑은 고딕"/>
              </a:rPr>
              <a:t>전환이 불가피한 현실적 케이스에서 Bulk-Fill가 생산률 </a:t>
            </a:r>
            <a:r>
              <a:rPr sz="1300" b="1">
                <a:solidFill>
                  <a:srgbClr val="FFFFFF"/>
                </a:solidFill>
                <a:latin typeface="맑은 고딕"/>
              </a:rPr>
              <a:t>94% vs 81%(Min-Progress) · 전환 34 vs 76</a:t>
            </a:r>
            <a:r>
              <a:rPr sz="1250" b="0">
                <a:solidFill>
                  <a:srgbClr val="D7E2EE"/>
                </a:solidFill>
                <a:latin typeface="맑은 고딕"/>
              </a:rPr>
              <a:t> 으로 명확히 앞섭니다. 단순 휴리스틱은 전환을 남발해 캐리어를 잃습니다.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간트 비교 ① 제품 과잉 (3설비·5제품)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26</a:t>
            </a:r>
          </a:p>
        </p:txBody>
      </p:sp>
      <p:pic>
        <p:nvPicPr>
          <p:cNvPr id="10" name="Picture 9" descr="gantt_OVER_5p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8092440" cy="42535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732520" y="1325880"/>
            <a:ext cx="3017520" cy="402336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결과 요약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400" y="192024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33A3A"/>
                </a:solidFill>
                <a:latin typeface="맑은 고딕"/>
              </a:rPr>
              <a:t>Earliest-ST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219456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15/20 · 전환 12회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5400" y="2633472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5C6670"/>
                </a:solidFill>
                <a:latin typeface="맑은 고딕"/>
              </a:rPr>
              <a:t>Min-Progress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2907791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14/20 · 전환 14회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400" y="334670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Bulk-Fill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400" y="362102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18/20 · 전환 7회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15400" y="4014216"/>
            <a:ext cx="2651760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15400" y="4133088"/>
            <a:ext cx="274320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3설비가 5제품을 처리해 전환이 불가피한 케이스.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Earliest·Min-Progress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는 제품을 자주 바꿔 </a:t>
            </a:r>
            <a:r>
              <a:rPr sz="1100" b="1">
                <a:solidFill>
                  <a:srgbClr val="B33A3A"/>
                </a:solidFill>
                <a:latin typeface="맑은 고딕"/>
              </a:rPr>
              <a:t>전환(빗금)이 빈발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, 시간 내 캐리어를 잃습니다.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Bulk-Fill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는 같은 제품을 길게 묶어 </a:t>
            </a:r>
            <a:r>
              <a:rPr sz="1100" b="1">
                <a:solidFill>
                  <a:srgbClr val="2E7D4F"/>
                </a:solidFill>
                <a:latin typeface="맑은 고딕"/>
              </a:rPr>
              <a:t>전환을 최소화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하고 전량을 생산합니다.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간트 비교 ② 부하 불균등 (계획 14·8·4·4)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27</a:t>
            </a:r>
          </a:p>
        </p:txBody>
      </p:sp>
      <p:pic>
        <p:nvPicPr>
          <p:cNvPr id="10" name="Picture 9" descr="gantt_LOAD_sk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8092440" cy="42535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732520" y="1325880"/>
            <a:ext cx="3017520" cy="402336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결과 요약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400" y="192024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33A3A"/>
                </a:solidFill>
                <a:latin typeface="맑은 고딕"/>
              </a:rPr>
              <a:t>Earliest-ST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219456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22/30 · 전환 12회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5400" y="2633472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5C6670"/>
                </a:solidFill>
                <a:latin typeface="맑은 고딕"/>
              </a:rPr>
              <a:t>Min-Progress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2907791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21/30 · 전환 12회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400" y="334670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Bulk-Fill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400" y="362102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26/30 · 전환 2회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15400" y="4014216"/>
            <a:ext cx="2651760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15400" y="4133088"/>
            <a:ext cx="274320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제품별 물량이 14·8·4·4로 편중된 케이스.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휴리스틱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은 진행률만 보고 분배해 </a:t>
            </a:r>
            <a:r>
              <a:rPr sz="1100" b="1">
                <a:solidFill>
                  <a:srgbClr val="B33A3A"/>
                </a:solidFill>
                <a:latin typeface="맑은 고딕"/>
              </a:rPr>
              <a:t>전환이 누적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됩니다.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Bulk-Fill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는 물량 많은 제품에 설비를 </a:t>
            </a:r>
            <a:r>
              <a:rPr sz="1100" b="1">
                <a:solidFill>
                  <a:srgbClr val="2E7D4F"/>
                </a:solidFill>
                <a:latin typeface="맑은 고딕"/>
              </a:rPr>
              <a:t>전담 배치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해 전환 2회로 최소화합니다.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결론 및 기대 효과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28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417320"/>
            <a:ext cx="516636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417320"/>
            <a:ext cx="516636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핵심 성과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417320"/>
            <a:ext cx="516636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72200" y="1417320"/>
            <a:ext cx="516636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기대 효과 및 향후 과제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057400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2057400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2203704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검증된 성과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2569464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8종 벤치마크 종합 생산률 94%로 휴리스틱(81%)을 능가, 전환 76→34회 감소.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2057400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2057400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2203704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확장성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569464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더 많은 설비·제품·다단 공정으로 데이터 교체만으로 확장 적용 가능.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273552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960" y="3273552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51560" y="3419856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변별력 있는 검증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3785616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전환이 불가피한 제품 과잉·부하 불균등 케이스에서 학습 모델의 우위를 입증.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72200" y="3273552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3273552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3419856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운영 적용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3785616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전환 비용·계획·재공 제약을 함께 고려한 일배치 의사결정 지원.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4489704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22960" y="4489704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4636008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구조적 강점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5001768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벌크 점유 + 행동 마스킹으로 전환을 근본적으로 억제하고 학습을 안정화.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72200" y="4489704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72200" y="4489704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4636008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향후 과제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5001768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실데이터 적용·보상 가중치 튜닝·다공정 흐름 균형의 추가 검증.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2960" y="5806440"/>
            <a:ext cx="105156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2960" y="5806440"/>
            <a:ext cx="105156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강화학습 기반 Bulk-Fill 스케줄링 — 전환 최소화와 계획 추종을 동시에 달성하는 검증된 의사결정 모델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