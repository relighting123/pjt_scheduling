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10종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72.7</c:v>
                </c:pt>
                <c:pt idx="1">
                  <c:v>100.0</c:v>
                </c:pt>
                <c:pt idx="2">
                  <c:v>98.8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72.3</c:v>
                </c:pt>
                <c:pt idx="1">
                  <c:v>100.0</c:v>
                </c:pt>
                <c:pt idx="2">
                  <c:v>98.7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 정의와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전환 페널티 · 페이싱 · 벌크 블록 보상의 수치 계산 예시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핵심 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버킷 채널이 제품·공정·설비모델별 "지금 이 버킷을 잡으면 얼마나 유효/시급/중복인가"를 정책에 제공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하여, 전환 회피와 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수치 예시 — 한 스텝의 보상은 이렇게 계산됩니다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97180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971800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971800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제품·공정 동일, 재공 잔존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35584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페이싱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55848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 ×Δ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355848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takt 목표선에 근접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73989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블록 보너스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739896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 ×(8/8)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739896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= +3.0  (전량 블록)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12394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전환 패널티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123944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123944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셋업 변경 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50799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507992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4507992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다른 설비가 안 덮음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+6 수준의 강한 양(+) 보상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297180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전환 패널티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2971800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LOT_CD 변경 1회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27648" y="335584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355848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 ×0.7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355848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= −5.6  (커버 가능)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7648" y="373989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중복 커버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739896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 ×비율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3739896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이미 덮이는 버킷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12394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블록 보너스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4123944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123944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7648" y="450799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4507992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81160" y="4507992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셋업이 바뀜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다양한 테스트 데이터셋 10종 — 일반화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07008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설비·제품 수(2×2~6×6), 처리시간(30~72분), 전환시간(30~90분), 혼합도를 달리한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10종 데이터셋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 후 평가했습니다.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37360"/>
            <a:ext cx="2148840" cy="56692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데이터셋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68" y="1737360"/>
            <a:ext cx="1417320" cy="56692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구성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3088" y="1737360"/>
            <a:ext cx="777240" cy="56692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최대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10328" y="1737360"/>
            <a:ext cx="2240280" cy="56692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50608" y="1737360"/>
            <a:ext cx="1600200" cy="56692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생산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50808" y="1737360"/>
            <a:ext cx="2697480" cy="56692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생산 / 전환 / 전담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04288"/>
            <a:ext cx="214884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l"/>
            <a:r>
              <a:rPr sz="1000" b="1">
                <a:solidFill>
                  <a:srgbClr val="1B3255"/>
                </a:solidFill>
                <a:latin typeface="맑은 고딕"/>
              </a:rPr>
              <a:t>BENCH01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15768" y="2304288"/>
            <a:ext cx="141732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3×3·ST60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8" y="2304288"/>
            <a:ext cx="77724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0328" y="2304288"/>
            <a:ext cx="22402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B33A3A"/>
                </a:solidFill>
                <a:latin typeface="맑은 고딕"/>
              </a:rPr>
              <a:t>18 /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50608" y="2304288"/>
            <a:ext cx="16002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50808" y="2304288"/>
            <a:ext cx="2697480" cy="36576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1">
                <a:solidFill>
                  <a:srgbClr val="2E7D4F"/>
                </a:solidFill>
                <a:latin typeface="맑은 고딕"/>
              </a:rPr>
              <a:t>24 / 0 / 3/3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70048"/>
            <a:ext cx="214884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l"/>
            <a:r>
              <a:rPr sz="1000" b="1">
                <a:solidFill>
                  <a:srgbClr val="1B3255"/>
                </a:solidFill>
                <a:latin typeface="맑은 고딕"/>
              </a:rPr>
              <a:t>BENCH02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5768" y="2670048"/>
            <a:ext cx="141732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4×4·ST60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33088" y="2670048"/>
            <a:ext cx="77724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10328" y="2670048"/>
            <a:ext cx="224028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B33A3A"/>
                </a:solidFill>
                <a:latin typeface="맑은 고딕"/>
              </a:rPr>
              <a:t>16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50608" y="2670048"/>
            <a:ext cx="160020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50808" y="2670048"/>
            <a:ext cx="2697480" cy="36576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1">
                <a:solidFill>
                  <a:srgbClr val="2E7D4F"/>
                </a:solidFill>
                <a:latin typeface="맑은 고딕"/>
              </a:rPr>
              <a:t>24 / 0 / 4/4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035808"/>
            <a:ext cx="214884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l"/>
            <a:r>
              <a:rPr sz="1000" b="1">
                <a:solidFill>
                  <a:srgbClr val="1B3255"/>
                </a:solidFill>
                <a:latin typeface="맑은 고딕"/>
              </a:rPr>
              <a:t>BENCH03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5768" y="3035808"/>
            <a:ext cx="141732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5×5·ST45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33088" y="3035808"/>
            <a:ext cx="77724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10328" y="3035808"/>
            <a:ext cx="22402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B33A3A"/>
                </a:solidFill>
                <a:latin typeface="맑은 고딕"/>
              </a:rPr>
              <a:t>25 / 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50608" y="3035808"/>
            <a:ext cx="16002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50808" y="3035808"/>
            <a:ext cx="2697480" cy="36576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1">
                <a:solidFill>
                  <a:srgbClr val="2E7D4F"/>
                </a:solidFill>
                <a:latin typeface="맑은 고딕"/>
              </a:rPr>
              <a:t>40 / 0 / 5/5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401568"/>
            <a:ext cx="214884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l"/>
            <a:r>
              <a:rPr sz="1000" b="1">
                <a:solidFill>
                  <a:srgbClr val="1B3255"/>
                </a:solidFill>
                <a:latin typeface="맑은 고딕"/>
              </a:rPr>
              <a:t>BENCH04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5768" y="3401568"/>
            <a:ext cx="141732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2×2·ST40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33088" y="3401568"/>
            <a:ext cx="77724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10328" y="3401568"/>
            <a:ext cx="224028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B33A3A"/>
                </a:solidFill>
                <a:latin typeface="맑은 고딕"/>
              </a:rPr>
              <a:t>22 / 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0608" y="3401568"/>
            <a:ext cx="160020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50808" y="3401568"/>
            <a:ext cx="2697480" cy="36576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1">
                <a:solidFill>
                  <a:srgbClr val="2E7D4F"/>
                </a:solidFill>
                <a:latin typeface="맑은 고딕"/>
              </a:rPr>
              <a:t>24 / 0 / 2/2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767328"/>
            <a:ext cx="214884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l"/>
            <a:r>
              <a:rPr sz="1000" b="1">
                <a:solidFill>
                  <a:srgbClr val="1B3255"/>
                </a:solidFill>
                <a:latin typeface="맑은 고딕"/>
              </a:rPr>
              <a:t>BENCH05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15768" y="3767328"/>
            <a:ext cx="141732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3×3·ST48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33088" y="3767328"/>
            <a:ext cx="77724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10328" y="3767328"/>
            <a:ext cx="22402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B33A3A"/>
                </a:solidFill>
                <a:latin typeface="맑은 고딕"/>
              </a:rPr>
              <a:t>24 / 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50608" y="3767328"/>
            <a:ext cx="16002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50808" y="3767328"/>
            <a:ext cx="2697480" cy="36576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1">
                <a:solidFill>
                  <a:srgbClr val="2E7D4F"/>
                </a:solidFill>
                <a:latin typeface="맑은 고딕"/>
              </a:rPr>
              <a:t>30 / 0 / 3/3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133088"/>
            <a:ext cx="214884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l"/>
            <a:r>
              <a:rPr sz="1000" b="1">
                <a:solidFill>
                  <a:srgbClr val="1B3255"/>
                </a:solidFill>
                <a:latin typeface="맑은 고딕"/>
              </a:rPr>
              <a:t>BENCH06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15768" y="4133088"/>
            <a:ext cx="141732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6×6·ST72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33088" y="4133088"/>
            <a:ext cx="77724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10328" y="4133088"/>
            <a:ext cx="224028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B33A3A"/>
                </a:solidFill>
                <a:latin typeface="맑은 고딕"/>
              </a:rPr>
              <a:t>18 / 20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50608" y="4133088"/>
            <a:ext cx="160020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50808" y="4133088"/>
            <a:ext cx="2697480" cy="365760"/>
          </a:xfrm>
          <a:prstGeom prst="rect">
            <a:avLst/>
          </a:prstGeom>
          <a:solidFill>
            <a:srgbClr val="F6EEDD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1">
                <a:solidFill>
                  <a:srgbClr val="C8861E"/>
                </a:solidFill>
                <a:latin typeface="맑은 고딕"/>
              </a:rPr>
              <a:t>26 / 6 / 4/6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98848"/>
            <a:ext cx="214884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l"/>
            <a:r>
              <a:rPr sz="1000" b="1">
                <a:solidFill>
                  <a:srgbClr val="1B3255"/>
                </a:solidFill>
                <a:latin typeface="맑은 고딕"/>
              </a:rPr>
              <a:t>BENCH07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15768" y="4498848"/>
            <a:ext cx="141732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4×4·ST50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33088" y="4498848"/>
            <a:ext cx="77724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10328" y="4498848"/>
            <a:ext cx="22402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B33A3A"/>
                </a:solidFill>
                <a:latin typeface="맑은 고딕"/>
              </a:rPr>
              <a:t>24 / 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50608" y="4498848"/>
            <a:ext cx="16002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750808" y="4498848"/>
            <a:ext cx="2697480" cy="36576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1">
                <a:solidFill>
                  <a:srgbClr val="2E7D4F"/>
                </a:solidFill>
                <a:latin typeface="맑은 고딕"/>
              </a:rPr>
              <a:t>32 / 0 / 4/4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864608"/>
            <a:ext cx="214884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l"/>
            <a:r>
              <a:rPr sz="1000" b="1">
                <a:solidFill>
                  <a:srgbClr val="1B3255"/>
                </a:solidFill>
                <a:latin typeface="맑은 고딕"/>
              </a:rPr>
              <a:t>BENCH08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15768" y="4864608"/>
            <a:ext cx="141732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3×3·ST30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33088" y="4864608"/>
            <a:ext cx="77724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10328" y="4864608"/>
            <a:ext cx="224028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B33A3A"/>
                </a:solidFill>
                <a:latin typeface="맑은 고딕"/>
              </a:rPr>
              <a:t>42 / 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50608" y="4864608"/>
            <a:ext cx="160020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50808" y="4864608"/>
            <a:ext cx="2697480" cy="36576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1">
                <a:solidFill>
                  <a:srgbClr val="2E7D4F"/>
                </a:solidFill>
                <a:latin typeface="맑은 고딕"/>
              </a:rPr>
              <a:t>48 / 0 / 3/3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230368"/>
            <a:ext cx="214884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l"/>
            <a:r>
              <a:rPr sz="1000" b="1">
                <a:solidFill>
                  <a:srgbClr val="1B3255"/>
                </a:solidFill>
                <a:latin typeface="맑은 고딕"/>
              </a:rPr>
              <a:t>BENCH09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15768" y="5230368"/>
            <a:ext cx="141732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5×5·ST60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33088" y="5230368"/>
            <a:ext cx="77724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10328" y="5230368"/>
            <a:ext cx="22402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B33A3A"/>
                </a:solidFill>
                <a:latin typeface="맑은 고딕"/>
              </a:rPr>
              <a:t>15 / 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50608" y="5230368"/>
            <a:ext cx="16002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750808" y="5230368"/>
            <a:ext cx="2697480" cy="36576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1">
                <a:solidFill>
                  <a:srgbClr val="2E7D4F"/>
                </a:solidFill>
                <a:latin typeface="맑은 고딕"/>
              </a:rPr>
              <a:t>30 / 0 / 5/5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596128"/>
            <a:ext cx="214884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l"/>
            <a:r>
              <a:rPr sz="1000" b="1">
                <a:solidFill>
                  <a:srgbClr val="1B3255"/>
                </a:solidFill>
                <a:latin typeface="맑은 고딕"/>
              </a:rPr>
              <a:t>BENCH10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15768" y="5596128"/>
            <a:ext cx="141732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4×4·ST36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33088" y="5596128"/>
            <a:ext cx="77724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10328" y="5596128"/>
            <a:ext cx="224028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B33A3A"/>
                </a:solidFill>
                <a:latin typeface="맑은 고딕"/>
              </a:rPr>
              <a:t>30 / 12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50608" y="5596128"/>
            <a:ext cx="1600200" cy="36576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0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750808" y="5596128"/>
            <a:ext cx="2697480" cy="36576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0" bIns="0"/>
          <a:lstStyle/>
          <a:p>
            <a:pPr algn="ctr"/>
            <a:r>
              <a:rPr sz="1000" b="1">
                <a:solidFill>
                  <a:srgbClr val="2E7D4F"/>
                </a:solidFill>
                <a:latin typeface="맑은 고딕"/>
              </a:rPr>
              <a:t>40 / 0 / 4/4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Bulk-Fill는 별도 규칙 주입 없이 </a:t>
            </a:r>
            <a:r>
              <a:rPr sz="1150" b="1">
                <a:solidFill>
                  <a:srgbClr val="2E7D4F"/>
                </a:solidFill>
                <a:latin typeface="맑은 고딕"/>
              </a:rPr>
              <a:t>10종 중 9종에서 이론 최적(전환 0·전량 생산)에 도달</a:t>
            </a:r>
            <a:r>
              <a:rPr sz="1150" b="0">
                <a:solidFill>
                  <a:srgbClr val="5C6670"/>
                </a:solidFill>
                <a:latin typeface="맑은 고딕"/>
              </a:rPr>
              <a:t>했고, 나머지 1종(6×6)도 최고 수준에 근접했습니다. (녹색=최적, 주황=근접)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10종 데이터셋 종합 — 효과성 집계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59436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417320"/>
            <a:ext cx="4617720" cy="3246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41732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41732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(10종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933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993392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0928" y="1993392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25328" y="199339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86000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28600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73%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286000"/>
            <a:ext cx="10058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맑은 고딕"/>
              </a:rPr>
              <a:t>99%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25328" y="228600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61488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 횟수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7614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2761488"/>
            <a:ext cx="10058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맑은 고딕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25328" y="27614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36976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23697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72%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3236976"/>
            <a:ext cx="10058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맑은 고딕"/>
              </a:rPr>
              <a:t>99%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25328" y="323697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12464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71246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3712464"/>
            <a:ext cx="10058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맑은 고딕"/>
              </a:rPr>
              <a:t>95%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25328" y="371246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828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최적 도달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4187952"/>
            <a:ext cx="10058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맑은 고딕"/>
              </a:rPr>
              <a:t>9/10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25328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10/10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37760"/>
            <a:ext cx="10835640" cy="12801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4748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일반화 효과 입증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394960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단일 모델이 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서로 다른 10종 데이터셋에서 평균 생산률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99% · 전환 116→6회 · 최적 9/10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달성으로,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생산률 +26%p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향상되어 학습 모델의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일반화 성능을 검증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단일 학습 모델이 10종 데이터셋 중 9종에서 이론 최적(전환 0·전량 생산)에 도달.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일반화 성능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구성·시간·난이도가 다른 데이터셋에서도 평균 생산률 99%로 안정적으로 동작.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