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50" b="1">
                <a:solidFill>
                  <a:srgbClr val="1B3255"/>
                </a:solidFill>
                <a:latin typeface="맑은 고딕"/>
              </a:defRPr>
            </a:pPr>
            <a:r>
              <a:t>생산 수량 (개, 최대 24)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 수량</c:v>
                </c:pt>
              </c:strCache>
            </c:strRef>
          </c:tx>
          <c:dPt>
            <c:idx val="0"/>
            <c:spPr>
              <a:solidFill>
                <a:srgbClr val="C28A8A"/>
              </a:solidFill>
            </c:spPr>
          </c:dPt>
          <c:dPt>
            <c:idx val="1"/>
            <c:spPr>
              <a:solidFill>
                <a:srgbClr val="4A6D8C"/>
              </a:solidFill>
            </c:spPr>
          </c:dPt>
          <c:dPt>
            <c:idx val="2"/>
            <c:spPr>
              <a:solidFill>
                <a:srgbClr val="2E6FB0"/>
              </a:solidFill>
            </c:spPr>
          </c:dPt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 PPO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24</c:v>
                </c:pt>
                <c:pt idx="2">
                  <c:v>24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6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50" b="1">
                <a:solidFill>
                  <a:srgbClr val="1B3255"/>
                </a:solidFill>
                <a:latin typeface="맑은 고딕"/>
              </a:defRPr>
            </a:pPr>
            <a:r>
              <a:t>전환 횟수 (회, 낮을수록 우수)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전환 횟수</c:v>
                </c:pt>
              </c:strCache>
            </c:strRef>
          </c:tx>
          <c:dPt>
            <c:idx val="0"/>
            <c:spPr>
              <a:solidFill>
                <a:srgbClr val="B33A3A"/>
              </a:solidFill>
            </c:spPr>
          </c:dPt>
          <c:dPt>
            <c:idx val="1"/>
            <c:spPr>
              <a:solidFill>
                <a:srgbClr val="4A6D8C"/>
              </a:solidFill>
            </c:spPr>
          </c:dPt>
          <c:dPt>
            <c:idx val="2"/>
            <c:spPr>
              <a:solidFill>
                <a:srgbClr val="2E6FB0"/>
              </a:solidFill>
            </c:spPr>
          </c:dPt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 PPO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869680" y="0"/>
            <a:ext cx="3322015" cy="6858000"/>
          </a:xfrm>
          <a:prstGeom prst="rect">
            <a:avLst/>
          </a:prstGeom>
          <a:solidFill>
            <a:srgbClr val="162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914400"/>
            <a:ext cx="109728" cy="1554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914400"/>
            <a:ext cx="8229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DBEE0"/>
                </a:solidFill>
                <a:latin typeface="맑은 고딕"/>
              </a:rPr>
              <a:t>설비 스케줄링 · 강화학습 적용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1417320"/>
            <a:ext cx="841248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맑은 고딕"/>
              </a:rPr>
              <a:t>Bulk-Fill 강화학습 기반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맑은 고딕"/>
              </a:rPr>
              <a:t>반도체 설비 스케줄링 모델</a:t>
            </a:r>
          </a:p>
        </p:txBody>
      </p:sp>
      <p:sp>
        <p:nvSpPr>
          <p:cNvPr id="8" name="Rectangle 7"/>
          <p:cNvSpPr/>
          <p:nvPr/>
        </p:nvSpPr>
        <p:spPr>
          <a:xfrm>
            <a:off x="1078992" y="3611880"/>
            <a:ext cx="4754880" cy="18288"/>
          </a:xfrm>
          <a:prstGeom prst="rect">
            <a:avLst/>
          </a:prstGeom>
          <a:solidFill>
            <a:srgbClr val="3A5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767328"/>
            <a:ext cx="868680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9D8E8"/>
                </a:solidFill>
                <a:latin typeface="맑은 고딕"/>
              </a:rPr>
              <a:t>MDP 모델 정의(State · Action · Reward)와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9D8E8"/>
                </a:solidFill>
                <a:latin typeface="맑은 고딕"/>
              </a:rPr>
              <a:t>테스트 데이터 기반 알고리즘 KPI 비교 · 효과성 검증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943600"/>
            <a:ext cx="7315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FA6C0"/>
                </a:solidFill>
                <a:latin typeface="맑은 고딕"/>
              </a:rPr>
              <a:t>Project  pjt_scheduling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5943600"/>
            <a:ext cx="2743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FA6C0"/>
                </a:solidFill>
                <a:latin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목차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508760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508760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1572768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문제 정의 및 시스템 구조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965960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스케줄링 과제 · 전환 비용 · 모듈 아키텍처와 구조적 강점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587752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587752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2651760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Bulk-Fill MDP 모델 정의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1368" y="3044952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State · Action · Reward 상세 정의와 마스킹 · 블록 점유 메커니즘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666744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666744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3730752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보상 산출 로직 예시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4123944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전환 페널티 · 페이싱 · 벌크 블록 보상의 수치 계산 예시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745736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745736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4809744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알고리즘 KPI 비교 및 효과성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01368" y="5202936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테스트 데이터 기반 정량 비교 · 학습 모델 효과 입증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스케줄링 과제와 전환(Conversion) 비용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325880"/>
            <a:ext cx="1060704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22A33"/>
                </a:solidFill>
                <a:latin typeface="맑은 고딕"/>
              </a:rPr>
              <a:t>설비가 유휴 상태가 될 때마다 </a:t>
            </a:r>
            <a:r>
              <a:rPr sz="1400" b="1">
                <a:solidFill>
                  <a:srgbClr val="1B3255"/>
                </a:solidFill>
                <a:latin typeface="맑은 고딕"/>
              </a:rPr>
              <a:t>어떤 제품·공정(PPK·OPER)을 투입할지</a:t>
            </a:r>
            <a:r>
              <a:rPr sz="1400" b="0">
                <a:solidFill>
                  <a:srgbClr val="222A33"/>
                </a:solidFill>
                <a:latin typeface="맑은 고딕"/>
              </a:rPr>
              <a:t> 결정하는 순차적 의사결정 문제입니다.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057400"/>
            <a:ext cx="525780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057400"/>
            <a:ext cx="525780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핵심 난점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514600"/>
            <a:ext cx="5257800" cy="26974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697480"/>
            <a:ext cx="4846320" cy="2377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제품 전환마다 셋업 손실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LOT_CD/TEMP가 바뀌면 전환(conversion) 시간이 발생해 그만큼 가동 시간이 사라집니다.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계획·재공·설비 제약 동시 고려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계획량, 가용 재공(WIP), 설비-제품 적합성, 동시 가공 공구(tool) 한도를 함께 만족해야 합니다.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근시안적 1매 배정의 한계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유휴 설비에 1캐리어씩만 배정하면 같은 셋업을 길게 이어가지 못해 전환이 잦아집니다.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5080" y="2057400"/>
            <a:ext cx="498348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057400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전환 비용의 정량적 의미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2514600"/>
            <a:ext cx="4983480" cy="26974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2697480"/>
            <a:ext cx="45720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5C6670"/>
                </a:solidFill>
                <a:latin typeface="맑은 고딕"/>
              </a:rPr>
              <a:t>처리시간 = 전환시간 = 60분, 가동 8시간 기준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3200400"/>
            <a:ext cx="45262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200400"/>
            <a:ext cx="4526280" cy="8686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B3255"/>
                </a:solidFill>
                <a:latin typeface="맑은 고딕"/>
              </a:rPr>
              <a:t>전환 1회  =  캐리어 1개 손실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설비당 8캐리어 처리 가능 → 전환 n회 시 (8 − n)개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206240"/>
            <a:ext cx="45720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전환 비용이 </a:t>
            </a:r>
            <a:r>
              <a:rPr sz="1250" b="1">
                <a:solidFill>
                  <a:srgbClr val="B33A3A"/>
                </a:solidFill>
                <a:latin typeface="맑은 고딕"/>
              </a:rPr>
              <a:t>생산 수량 손실로 직접 환산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되므로, 전환 최소화가 곧 처리량 극대화로 이어집니다.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440680"/>
            <a:ext cx="10515600" cy="7772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440680"/>
            <a:ext cx="1005840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DBEE0"/>
                </a:solidFill>
                <a:latin typeface="맑은 고딕"/>
              </a:rPr>
              <a:t>설계 목표  </a:t>
            </a:r>
            <a:r>
              <a:rPr sz="1350" b="0">
                <a:solidFill>
                  <a:srgbClr val="FFFFFF"/>
                </a:solidFill>
                <a:latin typeface="맑은 고딕"/>
              </a:rPr>
              <a:t>재공이 충분하면 takt에 맞춰 균등 생산하고, 편중되면 몰린 공정에 집중하되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불필요한 전환은 회피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모듈 아키텍처 — 데이터에서 추론·시각화까지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2084831" cy="45720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data/loader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데이터 적재·전처리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Oracle·JSON → env_data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(arrange·plan·flow·tool)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656332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16352" y="1554480"/>
            <a:ext cx="2084831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simulation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6352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89504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이산사건 시뮬레이터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9504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DES 엔진·상태/보상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LOT·EQP 규칙 배정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905755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65776" y="1554480"/>
            <a:ext cx="2084831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env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65776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38928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Gym 환경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8928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SchedulingEnv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BulkFillEnv(마스킹)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155180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0" y="1554480"/>
            <a:ext cx="2084831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agent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0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88352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정책·휴리스틱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88352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PPO(학습)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Min-Progress·Earliest-ST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404604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64624" y="1554480"/>
            <a:ext cx="2084831" cy="45720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inference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64624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37776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추론·결과 출력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37776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스케줄·KPI·전환계획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output.json / DB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3657600"/>
            <a:ext cx="11064240" cy="18288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config.py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환경 축(O·P·K)·보상 가중치·경로 설정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5584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5584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53872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api · frontend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872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FastAPI + React 대시보드 · 간트/KPI 시각화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4476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4476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2764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benchmark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2764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직관형 검증 데이터셋(CONV_BENCH) 생성·평가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3368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93368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16567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models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16567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PPO 체크포인트(rl · bulkfill 분리 저장)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074920"/>
            <a:ext cx="11064240" cy="1143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77240" y="5175504"/>
            <a:ext cx="106984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설계 포인트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240" y="5522976"/>
            <a:ext cx="1078992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정책(RL)은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(PPK, OPER) 버킷 선택에만 집중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하고, LOT·EQP 세부 배정과 이산사건 무결성은 시뮬레이터 규칙이 보장합니다.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행동 공간을 작게 유지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해 학습이 안정적이며, 시뮬레이터·환경·정책이 느슨하게 결합되어 휴리스틱과 동일 조건에서 비교할 수 있습니다.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구조적 특징과 강점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이산사건 시뮬레이션 기반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설비 배정 즉시 busy 전환·종료 이벤트로 진행하는 DES로 실제 라인 동작에 부합하는 일정·전환을 재현합니다.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벌크 점유(Bulk-Fill) 행동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정책이 (버킷 + 블록 크기)를 함께 선택해 같은 셋업으로 N캐리어를 연속 점유 → 전환 빈도를 구조적으로 억제합니다.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528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528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행동 마스킹(MaskablePPO)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유효하지 않은 (PPK·OPER)·블록 크기는 마스크로 차단해 무효 행동 탐색을 제거하고 학습 효율을 높입니다.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계획·재공 적응형 보상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고정 계획이 아닌 달성가능 상한(achievable) 기준 takt를 추종해 재공 한계 내에서만 페이싱합니다.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8912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전환 비용의 정량 모델링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전환 1회=설비 가동 손실로 환산해 회피가능 전환에 추가 패널티를 부여, 불필요한 셋업 변경을 억제합니다.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5528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5528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6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동일 조건 알고리즘 비교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PPO·휴리스틱이 같은 시뮬레이터·KPI로 평가되어 효과를 객관적으로 검증할 수 있습니다.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4754880"/>
            <a:ext cx="10515600" cy="14173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" y="4882896"/>
            <a:ext cx="100584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요약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5212080"/>
            <a:ext cx="100584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작은 행동 공간 · 마스킹 · 벌크 점유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를 결합해 전환을 줄이면서 계획을 추종하도록 설계했으며, 이산사건 시뮬레이터 위에서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휴리스틱과 1:1로 비교 가능한 검증 체계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를 갖췄습니다.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강화학습 의사결정 구조 (MDP) 개요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매 유휴 설비 결정 시점을 1 스텝으로 보고,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상태(State) → 행동(Action) → 보상(Reward)</a:t>
            </a:r>
            <a:r>
              <a:rPr sz="1350" b="0">
                <a:solidFill>
                  <a:srgbClr val="222A33"/>
                </a:solidFill>
                <a:latin typeface="맑은 고딕"/>
              </a:rPr>
              <a:t> 순환으로 정책을 학습합니다.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2057400"/>
            <a:ext cx="3017520" cy="10515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정책 (Agent)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MaskablePPO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2057400"/>
            <a:ext cx="3017520" cy="105156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환경 (Environment)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이산사건 시뮬레이터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114800" y="2240280"/>
            <a:ext cx="3931920" cy="365760"/>
          </a:xfrm>
          <a:prstGeom prst="righ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0" y="1883664"/>
            <a:ext cx="3931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행동 a : (버킷, 블록크기)</a:t>
            </a:r>
          </a:p>
        </p:txBody>
      </p:sp>
      <p:sp>
        <p:nvSpPr>
          <p:cNvPr id="15" name="Left Arrow 14"/>
          <p:cNvSpPr/>
          <p:nvPr/>
        </p:nvSpPr>
        <p:spPr>
          <a:xfrm>
            <a:off x="4114800" y="2743200"/>
            <a:ext cx="3931920" cy="365760"/>
          </a:xfrm>
          <a:prstGeom prst="lef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0" y="3127248"/>
            <a:ext cx="3931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상태 s′ · 보상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3749039"/>
            <a:ext cx="3456432" cy="50292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State  (관측)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2,412차원 벡터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전역 6 + 버킷 O×P×K×16 + 설비 2 + 맥락 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53128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53128" y="3749039"/>
            <a:ext cx="3456432" cy="50292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53128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17720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MultiDiscrete([O·P, L])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10328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36008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투입할 (PPK·OPER) 버킷 + 블록 크기 레벨 4단계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83296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83296" y="3749039"/>
            <a:ext cx="3456432" cy="5029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83296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Reward  (보상)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7888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전환·페이싱·벌크 합산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40496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66175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전환 회피 + takt 추종 + 큰 블록 점유 유도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— 관측 공간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관측은 [0,1]로 정규화된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2,412차원 Box 벡터</a:t>
            </a:r>
            <a:r>
              <a:rPr sz="1300" b="0">
                <a:solidFill>
                  <a:srgbClr val="5C6670"/>
                </a:solidFill>
                <a:latin typeface="맑은 고딕"/>
              </a:rPr>
              <a:t> 입니다.  (O=3, P=10, K=5, 버킷 채널 F=16 기준)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74519"/>
            <a:ext cx="10515600" cy="60350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874519"/>
            <a:ext cx="1051560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맑은 고딕"/>
              </a:rPr>
              <a:t>obs_dim = 6 (전역)  +  O×P×K×16 (버킷)  +  2 (현재 설비)  +  4 (직전 맥락)  =  2,412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697480"/>
            <a:ext cx="2743200" cy="45720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구성 블록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66160" y="2697480"/>
            <a:ext cx="914400" cy="45720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차원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80560" y="2697480"/>
            <a:ext cx="6858000" cy="45720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주요 내용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3154680"/>
            <a:ext cx="27432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전역 상태 (Global)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66160" y="3154680"/>
            <a:ext cx="9144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0">
                <a:solidFill>
                  <a:srgbClr val="1B3255"/>
                </a:solidFill>
                <a:latin typeface="맑은 고딕"/>
              </a:rPr>
              <a:t>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60" y="3154680"/>
            <a:ext cx="68580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00" b="0">
                <a:solidFill>
                  <a:srgbClr val="5C6670"/>
                </a:solidFill>
                <a:latin typeface="맑은 고딕"/>
              </a:rPr>
              <a:t>경과시간 · 잔여 takt여유 · 재공 소진율 · 계획 달성률 · 전환대기 설비 비율 · 공구 가동률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867912"/>
            <a:ext cx="2743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버킷 특징 (Bucket)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66160" y="3867912"/>
            <a:ext cx="914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0">
                <a:solidFill>
                  <a:srgbClr val="1B3255"/>
                </a:solidFill>
                <a:latin typeface="맑은 고딕"/>
              </a:rPr>
              <a:t>2,400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3867912"/>
            <a:ext cx="68580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00" b="0">
                <a:solidFill>
                  <a:srgbClr val="5C6670"/>
                </a:solidFill>
                <a:latin typeface="맑은 고딕"/>
              </a:rPr>
              <a:t>(OPER×PPK×MODEL) 격자의 16개 채널: 유효성·WIP비중·종료시각·처리율·takt·전환필요·공구여유·달성가능비·투영커버 등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736592"/>
            <a:ext cx="27432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현재 설비 (EQP local)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66160" y="4736592"/>
            <a:ext cx="9144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0">
                <a:solidFill>
                  <a:srgbClr val="1B3255"/>
                </a:solidFill>
                <a:latin typeface="맑은 고딕"/>
              </a:rPr>
              <a:t>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80560" y="4736592"/>
            <a:ext cx="68580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00" b="0">
                <a:solidFill>
                  <a:srgbClr val="5C6670"/>
                </a:solidFill>
                <a:latin typeface="맑은 고딕"/>
              </a:rPr>
              <a:t>현재 결정 설비의 전환 필요 여부 · 전환 회피가능 정도(0~1)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5449824"/>
            <a:ext cx="27432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직전 맥락 (Context)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66160" y="5449824"/>
            <a:ext cx="914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0">
                <a:solidFill>
                  <a:srgbClr val="1B3255"/>
                </a:solidFill>
                <a:latin typeface="맑은 고딕"/>
              </a:rPr>
              <a:t>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80560" y="5449824"/>
            <a:ext cx="68580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00" b="0">
                <a:solidFill>
                  <a:srgbClr val="5C6670"/>
                </a:solidFill>
                <a:latin typeface="맑은 고딕"/>
              </a:rPr>
              <a:t>직전 배정의 PPK · OPER · EQP · LOT_CD (정규화 인덱스)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6FB0"/>
                </a:solidFill>
                <a:latin typeface="맑은 고딕"/>
              </a:rPr>
              <a:t>핵심 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버킷 채널이 제품·공정·설비모델별 "지금 이 버킷을 잡으면 얼마나 유효/시급/중복인가"를 정책에 제공</a:t>
            </a:r>
            <a:r>
              <a:rPr sz="1250" b="0">
                <a:solidFill>
                  <a:srgbClr val="5C6670"/>
                </a:solidFill>
                <a:latin typeface="맑은 고딕"/>
              </a:rPr>
              <a:t>하여, 전환 회피와 페이싱 판단의 근거가 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Action — 행동 공간과 블록 점유 메커니즘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08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280160"/>
            <a:ext cx="10515600" cy="60350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280160"/>
            <a:ext cx="1051560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</a:rPr>
              <a:t>action = MultiDiscrete( [ O×P 버킷 ,  L 블록크기 레벨 ] 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103120"/>
            <a:ext cx="5212080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21284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① 버킷 선택 (O×P)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578608"/>
            <a:ext cx="489204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투입할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(PPK·OPER) 조합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을 선택합니다. LOT과 EQP는 우선순위 규칙으로 자동 배정되어 행동 차원을 줄입니다.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2103120"/>
            <a:ext cx="5212080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21284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② 블록 크기 레벨 (L=4)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578608"/>
            <a:ext cx="489204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같은 셋업으로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연속 점유할 캐리어 수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를 takt 예산 분율로 결정합니다. 레벨↑ → 더 큰 블록.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657600"/>
            <a:ext cx="10515600" cy="41148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657600"/>
            <a:ext cx="1051560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블록 점유(Masked Replay) 동작 순서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05840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72768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시작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버킷·크기 선택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N 산출, 1캐리어 배정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remaining = N−1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328416" y="4892040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93008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75888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42816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진행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94176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같은 설비의 다음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결정은 같은 버킷으로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강제(마스킹) 재생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998464" y="4892040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63056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45936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12864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종료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64224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remaining=0 또는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재공·계획·공구 소진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블록 해제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8668512" y="4892040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33104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15984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82912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상한 규칙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34272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N ≤ min(takt예산,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가용 WIP, 잔여 계획)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공구는 매 캐리어 검사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6FB0"/>
                </a:solidFill>
                <a:latin typeface="맑은 고딕"/>
              </a:rPr>
              <a:t>효과 </a:t>
            </a:r>
            <a:r>
              <a:rPr sz="1230" b="0">
                <a:solidFill>
                  <a:srgbClr val="222A33"/>
                </a:solidFill>
                <a:latin typeface="맑은 고딕"/>
              </a:rPr>
              <a:t>이산사건 무결성을 깨지 않으면서도 한 번의 결정으로 "같은 셋업 N캐리어 연속"을 실현 → 전환 횟수를 근본적으로 감소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Reward — 보상 항목과 가중치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61872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스텝 보상은 아래 항의 합이며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±10 범위로 클리핑</a:t>
            </a:r>
            <a:r>
              <a:rPr sz="1300" b="0">
                <a:solidFill>
                  <a:srgbClr val="5C6670"/>
                </a:solidFill>
                <a:latin typeface="맑은 고딕"/>
              </a:rPr>
              <a:t> 됩니다. (Bulk-Fill 학습 기준 가중치)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3977639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FFFFFF"/>
                </a:solidFill>
                <a:latin typeface="맑은 고딕"/>
              </a:rPr>
              <a:t>보상 항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00600" y="1783080"/>
            <a:ext cx="123444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</a:rPr>
              <a:t>가중치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1783080"/>
            <a:ext cx="530352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FFFFFF"/>
                </a:solidFill>
                <a:latin typeface="맑은 고딕"/>
              </a:rPr>
              <a:t>의미 / 발생 조건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203704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전환 패널티  w_conversion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00600" y="2203704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35040" y="2203704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LOT_CD·TEMP 전환(셋업 변경) 1회마다 부과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2756916"/>
            <a:ext cx="3977639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회피가능 전환  w_avoidable_conversion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00600" y="2756916"/>
            <a:ext cx="123444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−8.0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2756916"/>
            <a:ext cx="530352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다른 무전환 설비가 커버 가능한데도 전환 시 추가 부과(×회피가능비율)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310128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페이싱  w_pacing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00600" y="3310128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35040" y="3310128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달성가능 상한 기준 선형 takt에 가까워지면 +, 과생산이면 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3863339"/>
            <a:ext cx="3977639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동일 셋업 연속  w_same_setup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00600" y="3863339"/>
            <a:ext cx="123444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0" y="3863339"/>
            <a:ext cx="530352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직전과 제품·공정이 모두 같고 재공이 남아있을 때 +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416552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블록 크기 보너스  w_bulk_block_bonus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00600" y="4416552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4416552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큰 블록으로 커밋할수록 + (takt예산 대비 블록 비율)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4969764"/>
            <a:ext cx="3977639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전용 오용 패널티  w_dedication_misuse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00600" y="4969764"/>
            <a:ext cx="123444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35040" y="4969764"/>
            <a:ext cx="530352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더 전용적인 유휴 설비가 있는데 범용 설비가 그 버킷을 잡으면 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5522976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중복 커버 패널티  w_redundant_cover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00600" y="5522976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−5.0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35040" y="5522976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이미 다른 설비가 충분히 덮는 버킷을 또 잡으면 − (전환 유도)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6053328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222A33"/>
                </a:solidFill>
                <a:latin typeface="맑은 고딕"/>
              </a:rPr>
              <a:t>위 3개 벌크 전용 항(블록·전용오용·중복커버)은 Bulk-Fill 환경에서만 활성화되어 </a:t>
            </a:r>
            <a:r>
              <a:rPr sz="1180" b="1">
                <a:solidFill>
                  <a:srgbClr val="1B3255"/>
                </a:solidFill>
                <a:latin typeface="맑은 고딕"/>
              </a:rPr>
              <a:t>"큰 블록으로 전담"</a:t>
            </a:r>
            <a:r>
              <a:rPr sz="1180" b="0">
                <a:solidFill>
                  <a:srgbClr val="5C6670"/>
                </a:solidFill>
                <a:latin typeface="맑은 고딕"/>
              </a:rPr>
              <a:t> 행동을 유도합니다.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수치 예시 — 한 스텝의 보상은 이렇게 계산됩니다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34440"/>
            <a:ext cx="106070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80" b="0">
                <a:solidFill>
                  <a:srgbClr val="5C6670"/>
                </a:solidFill>
                <a:latin typeface="맑은 고딕"/>
              </a:rPr>
              <a:t>검증 데이터(3설비·3제품·각 8캐리어, takt 예산 8) 기준, 대표 결정 두 가지의 보상 계산입니다.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5212080" cy="3703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783080"/>
            <a:ext cx="5212080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783080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예시 A · 전담 블록 시작 (바람직)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377440"/>
            <a:ext cx="4846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상황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EQP001이 직전과 같은 PPK001을 블록 크기 8(=takt 예산 전량)로 커밋, 다른 설비가 덮지 않는 제품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2971800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22A33"/>
                </a:solidFill>
                <a:latin typeface="맑은 고딕"/>
              </a:rPr>
              <a:t>동일 셋업 연속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2971800"/>
            <a:ext cx="11430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2971800"/>
            <a:ext cx="2103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제품·공정 동일, 재공 잔존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355848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22A33"/>
                </a:solidFill>
                <a:latin typeface="맑은 고딕"/>
              </a:rPr>
              <a:t>페이싱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355848"/>
            <a:ext cx="11430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+2.5 ×Δ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3355848"/>
            <a:ext cx="2103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takt 목표선에 근접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3739896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22A33"/>
                </a:solidFill>
                <a:latin typeface="맑은 고딕"/>
              </a:rPr>
              <a:t>블록 보너스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3739896"/>
            <a:ext cx="11430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 ×(8/8)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3739896"/>
            <a:ext cx="2103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= +3.0  (전량 블록)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" y="4123944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22A33"/>
                </a:solidFill>
                <a:latin typeface="맑은 고딕"/>
              </a:rPr>
              <a:t>전환 패널티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4123944"/>
            <a:ext cx="11430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0" y="4123944"/>
            <a:ext cx="2103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셋업 변경 없음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" y="4507992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22A33"/>
                </a:solidFill>
                <a:latin typeface="맑은 고딕"/>
              </a:rPr>
              <a:t>중복 커버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0" y="4507992"/>
            <a:ext cx="11430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40480" y="4507992"/>
            <a:ext cx="2103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다른 설비가 안 덮음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24128" y="4956048"/>
            <a:ext cx="4809744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4128" y="5029200"/>
            <a:ext cx="4809744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합계  </a:t>
            </a:r>
            <a:r>
              <a:rPr sz="1300" b="1">
                <a:solidFill>
                  <a:srgbClr val="2E7D4F"/>
                </a:solidFill>
                <a:latin typeface="맑은 고딕"/>
              </a:rPr>
              <a:t>≈ +6 수준의 강한 양(+) 보상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128" y="544068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같은 셋업으로 길게 점유하는 행동을 강화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26480" y="1783080"/>
            <a:ext cx="5212080" cy="3703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26480" y="1783080"/>
            <a:ext cx="5212080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26480" y="1783080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예시 B · 회피가능 전환 (지양)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27648" y="2377440"/>
            <a:ext cx="4846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상황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EQP가 PPK001→PPK002로 셋업을 바꿔 1캐리어만 처리. 다른 무전환 설비가 PPK002를 70% 커버 가능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27648" y="2971800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22A33"/>
                </a:solidFill>
                <a:latin typeface="맑은 고딕"/>
              </a:rPr>
              <a:t>전환 패널티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46720" y="2971800"/>
            <a:ext cx="12801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81160" y="2971800"/>
            <a:ext cx="2057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LOT_CD 변경 1회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27648" y="3355848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22A33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46720" y="3355848"/>
            <a:ext cx="12801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−8.0 ×0.7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81160" y="3355848"/>
            <a:ext cx="2057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= −5.6  (커버 가능)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27648" y="3739896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22A33"/>
                </a:solidFill>
                <a:latin typeface="맑은 고딕"/>
              </a:rPr>
              <a:t>중복 커버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46720" y="3739896"/>
            <a:ext cx="12801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−5.0 ×비율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81160" y="3739896"/>
            <a:ext cx="2057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이미 덮이는 버킷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27648" y="4123944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22A33"/>
                </a:solidFill>
                <a:latin typeface="맑은 고딕"/>
              </a:rPr>
              <a:t>블록 보너스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46720" y="4123944"/>
            <a:ext cx="12801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81160" y="4123944"/>
            <a:ext cx="2057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크기 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27648" y="4507992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22A33"/>
                </a:solidFill>
                <a:latin typeface="맑은 고딕"/>
              </a:rPr>
              <a:t>동일 셋업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46720" y="4507992"/>
            <a:ext cx="12801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81160" y="4507992"/>
            <a:ext cx="2057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셋업이 바뀜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327648" y="4956048"/>
            <a:ext cx="4809744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27648" y="5029200"/>
            <a:ext cx="4809744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합계  </a:t>
            </a:r>
            <a:r>
              <a:rPr sz="1300" b="1">
                <a:solidFill>
                  <a:srgbClr val="B33A3A"/>
                </a:solidFill>
                <a:latin typeface="맑은 고딕"/>
              </a:rPr>
              <a:t>≈ −20 수준의 강한 음(−) 보상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27648" y="544068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불필요한 셋업 변경을 강하게 억제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22960" y="5715000"/>
            <a:ext cx="10515600" cy="64008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51560" y="5715000"/>
            <a:ext cx="1014984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학습 결과  </a:t>
            </a:r>
            <a:r>
              <a:rPr sz="1300" b="0">
                <a:solidFill>
                  <a:srgbClr val="FFFFFF"/>
                </a:solidFill>
                <a:latin typeface="맑은 고딕"/>
              </a:rPr>
              <a:t>정책은 "전담 블록은 키우고, 회피가능한 전환은 피한다"는 행동을 자연스럽게 획득합니다.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검증 설계 — CONV_BENCH 데이터셋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전환 비용이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생산 수량 손실로 1:1 환산</a:t>
            </a:r>
            <a:r>
              <a:rPr sz="1350" b="0">
                <a:solidFill>
                  <a:srgbClr val="222A33"/>
                </a:solidFill>
                <a:latin typeface="맑은 고딕"/>
              </a:rPr>
              <a:t>되도록 설계한 직관형 검증 데이터셋입니다.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설비 / 제품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3 설비 × 3 제품(PPK)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동일 성능 A모델 3대, 제품별 LOT_CD 상이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2044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2044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재공 / 계획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제품당 8캐리어 = 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계획도 제품당 8 (총 24캐리어)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시간 파라미터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ST=60 · 전환=60 · 8h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설비당 480/60 = 8캐리어 처리 가능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1540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1540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6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배정 난이도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홈 LOT 혼합 배치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단순 규칙은 전환 불가피, 전략적 선택만 전담 달성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3749039"/>
            <a:ext cx="52120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3749039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이론적 최적해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206240"/>
            <a:ext cx="52120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51560" y="4343400"/>
            <a:ext cx="484632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설비별 1제품 전담 → 전환 0회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EQP001 → PPK001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EQP002 → PPK002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EQP003 → PPK003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생산 24 · 전환 0 · 가동률 100%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3749039"/>
            <a:ext cx="498348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55080" y="3749039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전환 → 손실 환산표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55080" y="4206240"/>
            <a:ext cx="4983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37960" y="4315968"/>
            <a:ext cx="182880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전환 횟수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66760" y="4315968"/>
            <a:ext cx="173736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생산 수량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104120" y="4315968"/>
            <a:ext cx="109728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손실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37960" y="4718304"/>
            <a:ext cx="182880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66760" y="4718304"/>
            <a:ext cx="173736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 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104120" y="4718304"/>
            <a:ext cx="109728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37960" y="5120640"/>
            <a:ext cx="182880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2 회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66760" y="5120640"/>
            <a:ext cx="173736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22 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104120" y="5120640"/>
            <a:ext cx="109728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−2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37960" y="5522976"/>
            <a:ext cx="182880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6 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66760" y="5522976"/>
            <a:ext cx="173736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18 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104120" y="5522976"/>
            <a:ext cx="109728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−6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동일 시뮬레이터·동일 데이터에서 세 알고리즘을 실행해 KPI를 직접 비교합니다.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KPI 비교 결과 (CONV_BENCH)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320040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KPI 지표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1417320"/>
            <a:ext cx="260604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Earliest-ST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(단순 규칙)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0" y="1417320"/>
            <a:ext cx="260604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Min-Progress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(휴리스틱)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35440" y="1417320"/>
            <a:ext cx="2606040" cy="749808"/>
          </a:xfrm>
          <a:prstGeom prst="rect">
            <a:avLst/>
          </a:prstGeom>
          <a:solidFill>
            <a:srgbClr val="2E6F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Bulk-Fill PPO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(학습 모델)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167128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생산 수량 (최대 24)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0" y="2167128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18 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0" y="2167128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24 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2167128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24 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2798064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전환 횟수 (낮을수록 우수)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2798064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B33A3A"/>
                </a:solidFill>
                <a:latin typeface="맑은 고딕"/>
              </a:rPr>
              <a:t>6 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29400" y="2798064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0 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2798064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0 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429000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전환 손실 캐리어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3429000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B33A3A"/>
                </a:solidFill>
                <a:latin typeface="맑은 고딕"/>
              </a:rPr>
              <a:t>−6 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29400" y="3429000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−0 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5440" y="3429000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−0 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059935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설비 가동률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360" y="4059935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75 %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29400" y="4059935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100 %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35440" y="4059935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100 %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690871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제품 전담 설비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60" y="4690871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0 / 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29400" y="4690871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3 / 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35440" y="4690871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3 / 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5321807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최적해 도달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23360" y="5321807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B33A3A"/>
                </a:solidFill>
                <a:latin typeface="맑은 고딕"/>
              </a:rPr>
              <a:t>미달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29400" y="5321807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달성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35440" y="5321807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달성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612648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Bulk-Fill PPO는 학습만으로 최고 휴리스틱과 동일한 이론적 최적해(생산 24·전환 0)에 도달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했으며, 단순 규칙 대비 모든 지표에서 우위입니다.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효과성 검증 — 정량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13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417320"/>
          <a:ext cx="3657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343400" y="1417320"/>
          <a:ext cx="365760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Rectangle 11"/>
          <p:cNvSpPr/>
          <p:nvPr/>
        </p:nvSpPr>
        <p:spPr>
          <a:xfrm>
            <a:off x="8229600" y="1417320"/>
            <a:ext cx="3246120" cy="33832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학습 모델 효과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2011680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+6 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395728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단순 규칙 대비 생산량 (+33%)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724912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−6 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3108960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전환을 전량 제거 (6→0)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3438144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+25%p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3822192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가동률 75%→100%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4151376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3 /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4535424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제품 전담 설비 달성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029200"/>
            <a:ext cx="10835640" cy="11887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138928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효과성 결론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468112"/>
            <a:ext cx="105156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D7E2EE"/>
                </a:solidFill>
                <a:latin typeface="맑은 고딕"/>
              </a:rPr>
              <a:t>Bulk-Fill PPO는 별도 규칙 주입 없이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학습만으로 이론적 최적해에 도달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했으며, 단순 규칙 대비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생산량 +33% · 전환 100% 제거 · 가동률 +25%p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 의 개선을 입증했습니다.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결론 및 기대 효과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516636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417320"/>
            <a:ext cx="5166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핵심 성과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417320"/>
            <a:ext cx="516636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417320"/>
            <a:ext cx="5166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기대 효과 및 향후 과제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057400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2057400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2203704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검증된 성과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2569464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학습 모델이 최고 휴리스틱과 동등한 최적해(생산 24·전환 0·전담 3/3)에 도달.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2057400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2057400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2203704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확장성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569464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더 많은 설비·제품·다단 공정으로 데이터 교체만으로 확장 적용 가능.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273552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273552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3419856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구조적 강점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3785616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벌크 점유 + 행동 마스킹으로 전환을 근본적으로 억제하고 학습을 안정화.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3273552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273552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3419856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운영 적용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785616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전환 비용·계획·재공 제약을 함께 고려한 일배치 의사결정 지원.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489704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2960" y="4489704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3600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객관적 비교 체계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01768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동일 시뮬레이터·KPI에서 PPO와 휴리스틱을 1:1로 비교·검증.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72200" y="4489704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72200" y="4489704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463600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향후 과제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001768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실데이터 적용·보상 가중치 튜닝·다공정 흐름 균형의 추가 검증.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강화학습 기반 Bulk-Fill 스케줄링 — 전환 최소화와 계획 추종을 동시에 달성하는 검증된 의사결정 모델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