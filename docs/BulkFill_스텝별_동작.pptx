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9728" cy="146304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9601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Bulk-Fill 강화학습 · 스텝별 상세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600200"/>
            <a:ext cx="102412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스텝별 동작 워크스루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9D8E8"/>
                </a:solidFill>
                <a:latin typeface="맑은 고딕"/>
              </a:rPr>
              <a:t>리워드 계산(실제 대입) → 할당 이후 간트 누적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023360"/>
            <a:ext cx="10058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9D8E8"/>
                </a:solidFill>
                <a:latin typeface="맑은 고딕"/>
              </a:rPr>
              <a:t>각 스텝마다 (1) 리워드 항목별 계산식과 실제 값 대입,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9D8E8"/>
                </a:solidFill>
                <a:latin typeface="맑은 고딕"/>
              </a:rPr>
              <a:t>(2) 그 배정으로 간트 차트가 어떻게 채워지는지를 한 스텝씩 따라갑니다.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FA6C0"/>
                </a:solidFill>
                <a:latin typeface="맑은 고딕"/>
              </a:rPr>
              <a:t>데이터: OVER_5p3 (3설비 × 5제품) · Bulk-Fill PPO 결정론적 추론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시나리오와 초기 상태 (0분)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3개 설비가 5개 제품(각 다른 LOT_CD)을 처리합니다. 제품 수 &gt; 설비 수라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일부 전환이 불가피</a:t>
            </a:r>
            <a:r>
              <a:rPr sz="1350" b="0">
                <a:solidFill>
                  <a:srgbClr val="222A33"/>
                </a:solidFill>
                <a:latin typeface="맑은 고딕"/>
              </a:rPr>
              <a:t>한 케이스입니다.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260604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2606040" cy="731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75104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설비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3255"/>
                </a:solidFill>
                <a:latin typeface="맑은 고딕"/>
              </a:rPr>
              <a:t>EQP001·EQP002·EQP003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260604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1828800"/>
            <a:ext cx="2606040" cy="731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975104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제품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8600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3255"/>
                </a:solidFill>
                <a:latin typeface="맑은 고딕"/>
              </a:rPr>
              <a:t>PPK001~005 (LOT_CD 상이)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60604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606040" cy="731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75104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takt 예산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3255"/>
                </a:solidFill>
                <a:latin typeface="맑은 고딕"/>
              </a:rPr>
              <a:t>블록 크기 상한 산출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828800"/>
            <a:ext cx="260604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828800"/>
            <a:ext cx="2606040" cy="731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975104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기준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28600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3255"/>
                </a:solidFill>
                <a:latin typeface="맑은 고딕"/>
              </a:rPr>
              <a:t>0분 = RULE_TIMEKEY</a:t>
            </a:r>
          </a:p>
        </p:txBody>
      </p:sp>
      <p:pic>
        <p:nvPicPr>
          <p:cNvPr id="26" name="Picture 25" descr="walk_ste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063240"/>
            <a:ext cx="9601200" cy="28163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초기 간트는 비어 있습니다. 다음 스텝부터 매 배정이 막대로 쌓입니다.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1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1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EQP001 ← PPK001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LOT001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벌크 블록 보너스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w_bulk_block_bonus · min(N / takt예산,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+3.000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41064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w_redundant_cover · min(cover / need, 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941064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5C6670"/>
                </a:solidFill>
                <a:latin typeface="맑은 고딕"/>
              </a:rPr>
              <a:t>+-0.000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16552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416552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+2.708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2.71)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1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1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04</a:t>
            </a:r>
          </a:p>
        </p:txBody>
      </p:sp>
      <p:pic>
        <p:nvPicPr>
          <p:cNvPr id="9" name="Picture 8" descr="walk_ste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EQP001 ← PPK001 · LOT LOT001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2.71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1캐리어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2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2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EQP002 ← PPK002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LOT005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벌크 블록 보너스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w_bulk_block_bonus · min(N / takt예산,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+3.000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41064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w_redundant_cover · min(cover / need, 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941064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5C6670"/>
                </a:solidFill>
                <a:latin typeface="맑은 고딕"/>
              </a:rPr>
              <a:t>+-0.000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16552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416552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+2.708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5.42)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2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2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06</a:t>
            </a:r>
          </a:p>
        </p:txBody>
      </p:sp>
      <p:pic>
        <p:nvPicPr>
          <p:cNvPr id="9" name="Picture 8" descr="walk_ste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EQP002 ← PPK002 · LOT LOT005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5.42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2캐리어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3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3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EQP003 ← PPK003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LOT009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벌크 블록 보너스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w_bulk_block_bonus · min(N / takt예산,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+3.000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41064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w_redundant_cover · min(cover / need, 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941064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5C6670"/>
                </a:solidFill>
                <a:latin typeface="맑은 고딕"/>
              </a:rPr>
              <a:t>+-0.000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16552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416552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+2.708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8.12)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3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3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08</a:t>
            </a:r>
          </a:p>
        </p:txBody>
      </p:sp>
      <p:pic>
        <p:nvPicPr>
          <p:cNvPr id="9" name="Picture 8" descr="walk_ste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EQP003 ← PPK003 · LOT LOT009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8.12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3캐리어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4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4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EQP001 ← PPK001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LOT004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연속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동일 셋업 연속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w_same_setup · 1[제품·공정 동일]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+1.000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941064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41064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+0.708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8.83)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4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4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10</a:t>
            </a:r>
          </a:p>
        </p:txBody>
      </p:sp>
      <p:pic>
        <p:nvPicPr>
          <p:cNvPr id="9" name="Picture 8" descr="walk_ste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EQP001 ← PPK001 · LOT LOT004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8.83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4캐리어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5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5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t=60분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EQP002 ← PPK002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LOT008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연속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동일 셋업 연속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w_same_setup · 1[제품·공정 동일]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+1.000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941064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41064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+0.708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9.54)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5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5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12</a:t>
            </a:r>
          </a:p>
        </p:txBody>
      </p:sp>
      <p:pic>
        <p:nvPicPr>
          <p:cNvPr id="9" name="Picture 8" descr="walk_ste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EQP002 ← PPK002 · LOT LOT008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9.54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5캐리어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6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6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t=60분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EQP003 ← PPK003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LOT012   ·  </a:t>
            </a:r>
            <a:r>
              <a:rPr sz="1400" b="1">
                <a:solidFill>
                  <a:srgbClr val="9DBEE0"/>
                </a:solidFill>
                <a:latin typeface="맑은 고딕"/>
              </a:rPr>
              <a:t>블록 연속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동일 셋업 연속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w_same_setup · 1[제품·공정 동일]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+1.000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계획 달성 진척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w_plan_hit · (gap_before − gap_after) /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+0.333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-0.625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941064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41064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2E7D4F"/>
                </a:solidFill>
                <a:latin typeface="맑은 고딕"/>
              </a:rPr>
              <a:t>+0.708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10.25)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6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6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14</a:t>
            </a:r>
          </a:p>
        </p:txBody>
      </p:sp>
      <p:pic>
        <p:nvPicPr>
          <p:cNvPr id="9" name="Picture 8" descr="walk_ste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EQP003 ← PPK003 · LOT LOT012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 배정 → 간트에 굵은 테두리 막대가 추가됩니다.  </a:t>
            </a:r>
            <a:r>
              <a:rPr sz="1400" b="1">
                <a:solidFill>
                  <a:srgbClr val="FFFFFF"/>
                </a:solidFill>
                <a:latin typeface="맑은 고딕"/>
              </a:rPr>
              <a:t>누적 보상 Σ = 10.25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· 생산 6캐리어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12 · 리워드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12 · 리워드 항목별 계산과 실제 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170432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t=180분   결정: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EQP003 ← - / OPER001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   ·  LOT -   ·  </a:t>
            </a:r>
            <a:r>
              <a:rPr sz="1400" b="1">
                <a:solidFill>
                  <a:srgbClr val="C8861E"/>
                </a:solidFill>
                <a:latin typeface="맑은 고딕"/>
              </a:rPr>
              <a:t>전환 후 블록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228600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리워드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658368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계산식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1645920" cy="45720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페이싱(takt 추종)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w_pacing · (|ideal−eff_before| − |ideal−eff_after|) /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14600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+0.057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벌크 블록 보너스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90088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w_bulk_block_bonus · min(N / takt예산,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90088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</a:rPr>
              <a:t>+2.250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6557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65576"/>
            <a:ext cx="6583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w_redundant_cover · min(cover / need, 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46557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5C6670"/>
                </a:solidFill>
                <a:latin typeface="맑은 고딕"/>
              </a:rPr>
              <a:t>+-0.000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41064"/>
            <a:ext cx="228600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전환 패널티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41064"/>
            <a:ext cx="658368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w_conversion  (LOT_CD·TEMP 변경 1회 고정)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941064"/>
            <a:ext cx="1645920" cy="475488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B33A3A"/>
                </a:solidFill>
                <a:latin typeface="맑은 고딕"/>
              </a:rPr>
              <a:t>-10.000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16552"/>
            <a:ext cx="10515600" cy="56692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416552"/>
            <a:ext cx="5486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스텝 리워드 r = 각 항목 합 (±10 클립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8463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r = </a:t>
            </a:r>
            <a:r>
              <a:rPr sz="1800" b="1">
                <a:solidFill>
                  <a:srgbClr val="B33A3A"/>
                </a:solidFill>
                <a:latin typeface="맑은 고딕"/>
              </a:rPr>
              <a:t>-7.693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    (누적 Σ = 5.43)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STEP 12 · 할당 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Step 12 · 이 배정으로 간트가 이렇게 쌓입니다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16</a:t>
            </a:r>
          </a:p>
        </p:txBody>
      </p:sp>
      <p:pic>
        <p:nvPicPr>
          <p:cNvPr id="9" name="Picture 8" descr="walk_ste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3191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05840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EQP003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가 다른 LOT_CD로 전환 → </a:t>
            </a:r>
            <a:r>
              <a:rPr sz="1400" b="1">
                <a:solidFill>
                  <a:srgbClr val="C8861E"/>
                </a:solidFill>
                <a:latin typeface="맑은 고딕"/>
              </a:rPr>
              <a:t>빗금(전환) 막대가 추가되고 리워드가 크게 감소</a:t>
            </a:r>
            <a:r>
              <a:rPr sz="1350" b="0">
                <a:solidFill>
                  <a:srgbClr val="D7E2EE"/>
                </a:solidFill>
                <a:latin typeface="맑은 고딕"/>
              </a:rPr>
              <a:t>. 그래서 정책은 전환을 피하려 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7744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5720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255"/>
                </a:solidFill>
                <a:latin typeface="맑은 고딕"/>
              </a:rPr>
              <a:t>정리 — 스텝이 쌓여 스케줄이 완성됩니다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1051560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82296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00784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블록 시작 스텝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66543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같은 제품군을 큰 블록으로 커밋 → 벌크 보너스(+3.0)로 강한 양(+) 보상. 간트에 첫 막대.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24912"/>
            <a:ext cx="1051560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24912"/>
            <a:ext cx="82296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871216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블록 연속 스텝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6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동일 셋업 유지(+1.0)·계획 진척(+0.33)으로 꾸준한 +. 같은 색 막대가 이어짐.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95344"/>
            <a:ext cx="1051560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95344"/>
            <a:ext cx="82296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41648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전환 스텝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07408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LOT_CD 변경 시 전환 패널티(−10)로 강한 음(−). 빗금 막대 + 누적 보상 급락.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65776"/>
            <a:ext cx="1051560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65776"/>
            <a:ext cx="82296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120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255"/>
                </a:solidFill>
                <a:latin typeface="맑은 고딕"/>
              </a:rPr>
              <a:t>학습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577840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정책은 +를 키우고 −를 피하도록 학습 → 전환 최소화하며 계획을 추종하는 스케줄.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